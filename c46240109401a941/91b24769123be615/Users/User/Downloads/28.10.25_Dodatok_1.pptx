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2"/>
    <p:sldId id="266" r:id="rId3"/>
    <p:sldId id="267" r:id="rId4"/>
    <p:sldId id="268" r:id="rId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63D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7678" y="5993524"/>
            <a:ext cx="1718182" cy="7636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9678" y="6205346"/>
            <a:ext cx="2836291" cy="341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63D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77678" y="5993524"/>
            <a:ext cx="1718182" cy="7636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29678" y="6205346"/>
            <a:ext cx="2836291" cy="34196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8069" y="1656549"/>
            <a:ext cx="724954" cy="7249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63D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63D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3814" y="84582"/>
            <a:ext cx="9910698" cy="814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63D6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‹№›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hyperlink" Target="https://darg.gov.ua/_derzhavni_zakupivli_ribnoji_0_1101_menu_0_1.html" TargetMode="External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7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Relationship Id="rId22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g"/><Relationship Id="rId4" Type="http://schemas.openxmlformats.org/officeDocument/2006/relationships/image" Target="../media/image36.png"/><Relationship Id="rId9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60777" y="2462911"/>
            <a:ext cx="8273415" cy="13919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484"/>
              </a:spcBef>
            </a:pPr>
            <a:r>
              <a:rPr sz="3200" dirty="0"/>
              <a:t>МОЖЛИВІСТЬ</a:t>
            </a:r>
            <a:r>
              <a:rPr sz="3200" spc="-50" dirty="0"/>
              <a:t> </a:t>
            </a:r>
            <a:r>
              <a:rPr sz="3200" dirty="0"/>
              <a:t>ЗАКУПІВЛІ</a:t>
            </a:r>
            <a:r>
              <a:rPr sz="3200" spc="-85" dirty="0"/>
              <a:t> </a:t>
            </a:r>
            <a:r>
              <a:rPr sz="3200" dirty="0"/>
              <a:t>РИБИ</a:t>
            </a:r>
            <a:r>
              <a:rPr sz="3200" spc="-60" dirty="0"/>
              <a:t> </a:t>
            </a:r>
            <a:r>
              <a:rPr sz="3200" spc="-10" dirty="0"/>
              <a:t>ВІТЧИЗНЯНОГО </a:t>
            </a:r>
            <a:r>
              <a:rPr sz="3200" spc="-20" dirty="0"/>
              <a:t>ПОХОДЖЕННЯ</a:t>
            </a:r>
            <a:r>
              <a:rPr sz="3200" spc="-114" dirty="0"/>
              <a:t> </a:t>
            </a:r>
            <a:r>
              <a:rPr sz="3200" dirty="0"/>
              <a:t>ЗАКЛАДІВ</a:t>
            </a:r>
            <a:r>
              <a:rPr sz="3200" spc="-114" dirty="0"/>
              <a:t> </a:t>
            </a:r>
            <a:r>
              <a:rPr sz="3200" spc="-10" dirty="0"/>
              <a:t>ОХОРОНИ</a:t>
            </a:r>
            <a:r>
              <a:rPr sz="3200" spc="-105" dirty="0"/>
              <a:t> </a:t>
            </a:r>
            <a:r>
              <a:rPr sz="3200" spc="-10" dirty="0"/>
              <a:t>ЗДОРОВЯ </a:t>
            </a:r>
            <a:r>
              <a:rPr sz="3200" dirty="0"/>
              <a:t>КОМУНАЛЬНОЇ</a:t>
            </a:r>
            <a:r>
              <a:rPr sz="3200" spc="-90" dirty="0"/>
              <a:t> </a:t>
            </a:r>
            <a:r>
              <a:rPr sz="3200" spc="-10" dirty="0"/>
              <a:t>СФЕРИ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5016" y="525233"/>
            <a:ext cx="3664330" cy="4403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37323" y="287375"/>
            <a:ext cx="2061464" cy="9162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344" y="1306957"/>
            <a:ext cx="10537825" cy="827405"/>
            <a:chOff x="847344" y="1306957"/>
            <a:chExt cx="10537825" cy="8274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7344" y="1330452"/>
              <a:ext cx="10523982" cy="80391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70851" y="1316482"/>
              <a:ext cx="10504805" cy="784860"/>
            </a:xfrm>
            <a:custGeom>
              <a:avLst/>
              <a:gdLst/>
              <a:ahLst/>
              <a:cxnLst/>
              <a:rect l="l" t="t" r="r" b="b"/>
              <a:pathLst>
                <a:path w="10504805" h="784860">
                  <a:moveTo>
                    <a:pt x="10112489" y="0"/>
                  </a:moveTo>
                  <a:lnTo>
                    <a:pt x="392239" y="0"/>
                  </a:lnTo>
                  <a:lnTo>
                    <a:pt x="343038" y="3056"/>
                  </a:lnTo>
                  <a:lnTo>
                    <a:pt x="295661" y="11980"/>
                  </a:lnTo>
                  <a:lnTo>
                    <a:pt x="250474" y="26405"/>
                  </a:lnTo>
                  <a:lnTo>
                    <a:pt x="207847" y="45960"/>
                  </a:lnTo>
                  <a:lnTo>
                    <a:pt x="168146" y="70280"/>
                  </a:lnTo>
                  <a:lnTo>
                    <a:pt x="131739" y="98996"/>
                  </a:lnTo>
                  <a:lnTo>
                    <a:pt x="98993" y="131739"/>
                  </a:lnTo>
                  <a:lnTo>
                    <a:pt x="70277" y="168142"/>
                  </a:lnTo>
                  <a:lnTo>
                    <a:pt x="45957" y="207837"/>
                  </a:lnTo>
                  <a:lnTo>
                    <a:pt x="26402" y="250456"/>
                  </a:lnTo>
                  <a:lnTo>
                    <a:pt x="11979" y="295631"/>
                  </a:lnTo>
                  <a:lnTo>
                    <a:pt x="3056" y="342993"/>
                  </a:lnTo>
                  <a:lnTo>
                    <a:pt x="0" y="392175"/>
                  </a:lnTo>
                  <a:lnTo>
                    <a:pt x="3056" y="441385"/>
                  </a:lnTo>
                  <a:lnTo>
                    <a:pt x="11979" y="488770"/>
                  </a:lnTo>
                  <a:lnTo>
                    <a:pt x="26402" y="533964"/>
                  </a:lnTo>
                  <a:lnTo>
                    <a:pt x="45957" y="576599"/>
                  </a:lnTo>
                  <a:lnTo>
                    <a:pt x="70277" y="616306"/>
                  </a:lnTo>
                  <a:lnTo>
                    <a:pt x="98993" y="652719"/>
                  </a:lnTo>
                  <a:lnTo>
                    <a:pt x="131739" y="685470"/>
                  </a:lnTo>
                  <a:lnTo>
                    <a:pt x="168146" y="714191"/>
                  </a:lnTo>
                  <a:lnTo>
                    <a:pt x="207847" y="738514"/>
                  </a:lnTo>
                  <a:lnTo>
                    <a:pt x="250474" y="758072"/>
                  </a:lnTo>
                  <a:lnTo>
                    <a:pt x="295661" y="772497"/>
                  </a:lnTo>
                  <a:lnTo>
                    <a:pt x="343038" y="781422"/>
                  </a:lnTo>
                  <a:lnTo>
                    <a:pt x="392239" y="784478"/>
                  </a:lnTo>
                  <a:lnTo>
                    <a:pt x="10112489" y="784478"/>
                  </a:lnTo>
                  <a:lnTo>
                    <a:pt x="10161696" y="781422"/>
                  </a:lnTo>
                  <a:lnTo>
                    <a:pt x="10209076" y="772497"/>
                  </a:lnTo>
                  <a:lnTo>
                    <a:pt x="10254260" y="758072"/>
                  </a:lnTo>
                  <a:lnTo>
                    <a:pt x="10296883" y="738514"/>
                  </a:lnTo>
                  <a:lnTo>
                    <a:pt x="10336578" y="714191"/>
                  </a:lnTo>
                  <a:lnTo>
                    <a:pt x="10372976" y="685470"/>
                  </a:lnTo>
                  <a:lnTo>
                    <a:pt x="10405712" y="652719"/>
                  </a:lnTo>
                  <a:lnTo>
                    <a:pt x="10434419" y="616306"/>
                  </a:lnTo>
                  <a:lnTo>
                    <a:pt x="10458729" y="576599"/>
                  </a:lnTo>
                  <a:lnTo>
                    <a:pt x="10478275" y="533964"/>
                  </a:lnTo>
                  <a:lnTo>
                    <a:pt x="10492692" y="488770"/>
                  </a:lnTo>
                  <a:lnTo>
                    <a:pt x="10501610" y="441385"/>
                  </a:lnTo>
                  <a:lnTo>
                    <a:pt x="10504665" y="392175"/>
                  </a:lnTo>
                  <a:lnTo>
                    <a:pt x="10501735" y="342993"/>
                  </a:lnTo>
                  <a:lnTo>
                    <a:pt x="10492810" y="295631"/>
                  </a:lnTo>
                  <a:lnTo>
                    <a:pt x="10478385" y="250456"/>
                  </a:lnTo>
                  <a:lnTo>
                    <a:pt x="10458827" y="207837"/>
                  </a:lnTo>
                  <a:lnTo>
                    <a:pt x="10434504" y="168142"/>
                  </a:lnTo>
                  <a:lnTo>
                    <a:pt x="10405783" y="131739"/>
                  </a:lnTo>
                  <a:lnTo>
                    <a:pt x="10373032" y="98996"/>
                  </a:lnTo>
                  <a:lnTo>
                    <a:pt x="10336620" y="70280"/>
                  </a:lnTo>
                  <a:lnTo>
                    <a:pt x="10296912" y="45960"/>
                  </a:lnTo>
                  <a:lnTo>
                    <a:pt x="10254278" y="26405"/>
                  </a:lnTo>
                  <a:lnTo>
                    <a:pt x="10209084" y="11980"/>
                  </a:lnTo>
                  <a:lnTo>
                    <a:pt x="10161698" y="3056"/>
                  </a:lnTo>
                  <a:lnTo>
                    <a:pt x="10112489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0851" y="1316482"/>
              <a:ext cx="10504805" cy="784860"/>
            </a:xfrm>
            <a:custGeom>
              <a:avLst/>
              <a:gdLst/>
              <a:ahLst/>
              <a:cxnLst/>
              <a:rect l="l" t="t" r="r" b="b"/>
              <a:pathLst>
                <a:path w="10504805" h="784860">
                  <a:moveTo>
                    <a:pt x="0" y="392175"/>
                  </a:moveTo>
                  <a:lnTo>
                    <a:pt x="3056" y="342993"/>
                  </a:lnTo>
                  <a:lnTo>
                    <a:pt x="11979" y="295631"/>
                  </a:lnTo>
                  <a:lnTo>
                    <a:pt x="26402" y="250456"/>
                  </a:lnTo>
                  <a:lnTo>
                    <a:pt x="45957" y="207837"/>
                  </a:lnTo>
                  <a:lnTo>
                    <a:pt x="70277" y="168142"/>
                  </a:lnTo>
                  <a:lnTo>
                    <a:pt x="98993" y="131739"/>
                  </a:lnTo>
                  <a:lnTo>
                    <a:pt x="131739" y="98996"/>
                  </a:lnTo>
                  <a:lnTo>
                    <a:pt x="168146" y="70280"/>
                  </a:lnTo>
                  <a:lnTo>
                    <a:pt x="207847" y="45960"/>
                  </a:lnTo>
                  <a:lnTo>
                    <a:pt x="250474" y="26405"/>
                  </a:lnTo>
                  <a:lnTo>
                    <a:pt x="295661" y="11980"/>
                  </a:lnTo>
                  <a:lnTo>
                    <a:pt x="343038" y="3056"/>
                  </a:lnTo>
                  <a:lnTo>
                    <a:pt x="392239" y="0"/>
                  </a:lnTo>
                  <a:lnTo>
                    <a:pt x="10112489" y="0"/>
                  </a:lnTo>
                  <a:lnTo>
                    <a:pt x="10161698" y="3056"/>
                  </a:lnTo>
                  <a:lnTo>
                    <a:pt x="10209084" y="11980"/>
                  </a:lnTo>
                  <a:lnTo>
                    <a:pt x="10254278" y="26405"/>
                  </a:lnTo>
                  <a:lnTo>
                    <a:pt x="10296912" y="45960"/>
                  </a:lnTo>
                  <a:lnTo>
                    <a:pt x="10336620" y="70280"/>
                  </a:lnTo>
                  <a:lnTo>
                    <a:pt x="10373032" y="98996"/>
                  </a:lnTo>
                  <a:lnTo>
                    <a:pt x="10405783" y="131739"/>
                  </a:lnTo>
                  <a:lnTo>
                    <a:pt x="10434504" y="168142"/>
                  </a:lnTo>
                  <a:lnTo>
                    <a:pt x="10458827" y="207837"/>
                  </a:lnTo>
                  <a:lnTo>
                    <a:pt x="10478385" y="250456"/>
                  </a:lnTo>
                  <a:lnTo>
                    <a:pt x="10492810" y="295631"/>
                  </a:lnTo>
                  <a:lnTo>
                    <a:pt x="10501735" y="342993"/>
                  </a:lnTo>
                  <a:lnTo>
                    <a:pt x="10504792" y="392175"/>
                  </a:lnTo>
                  <a:lnTo>
                    <a:pt x="10501610" y="441385"/>
                  </a:lnTo>
                  <a:lnTo>
                    <a:pt x="10492692" y="488770"/>
                  </a:lnTo>
                  <a:lnTo>
                    <a:pt x="10478275" y="533964"/>
                  </a:lnTo>
                  <a:lnTo>
                    <a:pt x="10458729" y="576599"/>
                  </a:lnTo>
                  <a:lnTo>
                    <a:pt x="10434419" y="616306"/>
                  </a:lnTo>
                  <a:lnTo>
                    <a:pt x="10405712" y="652719"/>
                  </a:lnTo>
                  <a:lnTo>
                    <a:pt x="10372976" y="685470"/>
                  </a:lnTo>
                  <a:lnTo>
                    <a:pt x="10336578" y="714191"/>
                  </a:lnTo>
                  <a:lnTo>
                    <a:pt x="10296883" y="738514"/>
                  </a:lnTo>
                  <a:lnTo>
                    <a:pt x="10254260" y="758072"/>
                  </a:lnTo>
                  <a:lnTo>
                    <a:pt x="10209076" y="772497"/>
                  </a:lnTo>
                  <a:lnTo>
                    <a:pt x="10161696" y="781422"/>
                  </a:lnTo>
                  <a:lnTo>
                    <a:pt x="10112489" y="784478"/>
                  </a:lnTo>
                  <a:lnTo>
                    <a:pt x="392239" y="784478"/>
                  </a:lnTo>
                  <a:lnTo>
                    <a:pt x="343038" y="781422"/>
                  </a:lnTo>
                  <a:lnTo>
                    <a:pt x="295661" y="772497"/>
                  </a:lnTo>
                  <a:lnTo>
                    <a:pt x="250474" y="758072"/>
                  </a:lnTo>
                  <a:lnTo>
                    <a:pt x="207847" y="738514"/>
                  </a:lnTo>
                  <a:lnTo>
                    <a:pt x="168146" y="714191"/>
                  </a:lnTo>
                  <a:lnTo>
                    <a:pt x="131739" y="685470"/>
                  </a:lnTo>
                  <a:lnTo>
                    <a:pt x="98993" y="652719"/>
                  </a:lnTo>
                  <a:lnTo>
                    <a:pt x="70277" y="616306"/>
                  </a:lnTo>
                  <a:lnTo>
                    <a:pt x="45957" y="576599"/>
                  </a:lnTo>
                  <a:lnTo>
                    <a:pt x="26402" y="533964"/>
                  </a:lnTo>
                  <a:lnTo>
                    <a:pt x="11979" y="488770"/>
                  </a:lnTo>
                  <a:lnTo>
                    <a:pt x="3056" y="441385"/>
                  </a:lnTo>
                  <a:lnTo>
                    <a:pt x="0" y="39217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12900" y="1476882"/>
            <a:ext cx="982345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Sans Serif"/>
                <a:cs typeface="Microsoft Sans Serif"/>
              </a:rPr>
              <a:t>За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результатами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проведених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тендерних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закупівель</a:t>
            </a:r>
            <a:r>
              <a:rPr sz="1400" spc="-10" dirty="0">
                <a:latin typeface="Microsoft Sans Serif"/>
                <a:cs typeface="Microsoft Sans Serif"/>
              </a:rPr>
              <a:t> структурами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у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сфері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оборони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безпеки,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25" dirty="0">
                <a:latin typeface="Microsoft Sans Serif"/>
                <a:cs typeface="Microsoft Sans Serif"/>
              </a:rPr>
              <a:t>Держрибагентством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було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Microsoft Sans Serif"/>
                <a:cs typeface="Microsoft Sans Serif"/>
              </a:rPr>
              <a:t>проведено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аналіз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відповідності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попиту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та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пропозиції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на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внутрішньому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ринку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водних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біоресурсів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8076" y="2288413"/>
            <a:ext cx="5676265" cy="3510915"/>
            <a:chOff x="608076" y="2288413"/>
            <a:chExt cx="5676265" cy="3510915"/>
          </a:xfrm>
        </p:grpSpPr>
        <p:sp>
          <p:nvSpPr>
            <p:cNvPr id="8" name="object 8"/>
            <p:cNvSpPr/>
            <p:nvPr/>
          </p:nvSpPr>
          <p:spPr>
            <a:xfrm>
              <a:off x="2781299" y="4129151"/>
              <a:ext cx="3483610" cy="1651000"/>
            </a:xfrm>
            <a:custGeom>
              <a:avLst/>
              <a:gdLst/>
              <a:ahLst/>
              <a:cxnLst/>
              <a:rect l="l" t="t" r="r" b="b"/>
              <a:pathLst>
                <a:path w="3483610" h="1651000">
                  <a:moveTo>
                    <a:pt x="0" y="187579"/>
                  </a:moveTo>
                  <a:lnTo>
                    <a:pt x="6697" y="137700"/>
                  </a:lnTo>
                  <a:lnTo>
                    <a:pt x="25597" y="92888"/>
                  </a:lnTo>
                  <a:lnTo>
                    <a:pt x="54911" y="54927"/>
                  </a:lnTo>
                  <a:lnTo>
                    <a:pt x="92851" y="25602"/>
                  </a:lnTo>
                  <a:lnTo>
                    <a:pt x="137627" y="6698"/>
                  </a:lnTo>
                  <a:lnTo>
                    <a:pt x="187451" y="0"/>
                  </a:lnTo>
                  <a:lnTo>
                    <a:pt x="3295904" y="0"/>
                  </a:lnTo>
                  <a:lnTo>
                    <a:pt x="3345782" y="6698"/>
                  </a:lnTo>
                  <a:lnTo>
                    <a:pt x="3390594" y="25602"/>
                  </a:lnTo>
                  <a:lnTo>
                    <a:pt x="3428555" y="54927"/>
                  </a:lnTo>
                  <a:lnTo>
                    <a:pt x="3457880" y="92888"/>
                  </a:lnTo>
                  <a:lnTo>
                    <a:pt x="3476784" y="137700"/>
                  </a:lnTo>
                  <a:lnTo>
                    <a:pt x="3483483" y="187579"/>
                  </a:lnTo>
                  <a:lnTo>
                    <a:pt x="3483483" y="1463027"/>
                  </a:lnTo>
                  <a:lnTo>
                    <a:pt x="3476784" y="1512878"/>
                  </a:lnTo>
                  <a:lnTo>
                    <a:pt x="3457880" y="1557672"/>
                  </a:lnTo>
                  <a:lnTo>
                    <a:pt x="3428555" y="1595623"/>
                  </a:lnTo>
                  <a:lnTo>
                    <a:pt x="3390594" y="1624942"/>
                  </a:lnTo>
                  <a:lnTo>
                    <a:pt x="3345782" y="1643845"/>
                  </a:lnTo>
                  <a:lnTo>
                    <a:pt x="3295904" y="1650542"/>
                  </a:lnTo>
                  <a:lnTo>
                    <a:pt x="187451" y="1650542"/>
                  </a:lnTo>
                  <a:lnTo>
                    <a:pt x="137627" y="1643845"/>
                  </a:lnTo>
                  <a:lnTo>
                    <a:pt x="92851" y="1624942"/>
                  </a:lnTo>
                  <a:lnTo>
                    <a:pt x="54911" y="1595623"/>
                  </a:lnTo>
                  <a:lnTo>
                    <a:pt x="25597" y="1557672"/>
                  </a:lnTo>
                  <a:lnTo>
                    <a:pt x="6697" y="1512878"/>
                  </a:lnTo>
                  <a:lnTo>
                    <a:pt x="0" y="1463027"/>
                  </a:lnTo>
                  <a:lnTo>
                    <a:pt x="0" y="187579"/>
                  </a:lnTo>
                  <a:close/>
                </a:path>
              </a:pathLst>
            </a:custGeom>
            <a:ln w="38100">
              <a:solidFill>
                <a:srgbClr val="205F9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076" y="2311908"/>
              <a:ext cx="4612386" cy="9136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9704" y="2394204"/>
              <a:ext cx="4568190" cy="80086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1367" y="2297938"/>
              <a:ext cx="4594225" cy="892810"/>
            </a:xfrm>
            <a:custGeom>
              <a:avLst/>
              <a:gdLst/>
              <a:ahLst/>
              <a:cxnLst/>
              <a:rect l="l" t="t" r="r" b="b"/>
              <a:pathLst>
                <a:path w="4594225" h="892810">
                  <a:moveTo>
                    <a:pt x="4147388" y="0"/>
                  </a:moveTo>
                  <a:lnTo>
                    <a:pt x="446392" y="0"/>
                  </a:lnTo>
                  <a:lnTo>
                    <a:pt x="397753" y="2618"/>
                  </a:lnTo>
                  <a:lnTo>
                    <a:pt x="350631" y="10292"/>
                  </a:lnTo>
                  <a:lnTo>
                    <a:pt x="305299" y="22749"/>
                  </a:lnTo>
                  <a:lnTo>
                    <a:pt x="262028" y="39718"/>
                  </a:lnTo>
                  <a:lnTo>
                    <a:pt x="221091" y="60927"/>
                  </a:lnTo>
                  <a:lnTo>
                    <a:pt x="182760" y="86103"/>
                  </a:lnTo>
                  <a:lnTo>
                    <a:pt x="147308" y="114977"/>
                  </a:lnTo>
                  <a:lnTo>
                    <a:pt x="115006" y="147274"/>
                  </a:lnTo>
                  <a:lnTo>
                    <a:pt x="86128" y="182724"/>
                  </a:lnTo>
                  <a:lnTo>
                    <a:pt x="60946" y="221055"/>
                  </a:lnTo>
                  <a:lnTo>
                    <a:pt x="39731" y="261994"/>
                  </a:lnTo>
                  <a:lnTo>
                    <a:pt x="22757" y="305271"/>
                  </a:lnTo>
                  <a:lnTo>
                    <a:pt x="10296" y="350613"/>
                  </a:lnTo>
                  <a:lnTo>
                    <a:pt x="2619" y="397748"/>
                  </a:lnTo>
                  <a:lnTo>
                    <a:pt x="0" y="446404"/>
                  </a:lnTo>
                  <a:lnTo>
                    <a:pt x="2619" y="495039"/>
                  </a:lnTo>
                  <a:lnTo>
                    <a:pt x="10296" y="542158"/>
                  </a:lnTo>
                  <a:lnTo>
                    <a:pt x="22757" y="587489"/>
                  </a:lnTo>
                  <a:lnTo>
                    <a:pt x="39731" y="630760"/>
                  </a:lnTo>
                  <a:lnTo>
                    <a:pt x="60946" y="671698"/>
                  </a:lnTo>
                  <a:lnTo>
                    <a:pt x="86128" y="710030"/>
                  </a:lnTo>
                  <a:lnTo>
                    <a:pt x="115006" y="745484"/>
                  </a:lnTo>
                  <a:lnTo>
                    <a:pt x="147308" y="777788"/>
                  </a:lnTo>
                  <a:lnTo>
                    <a:pt x="182760" y="806669"/>
                  </a:lnTo>
                  <a:lnTo>
                    <a:pt x="221091" y="831854"/>
                  </a:lnTo>
                  <a:lnTo>
                    <a:pt x="262028" y="853071"/>
                  </a:lnTo>
                  <a:lnTo>
                    <a:pt x="305299" y="870048"/>
                  </a:lnTo>
                  <a:lnTo>
                    <a:pt x="350631" y="882512"/>
                  </a:lnTo>
                  <a:lnTo>
                    <a:pt x="397753" y="890190"/>
                  </a:lnTo>
                  <a:lnTo>
                    <a:pt x="446392" y="892810"/>
                  </a:lnTo>
                  <a:lnTo>
                    <a:pt x="4147388" y="892810"/>
                  </a:lnTo>
                  <a:lnTo>
                    <a:pt x="4196022" y="890190"/>
                  </a:lnTo>
                  <a:lnTo>
                    <a:pt x="4243141" y="882512"/>
                  </a:lnTo>
                  <a:lnTo>
                    <a:pt x="4288473" y="870048"/>
                  </a:lnTo>
                  <a:lnTo>
                    <a:pt x="4331743" y="853071"/>
                  </a:lnTo>
                  <a:lnTo>
                    <a:pt x="4372681" y="831854"/>
                  </a:lnTo>
                  <a:lnTo>
                    <a:pt x="4411013" y="806669"/>
                  </a:lnTo>
                  <a:lnTo>
                    <a:pt x="4446468" y="777788"/>
                  </a:lnTo>
                  <a:lnTo>
                    <a:pt x="4478771" y="745484"/>
                  </a:lnTo>
                  <a:lnTo>
                    <a:pt x="4507652" y="710030"/>
                  </a:lnTo>
                  <a:lnTo>
                    <a:pt x="4532837" y="671698"/>
                  </a:lnTo>
                  <a:lnTo>
                    <a:pt x="4554055" y="630760"/>
                  </a:lnTo>
                  <a:lnTo>
                    <a:pt x="4571031" y="587489"/>
                  </a:lnTo>
                  <a:lnTo>
                    <a:pt x="4583495" y="542158"/>
                  </a:lnTo>
                  <a:lnTo>
                    <a:pt x="4591173" y="495039"/>
                  </a:lnTo>
                  <a:lnTo>
                    <a:pt x="4593793" y="446404"/>
                  </a:lnTo>
                  <a:lnTo>
                    <a:pt x="4591173" y="397748"/>
                  </a:lnTo>
                  <a:lnTo>
                    <a:pt x="4583495" y="350613"/>
                  </a:lnTo>
                  <a:lnTo>
                    <a:pt x="4571031" y="305271"/>
                  </a:lnTo>
                  <a:lnTo>
                    <a:pt x="4554055" y="261994"/>
                  </a:lnTo>
                  <a:lnTo>
                    <a:pt x="4532837" y="221055"/>
                  </a:lnTo>
                  <a:lnTo>
                    <a:pt x="4507652" y="182724"/>
                  </a:lnTo>
                  <a:lnTo>
                    <a:pt x="4478771" y="147274"/>
                  </a:lnTo>
                  <a:lnTo>
                    <a:pt x="4446468" y="114977"/>
                  </a:lnTo>
                  <a:lnTo>
                    <a:pt x="4411013" y="86103"/>
                  </a:lnTo>
                  <a:lnTo>
                    <a:pt x="4372681" y="60927"/>
                  </a:lnTo>
                  <a:lnTo>
                    <a:pt x="4331743" y="39718"/>
                  </a:lnTo>
                  <a:lnTo>
                    <a:pt x="4288473" y="22749"/>
                  </a:lnTo>
                  <a:lnTo>
                    <a:pt x="4243141" y="10292"/>
                  </a:lnTo>
                  <a:lnTo>
                    <a:pt x="4196022" y="2618"/>
                  </a:lnTo>
                  <a:lnTo>
                    <a:pt x="4147388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367" y="2297938"/>
              <a:ext cx="4594225" cy="892810"/>
            </a:xfrm>
            <a:custGeom>
              <a:avLst/>
              <a:gdLst/>
              <a:ahLst/>
              <a:cxnLst/>
              <a:rect l="l" t="t" r="r" b="b"/>
              <a:pathLst>
                <a:path w="4594225" h="892810">
                  <a:moveTo>
                    <a:pt x="0" y="446404"/>
                  </a:moveTo>
                  <a:lnTo>
                    <a:pt x="2619" y="397748"/>
                  </a:lnTo>
                  <a:lnTo>
                    <a:pt x="10296" y="350613"/>
                  </a:lnTo>
                  <a:lnTo>
                    <a:pt x="22757" y="305271"/>
                  </a:lnTo>
                  <a:lnTo>
                    <a:pt x="39731" y="261994"/>
                  </a:lnTo>
                  <a:lnTo>
                    <a:pt x="60946" y="221055"/>
                  </a:lnTo>
                  <a:lnTo>
                    <a:pt x="86128" y="182724"/>
                  </a:lnTo>
                  <a:lnTo>
                    <a:pt x="115006" y="147274"/>
                  </a:lnTo>
                  <a:lnTo>
                    <a:pt x="147308" y="114977"/>
                  </a:lnTo>
                  <a:lnTo>
                    <a:pt x="182760" y="86103"/>
                  </a:lnTo>
                  <a:lnTo>
                    <a:pt x="221091" y="60927"/>
                  </a:lnTo>
                  <a:lnTo>
                    <a:pt x="262028" y="39718"/>
                  </a:lnTo>
                  <a:lnTo>
                    <a:pt x="305299" y="22749"/>
                  </a:lnTo>
                  <a:lnTo>
                    <a:pt x="350631" y="10292"/>
                  </a:lnTo>
                  <a:lnTo>
                    <a:pt x="397753" y="2618"/>
                  </a:lnTo>
                  <a:lnTo>
                    <a:pt x="446392" y="0"/>
                  </a:lnTo>
                  <a:lnTo>
                    <a:pt x="4147388" y="0"/>
                  </a:lnTo>
                  <a:lnTo>
                    <a:pt x="4196022" y="2618"/>
                  </a:lnTo>
                  <a:lnTo>
                    <a:pt x="4243141" y="10292"/>
                  </a:lnTo>
                  <a:lnTo>
                    <a:pt x="4288473" y="22749"/>
                  </a:lnTo>
                  <a:lnTo>
                    <a:pt x="4331743" y="39718"/>
                  </a:lnTo>
                  <a:lnTo>
                    <a:pt x="4372681" y="60927"/>
                  </a:lnTo>
                  <a:lnTo>
                    <a:pt x="4411013" y="86103"/>
                  </a:lnTo>
                  <a:lnTo>
                    <a:pt x="4446468" y="114977"/>
                  </a:lnTo>
                  <a:lnTo>
                    <a:pt x="4478771" y="147274"/>
                  </a:lnTo>
                  <a:lnTo>
                    <a:pt x="4507652" y="182724"/>
                  </a:lnTo>
                  <a:lnTo>
                    <a:pt x="4532837" y="221055"/>
                  </a:lnTo>
                  <a:lnTo>
                    <a:pt x="4554055" y="261994"/>
                  </a:lnTo>
                  <a:lnTo>
                    <a:pt x="4571031" y="305271"/>
                  </a:lnTo>
                  <a:lnTo>
                    <a:pt x="4583495" y="350613"/>
                  </a:lnTo>
                  <a:lnTo>
                    <a:pt x="4591173" y="397748"/>
                  </a:lnTo>
                  <a:lnTo>
                    <a:pt x="4593793" y="446404"/>
                  </a:lnTo>
                  <a:lnTo>
                    <a:pt x="4591173" y="495039"/>
                  </a:lnTo>
                  <a:lnTo>
                    <a:pt x="4583495" y="542158"/>
                  </a:lnTo>
                  <a:lnTo>
                    <a:pt x="4571031" y="587489"/>
                  </a:lnTo>
                  <a:lnTo>
                    <a:pt x="4554055" y="630760"/>
                  </a:lnTo>
                  <a:lnTo>
                    <a:pt x="4532837" y="671698"/>
                  </a:lnTo>
                  <a:lnTo>
                    <a:pt x="4507652" y="710030"/>
                  </a:lnTo>
                  <a:lnTo>
                    <a:pt x="4478771" y="745484"/>
                  </a:lnTo>
                  <a:lnTo>
                    <a:pt x="4446468" y="777788"/>
                  </a:lnTo>
                  <a:lnTo>
                    <a:pt x="4411013" y="806669"/>
                  </a:lnTo>
                  <a:lnTo>
                    <a:pt x="4372681" y="831854"/>
                  </a:lnTo>
                  <a:lnTo>
                    <a:pt x="4331743" y="853071"/>
                  </a:lnTo>
                  <a:lnTo>
                    <a:pt x="4288473" y="870048"/>
                  </a:lnTo>
                  <a:lnTo>
                    <a:pt x="4243141" y="882512"/>
                  </a:lnTo>
                  <a:lnTo>
                    <a:pt x="4196022" y="890190"/>
                  </a:lnTo>
                  <a:lnTo>
                    <a:pt x="4147388" y="892810"/>
                  </a:lnTo>
                  <a:lnTo>
                    <a:pt x="446392" y="892810"/>
                  </a:lnTo>
                  <a:lnTo>
                    <a:pt x="397753" y="890190"/>
                  </a:lnTo>
                  <a:lnTo>
                    <a:pt x="350631" y="882512"/>
                  </a:lnTo>
                  <a:lnTo>
                    <a:pt x="305299" y="870048"/>
                  </a:lnTo>
                  <a:lnTo>
                    <a:pt x="262028" y="853071"/>
                  </a:lnTo>
                  <a:lnTo>
                    <a:pt x="221091" y="831854"/>
                  </a:lnTo>
                  <a:lnTo>
                    <a:pt x="182760" y="806669"/>
                  </a:lnTo>
                  <a:lnTo>
                    <a:pt x="147308" y="777788"/>
                  </a:lnTo>
                  <a:lnTo>
                    <a:pt x="115006" y="745484"/>
                  </a:lnTo>
                  <a:lnTo>
                    <a:pt x="86128" y="710030"/>
                  </a:lnTo>
                  <a:lnTo>
                    <a:pt x="60946" y="671698"/>
                  </a:lnTo>
                  <a:lnTo>
                    <a:pt x="39731" y="630760"/>
                  </a:lnTo>
                  <a:lnTo>
                    <a:pt x="22757" y="587489"/>
                  </a:lnTo>
                  <a:lnTo>
                    <a:pt x="10296" y="542158"/>
                  </a:lnTo>
                  <a:lnTo>
                    <a:pt x="2619" y="495039"/>
                  </a:lnTo>
                  <a:lnTo>
                    <a:pt x="0" y="4464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88314" y="2406142"/>
            <a:ext cx="4280535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Microsoft Sans Serif"/>
                <a:cs typeface="Microsoft Sans Serif"/>
              </a:rPr>
              <a:t>Протягом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квітня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365" dirty="0">
                <a:latin typeface="Microsoft Sans Serif"/>
                <a:cs typeface="Microsoft Sans Serif"/>
              </a:rPr>
              <a:t>–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вересня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2025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року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було</a:t>
            </a:r>
            <a:endParaRPr sz="1400">
              <a:latin typeface="Microsoft Sans Serif"/>
              <a:cs typeface="Microsoft Sans Serif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spc="-10" dirty="0">
                <a:latin typeface="Microsoft Sans Serif"/>
                <a:cs typeface="Microsoft Sans Serif"/>
              </a:rPr>
              <a:t>опубліковано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оголошень</a:t>
            </a:r>
            <a:r>
              <a:rPr sz="1400" spc="-7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щодо</a:t>
            </a:r>
            <a:r>
              <a:rPr sz="1400" spc="-6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закупівлі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української </a:t>
            </a:r>
            <a:r>
              <a:rPr sz="1400" dirty="0">
                <a:latin typeface="Microsoft Sans Serif"/>
                <a:cs typeface="Microsoft Sans Serif"/>
              </a:rPr>
              <a:t>рибної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продукції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обсягом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471,1</a:t>
            </a:r>
            <a:r>
              <a:rPr sz="1400" spc="340" dirty="0">
                <a:latin typeface="Arial MT"/>
                <a:cs typeface="Arial MT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тонн.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627876" y="2288413"/>
            <a:ext cx="5160010" cy="937260"/>
            <a:chOff x="6627876" y="2288413"/>
            <a:chExt cx="5160010" cy="937260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7876" y="2311908"/>
              <a:ext cx="5145785" cy="9136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28460" y="2500884"/>
              <a:ext cx="4991861" cy="5875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651117" y="2297938"/>
              <a:ext cx="5127625" cy="892810"/>
            </a:xfrm>
            <a:custGeom>
              <a:avLst/>
              <a:gdLst/>
              <a:ahLst/>
              <a:cxnLst/>
              <a:rect l="l" t="t" r="r" b="b"/>
              <a:pathLst>
                <a:path w="5127625" h="892810">
                  <a:moveTo>
                    <a:pt x="4680838" y="0"/>
                  </a:moveTo>
                  <a:lnTo>
                    <a:pt x="446404" y="0"/>
                  </a:lnTo>
                  <a:lnTo>
                    <a:pt x="397770" y="2618"/>
                  </a:lnTo>
                  <a:lnTo>
                    <a:pt x="350651" y="10292"/>
                  </a:lnTo>
                  <a:lnTo>
                    <a:pt x="305320" y="22749"/>
                  </a:lnTo>
                  <a:lnTo>
                    <a:pt x="262049" y="39718"/>
                  </a:lnTo>
                  <a:lnTo>
                    <a:pt x="221111" y="60927"/>
                  </a:lnTo>
                  <a:lnTo>
                    <a:pt x="182779" y="86103"/>
                  </a:lnTo>
                  <a:lnTo>
                    <a:pt x="147325" y="114977"/>
                  </a:lnTo>
                  <a:lnTo>
                    <a:pt x="115021" y="147274"/>
                  </a:lnTo>
                  <a:lnTo>
                    <a:pt x="86140" y="182724"/>
                  </a:lnTo>
                  <a:lnTo>
                    <a:pt x="60955" y="221055"/>
                  </a:lnTo>
                  <a:lnTo>
                    <a:pt x="39738" y="261994"/>
                  </a:lnTo>
                  <a:lnTo>
                    <a:pt x="22761" y="305271"/>
                  </a:lnTo>
                  <a:lnTo>
                    <a:pt x="10297" y="350613"/>
                  </a:lnTo>
                  <a:lnTo>
                    <a:pt x="2619" y="397748"/>
                  </a:lnTo>
                  <a:lnTo>
                    <a:pt x="0" y="446404"/>
                  </a:lnTo>
                  <a:lnTo>
                    <a:pt x="2619" y="495039"/>
                  </a:lnTo>
                  <a:lnTo>
                    <a:pt x="10297" y="542158"/>
                  </a:lnTo>
                  <a:lnTo>
                    <a:pt x="22761" y="587489"/>
                  </a:lnTo>
                  <a:lnTo>
                    <a:pt x="39738" y="630760"/>
                  </a:lnTo>
                  <a:lnTo>
                    <a:pt x="60955" y="671698"/>
                  </a:lnTo>
                  <a:lnTo>
                    <a:pt x="86140" y="710030"/>
                  </a:lnTo>
                  <a:lnTo>
                    <a:pt x="115021" y="745484"/>
                  </a:lnTo>
                  <a:lnTo>
                    <a:pt x="147325" y="777788"/>
                  </a:lnTo>
                  <a:lnTo>
                    <a:pt x="182779" y="806669"/>
                  </a:lnTo>
                  <a:lnTo>
                    <a:pt x="221111" y="831854"/>
                  </a:lnTo>
                  <a:lnTo>
                    <a:pt x="262049" y="853071"/>
                  </a:lnTo>
                  <a:lnTo>
                    <a:pt x="305320" y="870048"/>
                  </a:lnTo>
                  <a:lnTo>
                    <a:pt x="350651" y="882512"/>
                  </a:lnTo>
                  <a:lnTo>
                    <a:pt x="397770" y="890190"/>
                  </a:lnTo>
                  <a:lnTo>
                    <a:pt x="446404" y="892810"/>
                  </a:lnTo>
                  <a:lnTo>
                    <a:pt x="4680838" y="892810"/>
                  </a:lnTo>
                  <a:lnTo>
                    <a:pt x="4729473" y="890190"/>
                  </a:lnTo>
                  <a:lnTo>
                    <a:pt x="4776592" y="882512"/>
                  </a:lnTo>
                  <a:lnTo>
                    <a:pt x="4821923" y="870048"/>
                  </a:lnTo>
                  <a:lnTo>
                    <a:pt x="4865194" y="853071"/>
                  </a:lnTo>
                  <a:lnTo>
                    <a:pt x="4906132" y="831854"/>
                  </a:lnTo>
                  <a:lnTo>
                    <a:pt x="4944464" y="806669"/>
                  </a:lnTo>
                  <a:lnTo>
                    <a:pt x="4979918" y="777788"/>
                  </a:lnTo>
                  <a:lnTo>
                    <a:pt x="5012222" y="745484"/>
                  </a:lnTo>
                  <a:lnTo>
                    <a:pt x="5041103" y="710030"/>
                  </a:lnTo>
                  <a:lnTo>
                    <a:pt x="5066288" y="671698"/>
                  </a:lnTo>
                  <a:lnTo>
                    <a:pt x="5087505" y="630760"/>
                  </a:lnTo>
                  <a:lnTo>
                    <a:pt x="5104482" y="587489"/>
                  </a:lnTo>
                  <a:lnTo>
                    <a:pt x="5116946" y="542158"/>
                  </a:lnTo>
                  <a:lnTo>
                    <a:pt x="5124624" y="495039"/>
                  </a:lnTo>
                  <a:lnTo>
                    <a:pt x="5127243" y="446404"/>
                  </a:lnTo>
                  <a:lnTo>
                    <a:pt x="5124624" y="397748"/>
                  </a:lnTo>
                  <a:lnTo>
                    <a:pt x="5116946" y="350613"/>
                  </a:lnTo>
                  <a:lnTo>
                    <a:pt x="5104482" y="305271"/>
                  </a:lnTo>
                  <a:lnTo>
                    <a:pt x="5087505" y="261994"/>
                  </a:lnTo>
                  <a:lnTo>
                    <a:pt x="5066288" y="221055"/>
                  </a:lnTo>
                  <a:lnTo>
                    <a:pt x="5041103" y="182724"/>
                  </a:lnTo>
                  <a:lnTo>
                    <a:pt x="5012222" y="147274"/>
                  </a:lnTo>
                  <a:lnTo>
                    <a:pt x="4979918" y="114977"/>
                  </a:lnTo>
                  <a:lnTo>
                    <a:pt x="4944464" y="86103"/>
                  </a:lnTo>
                  <a:lnTo>
                    <a:pt x="4906132" y="60927"/>
                  </a:lnTo>
                  <a:lnTo>
                    <a:pt x="4865194" y="39718"/>
                  </a:lnTo>
                  <a:lnTo>
                    <a:pt x="4821923" y="22749"/>
                  </a:lnTo>
                  <a:lnTo>
                    <a:pt x="4776592" y="10292"/>
                  </a:lnTo>
                  <a:lnTo>
                    <a:pt x="4729473" y="2618"/>
                  </a:lnTo>
                  <a:lnTo>
                    <a:pt x="4680838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51117" y="2297938"/>
              <a:ext cx="5127625" cy="892810"/>
            </a:xfrm>
            <a:custGeom>
              <a:avLst/>
              <a:gdLst/>
              <a:ahLst/>
              <a:cxnLst/>
              <a:rect l="l" t="t" r="r" b="b"/>
              <a:pathLst>
                <a:path w="5127625" h="892810">
                  <a:moveTo>
                    <a:pt x="0" y="446404"/>
                  </a:moveTo>
                  <a:lnTo>
                    <a:pt x="2619" y="397748"/>
                  </a:lnTo>
                  <a:lnTo>
                    <a:pt x="10297" y="350613"/>
                  </a:lnTo>
                  <a:lnTo>
                    <a:pt x="22761" y="305271"/>
                  </a:lnTo>
                  <a:lnTo>
                    <a:pt x="39738" y="261994"/>
                  </a:lnTo>
                  <a:lnTo>
                    <a:pt x="60955" y="221055"/>
                  </a:lnTo>
                  <a:lnTo>
                    <a:pt x="86140" y="182724"/>
                  </a:lnTo>
                  <a:lnTo>
                    <a:pt x="115021" y="147274"/>
                  </a:lnTo>
                  <a:lnTo>
                    <a:pt x="147325" y="114977"/>
                  </a:lnTo>
                  <a:lnTo>
                    <a:pt x="182779" y="86103"/>
                  </a:lnTo>
                  <a:lnTo>
                    <a:pt x="221111" y="60927"/>
                  </a:lnTo>
                  <a:lnTo>
                    <a:pt x="262049" y="39718"/>
                  </a:lnTo>
                  <a:lnTo>
                    <a:pt x="305320" y="22749"/>
                  </a:lnTo>
                  <a:lnTo>
                    <a:pt x="350651" y="10292"/>
                  </a:lnTo>
                  <a:lnTo>
                    <a:pt x="397770" y="2618"/>
                  </a:lnTo>
                  <a:lnTo>
                    <a:pt x="446404" y="0"/>
                  </a:lnTo>
                  <a:lnTo>
                    <a:pt x="4680838" y="0"/>
                  </a:lnTo>
                  <a:lnTo>
                    <a:pt x="4729473" y="2618"/>
                  </a:lnTo>
                  <a:lnTo>
                    <a:pt x="4776592" y="10292"/>
                  </a:lnTo>
                  <a:lnTo>
                    <a:pt x="4821923" y="22749"/>
                  </a:lnTo>
                  <a:lnTo>
                    <a:pt x="4865194" y="39718"/>
                  </a:lnTo>
                  <a:lnTo>
                    <a:pt x="4906132" y="60927"/>
                  </a:lnTo>
                  <a:lnTo>
                    <a:pt x="4944464" y="86103"/>
                  </a:lnTo>
                  <a:lnTo>
                    <a:pt x="4979918" y="114977"/>
                  </a:lnTo>
                  <a:lnTo>
                    <a:pt x="5012222" y="147274"/>
                  </a:lnTo>
                  <a:lnTo>
                    <a:pt x="5041103" y="182724"/>
                  </a:lnTo>
                  <a:lnTo>
                    <a:pt x="5066288" y="221055"/>
                  </a:lnTo>
                  <a:lnTo>
                    <a:pt x="5087505" y="261994"/>
                  </a:lnTo>
                  <a:lnTo>
                    <a:pt x="5104482" y="305271"/>
                  </a:lnTo>
                  <a:lnTo>
                    <a:pt x="5116946" y="350613"/>
                  </a:lnTo>
                  <a:lnTo>
                    <a:pt x="5124624" y="397748"/>
                  </a:lnTo>
                  <a:lnTo>
                    <a:pt x="5127243" y="446404"/>
                  </a:lnTo>
                  <a:lnTo>
                    <a:pt x="5124624" y="495039"/>
                  </a:lnTo>
                  <a:lnTo>
                    <a:pt x="5116946" y="542158"/>
                  </a:lnTo>
                  <a:lnTo>
                    <a:pt x="5104482" y="587489"/>
                  </a:lnTo>
                  <a:lnTo>
                    <a:pt x="5087505" y="630760"/>
                  </a:lnTo>
                  <a:lnTo>
                    <a:pt x="5066288" y="671698"/>
                  </a:lnTo>
                  <a:lnTo>
                    <a:pt x="5041103" y="710030"/>
                  </a:lnTo>
                  <a:lnTo>
                    <a:pt x="5012222" y="745484"/>
                  </a:lnTo>
                  <a:lnTo>
                    <a:pt x="4979918" y="777788"/>
                  </a:lnTo>
                  <a:lnTo>
                    <a:pt x="4944464" y="806669"/>
                  </a:lnTo>
                  <a:lnTo>
                    <a:pt x="4906132" y="831854"/>
                  </a:lnTo>
                  <a:lnTo>
                    <a:pt x="4865194" y="853071"/>
                  </a:lnTo>
                  <a:lnTo>
                    <a:pt x="4821923" y="870048"/>
                  </a:lnTo>
                  <a:lnTo>
                    <a:pt x="4776592" y="882512"/>
                  </a:lnTo>
                  <a:lnTo>
                    <a:pt x="4729473" y="890190"/>
                  </a:lnTo>
                  <a:lnTo>
                    <a:pt x="4680838" y="892810"/>
                  </a:lnTo>
                  <a:lnTo>
                    <a:pt x="446404" y="892810"/>
                  </a:lnTo>
                  <a:lnTo>
                    <a:pt x="397770" y="890190"/>
                  </a:lnTo>
                  <a:lnTo>
                    <a:pt x="350651" y="882512"/>
                  </a:lnTo>
                  <a:lnTo>
                    <a:pt x="305320" y="870048"/>
                  </a:lnTo>
                  <a:lnTo>
                    <a:pt x="262049" y="853071"/>
                  </a:lnTo>
                  <a:lnTo>
                    <a:pt x="221111" y="831854"/>
                  </a:lnTo>
                  <a:lnTo>
                    <a:pt x="182779" y="806669"/>
                  </a:lnTo>
                  <a:lnTo>
                    <a:pt x="147325" y="777788"/>
                  </a:lnTo>
                  <a:lnTo>
                    <a:pt x="115021" y="745484"/>
                  </a:lnTo>
                  <a:lnTo>
                    <a:pt x="86140" y="710030"/>
                  </a:lnTo>
                  <a:lnTo>
                    <a:pt x="60955" y="671698"/>
                  </a:lnTo>
                  <a:lnTo>
                    <a:pt x="39738" y="630760"/>
                  </a:lnTo>
                  <a:lnTo>
                    <a:pt x="22761" y="587489"/>
                  </a:lnTo>
                  <a:lnTo>
                    <a:pt x="10297" y="542158"/>
                  </a:lnTo>
                  <a:lnTo>
                    <a:pt x="2619" y="495039"/>
                  </a:lnTo>
                  <a:lnTo>
                    <a:pt x="0" y="44640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837933" y="2512822"/>
            <a:ext cx="475424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Microsoft Sans Serif"/>
                <a:cs typeface="Microsoft Sans Serif"/>
              </a:rPr>
              <a:t>Відбулися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20" dirty="0">
                <a:latin typeface="Microsoft Sans Serif"/>
                <a:cs typeface="Microsoft Sans Serif"/>
              </a:rPr>
              <a:t>закупівлі,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за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spc="-35" dirty="0">
                <a:latin typeface="Microsoft Sans Serif"/>
                <a:cs typeface="Microsoft Sans Serif"/>
              </a:rPr>
              <a:t>результатами</a:t>
            </a:r>
            <a:r>
              <a:rPr sz="1400" spc="-5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яких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було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придбано</a:t>
            </a:r>
            <a:endParaRPr sz="140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109,3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тонн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рибної </a:t>
            </a:r>
            <a:r>
              <a:rPr sz="1400" spc="-10" dirty="0">
                <a:latin typeface="Microsoft Sans Serif"/>
                <a:cs typeface="Microsoft Sans Serif"/>
              </a:rPr>
              <a:t>продукції.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896107" y="3181095"/>
            <a:ext cx="9218930" cy="2618105"/>
            <a:chOff x="2896107" y="3181095"/>
            <a:chExt cx="9218930" cy="2618105"/>
          </a:xfrm>
        </p:grpSpPr>
        <p:sp>
          <p:nvSpPr>
            <p:cNvPr id="21" name="object 21"/>
            <p:cNvSpPr/>
            <p:nvPr/>
          </p:nvSpPr>
          <p:spPr>
            <a:xfrm>
              <a:off x="4522977" y="3190620"/>
              <a:ext cx="5866130" cy="938530"/>
            </a:xfrm>
            <a:custGeom>
              <a:avLst/>
              <a:gdLst/>
              <a:ahLst/>
              <a:cxnLst/>
              <a:rect l="l" t="t" r="r" b="b"/>
              <a:pathLst>
                <a:path w="5866130" h="938529">
                  <a:moveTo>
                    <a:pt x="4691761" y="126"/>
                  </a:moveTo>
                  <a:lnTo>
                    <a:pt x="4691761" y="469264"/>
                  </a:lnTo>
                  <a:lnTo>
                    <a:pt x="0" y="469264"/>
                  </a:lnTo>
                  <a:lnTo>
                    <a:pt x="0" y="938529"/>
                  </a:lnTo>
                </a:path>
                <a:path w="5866130" h="938529">
                  <a:moveTo>
                    <a:pt x="4691761" y="0"/>
                  </a:moveTo>
                  <a:lnTo>
                    <a:pt x="4691761" y="461644"/>
                  </a:lnTo>
                  <a:lnTo>
                    <a:pt x="5865622" y="461644"/>
                  </a:lnTo>
                  <a:lnTo>
                    <a:pt x="5865622" y="802512"/>
                  </a:lnTo>
                </a:path>
              </a:pathLst>
            </a:custGeom>
            <a:ln w="19050">
              <a:solidFill>
                <a:srgbClr val="205F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681338" y="3993133"/>
              <a:ext cx="3415029" cy="1786889"/>
            </a:xfrm>
            <a:custGeom>
              <a:avLst/>
              <a:gdLst/>
              <a:ahLst/>
              <a:cxnLst/>
              <a:rect l="l" t="t" r="r" b="b"/>
              <a:pathLst>
                <a:path w="3415029" h="1786889">
                  <a:moveTo>
                    <a:pt x="0" y="202946"/>
                  </a:moveTo>
                  <a:lnTo>
                    <a:pt x="5363" y="156434"/>
                  </a:lnTo>
                  <a:lnTo>
                    <a:pt x="20639" y="113726"/>
                  </a:lnTo>
                  <a:lnTo>
                    <a:pt x="44606" y="76043"/>
                  </a:lnTo>
                  <a:lnTo>
                    <a:pt x="76043" y="44606"/>
                  </a:lnTo>
                  <a:lnTo>
                    <a:pt x="113726" y="20639"/>
                  </a:lnTo>
                  <a:lnTo>
                    <a:pt x="156434" y="5363"/>
                  </a:lnTo>
                  <a:lnTo>
                    <a:pt x="202945" y="0"/>
                  </a:lnTo>
                  <a:lnTo>
                    <a:pt x="3211576" y="0"/>
                  </a:lnTo>
                  <a:lnTo>
                    <a:pt x="3258127" y="5363"/>
                  </a:lnTo>
                  <a:lnTo>
                    <a:pt x="3300851" y="20639"/>
                  </a:lnTo>
                  <a:lnTo>
                    <a:pt x="3338532" y="44606"/>
                  </a:lnTo>
                  <a:lnTo>
                    <a:pt x="3369954" y="76043"/>
                  </a:lnTo>
                  <a:lnTo>
                    <a:pt x="3393904" y="113726"/>
                  </a:lnTo>
                  <a:lnTo>
                    <a:pt x="3409165" y="156434"/>
                  </a:lnTo>
                  <a:lnTo>
                    <a:pt x="3414521" y="202946"/>
                  </a:lnTo>
                  <a:lnTo>
                    <a:pt x="3414521" y="1583563"/>
                  </a:lnTo>
                  <a:lnTo>
                    <a:pt x="3409165" y="1630113"/>
                  </a:lnTo>
                  <a:lnTo>
                    <a:pt x="3393904" y="1672842"/>
                  </a:lnTo>
                  <a:lnTo>
                    <a:pt x="3369954" y="1710533"/>
                  </a:lnTo>
                  <a:lnTo>
                    <a:pt x="3338532" y="1741968"/>
                  </a:lnTo>
                  <a:lnTo>
                    <a:pt x="3300851" y="1765929"/>
                  </a:lnTo>
                  <a:lnTo>
                    <a:pt x="3258127" y="1781199"/>
                  </a:lnTo>
                  <a:lnTo>
                    <a:pt x="3211576" y="1786559"/>
                  </a:lnTo>
                  <a:lnTo>
                    <a:pt x="202945" y="1786559"/>
                  </a:lnTo>
                  <a:lnTo>
                    <a:pt x="156434" y="1781199"/>
                  </a:lnTo>
                  <a:lnTo>
                    <a:pt x="113726" y="1765929"/>
                  </a:lnTo>
                  <a:lnTo>
                    <a:pt x="76043" y="1741968"/>
                  </a:lnTo>
                  <a:lnTo>
                    <a:pt x="44606" y="1710533"/>
                  </a:lnTo>
                  <a:lnTo>
                    <a:pt x="20639" y="1672842"/>
                  </a:lnTo>
                  <a:lnTo>
                    <a:pt x="5363" y="1630113"/>
                  </a:lnTo>
                  <a:lnTo>
                    <a:pt x="0" y="1583563"/>
                  </a:lnTo>
                  <a:lnTo>
                    <a:pt x="0" y="202946"/>
                  </a:lnTo>
                  <a:close/>
                </a:path>
              </a:pathLst>
            </a:custGeom>
            <a:ln w="38100">
              <a:solidFill>
                <a:srgbClr val="205F9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6107" y="4681219"/>
              <a:ext cx="525780" cy="5257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06814" y="4668138"/>
              <a:ext cx="525779" cy="52578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3517772" y="4301490"/>
            <a:ext cx="22053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Національна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гвардія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України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8494" y="4812284"/>
            <a:ext cx="216725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100,0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тонн</a:t>
            </a:r>
            <a:endParaRPr sz="1400">
              <a:latin typeface="Calibri"/>
              <a:cs typeface="Calibri"/>
            </a:endParaRPr>
          </a:p>
          <a:p>
            <a:pPr marL="12700" marR="5080" indent="-635" algn="ctr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рибне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філе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на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шкірі </a:t>
            </a:r>
            <a:r>
              <a:rPr sz="1400" spc="-10" dirty="0">
                <a:latin typeface="Calibri"/>
                <a:cs typeface="Calibri"/>
              </a:rPr>
              <a:t>(товстолобик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заморожений)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357106" y="4173092"/>
            <a:ext cx="20351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Державна кримінально-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виконавча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служба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України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427844" y="4919548"/>
            <a:ext cx="2402205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9,3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тонн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(філе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товтолобика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на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шкірі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с/м)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0375" y="3435400"/>
            <a:ext cx="8872220" cy="2692400"/>
            <a:chOff x="460375" y="3435400"/>
            <a:chExt cx="8872220" cy="2692400"/>
          </a:xfrm>
        </p:grpSpPr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6107" y="4116539"/>
              <a:ext cx="572389" cy="55947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60206" y="4089742"/>
              <a:ext cx="572389" cy="55947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0375" y="3435400"/>
              <a:ext cx="2243455" cy="269226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325108" y="4467097"/>
              <a:ext cx="2356485" cy="1077595"/>
            </a:xfrm>
            <a:custGeom>
              <a:avLst/>
              <a:gdLst/>
              <a:ahLst/>
              <a:cxnLst/>
              <a:rect l="l" t="t" r="r" b="b"/>
              <a:pathLst>
                <a:path w="2356484" h="1077595">
                  <a:moveTo>
                    <a:pt x="1817623" y="0"/>
                  </a:moveTo>
                  <a:lnTo>
                    <a:pt x="1817623" y="269239"/>
                  </a:lnTo>
                  <a:lnTo>
                    <a:pt x="538607" y="269239"/>
                  </a:lnTo>
                  <a:lnTo>
                    <a:pt x="538607" y="0"/>
                  </a:lnTo>
                  <a:lnTo>
                    <a:pt x="0" y="538607"/>
                  </a:lnTo>
                  <a:lnTo>
                    <a:pt x="538607" y="1077340"/>
                  </a:lnTo>
                  <a:lnTo>
                    <a:pt x="538607" y="807973"/>
                  </a:lnTo>
                  <a:lnTo>
                    <a:pt x="1817623" y="807973"/>
                  </a:lnTo>
                  <a:lnTo>
                    <a:pt x="1817623" y="1077340"/>
                  </a:lnTo>
                  <a:lnTo>
                    <a:pt x="2356231" y="538607"/>
                  </a:lnTo>
                  <a:lnTo>
                    <a:pt x="1817623" y="0"/>
                  </a:lnTo>
                  <a:close/>
                </a:path>
              </a:pathLst>
            </a:custGeom>
            <a:solidFill>
              <a:srgbClr val="DC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25108" y="4467097"/>
              <a:ext cx="2356485" cy="1077595"/>
            </a:xfrm>
            <a:custGeom>
              <a:avLst/>
              <a:gdLst/>
              <a:ahLst/>
              <a:cxnLst/>
              <a:rect l="l" t="t" r="r" b="b"/>
              <a:pathLst>
                <a:path w="2356484" h="1077595">
                  <a:moveTo>
                    <a:pt x="0" y="538607"/>
                  </a:moveTo>
                  <a:lnTo>
                    <a:pt x="538607" y="0"/>
                  </a:lnTo>
                  <a:lnTo>
                    <a:pt x="538607" y="269239"/>
                  </a:lnTo>
                  <a:lnTo>
                    <a:pt x="1817623" y="269239"/>
                  </a:lnTo>
                  <a:lnTo>
                    <a:pt x="1817623" y="0"/>
                  </a:lnTo>
                  <a:lnTo>
                    <a:pt x="2356231" y="538607"/>
                  </a:lnTo>
                  <a:lnTo>
                    <a:pt x="1817623" y="1077340"/>
                  </a:lnTo>
                  <a:lnTo>
                    <a:pt x="1817623" y="807973"/>
                  </a:lnTo>
                  <a:lnTo>
                    <a:pt x="538607" y="807973"/>
                  </a:lnTo>
                  <a:lnTo>
                    <a:pt x="538607" y="1077340"/>
                  </a:lnTo>
                  <a:lnTo>
                    <a:pt x="0" y="538607"/>
                  </a:lnTo>
                  <a:close/>
                </a:path>
              </a:pathLst>
            </a:custGeom>
            <a:ln w="19050">
              <a:solidFill>
                <a:srgbClr val="205F9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926071" y="4771770"/>
            <a:ext cx="1155065" cy="440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080" indent="-222885">
              <a:lnSpc>
                <a:spcPct val="1133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Найбільші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обсяги закупівель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1496" y="6193539"/>
            <a:ext cx="4526280" cy="63853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398777" y="6164882"/>
            <a:ext cx="4280535" cy="5143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Державні</a:t>
            </a:r>
            <a:r>
              <a:rPr sz="1100" i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закупівлі</a:t>
            </a:r>
            <a:r>
              <a:rPr sz="1100" i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рибної</a:t>
            </a:r>
            <a:r>
              <a:rPr sz="11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продукції</a:t>
            </a:r>
            <a:r>
              <a:rPr sz="1100" i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для</a:t>
            </a:r>
            <a:r>
              <a:rPr sz="11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потреб</a:t>
            </a:r>
            <a:r>
              <a:rPr sz="1100" i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libri"/>
                <a:cs typeface="Calibri"/>
              </a:rPr>
              <a:t>силових</a:t>
            </a:r>
            <a:r>
              <a:rPr sz="1100" i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libri"/>
                <a:cs typeface="Calibri"/>
              </a:rPr>
              <a:t>структур: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  <a:hlinkClick r:id="rId11"/>
              </a:rPr>
              <a:t>https://darg.gov.ua/_derzhavni_zakupivli_ribnoji_0_1101_menu_0_1.html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xfrm>
            <a:off x="1549653" y="84582"/>
            <a:ext cx="967486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dirty="0"/>
              <a:t>ЗМІЦНЕННЯ</a:t>
            </a:r>
            <a:r>
              <a:rPr spc="-55" dirty="0"/>
              <a:t> </a:t>
            </a:r>
            <a:r>
              <a:rPr spc="-30" dirty="0"/>
              <a:t>ПРОДОВОЛЬЧОЇ</a:t>
            </a:r>
            <a:r>
              <a:rPr spc="-60" dirty="0"/>
              <a:t> </a:t>
            </a:r>
            <a:r>
              <a:rPr dirty="0"/>
              <a:t>БЕЗПЕКИ</a:t>
            </a:r>
            <a:r>
              <a:rPr spc="-45" dirty="0"/>
              <a:t> </a:t>
            </a:r>
            <a:r>
              <a:rPr dirty="0"/>
              <a:t>ЧЕРЕЗ</a:t>
            </a:r>
            <a:r>
              <a:rPr spc="-65" dirty="0"/>
              <a:t> </a:t>
            </a:r>
            <a:r>
              <a:rPr spc="-10" dirty="0"/>
              <a:t>ІМПОРТОЗАМІЩЕННЯ:</a:t>
            </a:r>
          </a:p>
          <a:p>
            <a:pPr marL="12700">
              <a:lnSpc>
                <a:spcPts val="2735"/>
              </a:lnSpc>
            </a:pPr>
            <a:r>
              <a:rPr spc="-20" dirty="0"/>
              <a:t>ВИКОРИСТАННЯ</a:t>
            </a:r>
            <a:r>
              <a:rPr spc="-70" dirty="0"/>
              <a:t> </a:t>
            </a:r>
            <a:r>
              <a:rPr dirty="0"/>
              <a:t>ВІТЧИЗНЯНИХ</a:t>
            </a:r>
            <a:r>
              <a:rPr spc="-60" dirty="0"/>
              <a:t> </a:t>
            </a:r>
            <a:r>
              <a:rPr dirty="0"/>
              <a:t>ВОДНИХ</a:t>
            </a:r>
            <a:r>
              <a:rPr spc="-90" dirty="0"/>
              <a:t> </a:t>
            </a:r>
            <a:r>
              <a:rPr dirty="0"/>
              <a:t>БІОРЕСУРСІВ</a:t>
            </a:r>
            <a:r>
              <a:rPr spc="-70" dirty="0"/>
              <a:t> </a:t>
            </a:r>
            <a:r>
              <a:rPr dirty="0"/>
              <a:t>ДЛЯ</a:t>
            </a:r>
            <a:r>
              <a:rPr spc="-80" dirty="0"/>
              <a:t> </a:t>
            </a:r>
            <a:r>
              <a:rPr dirty="0"/>
              <a:t>ПОТРЕБ</a:t>
            </a:r>
            <a:r>
              <a:rPr spc="-75" dirty="0"/>
              <a:t> </a:t>
            </a:r>
            <a:r>
              <a:rPr dirty="0"/>
              <a:t>ЗСУ</a:t>
            </a:r>
            <a:r>
              <a:rPr spc="-80" dirty="0"/>
              <a:t> </a:t>
            </a:r>
            <a:r>
              <a:rPr spc="-25" dirty="0"/>
              <a:t>ТА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1549653" y="743203"/>
            <a:ext cx="1822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163D63"/>
                </a:solidFill>
                <a:latin typeface="Calibri"/>
                <a:cs typeface="Calibri"/>
              </a:rPr>
              <a:t>СИЛ</a:t>
            </a:r>
            <a:r>
              <a:rPr sz="2400" b="1" spc="-5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63D63"/>
                </a:solidFill>
                <a:latin typeface="Calibri"/>
                <a:cs typeface="Calibri"/>
              </a:rPr>
              <a:t>БЕЗПЕКИ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44334" y="110985"/>
            <a:ext cx="775525" cy="76277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31367" y="6183564"/>
            <a:ext cx="655878" cy="6244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69163" y="1179957"/>
            <a:ext cx="11840210" cy="2171065"/>
            <a:chOff x="169163" y="1179957"/>
            <a:chExt cx="11840210" cy="217106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163" y="1203960"/>
              <a:ext cx="11827002" cy="214655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2646" y="1189482"/>
              <a:ext cx="11807190" cy="2127250"/>
            </a:xfrm>
            <a:custGeom>
              <a:avLst/>
              <a:gdLst/>
              <a:ahLst/>
              <a:cxnLst/>
              <a:rect l="l" t="t" r="r" b="b"/>
              <a:pathLst>
                <a:path w="11807190" h="2127250">
                  <a:moveTo>
                    <a:pt x="10743196" y="0"/>
                  </a:moveTo>
                  <a:lnTo>
                    <a:pt x="1063536" y="0"/>
                  </a:lnTo>
                  <a:lnTo>
                    <a:pt x="1014853" y="1094"/>
                  </a:lnTo>
                  <a:lnTo>
                    <a:pt x="966732" y="4347"/>
                  </a:lnTo>
                  <a:lnTo>
                    <a:pt x="919220" y="9710"/>
                  </a:lnTo>
                  <a:lnTo>
                    <a:pt x="872364" y="17138"/>
                  </a:lnTo>
                  <a:lnTo>
                    <a:pt x="826210" y="26582"/>
                  </a:lnTo>
                  <a:lnTo>
                    <a:pt x="780805" y="37997"/>
                  </a:lnTo>
                  <a:lnTo>
                    <a:pt x="736198" y="51334"/>
                  </a:lnTo>
                  <a:lnTo>
                    <a:pt x="692433" y="66548"/>
                  </a:lnTo>
                  <a:lnTo>
                    <a:pt x="649559" y="83591"/>
                  </a:lnTo>
                  <a:lnTo>
                    <a:pt x="607622" y="102417"/>
                  </a:lnTo>
                  <a:lnTo>
                    <a:pt x="566670" y="122977"/>
                  </a:lnTo>
                  <a:lnTo>
                    <a:pt x="526748" y="145226"/>
                  </a:lnTo>
                  <a:lnTo>
                    <a:pt x="487905" y="169117"/>
                  </a:lnTo>
                  <a:lnTo>
                    <a:pt x="450187" y="194602"/>
                  </a:lnTo>
                  <a:lnTo>
                    <a:pt x="413640" y="221634"/>
                  </a:lnTo>
                  <a:lnTo>
                    <a:pt x="378313" y="250167"/>
                  </a:lnTo>
                  <a:lnTo>
                    <a:pt x="344251" y="280153"/>
                  </a:lnTo>
                  <a:lnTo>
                    <a:pt x="311502" y="311546"/>
                  </a:lnTo>
                  <a:lnTo>
                    <a:pt x="280113" y="344299"/>
                  </a:lnTo>
                  <a:lnTo>
                    <a:pt x="250130" y="378365"/>
                  </a:lnTo>
                  <a:lnTo>
                    <a:pt x="221601" y="413696"/>
                  </a:lnTo>
                  <a:lnTo>
                    <a:pt x="194572" y="450246"/>
                  </a:lnTo>
                  <a:lnTo>
                    <a:pt x="169090" y="487968"/>
                  </a:lnTo>
                  <a:lnTo>
                    <a:pt x="145203" y="526814"/>
                  </a:lnTo>
                  <a:lnTo>
                    <a:pt x="122958" y="566739"/>
                  </a:lnTo>
                  <a:lnTo>
                    <a:pt x="102400" y="607695"/>
                  </a:lnTo>
                  <a:lnTo>
                    <a:pt x="83577" y="649634"/>
                  </a:lnTo>
                  <a:lnTo>
                    <a:pt x="66537" y="692511"/>
                  </a:lnTo>
                  <a:lnTo>
                    <a:pt x="51326" y="736278"/>
                  </a:lnTo>
                  <a:lnTo>
                    <a:pt x="37990" y="780888"/>
                  </a:lnTo>
                  <a:lnTo>
                    <a:pt x="26577" y="826294"/>
                  </a:lnTo>
                  <a:lnTo>
                    <a:pt x="17134" y="872449"/>
                  </a:lnTo>
                  <a:lnTo>
                    <a:pt x="9708" y="919307"/>
                  </a:lnTo>
                  <a:lnTo>
                    <a:pt x="4346" y="966820"/>
                  </a:lnTo>
                  <a:lnTo>
                    <a:pt x="1094" y="1014942"/>
                  </a:lnTo>
                  <a:lnTo>
                    <a:pt x="0" y="1063625"/>
                  </a:lnTo>
                  <a:lnTo>
                    <a:pt x="1094" y="1112307"/>
                  </a:lnTo>
                  <a:lnTo>
                    <a:pt x="4346" y="1160428"/>
                  </a:lnTo>
                  <a:lnTo>
                    <a:pt x="9708" y="1207939"/>
                  </a:lnTo>
                  <a:lnTo>
                    <a:pt x="17134" y="1254795"/>
                  </a:lnTo>
                  <a:lnTo>
                    <a:pt x="26577" y="1300948"/>
                  </a:lnTo>
                  <a:lnTo>
                    <a:pt x="37990" y="1346352"/>
                  </a:lnTo>
                  <a:lnTo>
                    <a:pt x="51326" y="1390959"/>
                  </a:lnTo>
                  <a:lnTo>
                    <a:pt x="66537" y="1434722"/>
                  </a:lnTo>
                  <a:lnTo>
                    <a:pt x="83577" y="1477595"/>
                  </a:lnTo>
                  <a:lnTo>
                    <a:pt x="102400" y="1519530"/>
                  </a:lnTo>
                  <a:lnTo>
                    <a:pt x="122958" y="1560482"/>
                  </a:lnTo>
                  <a:lnTo>
                    <a:pt x="145203" y="1600402"/>
                  </a:lnTo>
                  <a:lnTo>
                    <a:pt x="169090" y="1639244"/>
                  </a:lnTo>
                  <a:lnTo>
                    <a:pt x="194572" y="1676961"/>
                  </a:lnTo>
                  <a:lnTo>
                    <a:pt x="221601" y="1713505"/>
                  </a:lnTo>
                  <a:lnTo>
                    <a:pt x="250130" y="1748831"/>
                  </a:lnTo>
                  <a:lnTo>
                    <a:pt x="280113" y="1782892"/>
                  </a:lnTo>
                  <a:lnTo>
                    <a:pt x="311502" y="1815639"/>
                  </a:lnTo>
                  <a:lnTo>
                    <a:pt x="344251" y="1847027"/>
                  </a:lnTo>
                  <a:lnTo>
                    <a:pt x="378313" y="1877008"/>
                  </a:lnTo>
                  <a:lnTo>
                    <a:pt x="413640" y="1905536"/>
                  </a:lnTo>
                  <a:lnTo>
                    <a:pt x="450187" y="1932563"/>
                  </a:lnTo>
                  <a:lnTo>
                    <a:pt x="487905" y="1958043"/>
                  </a:lnTo>
                  <a:lnTo>
                    <a:pt x="526748" y="1981929"/>
                  </a:lnTo>
                  <a:lnTo>
                    <a:pt x="566670" y="2004173"/>
                  </a:lnTo>
                  <a:lnTo>
                    <a:pt x="607622" y="2024729"/>
                  </a:lnTo>
                  <a:lnTo>
                    <a:pt x="649559" y="2043551"/>
                  </a:lnTo>
                  <a:lnTo>
                    <a:pt x="692433" y="2060590"/>
                  </a:lnTo>
                  <a:lnTo>
                    <a:pt x="736198" y="2075800"/>
                  </a:lnTo>
                  <a:lnTo>
                    <a:pt x="780805" y="2089135"/>
                  </a:lnTo>
                  <a:lnTo>
                    <a:pt x="826210" y="2100547"/>
                  </a:lnTo>
                  <a:lnTo>
                    <a:pt x="872364" y="2109989"/>
                  </a:lnTo>
                  <a:lnTo>
                    <a:pt x="919220" y="2117414"/>
                  </a:lnTo>
                  <a:lnTo>
                    <a:pt x="966732" y="2122777"/>
                  </a:lnTo>
                  <a:lnTo>
                    <a:pt x="1014853" y="2126028"/>
                  </a:lnTo>
                  <a:lnTo>
                    <a:pt x="1063536" y="2127122"/>
                  </a:lnTo>
                  <a:lnTo>
                    <a:pt x="10743196" y="2127122"/>
                  </a:lnTo>
                  <a:lnTo>
                    <a:pt x="10791879" y="2126028"/>
                  </a:lnTo>
                  <a:lnTo>
                    <a:pt x="10839999" y="2122777"/>
                  </a:lnTo>
                  <a:lnTo>
                    <a:pt x="10887511" y="2117414"/>
                  </a:lnTo>
                  <a:lnTo>
                    <a:pt x="10934367" y="2109989"/>
                  </a:lnTo>
                  <a:lnTo>
                    <a:pt x="10980520" y="2100547"/>
                  </a:lnTo>
                  <a:lnTo>
                    <a:pt x="11025923" y="2089135"/>
                  </a:lnTo>
                  <a:lnTo>
                    <a:pt x="11070530" y="2075800"/>
                  </a:lnTo>
                  <a:lnTo>
                    <a:pt x="11114294" y="2060590"/>
                  </a:lnTo>
                  <a:lnTo>
                    <a:pt x="11157167" y="2043551"/>
                  </a:lnTo>
                  <a:lnTo>
                    <a:pt x="11199102" y="2024729"/>
                  </a:lnTo>
                  <a:lnTo>
                    <a:pt x="11240053" y="2004173"/>
                  </a:lnTo>
                  <a:lnTo>
                    <a:pt x="11279973" y="1981929"/>
                  </a:lnTo>
                  <a:lnTo>
                    <a:pt x="11318815" y="1958043"/>
                  </a:lnTo>
                  <a:lnTo>
                    <a:pt x="11356532" y="1932563"/>
                  </a:lnTo>
                  <a:lnTo>
                    <a:pt x="11393077" y="1905536"/>
                  </a:lnTo>
                  <a:lnTo>
                    <a:pt x="11428403" y="1877008"/>
                  </a:lnTo>
                  <a:lnTo>
                    <a:pt x="11462463" y="1847027"/>
                  </a:lnTo>
                  <a:lnTo>
                    <a:pt x="11495211" y="1815639"/>
                  </a:lnTo>
                  <a:lnTo>
                    <a:pt x="11526599" y="1782892"/>
                  </a:lnTo>
                  <a:lnTo>
                    <a:pt x="11556580" y="1748831"/>
                  </a:lnTo>
                  <a:lnTo>
                    <a:pt x="11585107" y="1713505"/>
                  </a:lnTo>
                  <a:lnTo>
                    <a:pt x="11612135" y="1676961"/>
                  </a:lnTo>
                  <a:lnTo>
                    <a:pt x="11637615" y="1639244"/>
                  </a:lnTo>
                  <a:lnTo>
                    <a:pt x="11661500" y="1600402"/>
                  </a:lnTo>
                  <a:lnTo>
                    <a:pt x="11683745" y="1560482"/>
                  </a:lnTo>
                  <a:lnTo>
                    <a:pt x="11704301" y="1519530"/>
                  </a:lnTo>
                  <a:lnTo>
                    <a:pt x="11723122" y="1477595"/>
                  </a:lnTo>
                  <a:lnTo>
                    <a:pt x="11740162" y="1434722"/>
                  </a:lnTo>
                  <a:lnTo>
                    <a:pt x="11755372" y="1390959"/>
                  </a:lnTo>
                  <a:lnTo>
                    <a:pt x="11768707" y="1346352"/>
                  </a:lnTo>
                  <a:lnTo>
                    <a:pt x="11780118" y="1300948"/>
                  </a:lnTo>
                  <a:lnTo>
                    <a:pt x="11789561" y="1254795"/>
                  </a:lnTo>
                  <a:lnTo>
                    <a:pt x="11796986" y="1207939"/>
                  </a:lnTo>
                  <a:lnTo>
                    <a:pt x="11802348" y="1160428"/>
                  </a:lnTo>
                  <a:lnTo>
                    <a:pt x="11805600" y="1112307"/>
                  </a:lnTo>
                  <a:lnTo>
                    <a:pt x="11806694" y="1063625"/>
                  </a:lnTo>
                  <a:lnTo>
                    <a:pt x="11805600" y="1014942"/>
                  </a:lnTo>
                  <a:lnTo>
                    <a:pt x="11802348" y="966820"/>
                  </a:lnTo>
                  <a:lnTo>
                    <a:pt x="11796986" y="919307"/>
                  </a:lnTo>
                  <a:lnTo>
                    <a:pt x="11789561" y="872449"/>
                  </a:lnTo>
                  <a:lnTo>
                    <a:pt x="11780118" y="826294"/>
                  </a:lnTo>
                  <a:lnTo>
                    <a:pt x="11768707" y="780888"/>
                  </a:lnTo>
                  <a:lnTo>
                    <a:pt x="11755372" y="736278"/>
                  </a:lnTo>
                  <a:lnTo>
                    <a:pt x="11740162" y="692511"/>
                  </a:lnTo>
                  <a:lnTo>
                    <a:pt x="11723122" y="649634"/>
                  </a:lnTo>
                  <a:lnTo>
                    <a:pt x="11704301" y="607695"/>
                  </a:lnTo>
                  <a:lnTo>
                    <a:pt x="11683745" y="566739"/>
                  </a:lnTo>
                  <a:lnTo>
                    <a:pt x="11661500" y="526814"/>
                  </a:lnTo>
                  <a:lnTo>
                    <a:pt x="11637615" y="487968"/>
                  </a:lnTo>
                  <a:lnTo>
                    <a:pt x="11612135" y="450246"/>
                  </a:lnTo>
                  <a:lnTo>
                    <a:pt x="11585107" y="413696"/>
                  </a:lnTo>
                  <a:lnTo>
                    <a:pt x="11556580" y="378365"/>
                  </a:lnTo>
                  <a:lnTo>
                    <a:pt x="11526599" y="344299"/>
                  </a:lnTo>
                  <a:lnTo>
                    <a:pt x="11495211" y="311546"/>
                  </a:lnTo>
                  <a:lnTo>
                    <a:pt x="11462463" y="280153"/>
                  </a:lnTo>
                  <a:lnTo>
                    <a:pt x="11428403" y="250167"/>
                  </a:lnTo>
                  <a:lnTo>
                    <a:pt x="11393077" y="221634"/>
                  </a:lnTo>
                  <a:lnTo>
                    <a:pt x="11356532" y="194602"/>
                  </a:lnTo>
                  <a:lnTo>
                    <a:pt x="11318815" y="169117"/>
                  </a:lnTo>
                  <a:lnTo>
                    <a:pt x="11279973" y="145226"/>
                  </a:lnTo>
                  <a:lnTo>
                    <a:pt x="11240053" y="122977"/>
                  </a:lnTo>
                  <a:lnTo>
                    <a:pt x="11199102" y="102417"/>
                  </a:lnTo>
                  <a:lnTo>
                    <a:pt x="11157167" y="83591"/>
                  </a:lnTo>
                  <a:lnTo>
                    <a:pt x="11114294" y="66548"/>
                  </a:lnTo>
                  <a:lnTo>
                    <a:pt x="11070530" y="51334"/>
                  </a:lnTo>
                  <a:lnTo>
                    <a:pt x="11025923" y="37997"/>
                  </a:lnTo>
                  <a:lnTo>
                    <a:pt x="10980520" y="26582"/>
                  </a:lnTo>
                  <a:lnTo>
                    <a:pt x="10934367" y="17138"/>
                  </a:lnTo>
                  <a:lnTo>
                    <a:pt x="10887511" y="9710"/>
                  </a:lnTo>
                  <a:lnTo>
                    <a:pt x="10839999" y="4347"/>
                  </a:lnTo>
                  <a:lnTo>
                    <a:pt x="10791879" y="1094"/>
                  </a:lnTo>
                  <a:lnTo>
                    <a:pt x="10743196" y="0"/>
                  </a:lnTo>
                  <a:close/>
                </a:path>
              </a:pathLst>
            </a:custGeom>
            <a:solidFill>
              <a:srgbClr val="C1E4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2646" y="1189482"/>
              <a:ext cx="11807190" cy="2127250"/>
            </a:xfrm>
            <a:custGeom>
              <a:avLst/>
              <a:gdLst/>
              <a:ahLst/>
              <a:cxnLst/>
              <a:rect l="l" t="t" r="r" b="b"/>
              <a:pathLst>
                <a:path w="11807190" h="2127250">
                  <a:moveTo>
                    <a:pt x="0" y="1063625"/>
                  </a:moveTo>
                  <a:lnTo>
                    <a:pt x="1094" y="1014942"/>
                  </a:lnTo>
                  <a:lnTo>
                    <a:pt x="4346" y="966820"/>
                  </a:lnTo>
                  <a:lnTo>
                    <a:pt x="9708" y="919307"/>
                  </a:lnTo>
                  <a:lnTo>
                    <a:pt x="17134" y="872449"/>
                  </a:lnTo>
                  <a:lnTo>
                    <a:pt x="26577" y="826294"/>
                  </a:lnTo>
                  <a:lnTo>
                    <a:pt x="37990" y="780888"/>
                  </a:lnTo>
                  <a:lnTo>
                    <a:pt x="51326" y="736278"/>
                  </a:lnTo>
                  <a:lnTo>
                    <a:pt x="66537" y="692511"/>
                  </a:lnTo>
                  <a:lnTo>
                    <a:pt x="83577" y="649634"/>
                  </a:lnTo>
                  <a:lnTo>
                    <a:pt x="102400" y="607695"/>
                  </a:lnTo>
                  <a:lnTo>
                    <a:pt x="122958" y="566739"/>
                  </a:lnTo>
                  <a:lnTo>
                    <a:pt x="145203" y="526814"/>
                  </a:lnTo>
                  <a:lnTo>
                    <a:pt x="169090" y="487968"/>
                  </a:lnTo>
                  <a:lnTo>
                    <a:pt x="194572" y="450246"/>
                  </a:lnTo>
                  <a:lnTo>
                    <a:pt x="221601" y="413696"/>
                  </a:lnTo>
                  <a:lnTo>
                    <a:pt x="250130" y="378365"/>
                  </a:lnTo>
                  <a:lnTo>
                    <a:pt x="280113" y="344299"/>
                  </a:lnTo>
                  <a:lnTo>
                    <a:pt x="311502" y="311546"/>
                  </a:lnTo>
                  <a:lnTo>
                    <a:pt x="344251" y="280153"/>
                  </a:lnTo>
                  <a:lnTo>
                    <a:pt x="378313" y="250167"/>
                  </a:lnTo>
                  <a:lnTo>
                    <a:pt x="413640" y="221634"/>
                  </a:lnTo>
                  <a:lnTo>
                    <a:pt x="450187" y="194602"/>
                  </a:lnTo>
                  <a:lnTo>
                    <a:pt x="487905" y="169117"/>
                  </a:lnTo>
                  <a:lnTo>
                    <a:pt x="526748" y="145226"/>
                  </a:lnTo>
                  <a:lnTo>
                    <a:pt x="566670" y="122977"/>
                  </a:lnTo>
                  <a:lnTo>
                    <a:pt x="607622" y="102417"/>
                  </a:lnTo>
                  <a:lnTo>
                    <a:pt x="649559" y="83591"/>
                  </a:lnTo>
                  <a:lnTo>
                    <a:pt x="692433" y="66548"/>
                  </a:lnTo>
                  <a:lnTo>
                    <a:pt x="736198" y="51334"/>
                  </a:lnTo>
                  <a:lnTo>
                    <a:pt x="780805" y="37997"/>
                  </a:lnTo>
                  <a:lnTo>
                    <a:pt x="826210" y="26582"/>
                  </a:lnTo>
                  <a:lnTo>
                    <a:pt x="872364" y="17138"/>
                  </a:lnTo>
                  <a:lnTo>
                    <a:pt x="919220" y="9710"/>
                  </a:lnTo>
                  <a:lnTo>
                    <a:pt x="966732" y="4347"/>
                  </a:lnTo>
                  <a:lnTo>
                    <a:pt x="1014853" y="1094"/>
                  </a:lnTo>
                  <a:lnTo>
                    <a:pt x="1063536" y="0"/>
                  </a:lnTo>
                  <a:lnTo>
                    <a:pt x="10743196" y="0"/>
                  </a:lnTo>
                  <a:lnTo>
                    <a:pt x="10791879" y="1094"/>
                  </a:lnTo>
                  <a:lnTo>
                    <a:pt x="10839999" y="4347"/>
                  </a:lnTo>
                  <a:lnTo>
                    <a:pt x="10887511" y="9710"/>
                  </a:lnTo>
                  <a:lnTo>
                    <a:pt x="10934367" y="17138"/>
                  </a:lnTo>
                  <a:lnTo>
                    <a:pt x="10980520" y="26582"/>
                  </a:lnTo>
                  <a:lnTo>
                    <a:pt x="11025923" y="37997"/>
                  </a:lnTo>
                  <a:lnTo>
                    <a:pt x="11070530" y="51334"/>
                  </a:lnTo>
                  <a:lnTo>
                    <a:pt x="11114294" y="66548"/>
                  </a:lnTo>
                  <a:lnTo>
                    <a:pt x="11157167" y="83591"/>
                  </a:lnTo>
                  <a:lnTo>
                    <a:pt x="11199102" y="102417"/>
                  </a:lnTo>
                  <a:lnTo>
                    <a:pt x="11240053" y="122977"/>
                  </a:lnTo>
                  <a:lnTo>
                    <a:pt x="11279973" y="145226"/>
                  </a:lnTo>
                  <a:lnTo>
                    <a:pt x="11318815" y="169117"/>
                  </a:lnTo>
                  <a:lnTo>
                    <a:pt x="11356532" y="194602"/>
                  </a:lnTo>
                  <a:lnTo>
                    <a:pt x="11393077" y="221634"/>
                  </a:lnTo>
                  <a:lnTo>
                    <a:pt x="11428403" y="250167"/>
                  </a:lnTo>
                  <a:lnTo>
                    <a:pt x="11462463" y="280153"/>
                  </a:lnTo>
                  <a:lnTo>
                    <a:pt x="11495211" y="311546"/>
                  </a:lnTo>
                  <a:lnTo>
                    <a:pt x="11526599" y="344299"/>
                  </a:lnTo>
                  <a:lnTo>
                    <a:pt x="11556580" y="378365"/>
                  </a:lnTo>
                  <a:lnTo>
                    <a:pt x="11585107" y="413696"/>
                  </a:lnTo>
                  <a:lnTo>
                    <a:pt x="11612135" y="450246"/>
                  </a:lnTo>
                  <a:lnTo>
                    <a:pt x="11637615" y="487968"/>
                  </a:lnTo>
                  <a:lnTo>
                    <a:pt x="11661500" y="526814"/>
                  </a:lnTo>
                  <a:lnTo>
                    <a:pt x="11683745" y="566739"/>
                  </a:lnTo>
                  <a:lnTo>
                    <a:pt x="11704301" y="607695"/>
                  </a:lnTo>
                  <a:lnTo>
                    <a:pt x="11723122" y="649634"/>
                  </a:lnTo>
                  <a:lnTo>
                    <a:pt x="11740162" y="692511"/>
                  </a:lnTo>
                  <a:lnTo>
                    <a:pt x="11755372" y="736278"/>
                  </a:lnTo>
                  <a:lnTo>
                    <a:pt x="11768707" y="780888"/>
                  </a:lnTo>
                  <a:lnTo>
                    <a:pt x="11780118" y="826294"/>
                  </a:lnTo>
                  <a:lnTo>
                    <a:pt x="11789561" y="872449"/>
                  </a:lnTo>
                  <a:lnTo>
                    <a:pt x="11796986" y="919307"/>
                  </a:lnTo>
                  <a:lnTo>
                    <a:pt x="11802348" y="966820"/>
                  </a:lnTo>
                  <a:lnTo>
                    <a:pt x="11805600" y="1014942"/>
                  </a:lnTo>
                  <a:lnTo>
                    <a:pt x="11806694" y="1063625"/>
                  </a:lnTo>
                  <a:lnTo>
                    <a:pt x="11805600" y="1112307"/>
                  </a:lnTo>
                  <a:lnTo>
                    <a:pt x="11802348" y="1160428"/>
                  </a:lnTo>
                  <a:lnTo>
                    <a:pt x="11796986" y="1207939"/>
                  </a:lnTo>
                  <a:lnTo>
                    <a:pt x="11789561" y="1254795"/>
                  </a:lnTo>
                  <a:lnTo>
                    <a:pt x="11780118" y="1300948"/>
                  </a:lnTo>
                  <a:lnTo>
                    <a:pt x="11768707" y="1346352"/>
                  </a:lnTo>
                  <a:lnTo>
                    <a:pt x="11755372" y="1390959"/>
                  </a:lnTo>
                  <a:lnTo>
                    <a:pt x="11740162" y="1434722"/>
                  </a:lnTo>
                  <a:lnTo>
                    <a:pt x="11723122" y="1477595"/>
                  </a:lnTo>
                  <a:lnTo>
                    <a:pt x="11704301" y="1519530"/>
                  </a:lnTo>
                  <a:lnTo>
                    <a:pt x="11683745" y="1560482"/>
                  </a:lnTo>
                  <a:lnTo>
                    <a:pt x="11661500" y="1600402"/>
                  </a:lnTo>
                  <a:lnTo>
                    <a:pt x="11637615" y="1639244"/>
                  </a:lnTo>
                  <a:lnTo>
                    <a:pt x="11612135" y="1676961"/>
                  </a:lnTo>
                  <a:lnTo>
                    <a:pt x="11585107" y="1713505"/>
                  </a:lnTo>
                  <a:lnTo>
                    <a:pt x="11556580" y="1748831"/>
                  </a:lnTo>
                  <a:lnTo>
                    <a:pt x="11526599" y="1782892"/>
                  </a:lnTo>
                  <a:lnTo>
                    <a:pt x="11495211" y="1815639"/>
                  </a:lnTo>
                  <a:lnTo>
                    <a:pt x="11462463" y="1847027"/>
                  </a:lnTo>
                  <a:lnTo>
                    <a:pt x="11428403" y="1877008"/>
                  </a:lnTo>
                  <a:lnTo>
                    <a:pt x="11393077" y="1905536"/>
                  </a:lnTo>
                  <a:lnTo>
                    <a:pt x="11356532" y="1932563"/>
                  </a:lnTo>
                  <a:lnTo>
                    <a:pt x="11318815" y="1958043"/>
                  </a:lnTo>
                  <a:lnTo>
                    <a:pt x="11279973" y="1981929"/>
                  </a:lnTo>
                  <a:lnTo>
                    <a:pt x="11240053" y="2004173"/>
                  </a:lnTo>
                  <a:lnTo>
                    <a:pt x="11199102" y="2024729"/>
                  </a:lnTo>
                  <a:lnTo>
                    <a:pt x="11157167" y="2043551"/>
                  </a:lnTo>
                  <a:lnTo>
                    <a:pt x="11114294" y="2060590"/>
                  </a:lnTo>
                  <a:lnTo>
                    <a:pt x="11070530" y="2075800"/>
                  </a:lnTo>
                  <a:lnTo>
                    <a:pt x="11025923" y="2089135"/>
                  </a:lnTo>
                  <a:lnTo>
                    <a:pt x="10980520" y="2100547"/>
                  </a:lnTo>
                  <a:lnTo>
                    <a:pt x="10934367" y="2109989"/>
                  </a:lnTo>
                  <a:lnTo>
                    <a:pt x="10887511" y="2117414"/>
                  </a:lnTo>
                  <a:lnTo>
                    <a:pt x="10839999" y="2122777"/>
                  </a:lnTo>
                  <a:lnTo>
                    <a:pt x="10791879" y="2126028"/>
                  </a:lnTo>
                  <a:lnTo>
                    <a:pt x="10743196" y="2127122"/>
                  </a:lnTo>
                  <a:lnTo>
                    <a:pt x="1063536" y="2127122"/>
                  </a:lnTo>
                  <a:lnTo>
                    <a:pt x="1014853" y="2126028"/>
                  </a:lnTo>
                  <a:lnTo>
                    <a:pt x="966732" y="2122777"/>
                  </a:lnTo>
                  <a:lnTo>
                    <a:pt x="919220" y="2117414"/>
                  </a:lnTo>
                  <a:lnTo>
                    <a:pt x="872364" y="2109989"/>
                  </a:lnTo>
                  <a:lnTo>
                    <a:pt x="826210" y="2100547"/>
                  </a:lnTo>
                  <a:lnTo>
                    <a:pt x="780805" y="2089135"/>
                  </a:lnTo>
                  <a:lnTo>
                    <a:pt x="736198" y="2075800"/>
                  </a:lnTo>
                  <a:lnTo>
                    <a:pt x="692433" y="2060590"/>
                  </a:lnTo>
                  <a:lnTo>
                    <a:pt x="649559" y="2043551"/>
                  </a:lnTo>
                  <a:lnTo>
                    <a:pt x="607622" y="2024729"/>
                  </a:lnTo>
                  <a:lnTo>
                    <a:pt x="566670" y="2004173"/>
                  </a:lnTo>
                  <a:lnTo>
                    <a:pt x="526748" y="1981929"/>
                  </a:lnTo>
                  <a:lnTo>
                    <a:pt x="487905" y="1958043"/>
                  </a:lnTo>
                  <a:lnTo>
                    <a:pt x="450187" y="1932563"/>
                  </a:lnTo>
                  <a:lnTo>
                    <a:pt x="413640" y="1905536"/>
                  </a:lnTo>
                  <a:lnTo>
                    <a:pt x="378313" y="1877008"/>
                  </a:lnTo>
                  <a:lnTo>
                    <a:pt x="344251" y="1847027"/>
                  </a:lnTo>
                  <a:lnTo>
                    <a:pt x="311502" y="1815639"/>
                  </a:lnTo>
                  <a:lnTo>
                    <a:pt x="280113" y="1782892"/>
                  </a:lnTo>
                  <a:lnTo>
                    <a:pt x="250130" y="1748831"/>
                  </a:lnTo>
                  <a:lnTo>
                    <a:pt x="221601" y="1713505"/>
                  </a:lnTo>
                  <a:lnTo>
                    <a:pt x="194572" y="1676961"/>
                  </a:lnTo>
                  <a:lnTo>
                    <a:pt x="169090" y="1639244"/>
                  </a:lnTo>
                  <a:lnTo>
                    <a:pt x="145203" y="1600402"/>
                  </a:lnTo>
                  <a:lnTo>
                    <a:pt x="122958" y="1560482"/>
                  </a:lnTo>
                  <a:lnTo>
                    <a:pt x="102400" y="1519530"/>
                  </a:lnTo>
                  <a:lnTo>
                    <a:pt x="83577" y="1477595"/>
                  </a:lnTo>
                  <a:lnTo>
                    <a:pt x="66537" y="1434722"/>
                  </a:lnTo>
                  <a:lnTo>
                    <a:pt x="51326" y="1390959"/>
                  </a:lnTo>
                  <a:lnTo>
                    <a:pt x="37990" y="1346352"/>
                  </a:lnTo>
                  <a:lnTo>
                    <a:pt x="26577" y="1300948"/>
                  </a:lnTo>
                  <a:lnTo>
                    <a:pt x="17134" y="1254795"/>
                  </a:lnTo>
                  <a:lnTo>
                    <a:pt x="9708" y="1207939"/>
                  </a:lnTo>
                  <a:lnTo>
                    <a:pt x="4346" y="1160428"/>
                  </a:lnTo>
                  <a:lnTo>
                    <a:pt x="1094" y="1112307"/>
                  </a:lnTo>
                  <a:lnTo>
                    <a:pt x="0" y="10636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77678" y="5993524"/>
            <a:ext cx="1718182" cy="7636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29678" y="6205346"/>
            <a:ext cx="2836291" cy="3419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7509" y="1442351"/>
            <a:ext cx="1715389" cy="8149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68115" y="1079372"/>
            <a:ext cx="1911731" cy="127292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779386" y="1181100"/>
            <a:ext cx="1337436" cy="133743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50748" y="2264664"/>
            <a:ext cx="2594610" cy="874394"/>
            <a:chOff x="650748" y="2264664"/>
            <a:chExt cx="2594610" cy="874394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3796" y="2264664"/>
              <a:ext cx="1165098" cy="56464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0748" y="2563368"/>
              <a:ext cx="419849" cy="57531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6696" y="2569464"/>
              <a:ext cx="2248662" cy="56464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09955" y="2318766"/>
            <a:ext cx="228092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КОРОП: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50" dirty="0">
                <a:solidFill>
                  <a:srgbClr val="155F82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55F82"/>
                </a:solidFill>
                <a:latin typeface="Calibri"/>
                <a:cs typeface="Calibri"/>
              </a:rPr>
              <a:t>	Філе</a:t>
            </a:r>
            <a:r>
              <a:rPr sz="2000" spc="-40" dirty="0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заморожене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61944" y="2264664"/>
            <a:ext cx="1706118" cy="56464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518408" y="2317750"/>
            <a:ext cx="13950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ТОВСТОЛОБ: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58896" y="2563367"/>
            <a:ext cx="2594610" cy="880110"/>
            <a:chOff x="3358896" y="2563367"/>
            <a:chExt cx="2594610" cy="880110"/>
          </a:xfrm>
        </p:grpSpPr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8896" y="2563367"/>
              <a:ext cx="419849" cy="5753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04844" y="2569463"/>
              <a:ext cx="2248662" cy="56464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8896" y="2868167"/>
              <a:ext cx="419849" cy="57531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04844" y="2874263"/>
              <a:ext cx="1756410" cy="56464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518408" y="2622550"/>
            <a:ext cx="228092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54965" algn="l"/>
              </a:tabLst>
            </a:pPr>
            <a:r>
              <a:rPr sz="2000" spc="-50" dirty="0">
                <a:solidFill>
                  <a:srgbClr val="155F82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55F82"/>
                </a:solidFill>
                <a:latin typeface="Calibri"/>
                <a:cs typeface="Calibri"/>
              </a:rPr>
              <a:t>	Філе</a:t>
            </a:r>
            <a:r>
              <a:rPr sz="2000" spc="-40" dirty="0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заморожене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50" dirty="0">
                <a:solidFill>
                  <a:srgbClr val="155F82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55F82"/>
                </a:solidFill>
                <a:latin typeface="Calibri"/>
                <a:cs typeface="Calibri"/>
              </a:rPr>
              <a:t>	Філе</a:t>
            </a:r>
            <a:r>
              <a:rPr sz="2000" spc="-35" dirty="0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55F82"/>
                </a:solidFill>
                <a:latin typeface="Calibri"/>
                <a:cs typeface="Calibri"/>
              </a:rPr>
              <a:t>на</a:t>
            </a:r>
            <a:r>
              <a:rPr sz="2000" spc="-35" dirty="0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шкірі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268211" y="2313432"/>
            <a:ext cx="2594610" cy="874394"/>
            <a:chOff x="6268211" y="2313432"/>
            <a:chExt cx="2594610" cy="874394"/>
          </a:xfrm>
        </p:grpSpPr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71259" y="2313432"/>
              <a:ext cx="2225801" cy="56464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68211" y="2612148"/>
              <a:ext cx="419849" cy="5752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14159" y="2618232"/>
              <a:ext cx="2248661" cy="56464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428613" y="2368042"/>
            <a:ext cx="228092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КЛАРІЄВИЙ</a:t>
            </a:r>
            <a:r>
              <a:rPr sz="2000" spc="-30" dirty="0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55F82"/>
                </a:solidFill>
                <a:latin typeface="Calibri"/>
                <a:cs typeface="Calibri"/>
              </a:rPr>
              <a:t>СОМ: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50" dirty="0">
                <a:solidFill>
                  <a:srgbClr val="155F82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55F82"/>
                </a:solidFill>
                <a:latin typeface="Calibri"/>
                <a:cs typeface="Calibri"/>
              </a:rPr>
              <a:t>	Філе</a:t>
            </a:r>
            <a:r>
              <a:rPr sz="2000" spc="-40" dirty="0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заморожене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9047988" y="2313432"/>
            <a:ext cx="2594610" cy="874394"/>
            <a:chOff x="9047988" y="2313432"/>
            <a:chExt cx="2594610" cy="874394"/>
          </a:xfrm>
        </p:grpSpPr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051036" y="2313432"/>
              <a:ext cx="1294637" cy="56464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047988" y="2612148"/>
              <a:ext cx="419849" cy="57529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393936" y="2618232"/>
              <a:ext cx="2248662" cy="564641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208769" y="2368042"/>
            <a:ext cx="228092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ФОРЕЛЬ: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000" spc="-50" dirty="0">
                <a:solidFill>
                  <a:srgbClr val="155F82"/>
                </a:solidFill>
                <a:latin typeface="Calibri"/>
                <a:cs typeface="Calibri"/>
              </a:rPr>
              <a:t>-</a:t>
            </a:r>
            <a:r>
              <a:rPr sz="2000" dirty="0">
                <a:solidFill>
                  <a:srgbClr val="155F82"/>
                </a:solidFill>
                <a:latin typeface="Calibri"/>
                <a:cs typeface="Calibri"/>
              </a:rPr>
              <a:t>	Філе</a:t>
            </a:r>
            <a:r>
              <a:rPr sz="2000" spc="-40" dirty="0">
                <a:solidFill>
                  <a:srgbClr val="155F8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55F82"/>
                </a:solidFill>
                <a:latin typeface="Calibri"/>
                <a:cs typeface="Calibri"/>
              </a:rPr>
              <a:t>заморожене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301226" y="920877"/>
            <a:ext cx="2295652" cy="2244217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446" rIns="0" bIns="0" rtlCol="0">
            <a:spAutoFit/>
          </a:bodyPr>
          <a:lstStyle/>
          <a:p>
            <a:pPr marL="306070" marR="5080">
              <a:lnSpc>
                <a:spcPts val="2590"/>
              </a:lnSpc>
              <a:spcBef>
                <a:spcPts val="425"/>
              </a:spcBef>
            </a:pPr>
            <a:r>
              <a:rPr spc="-10" dirty="0"/>
              <a:t>МОЖЛИВОСТІ</a:t>
            </a:r>
            <a:r>
              <a:rPr spc="-60" dirty="0"/>
              <a:t> </a:t>
            </a:r>
            <a:r>
              <a:rPr spc="-25" dirty="0"/>
              <a:t>ВИКОРИСТАННЯ</a:t>
            </a:r>
            <a:r>
              <a:rPr spc="-55" dirty="0"/>
              <a:t> </a:t>
            </a:r>
            <a:r>
              <a:rPr dirty="0"/>
              <a:t>НАЦІОНАЛЬНОІ</a:t>
            </a:r>
            <a:r>
              <a:rPr spc="-70" dirty="0"/>
              <a:t> </a:t>
            </a:r>
            <a:r>
              <a:rPr dirty="0"/>
              <a:t>РИБНОЇ</a:t>
            </a:r>
            <a:r>
              <a:rPr spc="-60" dirty="0"/>
              <a:t> </a:t>
            </a:r>
            <a:r>
              <a:rPr spc="-10" dirty="0"/>
              <a:t>ПРОДУКЦІЇ </a:t>
            </a:r>
            <a:r>
              <a:rPr dirty="0"/>
              <a:t>ЗАКЛАДАМИ</a:t>
            </a:r>
            <a:r>
              <a:rPr spc="-70" dirty="0"/>
              <a:t> </a:t>
            </a:r>
            <a:r>
              <a:rPr spc="-20" dirty="0"/>
              <a:t>ОХОРОНИ</a:t>
            </a:r>
            <a:r>
              <a:rPr spc="-45" dirty="0"/>
              <a:t> </a:t>
            </a:r>
            <a:r>
              <a:rPr spc="-10" dirty="0"/>
              <a:t>ЗДОРОВ’Я</a:t>
            </a:r>
          </a:p>
        </p:txBody>
      </p:sp>
      <p:pic>
        <p:nvPicPr>
          <p:cNvPr id="37" name="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23011" y="88239"/>
            <a:ext cx="898436" cy="884326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501802" y="3489782"/>
            <a:ext cx="1135443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Прісноводна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риба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дуже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легко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швидко</a:t>
            </a:r>
            <a:r>
              <a:rPr sz="1600" spc="-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засвоюється</a:t>
            </a:r>
            <a:r>
              <a:rPr sz="1600" spc="-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є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незамінним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продуктом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дієтичного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харчування.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Особливо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корисна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риба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при</a:t>
            </a:r>
            <a:endParaRPr sz="16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захворюваннях</a:t>
            </a:r>
            <a:r>
              <a:rPr sz="1600" spc="-5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серця,</a:t>
            </a:r>
            <a:r>
              <a:rPr sz="1600" spc="-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а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також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при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гастриті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виразковій</a:t>
            </a:r>
            <a:r>
              <a:rPr sz="1600" spc="-5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хворобі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шлунка.</a:t>
            </a:r>
            <a:endParaRPr sz="16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Одна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головних</a:t>
            </a:r>
            <a:r>
              <a:rPr sz="1600" spc="254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цінностей</a:t>
            </a:r>
            <a:r>
              <a:rPr sz="1600" spc="2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риби,</a:t>
            </a:r>
            <a:r>
              <a:rPr sz="1600" spc="25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</a:t>
            </a:r>
            <a:r>
              <a:rPr sz="1600" spc="2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тому</a:t>
            </a:r>
            <a:r>
              <a:rPr sz="1600" spc="254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числі</a:t>
            </a:r>
            <a:r>
              <a:rPr sz="1600" spc="2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2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прісноводної</a:t>
            </a:r>
            <a:r>
              <a:rPr sz="1600" spc="2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-</a:t>
            </a:r>
            <a:r>
              <a:rPr sz="1600" spc="2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білок</a:t>
            </a:r>
            <a:r>
              <a:rPr sz="1600" spc="2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</a:t>
            </a:r>
            <a:r>
              <a:rPr sz="1600" spc="2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унікальним</a:t>
            </a:r>
            <a:r>
              <a:rPr sz="1600" spc="25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співвідношенням</a:t>
            </a:r>
            <a:r>
              <a:rPr sz="1600" spc="26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незамінних</a:t>
            </a:r>
            <a:r>
              <a:rPr sz="1600" spc="2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амінокислот,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найцінніші</a:t>
            </a:r>
            <a:r>
              <a:rPr sz="1600" spc="2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</a:t>
            </a:r>
            <a:r>
              <a:rPr sz="1600" spc="2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них</a:t>
            </a:r>
            <a:r>
              <a:rPr sz="1600" spc="204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-</a:t>
            </a:r>
            <a:r>
              <a:rPr sz="1600" spc="2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триптофан,</a:t>
            </a:r>
            <a:r>
              <a:rPr sz="1600" spc="2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лізин,</a:t>
            </a:r>
            <a:r>
              <a:rPr sz="1600" spc="204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метіонін</a:t>
            </a:r>
            <a:r>
              <a:rPr sz="1600" spc="2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2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таурин.</a:t>
            </a:r>
            <a:r>
              <a:rPr sz="1600" spc="2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Прісноводна</a:t>
            </a:r>
            <a:r>
              <a:rPr sz="1600" spc="2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риба</a:t>
            </a:r>
            <a:r>
              <a:rPr sz="1600" spc="22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містить</a:t>
            </a:r>
            <a:r>
              <a:rPr sz="1600" spc="2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дуже</a:t>
            </a:r>
            <a:r>
              <a:rPr sz="1600" spc="204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важливі</a:t>
            </a:r>
            <a:r>
              <a:rPr sz="1600" spc="2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мінерали:</a:t>
            </a:r>
            <a:r>
              <a:rPr sz="1600" spc="2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кальцій</a:t>
            </a:r>
            <a:r>
              <a:rPr sz="1600" spc="20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2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фосфор.</a:t>
            </a:r>
            <a:r>
              <a:rPr sz="1600" spc="2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Її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регулярне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вживання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зміцнює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зуби і</a:t>
            </a:r>
            <a:r>
              <a:rPr sz="1600" spc="-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кістки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-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захищає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від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остеопорозу.</a:t>
            </a:r>
            <a:endParaRPr sz="1600">
              <a:latin typeface="Calibri"/>
              <a:cs typeface="Calibri"/>
            </a:endParaRPr>
          </a:p>
          <a:p>
            <a:pPr marL="12700" marR="6350" algn="just">
              <a:lnSpc>
                <a:spcPct val="100000"/>
              </a:lnSpc>
              <a:spcBef>
                <a:spcPts val="1920"/>
              </a:spcBef>
            </a:pP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У</a:t>
            </a:r>
            <a:r>
              <a:rPr sz="1600" spc="1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прісноводної</a:t>
            </a:r>
            <a:r>
              <a:rPr sz="1600" spc="1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риби</a:t>
            </a:r>
            <a:r>
              <a:rPr sz="1600" spc="1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досить</a:t>
            </a:r>
            <a:r>
              <a:rPr sz="1600" spc="1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багато</a:t>
            </a:r>
            <a:r>
              <a:rPr sz="1600" spc="1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жиророзчинних</a:t>
            </a:r>
            <a:r>
              <a:rPr sz="1600" spc="1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вітамінів</a:t>
            </a:r>
            <a:r>
              <a:rPr sz="1600" spc="1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A,</a:t>
            </a:r>
            <a:r>
              <a:rPr sz="1600" spc="1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D</a:t>
            </a:r>
            <a:r>
              <a:rPr sz="1600" spc="1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1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Е.</a:t>
            </a:r>
            <a:r>
              <a:rPr sz="1600" spc="1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Вітаміни</a:t>
            </a:r>
            <a:r>
              <a:rPr sz="1600" spc="1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А</a:t>
            </a:r>
            <a:r>
              <a:rPr sz="1600" spc="1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1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Е</a:t>
            </a:r>
            <a:r>
              <a:rPr sz="1600" spc="1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підвищують</a:t>
            </a:r>
            <a:r>
              <a:rPr sz="1600" spc="1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опірність</a:t>
            </a:r>
            <a:r>
              <a:rPr sz="1600" spc="13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організму</a:t>
            </a:r>
            <a:r>
              <a:rPr sz="1600" spc="1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інфекціям</a:t>
            </a:r>
            <a:r>
              <a:rPr sz="1600" spc="1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163D63"/>
                </a:solidFill>
                <a:latin typeface="Calibri"/>
                <a:cs typeface="Calibri"/>
              </a:rPr>
              <a:t>і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попереджають</a:t>
            </a:r>
            <a:r>
              <a:rPr sz="1600" spc="2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онкологічні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захворювання,</a:t>
            </a:r>
            <a:r>
              <a:rPr sz="1600" spc="229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вітамін</a:t>
            </a:r>
            <a:r>
              <a:rPr sz="1600" spc="22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D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зміцнює</a:t>
            </a:r>
            <a:r>
              <a:rPr sz="1600" spc="229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кістки.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Вуха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2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заливне</a:t>
            </a:r>
            <a:r>
              <a:rPr sz="1600" spc="229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</a:t>
            </a:r>
            <a:r>
              <a:rPr sz="1600" spc="2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прісноводної</a:t>
            </a:r>
            <a:r>
              <a:rPr sz="1600" spc="2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риби</a:t>
            </a:r>
            <a:r>
              <a:rPr sz="1600" spc="2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-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відмінні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страви</a:t>
            </a:r>
            <a:r>
              <a:rPr sz="1600" spc="2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для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стимуляції</a:t>
            </a:r>
            <a:r>
              <a:rPr sz="1600" spc="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травлення.</a:t>
            </a:r>
            <a:r>
              <a:rPr sz="1600" spc="1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Екстрактивні</a:t>
            </a:r>
            <a:r>
              <a:rPr sz="1600" spc="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речовини</a:t>
            </a:r>
            <a:r>
              <a:rPr sz="1600" spc="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бульйону</a:t>
            </a:r>
            <a:r>
              <a:rPr sz="1600" spc="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підвищують</a:t>
            </a:r>
            <a:r>
              <a:rPr sz="1600" spc="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виділення</a:t>
            </a:r>
            <a:r>
              <a:rPr sz="1600" spc="-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шлункового</a:t>
            </a:r>
            <a:r>
              <a:rPr sz="1600" spc="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соку</a:t>
            </a:r>
            <a:r>
              <a:rPr sz="1600" spc="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ферментів</a:t>
            </a:r>
            <a:r>
              <a:rPr sz="1600" spc="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підшлункової</a:t>
            </a:r>
            <a:r>
              <a:rPr sz="1600" spc="1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залози. </a:t>
            </a:r>
            <a:r>
              <a:rPr sz="1600" spc="-30" dirty="0">
                <a:solidFill>
                  <a:srgbClr val="163D63"/>
                </a:solidFill>
                <a:latin typeface="Calibri"/>
                <a:cs typeface="Calibri"/>
              </a:rPr>
              <a:t>Тому</a:t>
            </a:r>
            <a:r>
              <a:rPr sz="1600" spc="-2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-5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вуха,</a:t>
            </a:r>
            <a:r>
              <a:rPr sz="1600" spc="-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і</a:t>
            </a:r>
            <a:r>
              <a:rPr sz="1600" spc="-4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холодець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корисні</a:t>
            </a:r>
            <a:r>
              <a:rPr sz="1600" spc="-6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при</a:t>
            </a:r>
            <a:r>
              <a:rPr sz="1600" spc="-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гастриті</a:t>
            </a:r>
            <a:r>
              <a:rPr sz="1600" spc="-5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зі</a:t>
            </a:r>
            <a:r>
              <a:rPr sz="1600" spc="-40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63D63"/>
                </a:solidFill>
                <a:latin typeface="Calibri"/>
                <a:cs typeface="Calibri"/>
              </a:rPr>
              <a:t>зниженою</a:t>
            </a:r>
            <a:r>
              <a:rPr sz="1600" spc="-35" dirty="0">
                <a:solidFill>
                  <a:srgbClr val="163D63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163D63"/>
                </a:solidFill>
                <a:latin typeface="Calibri"/>
                <a:cs typeface="Calibri"/>
              </a:rPr>
              <a:t>кислотністю.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446" rIns="0" bIns="0" rtlCol="0">
            <a:spAutoFit/>
          </a:bodyPr>
          <a:lstStyle/>
          <a:p>
            <a:pPr marL="306070" marR="5080">
              <a:lnSpc>
                <a:spcPts val="2590"/>
              </a:lnSpc>
              <a:spcBef>
                <a:spcPts val="425"/>
              </a:spcBef>
            </a:pPr>
            <a:r>
              <a:rPr spc="-10" dirty="0"/>
              <a:t>МОЖЛИВОСТІ</a:t>
            </a:r>
            <a:r>
              <a:rPr spc="-60" dirty="0"/>
              <a:t> </a:t>
            </a:r>
            <a:r>
              <a:rPr spc="-25" dirty="0"/>
              <a:t>ВИКОРИСТАННЯ</a:t>
            </a:r>
            <a:r>
              <a:rPr spc="-55" dirty="0"/>
              <a:t> </a:t>
            </a:r>
            <a:r>
              <a:rPr dirty="0"/>
              <a:t>НАЦІОНАЛЬНОІ</a:t>
            </a:r>
            <a:r>
              <a:rPr spc="-70" dirty="0"/>
              <a:t> </a:t>
            </a:r>
            <a:r>
              <a:rPr dirty="0"/>
              <a:t>РИБНОЇ</a:t>
            </a:r>
            <a:r>
              <a:rPr spc="-60" dirty="0"/>
              <a:t> </a:t>
            </a:r>
            <a:r>
              <a:rPr spc="-10" dirty="0"/>
              <a:t>ПРОДУКЦІЇ </a:t>
            </a:r>
            <a:r>
              <a:rPr dirty="0"/>
              <a:t>ЗАКЛАДАМИ</a:t>
            </a:r>
            <a:r>
              <a:rPr spc="-70" dirty="0"/>
              <a:t> </a:t>
            </a:r>
            <a:r>
              <a:rPr spc="-20" dirty="0"/>
              <a:t>ОХОРОНИ</a:t>
            </a:r>
            <a:r>
              <a:rPr spc="-45" dirty="0"/>
              <a:t> </a:t>
            </a:r>
            <a:r>
              <a:rPr spc="-10" dirty="0"/>
              <a:t>ЗДОРОВ’Я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011" y="88239"/>
            <a:ext cx="898436" cy="8843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0011" y="943355"/>
            <a:ext cx="9927336" cy="5161788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45792" y="969391"/>
          <a:ext cx="9816460" cy="5046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62674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9662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814070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18185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718184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539750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901065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722629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168910">
                <a:tc rowSpan="3">
                  <a:txBody>
                    <a:bodyPr/>
                    <a:lstStyle/>
                    <a:p>
                      <a:pPr marL="252729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Показник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33985">
                        <a:lnSpc>
                          <a:spcPts val="116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Одиниця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8120">
                        <a:lnSpc>
                          <a:spcPts val="131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виміру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1073150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Імпортна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рибопродукція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30035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Риба</a:t>
                      </a:r>
                      <a:r>
                        <a:rPr sz="11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власного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виробництва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00355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нежирні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0504" marR="138430" indent="-86995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помірно-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жирні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52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жирні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нежирні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marL="11430" algn="ctr">
                        <a:lnSpc>
                          <a:spcPts val="117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помірно-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жирні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02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7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Хек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Минтай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Оселедець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71755" indent="168910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Лосось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атлантичний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marR="70485" indent="50165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Скумбрія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атлантична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5560" marR="36830" indent="116839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Карась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сріблястий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 marR="50165" indent="126364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Короп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звичайний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8440" marR="125730" indent="-88900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Товсто- лоби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4775" marR="17145" indent="71120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Лящ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річков.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4290" indent="-27940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Кілька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чорно-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мор.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(шпрот)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marR="67310" indent="68580">
                        <a:lnSpc>
                          <a:spcPts val="130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Форель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райдужна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L="69850">
                        <a:lnSpc>
                          <a:spcPts val="117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Їстівна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частина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57.0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46.0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59.0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58.0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60.0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48.0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46.0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53.3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43.0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56.0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marL="69850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Калорійність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кКал/100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86.0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72.0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135.0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150.0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191.0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87.0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112.0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134.0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105.0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135.0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148.0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L="69850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Білки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736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16.1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15.9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ts val="11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19.01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20.5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18.0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17.7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16.0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16.3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17.1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17.1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20.8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marL="69850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Жири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366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8.2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13.2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5.3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7.6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7.6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6.6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69850">
                        <a:lnSpc>
                          <a:spcPts val="11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Жирні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к-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ти: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ꞷ-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8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ꞷ-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ts val="1295"/>
                        </a:lnSpc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100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насичені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3335" algn="ctr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г/100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1683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780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6680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4780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5080" algn="ctr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795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160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algn="ctr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445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4.0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0.31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0.26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1.46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0.61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31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1.27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0.28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525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ts val="130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065" algn="ctr">
                        <a:lnSpc>
                          <a:spcPts val="131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310"/>
                        </a:lnSpc>
                        <a:spcBef>
                          <a:spcPts val="1135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1.13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130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131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1.15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L="6985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Холестерин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мг/100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110.0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100.0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70.0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270.0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84.0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59.0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69850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Фосфор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мг/100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г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21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240.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ts val="126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240.0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222.5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211.0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280.5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210.0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215.0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210.0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245.0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985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Кальцій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30.0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51.0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17.0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70.0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35.0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37.5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43.0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69850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Калій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21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335.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ts val="126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420.0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330.0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280.0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280.0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265.0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282.0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265.0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390.0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27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451.0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6985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Натрій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75.0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100.0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45.0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100.0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52.0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70.0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125.0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35.0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9850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Йод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0.045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0.055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6985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Селен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0.037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0.044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0,013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9850">
                        <a:lnSpc>
                          <a:spcPts val="11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Магній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35.0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55.5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51.5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22.1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30.0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22.0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6985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Сірка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200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140.0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200.0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180.0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180.0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210.0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171.0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985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Мідь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0.25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0,19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68275">
                <a:tc>
                  <a:txBody>
                    <a:bodyPr/>
                    <a:lstStyle/>
                    <a:p>
                      <a:pPr marL="6985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Залізо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0.87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1.29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1,5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L="69850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Кобальт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80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0.041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0.03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69850">
                        <a:lnSpc>
                          <a:spcPts val="127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Хлор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215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165.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ts val="126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8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165.0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ts val="1275"/>
                        </a:lnSpc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165.0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20"/>
                  </a:ext>
                </a:extLst>
              </a:tr>
              <a:tr h="168910">
                <a:tc>
                  <a:txBody>
                    <a:bodyPr/>
                    <a:lstStyle/>
                    <a:p>
                      <a:pPr marL="69850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Фтор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0.7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80"/>
                        </a:lnSpc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1.4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180"/>
                        </a:lnSpc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0.43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ts val="1180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21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124968" y="1094232"/>
            <a:ext cx="1493520" cy="4974590"/>
            <a:chOff x="124968" y="1094232"/>
            <a:chExt cx="1493520" cy="497459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016" y="1094232"/>
              <a:ext cx="1472184" cy="16123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368" y="1120140"/>
              <a:ext cx="1370584" cy="151155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968" y="2752344"/>
              <a:ext cx="1475232" cy="13563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0825" y="2779179"/>
              <a:ext cx="1374140" cy="12540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112" y="4155960"/>
              <a:ext cx="1484376" cy="19126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0832" y="4182122"/>
              <a:ext cx="1382268" cy="18114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626</Words>
  <Application>Microsoft Office PowerPoint</Application>
  <PresentationFormat>Широкий екран</PresentationFormat>
  <Paragraphs>325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 MT</vt:lpstr>
      <vt:lpstr>Calibri</vt:lpstr>
      <vt:lpstr>Microsoft Sans Serif</vt:lpstr>
      <vt:lpstr>Times New Roman</vt:lpstr>
      <vt:lpstr>Office Theme</vt:lpstr>
      <vt:lpstr>МОЖЛИВІСТЬ ЗАКУПІВЛІ РИБИ ВІТЧИЗНЯНОГО ПОХОДЖЕННЯ ЗАКЛАДІВ ОХОРОНИ ЗДОРОВЯ КОМУНАЛЬНОЇ СФЕРИ</vt:lpstr>
      <vt:lpstr>ЗМІЦНЕННЯ ПРОДОВОЛЬЧОЇ БЕЗПЕКИ ЧЕРЕЗ ІМПОРТОЗАМІЩЕННЯ: ВИКОРИСТАННЯ ВІТЧИЗНЯНИХ ВОДНИХ БІОРЕСУРСІВ ДЛЯ ПОТРЕБ ЗСУ ТА</vt:lpstr>
      <vt:lpstr>МОЖЛИВОСТІ ВИКОРИСТАННЯ НАЦІОНАЛЬНОІ РИБНОЇ ПРОДУКЦІЇ ЗАКЛАДАМИ ОХОРОНИ ЗДОРОВ’Я</vt:lpstr>
      <vt:lpstr>МОЖЛИВОСТІ ВИКОРИСТАННЯ НАЦІОНАЛЬНОІ РИБНОЇ ПРОДУКЦІЇ ЗАКЛАДАМИ ОХОРОНИ ЗДОРОВ’Я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Сергій Дехтяренко</dc:creator>
  <cp:lastModifiedBy>Loda045</cp:lastModifiedBy>
  <cp:revision>1</cp:revision>
  <dcterms:created xsi:type="dcterms:W3CDTF">2025-10-20T08:58:20Z</dcterms:created>
  <dcterms:modified xsi:type="dcterms:W3CDTF">2025-10-30T12:21:14Z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2025-10-01T00:00:00Z</vt:filetime>
  </property>
  <property fmtid="{D5CDD505-2E9C-101B-9397-08002B2CF9AE}" pid="3" name="Creator">
    <vt:lpwstr>Microsoft® PowerPoint® для Microsoft 365</vt:lpwstr>
  </property>
  <property fmtid="{D5CDD505-2E9C-101B-9397-08002B2CF9AE}" pid="4" name="LastSaved">
    <vt:filetime>2025-10-20T00:00:00Z</vt:filetime>
  </property>
  <property fmtid="{D5CDD505-2E9C-101B-9397-08002B2CF9AE}" pid="5" name="Producer">
    <vt:lpwstr>Microsoft® PowerPoint® для Microsoft 365</vt:lpwstr>
  </property>
</Properties>
</file>
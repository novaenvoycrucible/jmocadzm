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xlsx" ContentType="application/vnd.openxmlformats-officedocument.spreadsheetml.sheet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notesSlides/notesSlide3.xml" ContentType="application/vnd.openxmlformats-officedocument.presentationml.notesSlid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drawings/drawing1.xml" ContentType="application/vnd.openxmlformats-officedocument.drawingml.chartshapes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drawings/drawing2.xml" ContentType="application/vnd.openxmlformats-officedocument.drawingml.chartshapes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drawings/drawing3.xml" ContentType="application/vnd.openxmlformats-officedocument.drawingml.chartshape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8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9.xml" ContentType="application/vnd.openxmlformats-officedocument.drawingml.chart+xml"/>
  <Override PartName="/ppt/charts/style9.xml" ContentType="application/vnd.ms-office.chartstyle+xml"/>
  <Override PartName="/ppt/charts/colors9.xml" ContentType="application/vnd.ms-office.chartcolorstyle+xml"/>
  <Override PartName="/ppt/notesSlides/notesSlide8.xml" ContentType="application/vnd.openxmlformats-officedocument.presentationml.notesSlide+xml"/>
  <Override PartName="/ppt/charts/chart10.xml" ContentType="application/vnd.openxmlformats-officedocument.drawingml.chart+xml"/>
  <Override PartName="/ppt/charts/style10.xml" ContentType="application/vnd.ms-office.chartstyle+xml"/>
  <Override PartName="/ppt/charts/colors10.xml" ContentType="application/vnd.ms-office.chartcolorstyle+xml"/>
  <Override PartName="/ppt/charts/chart11.xml" ContentType="application/vnd.openxmlformats-officedocument.drawingml.chart+xml"/>
  <Override PartName="/ppt/charts/style11.xml" ContentType="application/vnd.ms-office.chartstyle+xml"/>
  <Override PartName="/ppt/charts/colors11.xml" ContentType="application/vnd.ms-office.chartcolorstyle+xml"/>
  <Override PartName="/ppt/charts/chart12.xml" ContentType="application/vnd.openxmlformats-officedocument.drawingml.chart+xml"/>
  <Override PartName="/ppt/charts/style12.xml" ContentType="application/vnd.ms-office.chartstyle+xml"/>
  <Override PartName="/ppt/charts/colors12.xml" ContentType="application/vnd.ms-office.chartcolorstyle+xml"/>
  <Override PartName="/ppt/notesSlides/notesSlide9.xml" ContentType="application/vnd.openxmlformats-officedocument.presentationml.notesSlide+xml"/>
  <Override PartName="/ppt/charts/chart13.xml" ContentType="application/vnd.openxmlformats-officedocument.drawingml.chart+xml"/>
  <Override PartName="/ppt/charts/style13.xml" ContentType="application/vnd.ms-office.chartstyle+xml"/>
  <Override PartName="/ppt/charts/colors13.xml" ContentType="application/vnd.ms-office.chartcolorstyle+xml"/>
  <Override PartName="/ppt/notesSlides/notesSlide10.xml" ContentType="application/vnd.openxmlformats-officedocument.presentationml.notesSlide+xml"/>
  <Override PartName="/ppt/charts/chart14.xml" ContentType="application/vnd.openxmlformats-officedocument.drawingml.chart+xml"/>
  <Override PartName="/ppt/charts/style14.xml" ContentType="application/vnd.ms-office.chartstyle+xml"/>
  <Override PartName="/ppt/charts/colors14.xml" ContentType="application/vnd.ms-office.chartcolorstyle+xml"/>
  <Override PartName="/ppt/notesSlides/notesSlide11.xml" ContentType="application/vnd.openxmlformats-officedocument.presentationml.notesSlide+xml"/>
  <Override PartName="/ppt/charts/chart15.xml" ContentType="application/vnd.openxmlformats-officedocument.drawingml.chart+xml"/>
  <Override PartName="/ppt/charts/style15.xml" ContentType="application/vnd.ms-office.chartstyle+xml"/>
  <Override PartName="/ppt/charts/colors15.xml" ContentType="application/vnd.ms-office.chartcolorstyle+xml"/>
  <Override PartName="/ppt/charts/chart16.xml" ContentType="application/vnd.openxmlformats-officedocument.drawingml.chart+xml"/>
  <Override PartName="/ppt/charts/style16.xml" ContentType="application/vnd.ms-office.chartstyle+xml"/>
  <Override PartName="/ppt/charts/colors16.xml" ContentType="application/vnd.ms-office.chartcolorstyle+xml"/>
  <Override PartName="/ppt/charts/chart17.xml" ContentType="application/vnd.openxmlformats-officedocument.drawingml.chart+xml"/>
  <Override PartName="/ppt/charts/style17.xml" ContentType="application/vnd.ms-office.chartstyle+xml"/>
  <Override PartName="/ppt/charts/colors17.xml" ContentType="application/vnd.ms-office.chartcolorstyle+xml"/>
  <Override PartName="/ppt/charts/chart18.xml" ContentType="application/vnd.openxmlformats-officedocument.drawingml.chart+xml"/>
  <Override PartName="/ppt/charts/style18.xml" ContentType="application/vnd.ms-office.chartstyle+xml"/>
  <Override PartName="/ppt/charts/colors18.xml" ContentType="application/vnd.ms-office.chartcolorstyle+xml"/>
  <Override PartName="/ppt/charts/chart19.xml" ContentType="application/vnd.openxmlformats-officedocument.drawingml.chart+xml"/>
  <Override PartName="/ppt/charts/style19.xml" ContentType="application/vnd.ms-office.chartstyle+xml"/>
  <Override PartName="/ppt/charts/colors19.xml" ContentType="application/vnd.ms-office.chartcolorstyle+xml"/>
  <Override PartName="/ppt/charts/chart20.xml" ContentType="application/vnd.openxmlformats-officedocument.drawingml.chart+xml"/>
  <Override PartName="/ppt/charts/style20.xml" ContentType="application/vnd.ms-office.chartstyle+xml"/>
  <Override PartName="/ppt/charts/colors20.xml" ContentType="application/vnd.ms-office.chartcolorstyle+xml"/>
  <Override PartName="/ppt/charts/chart21.xml" ContentType="application/vnd.openxmlformats-officedocument.drawingml.chart+xml"/>
  <Override PartName="/ppt/charts/style21.xml" ContentType="application/vnd.ms-office.chartstyle+xml"/>
  <Override PartName="/ppt/charts/colors21.xml" ContentType="application/vnd.ms-office.chartcolorstyle+xml"/>
  <Override PartName="/ppt/charts/chart22.xml" ContentType="application/vnd.openxmlformats-officedocument.drawingml.chart+xml"/>
  <Override PartName="/ppt/charts/style22.xml" ContentType="application/vnd.ms-office.chartstyle+xml"/>
  <Override PartName="/ppt/charts/colors22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8"/>
  </p:notesMasterIdLst>
  <p:handoutMasterIdLst>
    <p:handoutMasterId r:id="rId39"/>
  </p:handoutMasterIdLst>
  <p:sldIdLst>
    <p:sldId id="421" r:id="rId2"/>
    <p:sldId id="417" r:id="rId3"/>
    <p:sldId id="301" r:id="rId4"/>
    <p:sldId id="474" r:id="rId5"/>
    <p:sldId id="473" r:id="rId6"/>
    <p:sldId id="293" r:id="rId7"/>
    <p:sldId id="463" r:id="rId8"/>
    <p:sldId id="307" r:id="rId9"/>
    <p:sldId id="464" r:id="rId10"/>
    <p:sldId id="1802" r:id="rId11"/>
    <p:sldId id="419" r:id="rId12"/>
    <p:sldId id="446" r:id="rId13"/>
    <p:sldId id="451" r:id="rId14"/>
    <p:sldId id="1808" r:id="rId15"/>
    <p:sldId id="477" r:id="rId16"/>
    <p:sldId id="1798" r:id="rId17"/>
    <p:sldId id="1799" r:id="rId18"/>
    <p:sldId id="422" r:id="rId19"/>
    <p:sldId id="423" r:id="rId20"/>
    <p:sldId id="456" r:id="rId21"/>
    <p:sldId id="465" r:id="rId22"/>
    <p:sldId id="444" r:id="rId23"/>
    <p:sldId id="440" r:id="rId24"/>
    <p:sldId id="445" r:id="rId25"/>
    <p:sldId id="438" r:id="rId26"/>
    <p:sldId id="1804" r:id="rId27"/>
    <p:sldId id="1805" r:id="rId28"/>
    <p:sldId id="1796" r:id="rId29"/>
    <p:sldId id="1801" r:id="rId30"/>
    <p:sldId id="471" r:id="rId31"/>
    <p:sldId id="466" r:id="rId32"/>
    <p:sldId id="470" r:id="rId33"/>
    <p:sldId id="467" r:id="rId34"/>
    <p:sldId id="1810" r:id="rId35"/>
    <p:sldId id="424" r:id="rId36"/>
    <p:sldId id="277" r:id="rId37"/>
  </p:sldIdLst>
  <p:sldSz cx="12192000" cy="6858000"/>
  <p:notesSz cx="9942513" cy="6810375"/>
  <p:defaultTextStyle>
    <a:defPPr>
      <a:defRPr lang="uk-UA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9900"/>
    <a:srgbClr val="66FFCC"/>
    <a:srgbClr val="FF6600"/>
    <a:srgbClr val="33CC33"/>
    <a:srgbClr val="009900"/>
    <a:srgbClr val="0099CC"/>
    <a:srgbClr val="6699FF"/>
    <a:srgbClr val="9999FF"/>
    <a:srgbClr val="006699"/>
    <a:srgbClr val="3366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Помірний стиль 2 –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582" autoAdjust="0"/>
    <p:restoredTop sz="94660"/>
  </p:normalViewPr>
  <p:slideViewPr>
    <p:cSldViewPr snapToGrid="0">
      <p:cViewPr>
        <p:scale>
          <a:sx n="70" d="100"/>
          <a:sy n="70" d="100"/>
        </p:scale>
        <p:origin x="532" y="2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handoutMaster" Target="handoutMasters/handout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______Microsoft_Excel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______Microsoft_Excel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______Microsoft_Excel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______Microsoft_Excel3.xlsx"/><Relationship Id="rId2" Type="http://schemas.microsoft.com/office/2011/relationships/chartColorStyle" Target="colors4.xml"/><Relationship Id="rId1" Type="http://schemas.microsoft.com/office/2011/relationships/chartStyle" Target="style4.xml"/><Relationship Id="rId4" Type="http://schemas.openxmlformats.org/officeDocument/2006/relationships/chartUserShapes" Target="../drawings/drawing1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______Microsoft_Excel4.xlsx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______Microsoft_Excel5.xlsx"/><Relationship Id="rId2" Type="http://schemas.microsoft.com/office/2011/relationships/chartColorStyle" Target="colors6.xml"/><Relationship Id="rId1" Type="http://schemas.microsoft.com/office/2011/relationships/chartStyle" Target="style6.xml"/><Relationship Id="rId4" Type="http://schemas.openxmlformats.org/officeDocument/2006/relationships/chartUserShapes" Target="../drawings/drawing2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______Microsoft_Excel6.xlsx"/><Relationship Id="rId2" Type="http://schemas.microsoft.com/office/2011/relationships/chartColorStyle" Target="colors7.xml"/><Relationship Id="rId1" Type="http://schemas.microsoft.com/office/2011/relationships/chartStyle" Target="style7.xml"/><Relationship Id="rId4" Type="http://schemas.openxmlformats.org/officeDocument/2006/relationships/chartUserShapes" Target="../drawings/drawing3.xml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______Microsoft_Excel7.xlsx"/><Relationship Id="rId2" Type="http://schemas.microsoft.com/office/2011/relationships/chartColorStyle" Target="colors8.xml"/><Relationship Id="rId1" Type="http://schemas.microsoft.com/office/2011/relationships/chartStyle" Target="style8.xml"/></Relationships>
</file>

<file path=ppt/charts/_rels/chart9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______Microsoft_Excel8.xlsx"/><Relationship Id="rId2" Type="http://schemas.microsoft.com/office/2011/relationships/chartColorStyle" Target="colors9.xml"/><Relationship Id="rId1" Type="http://schemas.microsoft.com/office/2011/relationships/chartStyle" Target="style9.xml"/></Relationships>
</file>

<file path=ppt/charts/_rels/chart10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______Microsoft_Excel9.xlsx"/><Relationship Id="rId2" Type="http://schemas.microsoft.com/office/2011/relationships/chartColorStyle" Target="colors10.xml"/><Relationship Id="rId1" Type="http://schemas.microsoft.com/office/2011/relationships/chartStyle" Target="style10.xml"/></Relationships>
</file>

<file path=ppt/charts/_rels/chart1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______Microsoft_Excel10.xlsx"/><Relationship Id="rId2" Type="http://schemas.microsoft.com/office/2011/relationships/chartColorStyle" Target="colors11.xml"/><Relationship Id="rId1" Type="http://schemas.microsoft.com/office/2011/relationships/chartStyle" Target="style11.xml"/></Relationships>
</file>

<file path=ppt/charts/_rels/chart1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______Microsoft_Excel11.xlsx"/><Relationship Id="rId2" Type="http://schemas.microsoft.com/office/2011/relationships/chartColorStyle" Target="colors12.xml"/><Relationship Id="rId1" Type="http://schemas.microsoft.com/office/2011/relationships/chartStyle" Target="style12.xml"/></Relationships>
</file>

<file path=ppt/charts/_rels/chart1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______Microsoft_Excel12.xlsx"/><Relationship Id="rId2" Type="http://schemas.microsoft.com/office/2011/relationships/chartColorStyle" Target="colors13.xml"/><Relationship Id="rId1" Type="http://schemas.microsoft.com/office/2011/relationships/chartStyle" Target="style13.xml"/></Relationships>
</file>

<file path=ppt/charts/_rels/char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microsoft.com/office/2011/relationships/chartColorStyle" Target="colors14.xml"/><Relationship Id="rId1" Type="http://schemas.microsoft.com/office/2011/relationships/chartStyle" Target="style14.xml"/><Relationship Id="rId4" Type="http://schemas.openxmlformats.org/officeDocument/2006/relationships/package" Target="../embeddings/______Microsoft_Excel13.xlsx"/></Relationships>
</file>

<file path=ppt/charts/_rels/chart1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______Microsoft_Excel14.xlsx"/><Relationship Id="rId2" Type="http://schemas.microsoft.com/office/2011/relationships/chartColorStyle" Target="colors15.xml"/><Relationship Id="rId1" Type="http://schemas.microsoft.com/office/2011/relationships/chartStyle" Target="style15.xml"/></Relationships>
</file>

<file path=ppt/charts/_rels/chart1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______Microsoft_Excel15.xlsx"/><Relationship Id="rId2" Type="http://schemas.microsoft.com/office/2011/relationships/chartColorStyle" Target="colors16.xml"/><Relationship Id="rId1" Type="http://schemas.microsoft.com/office/2011/relationships/chartStyle" Target="style16.xml"/></Relationships>
</file>

<file path=ppt/charts/_rels/chart1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______Microsoft_Excel16.xlsx"/><Relationship Id="rId2" Type="http://schemas.microsoft.com/office/2011/relationships/chartColorStyle" Target="colors17.xml"/><Relationship Id="rId1" Type="http://schemas.microsoft.com/office/2011/relationships/chartStyle" Target="style17.xml"/></Relationships>
</file>

<file path=ppt/charts/_rels/chart1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______Microsoft_Excel17.xlsx"/><Relationship Id="rId2" Type="http://schemas.microsoft.com/office/2011/relationships/chartColorStyle" Target="colors18.xml"/><Relationship Id="rId1" Type="http://schemas.microsoft.com/office/2011/relationships/chartStyle" Target="style18.xml"/></Relationships>
</file>

<file path=ppt/charts/_rels/chart19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______Microsoft_Excel18.xlsx"/><Relationship Id="rId2" Type="http://schemas.microsoft.com/office/2011/relationships/chartColorStyle" Target="colors19.xml"/><Relationship Id="rId1" Type="http://schemas.microsoft.com/office/2011/relationships/chartStyle" Target="style19.xml"/></Relationships>
</file>

<file path=ppt/charts/_rels/chart20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______Microsoft_Excel19.xlsx"/><Relationship Id="rId2" Type="http://schemas.microsoft.com/office/2011/relationships/chartColorStyle" Target="colors20.xml"/><Relationship Id="rId1" Type="http://schemas.microsoft.com/office/2011/relationships/chartStyle" Target="style20.xml"/></Relationships>
</file>

<file path=ppt/charts/_rels/chart2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______Microsoft_Excel20.xlsx"/><Relationship Id="rId2" Type="http://schemas.microsoft.com/office/2011/relationships/chartColorStyle" Target="colors21.xml"/><Relationship Id="rId1" Type="http://schemas.microsoft.com/office/2011/relationships/chartStyle" Target="style21.xml"/></Relationships>
</file>

<file path=ppt/charts/_rels/chart2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______Microsoft_Excel21.xlsx"/><Relationship Id="rId2" Type="http://schemas.microsoft.com/office/2011/relationships/chartColorStyle" Target="colors22.xml"/><Relationship Id="rId1" Type="http://schemas.microsoft.com/office/2011/relationships/chartStyle" Target="style2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uk-UA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view3D>
      <c:rotX val="50"/>
      <c:rotY val="0"/>
      <c:depthPercent val="100"/>
      <c:rAngAx val="0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>
        <c:manualLayout>
          <c:layoutTarget val="inner"/>
          <c:xMode val="edge"/>
          <c:yMode val="edge"/>
          <c:x val="0.15237575544694207"/>
          <c:y val="0.15545050230703328"/>
          <c:w val="0.65404278289700457"/>
          <c:h val="0.46041387569882741"/>
        </c:manualLayout>
      </c:layout>
      <c:pie3DChart>
        <c:varyColors val="1"/>
        <c:ser>
          <c:idx val="0"/>
          <c:order val="0"/>
          <c:tx>
            <c:strRef>
              <c:f>Аркуш1!$B$1</c:f>
              <c:strCache>
                <c:ptCount val="1"/>
                <c:pt idx="0">
                  <c:v>Стовпець1</c:v>
                </c:pt>
              </c:strCache>
            </c:strRef>
          </c:tx>
          <c:dPt>
            <c:idx val="0"/>
            <c:bubble3D val="0"/>
            <c:spPr>
              <a:solidFill>
                <a:schemeClr val="tx2">
                  <a:lumMod val="60000"/>
                  <a:lumOff val="40000"/>
                </a:schemeClr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  <a:sp3d/>
            </c:spPr>
            <c:extLst>
              <c:ext xmlns:c16="http://schemas.microsoft.com/office/drawing/2014/chart" uri="{C3380CC4-5D6E-409C-BE32-E72D297353CC}">
                <c16:uniqueId val="{00000001-8024-4EC7-9742-B2B409F54073}"/>
              </c:ext>
            </c:extLst>
          </c:dPt>
          <c:dPt>
            <c:idx val="1"/>
            <c:bubble3D val="0"/>
            <c:spPr>
              <a:solidFill>
                <a:srgbClr val="00FFFF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  <a:sp3d/>
            </c:spPr>
            <c:extLst>
              <c:ext xmlns:c16="http://schemas.microsoft.com/office/drawing/2014/chart" uri="{C3380CC4-5D6E-409C-BE32-E72D297353CC}">
                <c16:uniqueId val="{00000003-8024-4EC7-9742-B2B409F54073}"/>
              </c:ext>
            </c:extLst>
          </c:dPt>
          <c:dLbls>
            <c:dLbl>
              <c:idx val="0"/>
              <c:layout>
                <c:manualLayout>
                  <c:x val="-3.0650888839494111E-2"/>
                  <c:y val="-0.21427876090979497"/>
                </c:manualLayout>
              </c:layout>
              <c:tx>
                <c:rich>
                  <a:bodyPr rot="0" spcFirstLastPara="1" vertOverflow="ellipsis" vert="horz" wrap="square" lIns="38100" tIns="19050" rIns="38100" bIns="19050" anchor="ctr" anchorCtr="1">
                    <a:noAutofit/>
                  </a:bodyPr>
                  <a:lstStyle/>
                  <a:p>
                    <a:pPr>
                      <a:defRPr sz="1330" b="1" i="0" u="none" strike="noStrike" kern="1200" baseline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pPr>
                    <a:fld id="{7A140EEC-B8B8-430D-A01C-7B5FE09536D7}" type="PERCENTAGE">
                      <a:rPr lang="en-US">
                        <a:solidFill>
                          <a:srgbClr val="002060"/>
                        </a:solidFill>
                      </a:rPr>
                      <a:pPr>
                        <a:defRPr>
                          <a:solidFill>
                            <a:schemeClr val="tx1"/>
                          </a:solidFill>
                        </a:defRPr>
                      </a:pPr>
                      <a:t>[ВІДСОТОК]</a:t>
                    </a:fld>
                    <a:endParaRPr lang="uk-UA"/>
                  </a:p>
                </c:rich>
              </c:tx>
              <c:spPr>
                <a:solidFill>
                  <a:schemeClr val="accent5">
                    <a:lumMod val="20000"/>
                    <a:lumOff val="80000"/>
                  </a:schemeClr>
                </a:solidFill>
                <a:ln>
                  <a:solidFill>
                    <a:schemeClr val="tx1"/>
                  </a:solidFill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c:spPr>
              <c:txPr>
                <a:bodyPr rot="0" spcFirstLastPara="1" vertOverflow="ellipsis" vert="horz" wrap="square" lIns="38100" tIns="19050" rIns="38100" bIns="19050" anchor="ctr" anchorCtr="1">
                  <a:noAutofit/>
                </a:bodyPr>
                <a:lstStyle/>
                <a:p>
                  <a:pPr>
                    <a:defRPr sz="1330" b="1" i="0" u="none" strike="noStrike" kern="1200" baseline="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uk-UA"/>
                </a:p>
              </c:txPr>
              <c:dLblPos val="bestFit"/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2569068095348305"/>
                      <c:h val="0.11234213155635026"/>
                    </c:manualLayout>
                  </c15:layout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1-8024-4EC7-9742-B2B409F54073}"/>
                </c:ext>
              </c:extLst>
            </c:dLbl>
            <c:dLbl>
              <c:idx val="1"/>
              <c:layout>
                <c:manualLayout>
                  <c:x val="-0.14322277549517679"/>
                  <c:y val="-3.8304452838157027E-3"/>
                </c:manualLayout>
              </c:layout>
              <c:tx>
                <c:rich>
                  <a:bodyPr rot="0" spcFirstLastPara="1" vertOverflow="ellipsis" vert="horz" wrap="square" lIns="38100" tIns="19050" rIns="38100" bIns="19050" anchor="ctr" anchorCtr="1">
                    <a:noAutofit/>
                  </a:bodyPr>
                  <a:lstStyle/>
                  <a:p>
                    <a:pPr>
                      <a:defRPr sz="1330" b="1" i="0" u="none" strike="noStrike" kern="1200" baseline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pPr>
                    <a:fld id="{6C37C8FC-8EDD-4316-ABF3-DAFA1BB954D0}" type="PERCENTAGE">
                      <a:rPr lang="en-US">
                        <a:solidFill>
                          <a:srgbClr val="002060"/>
                        </a:solidFill>
                      </a:rPr>
                      <a:pPr>
                        <a:defRPr>
                          <a:solidFill>
                            <a:schemeClr val="tx1"/>
                          </a:solidFill>
                        </a:defRPr>
                      </a:pPr>
                      <a:t>[ВІДСОТОК]</a:t>
                    </a:fld>
                    <a:endParaRPr lang="uk-UA"/>
                  </a:p>
                </c:rich>
              </c:tx>
              <c:spPr>
                <a:solidFill>
                  <a:schemeClr val="accent5">
                    <a:lumMod val="20000"/>
                    <a:lumOff val="80000"/>
                  </a:schemeClr>
                </a:solidFill>
                <a:ln>
                  <a:solidFill>
                    <a:schemeClr val="tx1"/>
                  </a:solidFill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c:spPr>
              <c:txPr>
                <a:bodyPr rot="0" spcFirstLastPara="1" vertOverflow="ellipsis" vert="horz" wrap="square" lIns="38100" tIns="19050" rIns="38100" bIns="19050" anchor="ctr" anchorCtr="1">
                  <a:noAutofit/>
                </a:bodyPr>
                <a:lstStyle/>
                <a:p>
                  <a:pPr>
                    <a:defRPr sz="1330" b="1" i="0" u="none" strike="noStrike" kern="1200" baseline="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uk-UA"/>
                </a:p>
              </c:txPr>
              <c:dLblPos val="bestFit"/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19654417004855709"/>
                      <c:h val="0.1091645425429333"/>
                    </c:manualLayout>
                  </c15:layout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3-8024-4EC7-9742-B2B409F54073}"/>
                </c:ext>
              </c:extLst>
            </c:dLbl>
            <c:spPr>
              <a:solidFill>
                <a:schemeClr val="accent5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33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uk-UA"/>
              </a:p>
            </c:txPr>
            <c:dLblPos val="ctr"/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leaderLines>
              <c:spPr>
                <a:ln w="9525">
                  <a:solidFill>
                    <a:schemeClr val="dk1">
                      <a:lumMod val="50000"/>
                      <a:lumOff val="50000"/>
                    </a:schemeClr>
                  </a:solidFill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Аркуш1!$A$2:$A$3</c:f>
              <c:strCache>
                <c:ptCount val="2"/>
                <c:pt idx="0">
                  <c:v>Частка пролікованих в ЗОЗ, які уклали договір з НСЗУ (пакет № 4)</c:v>
                </c:pt>
                <c:pt idx="1">
                  <c:v>Частка пролікованих у непрофільних закладах</c:v>
                </c:pt>
              </c:strCache>
            </c:strRef>
          </c:cat>
          <c:val>
            <c:numRef>
              <c:f>Аркуш1!$B$2:$B$3</c:f>
              <c:numCache>
                <c:formatCode>0</c:formatCode>
                <c:ptCount val="2"/>
                <c:pt idx="0">
                  <c:v>7525</c:v>
                </c:pt>
                <c:pt idx="1">
                  <c:v>153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8024-4EC7-9742-B2B409F54073}"/>
            </c:ext>
          </c:extLst>
        </c:ser>
        <c:dLbls>
          <c:showLegendKey val="0"/>
          <c:showVal val="0"/>
          <c:showCatName val="0"/>
          <c:showSerName val="0"/>
          <c:showPercent val="1"/>
          <c:showBubbleSize val="0"/>
          <c:showLeaderLines val="1"/>
        </c:dLbls>
      </c:pie3DChart>
      <c:spPr>
        <a:noFill/>
        <a:ln>
          <a:noFill/>
        </a:ln>
        <a:effectLst/>
      </c:spPr>
    </c:plotArea>
    <c:legend>
      <c:legendPos val="b"/>
      <c:legendEntry>
        <c:idx val="0"/>
        <c:txPr>
          <a:bodyPr rot="0" spcFirstLastPara="1" vertOverflow="ellipsis" vert="horz" wrap="square" anchor="ctr" anchorCtr="1"/>
          <a:lstStyle/>
          <a:p>
            <a:pPr>
              <a:defRPr sz="1100" b="0" i="0" u="none" strike="noStrike" kern="1200" baseline="0">
                <a:solidFill>
                  <a:srgbClr val="002060"/>
                </a:solidFill>
                <a:latin typeface="Times New Roman" panose="02020603050405020304" pitchFamily="18" charset="0"/>
                <a:ea typeface="+mn-ea"/>
                <a:cs typeface="+mn-cs"/>
              </a:defRPr>
            </a:pPr>
            <a:endParaRPr lang="uk-UA"/>
          </a:p>
        </c:txPr>
      </c:legendEntry>
      <c:legendEntry>
        <c:idx val="1"/>
        <c:txPr>
          <a:bodyPr rot="0" spcFirstLastPara="1" vertOverflow="ellipsis" vert="horz" wrap="square" anchor="ctr" anchorCtr="1"/>
          <a:lstStyle/>
          <a:p>
            <a:pPr>
              <a:defRPr sz="1100" b="0" i="0" u="none" strike="noStrike" kern="1200" baseline="0">
                <a:solidFill>
                  <a:srgbClr val="002060"/>
                </a:solidFill>
                <a:latin typeface="Times New Roman" panose="02020603050405020304" pitchFamily="18" charset="0"/>
                <a:ea typeface="+mn-ea"/>
                <a:cs typeface="+mn-cs"/>
              </a:defRPr>
            </a:pPr>
            <a:endParaRPr lang="uk-UA"/>
          </a:p>
        </c:txPr>
      </c:legendEntry>
      <c:layout>
        <c:manualLayout>
          <c:xMode val="edge"/>
          <c:yMode val="edge"/>
          <c:x val="4.7535939656565163E-2"/>
          <c:y val="0.68422457545765913"/>
          <c:w val="0.85828217531750817"/>
          <c:h val="0.2870843429277698"/>
        </c:manualLayout>
      </c:layout>
      <c:overlay val="0"/>
      <c:spPr>
        <a:solidFill>
          <a:schemeClr val="lt1">
            <a:lumMod val="95000"/>
            <a:alpha val="39000"/>
          </a:schemeClr>
        </a:solidFill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0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Tahoma" panose="020B0604030504040204" pitchFamily="34" charset="0"/>
              <a:ea typeface="+mn-ea"/>
              <a:cs typeface="+mn-cs"/>
            </a:defRPr>
          </a:pPr>
          <a:endParaRPr lang="uk-UA"/>
        </a:p>
      </c:txPr>
    </c:legend>
    <c:plotVisOnly val="1"/>
    <c:dispBlanksAs val="zero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gradFill flip="none" rotWithShape="1">
      <a:gsLst>
        <a:gs pos="0">
          <a:schemeClr val="lt1"/>
        </a:gs>
        <a:gs pos="39000">
          <a:schemeClr val="lt1"/>
        </a:gs>
        <a:gs pos="100000">
          <a:schemeClr val="lt1">
            <a:lumMod val="75000"/>
          </a:schemeClr>
        </a:gs>
      </a:gsLst>
      <a:path path="circle">
        <a:fillToRect l="50000" t="-80000" r="50000" b="180000"/>
      </a:path>
      <a:tileRect/>
    </a:gradFill>
    <a:ln w="9525" cap="rnd" cmpd="sng" algn="ctr">
      <a:solidFill>
        <a:schemeClr val="accent1">
          <a:lumMod val="75000"/>
        </a:schemeClr>
      </a:solidFill>
      <a:round/>
    </a:ln>
    <a:effectLst/>
  </c:spPr>
  <c:txPr>
    <a:bodyPr/>
    <a:lstStyle/>
    <a:p>
      <a:pPr>
        <a:defRPr/>
      </a:pPr>
      <a:endParaRPr lang="uk-UA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uk-UA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view3D>
      <c:rotX val="50"/>
      <c:rotY val="0"/>
      <c:depthPercent val="100"/>
      <c:rAngAx val="0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>
        <c:manualLayout>
          <c:layoutTarget val="inner"/>
          <c:xMode val="edge"/>
          <c:yMode val="edge"/>
          <c:x val="0.15237575544694207"/>
          <c:y val="0.15545050230703328"/>
          <c:w val="0.65404278289700457"/>
          <c:h val="0.46041387569882741"/>
        </c:manualLayout>
      </c:layout>
      <c:pie3DChart>
        <c:varyColors val="1"/>
        <c:ser>
          <c:idx val="0"/>
          <c:order val="0"/>
          <c:tx>
            <c:strRef>
              <c:f>Аркуш1!$B$1</c:f>
              <c:strCache>
                <c:ptCount val="1"/>
                <c:pt idx="0">
                  <c:v>Стовпець1</c:v>
                </c:pt>
              </c:strCache>
            </c:strRef>
          </c:tx>
          <c:dPt>
            <c:idx val="0"/>
            <c:bubble3D val="0"/>
            <c:spPr>
              <a:solidFill>
                <a:schemeClr val="accent2">
                  <a:lumMod val="75000"/>
                </a:schemeClr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  <a:sp3d/>
            </c:spPr>
            <c:extLst>
              <c:ext xmlns:c16="http://schemas.microsoft.com/office/drawing/2014/chart" uri="{C3380CC4-5D6E-409C-BE32-E72D297353CC}">
                <c16:uniqueId val="{00000001-3F9B-42C0-A519-ED64EA89E49E}"/>
              </c:ext>
            </c:extLst>
          </c:dPt>
          <c:dPt>
            <c:idx val="1"/>
            <c:bubble3D val="0"/>
            <c:spPr>
              <a:solidFill>
                <a:srgbClr val="00FFFF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  <a:sp3d/>
            </c:spPr>
            <c:extLst>
              <c:ext xmlns:c16="http://schemas.microsoft.com/office/drawing/2014/chart" uri="{C3380CC4-5D6E-409C-BE32-E72D297353CC}">
                <c16:uniqueId val="{00000003-3F9B-42C0-A519-ED64EA89E49E}"/>
              </c:ext>
            </c:extLst>
          </c:dPt>
          <c:dLbls>
            <c:dLbl>
              <c:idx val="0"/>
              <c:layout>
                <c:manualLayout>
                  <c:x val="-3.0650888839494111E-2"/>
                  <c:y val="-0.21427876090979497"/>
                </c:manualLayout>
              </c:layout>
              <c:tx>
                <c:rich>
                  <a:bodyPr rot="0" spcFirstLastPara="1" vertOverflow="ellipsis" vert="horz" wrap="square" lIns="38100" tIns="19050" rIns="38100" bIns="19050" anchor="ctr" anchorCtr="1">
                    <a:noAutofit/>
                  </a:bodyPr>
                  <a:lstStyle/>
                  <a:p>
                    <a:pPr>
                      <a:defRPr sz="1330" b="1" i="0" u="none" strike="noStrike" kern="1200" baseline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pPr>
                    <a:fld id="{7A140EEC-B8B8-430D-A01C-7B5FE09536D7}" type="PERCENTAGE">
                      <a:rPr lang="en-US">
                        <a:solidFill>
                          <a:srgbClr val="002060"/>
                        </a:solidFill>
                      </a:rPr>
                      <a:pPr>
                        <a:defRPr>
                          <a:solidFill>
                            <a:schemeClr val="tx1"/>
                          </a:solidFill>
                        </a:defRPr>
                      </a:pPr>
                      <a:t>[ВІДСОТОК]</a:t>
                    </a:fld>
                    <a:endParaRPr lang="uk-UA"/>
                  </a:p>
                </c:rich>
              </c:tx>
              <c:spPr>
                <a:solidFill>
                  <a:schemeClr val="accent5">
                    <a:lumMod val="20000"/>
                    <a:lumOff val="80000"/>
                  </a:schemeClr>
                </a:solidFill>
                <a:ln>
                  <a:solidFill>
                    <a:schemeClr val="tx1"/>
                  </a:solidFill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c:spPr>
              <c:txPr>
                <a:bodyPr rot="0" spcFirstLastPara="1" vertOverflow="ellipsis" vert="horz" wrap="square" lIns="38100" tIns="19050" rIns="38100" bIns="19050" anchor="ctr" anchorCtr="1">
                  <a:noAutofit/>
                </a:bodyPr>
                <a:lstStyle/>
                <a:p>
                  <a:pPr>
                    <a:defRPr sz="1330" b="1" i="0" u="none" strike="noStrike" kern="1200" baseline="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uk-UA"/>
                </a:p>
              </c:txPr>
              <c:dLblPos val="bestFit"/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2569068095348305"/>
                      <c:h val="0.11234213155635026"/>
                    </c:manualLayout>
                  </c15:layout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1-3F9B-42C0-A519-ED64EA89E49E}"/>
                </c:ext>
              </c:extLst>
            </c:dLbl>
            <c:dLbl>
              <c:idx val="1"/>
              <c:layout>
                <c:manualLayout>
                  <c:x val="-0.14322277549517679"/>
                  <c:y val="-3.8304452838157027E-3"/>
                </c:manualLayout>
              </c:layout>
              <c:tx>
                <c:rich>
                  <a:bodyPr rot="0" spcFirstLastPara="1" vertOverflow="ellipsis" vert="horz" wrap="square" lIns="38100" tIns="19050" rIns="38100" bIns="19050" anchor="ctr" anchorCtr="1">
                    <a:noAutofit/>
                  </a:bodyPr>
                  <a:lstStyle/>
                  <a:p>
                    <a:pPr>
                      <a:defRPr sz="1330" b="1" i="0" u="none" strike="noStrike" kern="1200" baseline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pPr>
                    <a:fld id="{6C37C8FC-8EDD-4316-ABF3-DAFA1BB954D0}" type="PERCENTAGE">
                      <a:rPr lang="en-US">
                        <a:solidFill>
                          <a:srgbClr val="002060"/>
                        </a:solidFill>
                      </a:rPr>
                      <a:pPr>
                        <a:defRPr>
                          <a:solidFill>
                            <a:schemeClr val="tx1"/>
                          </a:solidFill>
                        </a:defRPr>
                      </a:pPr>
                      <a:t>[ВІДСОТОК]</a:t>
                    </a:fld>
                    <a:endParaRPr lang="uk-UA"/>
                  </a:p>
                </c:rich>
              </c:tx>
              <c:spPr>
                <a:solidFill>
                  <a:schemeClr val="accent5">
                    <a:lumMod val="20000"/>
                    <a:lumOff val="80000"/>
                  </a:schemeClr>
                </a:solidFill>
                <a:ln>
                  <a:solidFill>
                    <a:schemeClr val="tx1"/>
                  </a:solidFill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c:spPr>
              <c:txPr>
                <a:bodyPr rot="0" spcFirstLastPara="1" vertOverflow="ellipsis" vert="horz" wrap="square" lIns="38100" tIns="19050" rIns="38100" bIns="19050" anchor="ctr" anchorCtr="1">
                  <a:noAutofit/>
                </a:bodyPr>
                <a:lstStyle/>
                <a:p>
                  <a:pPr>
                    <a:defRPr sz="1330" b="1" i="0" u="none" strike="noStrike" kern="1200" baseline="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uk-UA"/>
                </a:p>
              </c:txPr>
              <c:dLblPos val="bestFit"/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19654417004855709"/>
                      <c:h val="0.1091645425429333"/>
                    </c:manualLayout>
                  </c15:layout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3-3F9B-42C0-A519-ED64EA89E49E}"/>
                </c:ext>
              </c:extLst>
            </c:dLbl>
            <c:spPr>
              <a:solidFill>
                <a:schemeClr val="accent5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33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uk-UA"/>
              </a:p>
            </c:txPr>
            <c:dLblPos val="ctr"/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leaderLines>
              <c:spPr>
                <a:ln w="9525">
                  <a:solidFill>
                    <a:schemeClr val="dk1">
                      <a:lumMod val="50000"/>
                      <a:lumOff val="50000"/>
                    </a:schemeClr>
                  </a:solidFill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Аркуш1!$A$2:$A$3</c:f>
              <c:strCache>
                <c:ptCount val="2"/>
                <c:pt idx="0">
                  <c:v>Частка пролікованих в ЗОЗ, які уклали договір з НСЗУ (пакет № 4)</c:v>
                </c:pt>
                <c:pt idx="1">
                  <c:v>Частка пролікованих у непрофільних закладах</c:v>
                </c:pt>
              </c:strCache>
            </c:strRef>
          </c:cat>
          <c:val>
            <c:numRef>
              <c:f>Аркуш1!$B$2:$B$3</c:f>
              <c:numCache>
                <c:formatCode>0</c:formatCode>
                <c:ptCount val="2"/>
                <c:pt idx="0">
                  <c:v>7525</c:v>
                </c:pt>
                <c:pt idx="1">
                  <c:v>71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3F9B-42C0-A519-ED64EA89E49E}"/>
            </c:ext>
          </c:extLst>
        </c:ser>
        <c:dLbls>
          <c:showLegendKey val="0"/>
          <c:showVal val="0"/>
          <c:showCatName val="0"/>
          <c:showSerName val="0"/>
          <c:showPercent val="1"/>
          <c:showBubbleSize val="0"/>
          <c:showLeaderLines val="1"/>
        </c:dLbls>
      </c:pie3DChart>
      <c:spPr>
        <a:noFill/>
        <a:ln>
          <a:noFill/>
        </a:ln>
        <a:effectLst/>
      </c:spPr>
    </c:plotArea>
    <c:legend>
      <c:legendPos val="b"/>
      <c:legendEntry>
        <c:idx val="0"/>
        <c:txPr>
          <a:bodyPr rot="0" spcFirstLastPara="1" vertOverflow="ellipsis" vert="horz" wrap="square" anchor="ctr" anchorCtr="1"/>
          <a:lstStyle/>
          <a:p>
            <a:pPr>
              <a:defRPr sz="1100" b="0" i="0" u="none" strike="noStrike" kern="1200" baseline="0">
                <a:solidFill>
                  <a:srgbClr val="002060"/>
                </a:solidFill>
                <a:latin typeface="Times New Roman" panose="02020603050405020304" pitchFamily="18" charset="0"/>
                <a:ea typeface="+mn-ea"/>
                <a:cs typeface="+mn-cs"/>
              </a:defRPr>
            </a:pPr>
            <a:endParaRPr lang="uk-UA"/>
          </a:p>
        </c:txPr>
      </c:legendEntry>
      <c:legendEntry>
        <c:idx val="1"/>
        <c:txPr>
          <a:bodyPr rot="0" spcFirstLastPara="1" vertOverflow="ellipsis" vert="horz" wrap="square" anchor="ctr" anchorCtr="1"/>
          <a:lstStyle/>
          <a:p>
            <a:pPr>
              <a:defRPr sz="1100" b="0" i="0" u="none" strike="noStrike" kern="1200" baseline="0">
                <a:solidFill>
                  <a:srgbClr val="002060"/>
                </a:solidFill>
                <a:latin typeface="Times New Roman" panose="02020603050405020304" pitchFamily="18" charset="0"/>
                <a:ea typeface="+mn-ea"/>
                <a:cs typeface="+mn-cs"/>
              </a:defRPr>
            </a:pPr>
            <a:endParaRPr lang="uk-UA"/>
          </a:p>
        </c:txPr>
      </c:legendEntry>
      <c:layout>
        <c:manualLayout>
          <c:xMode val="edge"/>
          <c:yMode val="edge"/>
          <c:x val="4.7535939656565163E-2"/>
          <c:y val="0.68422457545765913"/>
          <c:w val="0.85828217531750817"/>
          <c:h val="0.2870843429277698"/>
        </c:manualLayout>
      </c:layout>
      <c:overlay val="0"/>
      <c:spPr>
        <a:solidFill>
          <a:schemeClr val="lt1">
            <a:lumMod val="95000"/>
            <a:alpha val="39000"/>
          </a:schemeClr>
        </a:solidFill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0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Tahoma" panose="020B0604030504040204" pitchFamily="34" charset="0"/>
              <a:ea typeface="+mn-ea"/>
              <a:cs typeface="+mn-cs"/>
            </a:defRPr>
          </a:pPr>
          <a:endParaRPr lang="uk-UA"/>
        </a:p>
      </c:txPr>
    </c:legend>
    <c:plotVisOnly val="1"/>
    <c:dispBlanksAs val="zero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gradFill flip="none" rotWithShape="1">
      <a:gsLst>
        <a:gs pos="0">
          <a:schemeClr val="lt1"/>
        </a:gs>
        <a:gs pos="39000">
          <a:schemeClr val="lt1"/>
        </a:gs>
        <a:gs pos="100000">
          <a:schemeClr val="lt1">
            <a:lumMod val="75000"/>
          </a:schemeClr>
        </a:gs>
      </a:gsLst>
      <a:path path="circle">
        <a:fillToRect l="50000" t="-80000" r="50000" b="180000"/>
      </a:path>
      <a:tileRect/>
    </a:gradFill>
    <a:ln w="9525" cap="rnd" cmpd="sng" algn="ctr">
      <a:solidFill>
        <a:schemeClr val="accent1">
          <a:lumMod val="75000"/>
        </a:schemeClr>
      </a:solidFill>
      <a:round/>
    </a:ln>
    <a:effectLst/>
  </c:spPr>
  <c:txPr>
    <a:bodyPr/>
    <a:lstStyle/>
    <a:p>
      <a:pPr>
        <a:defRPr/>
      </a:pPr>
      <a:endParaRPr lang="uk-UA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uk-UA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4.9352124237553197E-2"/>
          <c:y val="6.0655051968028784E-2"/>
          <c:w val="0.90207234965194572"/>
          <c:h val="0.68585418635152606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Аркуш1!$B$1</c:f>
              <c:strCache>
                <c:ptCount val="1"/>
                <c:pt idx="0">
                  <c:v>2020р.</c:v>
                </c:pt>
              </c:strCache>
            </c:strRef>
          </c:tx>
          <c:spPr>
            <a:solidFill>
              <a:schemeClr val="accent1">
                <a:lumMod val="75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rgbClr val="003399"/>
                    </a:solidFill>
                    <a:latin typeface="+mn-lt"/>
                    <a:ea typeface="+mn-ea"/>
                    <a:cs typeface="+mn-cs"/>
                  </a:defRPr>
                </a:pPr>
                <a:endParaRPr lang="uk-UA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Аркуш1!$A$2:$A$12</c:f>
              <c:strCache>
                <c:ptCount val="11"/>
                <c:pt idx="0">
                  <c:v>По області</c:v>
                </c:pt>
                <c:pt idx="1">
                  <c:v>ВП "Лікарня Святого Пантелеймона"КНП "1 Територіальне медичне об'єднання м.Львова"</c:v>
                </c:pt>
                <c:pt idx="2">
                  <c:v>ВП "Лікарня Святого Луки " КНП "1 Територіальне медичне об'єднання м.Львова"</c:v>
                </c:pt>
                <c:pt idx="3">
                  <c:v>КНП "Дрогобицька міська лікарня № 1" Дрогобицької МР</c:v>
                </c:pt>
                <c:pt idx="4">
                  <c:v>КНП ЛОР "Львівська обласна клінічна лікарня"</c:v>
                </c:pt>
                <c:pt idx="5">
                  <c:v>КНП СМР ТМО «Стрийська міська об'єднана лікарня», ВП «Лікарня інтенсивного лікування»</c:v>
                </c:pt>
                <c:pt idx="6">
                  <c:v>КНП ЛОР "Львівський обласний госпіталь ветеранів війн та репресованих ім. Ю. Липи"</c:v>
                </c:pt>
                <c:pt idx="7">
                  <c:v>КП "Центральна міська лікарня Червоноградської МР"</c:v>
                </c:pt>
                <c:pt idx="8">
                  <c:v>КНП Буської МР "Буська центральна районна лiкарня"</c:v>
                </c:pt>
                <c:pt idx="9">
                  <c:v>КНП Самбірської МР "Самбірська центральна лікарня"</c:v>
                </c:pt>
                <c:pt idx="10">
                  <c:v> КНП "Новояворівська лікарня імені Юрія Липи" Новояворівської МР</c:v>
                </c:pt>
              </c:strCache>
            </c:strRef>
          </c:cat>
          <c:val>
            <c:numRef>
              <c:f>Аркуш1!$B$2:$B$12</c:f>
              <c:numCache>
                <c:formatCode>General</c:formatCode>
                <c:ptCount val="11"/>
                <c:pt idx="0">
                  <c:v>3431</c:v>
                </c:pt>
                <c:pt idx="1">
                  <c:v>1475</c:v>
                </c:pt>
                <c:pt idx="2">
                  <c:v>23</c:v>
                </c:pt>
                <c:pt idx="3">
                  <c:v>456</c:v>
                </c:pt>
                <c:pt idx="4">
                  <c:v>369</c:v>
                </c:pt>
                <c:pt idx="5">
                  <c:v>275</c:v>
                </c:pt>
                <c:pt idx="6">
                  <c:v>14</c:v>
                </c:pt>
                <c:pt idx="7">
                  <c:v>367</c:v>
                </c:pt>
                <c:pt idx="8">
                  <c:v>31</c:v>
                </c:pt>
                <c:pt idx="9">
                  <c:v>192</c:v>
                </c:pt>
                <c:pt idx="10">
                  <c:v>229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F13-4D57-B375-264127718529}"/>
            </c:ext>
          </c:extLst>
        </c:ser>
        <c:ser>
          <c:idx val="1"/>
          <c:order val="1"/>
          <c:tx>
            <c:strRef>
              <c:f>Аркуш1!$C$1</c:f>
              <c:strCache>
                <c:ptCount val="1"/>
                <c:pt idx="0">
                  <c:v>2021р.</c:v>
                </c:pt>
              </c:strCache>
            </c:strRef>
          </c:tx>
          <c:spPr>
            <a:solidFill>
              <a:schemeClr val="accent3">
                <a:lumMod val="75000"/>
              </a:schemeClr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chemeClr val="bg2">
                  <a:lumMod val="5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2-0B53-4460-8736-7C534A3CD33F}"/>
              </c:ext>
            </c:extLst>
          </c:dPt>
          <c:dLbls>
            <c:dLbl>
              <c:idx val="0"/>
              <c:layout>
                <c:manualLayout>
                  <c:x val="-6.2500010252626451E-3"/>
                  <c:y val="-2.2918048667107944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2-0B53-4460-8736-7C534A3CD33F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rgbClr val="003399"/>
                    </a:solidFill>
                    <a:latin typeface="+mn-lt"/>
                    <a:ea typeface="+mn-ea"/>
                    <a:cs typeface="+mn-cs"/>
                  </a:defRPr>
                </a:pPr>
                <a:endParaRPr lang="uk-UA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Аркуш1!$A$2:$A$12</c:f>
              <c:strCache>
                <c:ptCount val="11"/>
                <c:pt idx="0">
                  <c:v>По області</c:v>
                </c:pt>
                <c:pt idx="1">
                  <c:v>ВП "Лікарня Святого Пантелеймона"КНП "1 Територіальне медичне об'єднання м.Львова"</c:v>
                </c:pt>
                <c:pt idx="2">
                  <c:v>ВП "Лікарня Святого Луки " КНП "1 Територіальне медичне об'єднання м.Львова"</c:v>
                </c:pt>
                <c:pt idx="3">
                  <c:v>КНП "Дрогобицька міська лікарня № 1" Дрогобицької МР</c:v>
                </c:pt>
                <c:pt idx="4">
                  <c:v>КНП ЛОР "Львівська обласна клінічна лікарня"</c:v>
                </c:pt>
                <c:pt idx="5">
                  <c:v>КНП СМР ТМО «Стрийська міська об'єднана лікарня», ВП «Лікарня інтенсивного лікування»</c:v>
                </c:pt>
                <c:pt idx="6">
                  <c:v>КНП ЛОР "Львівський обласний госпіталь ветеранів війн та репресованих ім. Ю. Липи"</c:v>
                </c:pt>
                <c:pt idx="7">
                  <c:v>КП "Центральна міська лікарня Червоноградської МР"</c:v>
                </c:pt>
                <c:pt idx="8">
                  <c:v>КНП Буської МР "Буська центральна районна лiкарня"</c:v>
                </c:pt>
                <c:pt idx="9">
                  <c:v>КНП Самбірської МР "Самбірська центральна лікарня"</c:v>
                </c:pt>
                <c:pt idx="10">
                  <c:v> КНП "Новояворівська лікарня імені Юрія Липи" Новояворівської МР</c:v>
                </c:pt>
              </c:strCache>
            </c:strRef>
          </c:cat>
          <c:val>
            <c:numRef>
              <c:f>Аркуш1!$C$2:$C$12</c:f>
              <c:numCache>
                <c:formatCode>General</c:formatCode>
                <c:ptCount val="11"/>
                <c:pt idx="0">
                  <c:v>6011</c:v>
                </c:pt>
                <c:pt idx="1">
                  <c:v>2450</c:v>
                </c:pt>
                <c:pt idx="2">
                  <c:v>45</c:v>
                </c:pt>
                <c:pt idx="3">
                  <c:v>671</c:v>
                </c:pt>
                <c:pt idx="4">
                  <c:v>784</c:v>
                </c:pt>
                <c:pt idx="5">
                  <c:v>644</c:v>
                </c:pt>
                <c:pt idx="6">
                  <c:v>34</c:v>
                </c:pt>
                <c:pt idx="7">
                  <c:v>511</c:v>
                </c:pt>
                <c:pt idx="8">
                  <c:v>59</c:v>
                </c:pt>
                <c:pt idx="9">
                  <c:v>422</c:v>
                </c:pt>
                <c:pt idx="10">
                  <c:v>391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DF13-4D57-B375-264127718529}"/>
            </c:ext>
          </c:extLst>
        </c:ser>
        <c:ser>
          <c:idx val="2"/>
          <c:order val="2"/>
          <c:tx>
            <c:strRef>
              <c:f>Аркуш1!$D$1</c:f>
              <c:strCache>
                <c:ptCount val="1"/>
                <c:pt idx="0">
                  <c:v>2022р.</c:v>
                </c:pt>
              </c:strCache>
            </c:strRef>
          </c:tx>
          <c:spPr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  <a:effectLst/>
          </c:spPr>
          <c:invertIfNegative val="0"/>
          <c:dLbls>
            <c:dLbl>
              <c:idx val="5"/>
              <c:layout>
                <c:manualLayout>
                  <c:x val="2.083333675087545E-3"/>
                  <c:y val="-1.6042634066975644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2-5A18-4674-8256-D3CD7F5D83E5}"/>
                </c:ext>
              </c:extLst>
            </c:dLbl>
            <c:dLbl>
              <c:idx val="9"/>
              <c:layout>
                <c:manualLayout>
                  <c:x val="-2.083333675087545E-3"/>
                  <c:y val="-2.2918048667107945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3-5A18-4674-8256-D3CD7F5D83E5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rgbClr val="003399"/>
                    </a:solidFill>
                    <a:latin typeface="+mn-lt"/>
                    <a:ea typeface="+mn-ea"/>
                    <a:cs typeface="+mn-cs"/>
                  </a:defRPr>
                </a:pPr>
                <a:endParaRPr lang="uk-UA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Аркуш1!$A$2:$A$12</c:f>
              <c:strCache>
                <c:ptCount val="11"/>
                <c:pt idx="0">
                  <c:v>По області</c:v>
                </c:pt>
                <c:pt idx="1">
                  <c:v>ВП "Лікарня Святого Пантелеймона"КНП "1 Територіальне медичне об'єднання м.Львова"</c:v>
                </c:pt>
                <c:pt idx="2">
                  <c:v>ВП "Лікарня Святого Луки " КНП "1 Територіальне медичне об'єднання м.Львова"</c:v>
                </c:pt>
                <c:pt idx="3">
                  <c:v>КНП "Дрогобицька міська лікарня № 1" Дрогобицької МР</c:v>
                </c:pt>
                <c:pt idx="4">
                  <c:v>КНП ЛОР "Львівська обласна клінічна лікарня"</c:v>
                </c:pt>
                <c:pt idx="5">
                  <c:v>КНП СМР ТМО «Стрийська міська об'єднана лікарня», ВП «Лікарня інтенсивного лікування»</c:v>
                </c:pt>
                <c:pt idx="6">
                  <c:v>КНП ЛОР "Львівський обласний госпіталь ветеранів війн та репресованих ім. Ю. Липи"</c:v>
                </c:pt>
                <c:pt idx="7">
                  <c:v>КП "Центральна міська лікарня Червоноградської МР"</c:v>
                </c:pt>
                <c:pt idx="8">
                  <c:v>КНП Буської МР "Буська центральна районна лiкарня"</c:v>
                </c:pt>
                <c:pt idx="9">
                  <c:v>КНП Самбірської МР "Самбірська центральна лікарня"</c:v>
                </c:pt>
                <c:pt idx="10">
                  <c:v> КНП "Новояворівська лікарня імені Юрія Липи" Новояворівської МР</c:v>
                </c:pt>
              </c:strCache>
            </c:strRef>
          </c:cat>
          <c:val>
            <c:numRef>
              <c:f>Аркуш1!$D$2:$D$12</c:f>
              <c:numCache>
                <c:formatCode>General</c:formatCode>
                <c:ptCount val="11"/>
                <c:pt idx="0">
                  <c:v>6989</c:v>
                </c:pt>
                <c:pt idx="1">
                  <c:v>2213</c:v>
                </c:pt>
                <c:pt idx="2">
                  <c:v>980</c:v>
                </c:pt>
                <c:pt idx="3">
                  <c:v>768</c:v>
                </c:pt>
                <c:pt idx="4">
                  <c:v>582</c:v>
                </c:pt>
                <c:pt idx="5">
                  <c:v>663</c:v>
                </c:pt>
                <c:pt idx="6">
                  <c:v>383</c:v>
                </c:pt>
                <c:pt idx="7">
                  <c:v>432</c:v>
                </c:pt>
                <c:pt idx="8">
                  <c:v>100</c:v>
                </c:pt>
                <c:pt idx="9">
                  <c:v>394</c:v>
                </c:pt>
                <c:pt idx="10">
                  <c:v>474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DF13-4D57-B375-264127718529}"/>
            </c:ext>
          </c:extLst>
        </c:ser>
        <c:ser>
          <c:idx val="3"/>
          <c:order val="3"/>
          <c:tx>
            <c:strRef>
              <c:f>Аркуш1!$E$1</c:f>
              <c:strCache>
                <c:ptCount val="1"/>
                <c:pt idx="0">
                  <c:v>2023р.</c:v>
                </c:pt>
              </c:strCache>
            </c:strRef>
          </c:tx>
          <c:spPr>
            <a:solidFill>
              <a:schemeClr val="bg1">
                <a:lumMod val="75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rgbClr val="003399"/>
                    </a:solidFill>
                    <a:latin typeface="+mn-lt"/>
                    <a:ea typeface="+mn-ea"/>
                    <a:cs typeface="+mn-cs"/>
                  </a:defRPr>
                </a:pPr>
                <a:endParaRPr lang="uk-UA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Аркуш1!$A$2:$A$12</c:f>
              <c:strCache>
                <c:ptCount val="11"/>
                <c:pt idx="0">
                  <c:v>По області</c:v>
                </c:pt>
                <c:pt idx="1">
                  <c:v>ВП "Лікарня Святого Пантелеймона"КНП "1 Територіальне медичне об'єднання м.Львова"</c:v>
                </c:pt>
                <c:pt idx="2">
                  <c:v>ВП "Лікарня Святого Луки " КНП "1 Територіальне медичне об'єднання м.Львова"</c:v>
                </c:pt>
                <c:pt idx="3">
                  <c:v>КНП "Дрогобицька міська лікарня № 1" Дрогобицької МР</c:v>
                </c:pt>
                <c:pt idx="4">
                  <c:v>КНП ЛОР "Львівська обласна клінічна лікарня"</c:v>
                </c:pt>
                <c:pt idx="5">
                  <c:v>КНП СМР ТМО «Стрийська міська об'єднана лікарня», ВП «Лікарня інтенсивного лікування»</c:v>
                </c:pt>
                <c:pt idx="6">
                  <c:v>КНП ЛОР "Львівський обласний госпіталь ветеранів війн та репресованих ім. Ю. Липи"</c:v>
                </c:pt>
                <c:pt idx="7">
                  <c:v>КП "Центральна міська лікарня Червоноградської МР"</c:v>
                </c:pt>
                <c:pt idx="8">
                  <c:v>КНП Буської МР "Буська центральна районна лiкарня"</c:v>
                </c:pt>
                <c:pt idx="9">
                  <c:v>КНП Самбірської МР "Самбірська центральна лікарня"</c:v>
                </c:pt>
                <c:pt idx="10">
                  <c:v> КНП "Новояворівська лікарня імені Юрія Липи" Новояворівської МР</c:v>
                </c:pt>
              </c:strCache>
            </c:strRef>
          </c:cat>
          <c:val>
            <c:numRef>
              <c:f>Аркуш1!$E$2:$E$12</c:f>
              <c:numCache>
                <c:formatCode>General</c:formatCode>
                <c:ptCount val="11"/>
                <c:pt idx="0">
                  <c:v>7525</c:v>
                </c:pt>
                <c:pt idx="1">
                  <c:v>1817</c:v>
                </c:pt>
                <c:pt idx="2">
                  <c:v>1230</c:v>
                </c:pt>
                <c:pt idx="3">
                  <c:v>879</c:v>
                </c:pt>
                <c:pt idx="4">
                  <c:v>721</c:v>
                </c:pt>
                <c:pt idx="5">
                  <c:v>671</c:v>
                </c:pt>
                <c:pt idx="6">
                  <c:v>560</c:v>
                </c:pt>
                <c:pt idx="7">
                  <c:v>529</c:v>
                </c:pt>
                <c:pt idx="8">
                  <c:v>396</c:v>
                </c:pt>
                <c:pt idx="9">
                  <c:v>393</c:v>
                </c:pt>
                <c:pt idx="10">
                  <c:v>329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DF13-4D57-B375-26412771852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2020275951"/>
        <c:axId val="2020269711"/>
      </c:barChart>
      <c:catAx>
        <c:axId val="202027595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0" spcFirstLastPara="1" vertOverflow="ellipsis" wrap="square" anchor="ctr" anchorCtr="1"/>
          <a:lstStyle/>
          <a:p>
            <a:pPr>
              <a:defRPr sz="800" b="0" i="0" u="none" strike="noStrike" kern="1200" baseline="0">
                <a:ln>
                  <a:noFill/>
                </a:ln>
                <a:solidFill>
                  <a:srgbClr val="002060"/>
                </a:solidFill>
                <a:latin typeface="+mn-lt"/>
                <a:ea typeface="+mn-ea"/>
                <a:cs typeface="+mn-cs"/>
              </a:defRPr>
            </a:pPr>
            <a:endParaRPr lang="uk-UA"/>
          </a:p>
        </c:txPr>
        <c:crossAx val="2020269711"/>
        <c:crosses val="autoZero"/>
        <c:auto val="1"/>
        <c:lblAlgn val="ctr"/>
        <c:lblOffset val="100"/>
        <c:noMultiLvlLbl val="0"/>
      </c:catAx>
      <c:valAx>
        <c:axId val="2020269711"/>
        <c:scaling>
          <c:orientation val="minMax"/>
        </c:scaling>
        <c:delete val="0"/>
        <c:axPos val="l"/>
        <c:majorGridlines>
          <c:spPr>
            <a:ln w="9525" cap="flat" cmpd="sng" algn="ctr">
              <a:noFill/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rgbClr val="003399"/>
                </a:solidFill>
                <a:latin typeface="+mn-lt"/>
                <a:ea typeface="+mn-ea"/>
                <a:cs typeface="+mn-cs"/>
              </a:defRPr>
            </a:pPr>
            <a:endParaRPr lang="uk-UA"/>
          </a:p>
        </c:txPr>
        <c:crossAx val="2020275951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rgbClr val="002060"/>
              </a:solidFill>
              <a:latin typeface="+mn-lt"/>
              <a:ea typeface="+mn-ea"/>
              <a:cs typeface="+mn-cs"/>
            </a:defRPr>
          </a:pPr>
          <a:endParaRPr lang="uk-UA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uk-UA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uk-UA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3.6526902887139105E-2"/>
          <c:y val="2.7381607782480485E-2"/>
          <c:w val="0.95409809711286087"/>
          <c:h val="0.75838578972971238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Аркуш1!$B$1</c:f>
              <c:strCache>
                <c:ptCount val="1"/>
                <c:pt idx="0">
                  <c:v>2020р.</c:v>
                </c:pt>
              </c:strCache>
            </c:strRef>
          </c:tx>
          <c:spPr>
            <a:solidFill>
              <a:schemeClr val="bg2">
                <a:lumMod val="75000"/>
              </a:schemeClr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-6.2500000000000047E-3"/>
                  <c:y val="-4.9325033522574458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1-0B78-4163-BBEA-C0884A739A0E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1" i="0" u="none" strike="noStrike" kern="1200" baseline="0">
                    <a:solidFill>
                      <a:srgbClr val="003399"/>
                    </a:solidFill>
                    <a:latin typeface="+mn-lt"/>
                    <a:ea typeface="+mn-ea"/>
                    <a:cs typeface="+mn-cs"/>
                  </a:defRPr>
                </a:pPr>
                <a:endParaRPr lang="uk-UA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Аркуш1!$A$2:$A$12</c:f>
              <c:strCache>
                <c:ptCount val="11"/>
                <c:pt idx="0">
                  <c:v>По області</c:v>
                </c:pt>
                <c:pt idx="1">
                  <c:v>ВП "Лікарня Святого Пантелеймона", ТМО1</c:v>
                </c:pt>
                <c:pt idx="2">
                  <c:v>ВП "Лікарня Святого Луки ", ТМО 1</c:v>
                </c:pt>
                <c:pt idx="3">
                  <c:v>КП "Центральна міська лікарня Червоноградської МР"</c:v>
                </c:pt>
                <c:pt idx="4">
                  <c:v>КНП СМР ТМО «Стрийська міська об'єднана лікарня», ВП «Лікарня інтенсивного лікування»</c:v>
                </c:pt>
                <c:pt idx="5">
                  <c:v>КНП ЛОР "Львівський обласний госпіталь ветеранів війн та репресованих ім. Ю. Липи"</c:v>
                </c:pt>
                <c:pt idx="6">
                  <c:v>КНП "Дрогобицька міська лікарня № 1" Дрогобицької МР</c:v>
                </c:pt>
                <c:pt idx="7">
                  <c:v> КНП "Новояворівська лікарня імені Юрія Липи" Новояворівської МР</c:v>
                </c:pt>
                <c:pt idx="8">
                  <c:v>КНП ЛОР "Львівська обласна клінічна лікарня"</c:v>
                </c:pt>
                <c:pt idx="9">
                  <c:v>КНП Буської МР "Буська центральна районна лiкарня"</c:v>
                </c:pt>
                <c:pt idx="10">
                  <c:v>КНП Самбірської МР "Самбірська центральна лікарня"</c:v>
                </c:pt>
              </c:strCache>
            </c:strRef>
          </c:cat>
          <c:val>
            <c:numRef>
              <c:f>Аркуш1!$B$2:$B$12</c:f>
              <c:numCache>
                <c:formatCode>0%</c:formatCode>
                <c:ptCount val="11"/>
                <c:pt idx="0">
                  <c:v>0.17</c:v>
                </c:pt>
                <c:pt idx="1">
                  <c:v>0.20699999999999999</c:v>
                </c:pt>
                <c:pt idx="2">
                  <c:v>0.21740000000000001</c:v>
                </c:pt>
                <c:pt idx="3">
                  <c:v>0.1472</c:v>
                </c:pt>
                <c:pt idx="4">
                  <c:v>0.26</c:v>
                </c:pt>
                <c:pt idx="5">
                  <c:v>0</c:v>
                </c:pt>
                <c:pt idx="6">
                  <c:v>0.14899999999999999</c:v>
                </c:pt>
                <c:pt idx="7">
                  <c:v>0.14000000000000001</c:v>
                </c:pt>
                <c:pt idx="8">
                  <c:v>9.1999999999999998E-2</c:v>
                </c:pt>
                <c:pt idx="9">
                  <c:v>0.16</c:v>
                </c:pt>
                <c:pt idx="10">
                  <c:v>3.1300000000000001E-2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A34-4267-91D1-21807B47D2A6}"/>
            </c:ext>
          </c:extLst>
        </c:ser>
        <c:ser>
          <c:idx val="1"/>
          <c:order val="1"/>
          <c:tx>
            <c:strRef>
              <c:f>Аркуш1!$C$1</c:f>
              <c:strCache>
                <c:ptCount val="1"/>
                <c:pt idx="0">
                  <c:v>2021р.</c:v>
                </c:pt>
              </c:strCache>
            </c:strRef>
          </c:tx>
          <c:spPr>
            <a:solidFill>
              <a:schemeClr val="tx2">
                <a:lumMod val="60000"/>
                <a:lumOff val="40000"/>
              </a:schemeClr>
            </a:solidFill>
            <a:ln>
              <a:noFill/>
            </a:ln>
            <a:effectLst/>
          </c:spPr>
          <c:invertIfNegative val="0"/>
          <c:dLbls>
            <c:dLbl>
              <c:idx val="1"/>
              <c:layout>
                <c:manualLayout>
                  <c:x val="1.0416666666666476E-3"/>
                  <c:y val="4.9325033522574007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1-F899-49BD-AE43-2058D7EC7062}"/>
                </c:ext>
              </c:extLst>
            </c:dLbl>
            <c:dLbl>
              <c:idx val="2"/>
              <c:layout>
                <c:manualLayout>
                  <c:x val="-1.0416666666666667E-3"/>
                  <c:y val="1.2331258380643613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0-F899-49BD-AE43-2058D7EC7062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1" i="0" u="none" strike="noStrike" kern="1200" baseline="0">
                    <a:solidFill>
                      <a:srgbClr val="003399"/>
                    </a:solidFill>
                    <a:latin typeface="+mn-lt"/>
                    <a:ea typeface="+mn-ea"/>
                    <a:cs typeface="+mn-cs"/>
                  </a:defRPr>
                </a:pPr>
                <a:endParaRPr lang="uk-UA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Аркуш1!$A$2:$A$12</c:f>
              <c:strCache>
                <c:ptCount val="11"/>
                <c:pt idx="0">
                  <c:v>По області</c:v>
                </c:pt>
                <c:pt idx="1">
                  <c:v>ВП "Лікарня Святого Пантелеймона", ТМО1</c:v>
                </c:pt>
                <c:pt idx="2">
                  <c:v>ВП "Лікарня Святого Луки ", ТМО 1</c:v>
                </c:pt>
                <c:pt idx="3">
                  <c:v>КП "Центральна міська лікарня Червоноградської МР"</c:v>
                </c:pt>
                <c:pt idx="4">
                  <c:v>КНП СМР ТМО «Стрийська міська об'єднана лікарня», ВП «Лікарня інтенсивного лікування»</c:v>
                </c:pt>
                <c:pt idx="5">
                  <c:v>КНП ЛОР "Львівський обласний госпіталь ветеранів війн та репресованих ім. Ю. Липи"</c:v>
                </c:pt>
                <c:pt idx="6">
                  <c:v>КНП "Дрогобицька міська лікарня № 1" Дрогобицької МР</c:v>
                </c:pt>
                <c:pt idx="7">
                  <c:v> КНП "Новояворівська лікарня імені Юрія Липи" Новояворівської МР</c:v>
                </c:pt>
                <c:pt idx="8">
                  <c:v>КНП ЛОР "Львівська обласна клінічна лікарня"</c:v>
                </c:pt>
                <c:pt idx="9">
                  <c:v>КНП Буської МР "Буська центральна районна лiкарня"</c:v>
                </c:pt>
                <c:pt idx="10">
                  <c:v>КНП Самбірської МР "Самбірська центральна лікарня"</c:v>
                </c:pt>
              </c:strCache>
            </c:strRef>
          </c:cat>
          <c:val>
            <c:numRef>
              <c:f>Аркуш1!$C$2:$C$12</c:f>
              <c:numCache>
                <c:formatCode>0%</c:formatCode>
                <c:ptCount val="11"/>
                <c:pt idx="0">
                  <c:v>0.17</c:v>
                </c:pt>
                <c:pt idx="1">
                  <c:v>0.17499999999999999</c:v>
                </c:pt>
                <c:pt idx="2">
                  <c:v>0.17780000000000001</c:v>
                </c:pt>
                <c:pt idx="3">
                  <c:v>0.16830000000000001</c:v>
                </c:pt>
                <c:pt idx="4">
                  <c:v>0.24</c:v>
                </c:pt>
                <c:pt idx="5">
                  <c:v>0.26</c:v>
                </c:pt>
                <c:pt idx="6">
                  <c:v>0.17100000000000001</c:v>
                </c:pt>
                <c:pt idx="7">
                  <c:v>0.17</c:v>
                </c:pt>
                <c:pt idx="8">
                  <c:v>0.127</c:v>
                </c:pt>
                <c:pt idx="9">
                  <c:v>0.17</c:v>
                </c:pt>
                <c:pt idx="10">
                  <c:v>4.9799999999999997E-2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9A34-4267-91D1-21807B47D2A6}"/>
            </c:ext>
          </c:extLst>
        </c:ser>
        <c:ser>
          <c:idx val="2"/>
          <c:order val="2"/>
          <c:tx>
            <c:strRef>
              <c:f>Аркуш1!$D$1</c:f>
              <c:strCache>
                <c:ptCount val="1"/>
                <c:pt idx="0">
                  <c:v>2022р.</c:v>
                </c:pt>
              </c:strCache>
            </c:strRef>
          </c:tx>
          <c:spPr>
            <a:solidFill>
              <a:schemeClr val="accent3">
                <a:lumMod val="75000"/>
              </a:schemeClr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-5.208333333333333E-3"/>
                  <c:y val="-7.3987550283861683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0-63F0-4BAC-8559-187C1CE87441}"/>
                </c:ext>
              </c:extLst>
            </c:dLbl>
            <c:dLbl>
              <c:idx val="1"/>
              <c:layout>
                <c:manualLayout>
                  <c:x val="-2.0833333333333524E-3"/>
                  <c:y val="-9.8650067045148917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2-F899-49BD-AE43-2058D7EC7062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1" i="0" u="none" strike="noStrike" kern="1200" baseline="0">
                    <a:solidFill>
                      <a:srgbClr val="003399"/>
                    </a:solidFill>
                    <a:latin typeface="+mn-lt"/>
                    <a:ea typeface="+mn-ea"/>
                    <a:cs typeface="+mn-cs"/>
                  </a:defRPr>
                </a:pPr>
                <a:endParaRPr lang="uk-UA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Аркуш1!$A$2:$A$12</c:f>
              <c:strCache>
                <c:ptCount val="11"/>
                <c:pt idx="0">
                  <c:v>По області</c:v>
                </c:pt>
                <c:pt idx="1">
                  <c:v>ВП "Лікарня Святого Пантелеймона", ТМО1</c:v>
                </c:pt>
                <c:pt idx="2">
                  <c:v>ВП "Лікарня Святого Луки ", ТМО 1</c:v>
                </c:pt>
                <c:pt idx="3">
                  <c:v>КП "Центральна міська лікарня Червоноградської МР"</c:v>
                </c:pt>
                <c:pt idx="4">
                  <c:v>КНП СМР ТМО «Стрийська міська об'єднана лікарня», ВП «Лікарня інтенсивного лікування»</c:v>
                </c:pt>
                <c:pt idx="5">
                  <c:v>КНП ЛОР "Львівський обласний госпіталь ветеранів війн та репресованих ім. Ю. Липи"</c:v>
                </c:pt>
                <c:pt idx="6">
                  <c:v>КНП "Дрогобицька міська лікарня № 1" Дрогобицької МР</c:v>
                </c:pt>
                <c:pt idx="7">
                  <c:v> КНП "Новояворівська лікарня імені Юрія Липи" Новояворівської МР</c:v>
                </c:pt>
                <c:pt idx="8">
                  <c:v>КНП ЛОР "Львівська обласна клінічна лікарня"</c:v>
                </c:pt>
                <c:pt idx="9">
                  <c:v>КНП Буської МР "Буська центральна районна лiкарня"</c:v>
                </c:pt>
                <c:pt idx="10">
                  <c:v>КНП Самбірської МР "Самбірська центральна лікарня"</c:v>
                </c:pt>
              </c:strCache>
            </c:strRef>
          </c:cat>
          <c:val>
            <c:numRef>
              <c:f>Аркуш1!$D$2:$D$12</c:f>
              <c:numCache>
                <c:formatCode>0%</c:formatCode>
                <c:ptCount val="11"/>
                <c:pt idx="0">
                  <c:v>0.19</c:v>
                </c:pt>
                <c:pt idx="1">
                  <c:v>0.21</c:v>
                </c:pt>
                <c:pt idx="2">
                  <c:v>0.2092</c:v>
                </c:pt>
                <c:pt idx="3">
                  <c:v>0.15049999999999999</c:v>
                </c:pt>
                <c:pt idx="4">
                  <c:v>0.27</c:v>
                </c:pt>
                <c:pt idx="5">
                  <c:v>0.14599999999999999</c:v>
                </c:pt>
                <c:pt idx="6">
                  <c:v>0.16400000000000001</c:v>
                </c:pt>
                <c:pt idx="7">
                  <c:v>0.129</c:v>
                </c:pt>
                <c:pt idx="8">
                  <c:v>0.13900000000000001</c:v>
                </c:pt>
                <c:pt idx="9">
                  <c:v>0.1</c:v>
                </c:pt>
                <c:pt idx="10">
                  <c:v>0.1142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9A34-4267-91D1-21807B47D2A6}"/>
            </c:ext>
          </c:extLst>
        </c:ser>
        <c:ser>
          <c:idx val="3"/>
          <c:order val="3"/>
          <c:tx>
            <c:strRef>
              <c:f>Аркуш1!$E$1</c:f>
              <c:strCache>
                <c:ptCount val="1"/>
                <c:pt idx="0">
                  <c:v>2023р.</c:v>
                </c:pt>
              </c:strCache>
            </c:strRef>
          </c:tx>
          <c:spPr>
            <a:solidFill>
              <a:schemeClr val="accent1">
                <a:lumMod val="75000"/>
              </a:schemeClr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3.1250000000000002E-3"/>
                  <c:y val="-4.9325033522574458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0-0B78-4163-BBEA-C0884A739A0E}"/>
                </c:ext>
              </c:extLst>
            </c:dLbl>
            <c:dLbl>
              <c:idx val="1"/>
              <c:layout>
                <c:manualLayout>
                  <c:x val="2.0833333333333333E-3"/>
                  <c:y val="0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3-F899-49BD-AE43-2058D7EC7062}"/>
                </c:ext>
              </c:extLst>
            </c:dLbl>
            <c:dLbl>
              <c:idx val="6"/>
              <c:layout>
                <c:manualLayout>
                  <c:x val="8.3333333333331806E-3"/>
                  <c:y val="1.7263761732901013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4-F899-49BD-AE43-2058D7EC7062}"/>
                </c:ext>
              </c:extLst>
            </c:dLbl>
            <c:dLbl>
              <c:idx val="7"/>
              <c:layout>
                <c:manualLayout>
                  <c:x val="1.1458333333333333E-2"/>
                  <c:y val="1.7263761732901013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5-F899-49BD-AE43-2058D7EC7062}"/>
                </c:ext>
              </c:extLst>
            </c:dLbl>
            <c:dLbl>
              <c:idx val="8"/>
              <c:layout>
                <c:manualLayout>
                  <c:x val="6.2500000000000003E-3"/>
                  <c:y val="-9.8650067045149368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6-F899-49BD-AE43-2058D7EC7062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1" i="0" u="none" strike="noStrike" kern="1200" baseline="0">
                    <a:solidFill>
                      <a:srgbClr val="003399"/>
                    </a:solidFill>
                    <a:latin typeface="+mn-lt"/>
                    <a:ea typeface="+mn-ea"/>
                    <a:cs typeface="+mn-cs"/>
                  </a:defRPr>
                </a:pPr>
                <a:endParaRPr lang="uk-UA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Аркуш1!$A$2:$A$12</c:f>
              <c:strCache>
                <c:ptCount val="11"/>
                <c:pt idx="0">
                  <c:v>По області</c:v>
                </c:pt>
                <c:pt idx="1">
                  <c:v>ВП "Лікарня Святого Пантелеймона", ТМО1</c:v>
                </c:pt>
                <c:pt idx="2">
                  <c:v>ВП "Лікарня Святого Луки ", ТМО 1</c:v>
                </c:pt>
                <c:pt idx="3">
                  <c:v>КП "Центральна міська лікарня Червоноградської МР"</c:v>
                </c:pt>
                <c:pt idx="4">
                  <c:v>КНП СМР ТМО «Стрийська міська об'єднана лікарня», ВП «Лікарня інтенсивного лікування»</c:v>
                </c:pt>
                <c:pt idx="5">
                  <c:v>КНП ЛОР "Львівський обласний госпіталь ветеранів війн та репресованих ім. Ю. Липи"</c:v>
                </c:pt>
                <c:pt idx="6">
                  <c:v>КНП "Дрогобицька міська лікарня № 1" Дрогобицької МР</c:v>
                </c:pt>
                <c:pt idx="7">
                  <c:v> КНП "Новояворівська лікарня імені Юрія Липи" Новояворівської МР</c:v>
                </c:pt>
                <c:pt idx="8">
                  <c:v>КНП ЛОР "Львівська обласна клінічна лікарня"</c:v>
                </c:pt>
                <c:pt idx="9">
                  <c:v>КНП Буської МР "Буська центральна районна лiкарня"</c:v>
                </c:pt>
                <c:pt idx="10">
                  <c:v>КНП Самбірської МР "Самбірська центральна лікарня"</c:v>
                </c:pt>
              </c:strCache>
            </c:strRef>
          </c:cat>
          <c:val>
            <c:numRef>
              <c:f>Аркуш1!$E$2:$E$12</c:f>
              <c:numCache>
                <c:formatCode>0%</c:formatCode>
                <c:ptCount val="11"/>
                <c:pt idx="0">
                  <c:v>0.19</c:v>
                </c:pt>
                <c:pt idx="1">
                  <c:v>0.21</c:v>
                </c:pt>
                <c:pt idx="2">
                  <c:v>0.2</c:v>
                </c:pt>
                <c:pt idx="3">
                  <c:v>0.2</c:v>
                </c:pt>
                <c:pt idx="4">
                  <c:v>0.2</c:v>
                </c:pt>
                <c:pt idx="5">
                  <c:v>0.2</c:v>
                </c:pt>
                <c:pt idx="6">
                  <c:v>0.18</c:v>
                </c:pt>
                <c:pt idx="7">
                  <c:v>0.18</c:v>
                </c:pt>
                <c:pt idx="8">
                  <c:v>0.14000000000000001</c:v>
                </c:pt>
                <c:pt idx="9">
                  <c:v>0.13</c:v>
                </c:pt>
                <c:pt idx="10">
                  <c:v>0.12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9A34-4267-91D1-21807B47D2A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180763232"/>
        <c:axId val="1180756992"/>
      </c:barChart>
      <c:catAx>
        <c:axId val="118076323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0"/>
          <a:lstStyle/>
          <a:p>
            <a:pPr>
              <a:defRPr sz="800" b="0" i="0" u="none" strike="noStrike" kern="1200" baseline="0">
                <a:solidFill>
                  <a:srgbClr val="003399"/>
                </a:solidFill>
                <a:latin typeface="+mn-lt"/>
                <a:ea typeface="+mn-ea"/>
                <a:cs typeface="+mn-cs"/>
              </a:defRPr>
            </a:pPr>
            <a:endParaRPr lang="uk-UA"/>
          </a:p>
        </c:txPr>
        <c:crossAx val="1180756992"/>
        <c:crosses val="autoZero"/>
        <c:auto val="1"/>
        <c:lblAlgn val="ctr"/>
        <c:lblOffset val="100"/>
        <c:noMultiLvlLbl val="0"/>
      </c:catAx>
      <c:valAx>
        <c:axId val="118075699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rgbClr val="003399"/>
                </a:solidFill>
                <a:latin typeface="+mn-lt"/>
                <a:ea typeface="+mn-ea"/>
                <a:cs typeface="+mn-cs"/>
              </a:defRPr>
            </a:pPr>
            <a:endParaRPr lang="uk-UA"/>
          </a:p>
        </c:txPr>
        <c:crossAx val="118076323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rgbClr val="002060"/>
              </a:solidFill>
              <a:latin typeface="+mn-lt"/>
              <a:ea typeface="+mn-ea"/>
              <a:cs typeface="+mn-cs"/>
            </a:defRPr>
          </a:pPr>
          <a:endParaRPr lang="uk-UA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uk-UA"/>
    </a:p>
  </c:txPr>
  <c:externalData r:id="rId3">
    <c:autoUpdate val="0"/>
  </c:externalData>
  <c:userShapes r:id="rId4"/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uk-UA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ln cap="rnd">
                  <a:solidFill>
                    <a:schemeClr val="accent1"/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uk-UA" sz="1200" b="0" i="1" baseline="0" dirty="0">
                <a:solidFill>
                  <a:srgbClr val="002060"/>
                </a:solidFill>
                <a:latin typeface="+mn-lt"/>
                <a:cs typeface="Times New Roman" panose="02020603050405020304" pitchFamily="18" charset="0"/>
              </a:rPr>
              <a:t>% частка від загальної кількості пролікованих в області</a:t>
            </a:r>
          </a:p>
        </c:rich>
      </c:tx>
      <c:layout>
        <c:manualLayout>
          <c:xMode val="edge"/>
          <c:yMode val="edge"/>
          <c:x val="0.54693451550209515"/>
          <c:y val="4.5962285592271099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ln cap="rnd">
                <a:solidFill>
                  <a:schemeClr val="accent1"/>
                </a:solidFill>
              </a:ln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uk-UA"/>
        </a:p>
      </c:txPr>
    </c:title>
    <c:autoTitleDeleted val="0"/>
    <c:view3D>
      <c:rotX val="15"/>
      <c:rotY val="20"/>
      <c:depthPercent val="100"/>
      <c:rAngAx val="1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solidFill>
          <a:srgbClr val="FFFFCC"/>
        </a:solidFill>
        <a:ln>
          <a:solidFill>
            <a:schemeClr val="accent6">
              <a:lumMod val="20000"/>
              <a:lumOff val="80000"/>
            </a:schemeClr>
          </a:solidFill>
        </a:ln>
        <a:effectLst/>
        <a:sp3d>
          <a:contourClr>
            <a:schemeClr val="accent6">
              <a:lumMod val="20000"/>
              <a:lumOff val="80000"/>
            </a:schemeClr>
          </a:contourClr>
        </a:sp3d>
      </c:spPr>
    </c:sideWall>
    <c:backWall>
      <c:thickness val="0"/>
      <c:spPr>
        <a:gradFill>
          <a:gsLst>
            <a:gs pos="0">
              <a:schemeClr val="accent3">
                <a:lumMod val="5000"/>
                <a:lumOff val="95000"/>
              </a:schemeClr>
            </a:gs>
            <a:gs pos="74000">
              <a:schemeClr val="accent3">
                <a:lumMod val="45000"/>
                <a:lumOff val="55000"/>
              </a:schemeClr>
            </a:gs>
            <a:gs pos="83000">
              <a:schemeClr val="accent3">
                <a:lumMod val="45000"/>
                <a:lumOff val="55000"/>
              </a:schemeClr>
            </a:gs>
            <a:gs pos="100000">
              <a:schemeClr val="accent3">
                <a:lumMod val="30000"/>
                <a:lumOff val="70000"/>
              </a:schemeClr>
            </a:gs>
          </a:gsLst>
          <a:lin ang="5400000" scaled="1"/>
        </a:gradFill>
        <a:ln>
          <a:solidFill>
            <a:schemeClr val="accent6">
              <a:lumMod val="20000"/>
              <a:lumOff val="80000"/>
            </a:schemeClr>
          </a:solidFill>
        </a:ln>
        <a:effectLst/>
        <a:sp3d>
          <a:contourClr>
            <a:schemeClr val="accent6">
              <a:lumMod val="20000"/>
              <a:lumOff val="80000"/>
            </a:schemeClr>
          </a:contourClr>
        </a:sp3d>
      </c:spPr>
    </c:backWall>
    <c:plotArea>
      <c:layout>
        <c:manualLayout>
          <c:layoutTarget val="inner"/>
          <c:xMode val="edge"/>
          <c:yMode val="edge"/>
          <c:x val="7.0545030903128247E-2"/>
          <c:y val="0.14822168792921303"/>
          <c:w val="0.87421072569928171"/>
          <c:h val="0.71442639483667192"/>
        </c:manualLayout>
      </c:layout>
      <c:bar3DChart>
        <c:barDir val="col"/>
        <c:grouping val="clustered"/>
        <c:varyColors val="0"/>
        <c:ser>
          <c:idx val="0"/>
          <c:order val="0"/>
          <c:tx>
            <c:strRef>
              <c:f>Аркуш1!$B$1</c:f>
              <c:strCache>
                <c:ptCount val="1"/>
                <c:pt idx="0">
                  <c:v>2022р.</c:v>
                </c:pt>
              </c:strCache>
            </c:strRef>
          </c:tx>
          <c:spPr>
            <a:gradFill flip="none" rotWithShape="1">
              <a:gsLst>
                <a:gs pos="0">
                  <a:schemeClr val="accent1">
                    <a:lumMod val="60000"/>
                    <a:lumOff val="40000"/>
                    <a:shade val="30000"/>
                    <a:satMod val="115000"/>
                  </a:schemeClr>
                </a:gs>
                <a:gs pos="50000">
                  <a:schemeClr val="accent1">
                    <a:lumMod val="60000"/>
                    <a:lumOff val="40000"/>
                    <a:shade val="67500"/>
                    <a:satMod val="115000"/>
                  </a:schemeClr>
                </a:gs>
                <a:gs pos="100000">
                  <a:schemeClr val="accent1">
                    <a:lumMod val="60000"/>
                    <a:lumOff val="40000"/>
                    <a:shade val="100000"/>
                    <a:satMod val="115000"/>
                  </a:schemeClr>
                </a:gs>
              </a:gsLst>
              <a:lin ang="0" scaled="1"/>
              <a:tileRect/>
            </a:gradFill>
            <a:ln>
              <a:noFill/>
            </a:ln>
            <a:effectLst/>
            <a:sp3d/>
          </c:spPr>
          <c:invertIfNegative val="0"/>
          <c:dLbls>
            <c:dLbl>
              <c:idx val="0"/>
              <c:layout>
                <c:manualLayout>
                  <c:x val="1.4650221093429054E-2"/>
                  <c:y val="-4.1197033855799509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0-8297-4022-B22B-7E99BEFC8E48}"/>
                </c:ext>
              </c:extLst>
            </c:dLbl>
            <c:dLbl>
              <c:idx val="1"/>
              <c:layout>
                <c:manualLayout>
                  <c:x val="2.2720975463359185E-2"/>
                  <c:y val="-5.6323203533726711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E-8297-4022-B22B-7E99BEFC8E48}"/>
                </c:ext>
              </c:extLst>
            </c:dLbl>
            <c:dLbl>
              <c:idx val="2"/>
              <c:layout>
                <c:manualLayout>
                  <c:x val="7.1003048322997447E-3"/>
                  <c:y val="-2.6820573111298457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10-8297-4022-B22B-7E99BEFC8E48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0" i="0" u="none" strike="noStrike" kern="1200" normalizeH="0" baseline="0">
                    <a:ln cap="rnd">
                      <a:solidFill>
                        <a:schemeClr val="accent1"/>
                      </a:solidFill>
                    </a:ln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pPr>
                <a:endParaRPr lang="uk-UA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Аркуш1!$A$2:$A$4</c:f>
              <c:strCache>
                <c:ptCount val="3"/>
                <c:pt idx="0">
                  <c:v>Частка всіх пацієнтів  
хворих на ГМІ</c:v>
                </c:pt>
                <c:pt idx="1">
                  <c:v>Частка пацієнтів
 з ішемічним інсультом</c:v>
                </c:pt>
                <c:pt idx="2">
                  <c:v>Частка пацієнтів 
з геморагічним інсультом</c:v>
                </c:pt>
              </c:strCache>
            </c:strRef>
          </c:cat>
          <c:val>
            <c:numRef>
              <c:f>Аркуш1!$B$2:$B$4</c:f>
              <c:numCache>
                <c:formatCode>0.0</c:formatCode>
                <c:ptCount val="3"/>
                <c:pt idx="0">
                  <c:v>31.7</c:v>
                </c:pt>
                <c:pt idx="1">
                  <c:v>30.6</c:v>
                </c:pt>
                <c:pt idx="2">
                  <c:v>38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8297-4022-B22B-7E99BEFC8E48}"/>
            </c:ext>
          </c:extLst>
        </c:ser>
        <c:ser>
          <c:idx val="1"/>
          <c:order val="1"/>
          <c:tx>
            <c:strRef>
              <c:f>Аркуш1!$C$1</c:f>
              <c:strCache>
                <c:ptCount val="1"/>
                <c:pt idx="0">
                  <c:v>2023р.</c:v>
                </c:pt>
              </c:strCache>
            </c:strRef>
          </c:tx>
          <c:spPr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  <a:effectLst/>
            <a:scene3d>
              <a:camera prst="orthographicFront"/>
              <a:lightRig rig="threePt" dir="t"/>
            </a:scene3d>
            <a:sp3d>
              <a:bevelT h="19050"/>
            </a:sp3d>
          </c:spPr>
          <c:invertIfNegative val="0"/>
          <c:dLbls>
            <c:dLbl>
              <c:idx val="0"/>
              <c:layout>
                <c:manualLayout>
                  <c:x val="2.2720975463359133E-2"/>
                  <c:y val="-5.0959088911466978E-2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197" b="0" i="0" u="none" strike="noStrike" kern="1200" baseline="0">
                      <a:ln cap="rnd">
                        <a:solidFill>
                          <a:schemeClr val="accent1"/>
                        </a:solidFill>
                      </a:ln>
                      <a:solidFill>
                        <a:schemeClr val="accent1">
                          <a:lumMod val="7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uk-UA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5-8297-4022-B22B-7E99BEFC8E48}"/>
                </c:ext>
              </c:extLst>
            </c:dLbl>
            <c:dLbl>
              <c:idx val="1"/>
              <c:layout>
                <c:manualLayout>
                  <c:x val="1.7040731597519388E-2"/>
                  <c:y val="-3.486674504468798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F-8297-4022-B22B-7E99BEFC8E48}"/>
                </c:ext>
              </c:extLst>
            </c:dLbl>
            <c:dLbl>
              <c:idx val="2"/>
              <c:layout>
                <c:manualLayout>
                  <c:x val="1.9880853530439287E-2"/>
                  <c:y val="-4.5594974289207293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6-8297-4022-B22B-7E99BEFC8E48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ln cap="rnd">
                      <a:solidFill>
                        <a:schemeClr val="accent1"/>
                      </a:solidFill>
                    </a:ln>
                    <a:solidFill>
                      <a:srgbClr val="003399"/>
                    </a:solidFill>
                    <a:latin typeface="+mn-lt"/>
                    <a:ea typeface="+mn-ea"/>
                    <a:cs typeface="+mn-cs"/>
                  </a:defRPr>
                </a:pPr>
                <a:endParaRPr lang="uk-UA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Аркуш1!$A$2:$A$4</c:f>
              <c:strCache>
                <c:ptCount val="3"/>
                <c:pt idx="0">
                  <c:v>Частка всіх пацієнтів  
хворих на ГМІ</c:v>
                </c:pt>
                <c:pt idx="1">
                  <c:v>Частка пацієнтів
 з ішемічним інсультом</c:v>
                </c:pt>
                <c:pt idx="2">
                  <c:v>Частка пацієнтів 
з геморагічним інсультом</c:v>
                </c:pt>
              </c:strCache>
            </c:strRef>
          </c:cat>
          <c:val>
            <c:numRef>
              <c:f>Аркуш1!$C$2:$C$4</c:f>
              <c:numCache>
                <c:formatCode>0.0</c:formatCode>
                <c:ptCount val="3"/>
                <c:pt idx="0">
                  <c:v>24.1</c:v>
                </c:pt>
                <c:pt idx="1">
                  <c:v>22.9</c:v>
                </c:pt>
                <c:pt idx="2">
                  <c:v>31.3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B-8297-4022-B22B-7E99BEFC8E4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shape val="box"/>
        <c:axId val="153649536"/>
        <c:axId val="153651072"/>
        <c:axId val="0"/>
      </c:bar3DChart>
      <c:catAx>
        <c:axId val="15364953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ln cap="rnd">
                  <a:solidFill>
                    <a:schemeClr val="accent1"/>
                  </a:solidFill>
                </a:ln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endParaRPr lang="uk-UA"/>
          </a:p>
        </c:txPr>
        <c:crossAx val="153651072"/>
        <c:crosses val="autoZero"/>
        <c:auto val="1"/>
        <c:lblAlgn val="ctr"/>
        <c:lblOffset val="100"/>
        <c:noMultiLvlLbl val="0"/>
      </c:catAx>
      <c:valAx>
        <c:axId val="15365107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ln cap="rnd">
                  <a:solidFill>
                    <a:schemeClr val="accent1"/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uk-UA"/>
          </a:p>
        </c:txPr>
        <c:crossAx val="15364953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37681047977146659"/>
          <c:y val="0.10968640089367089"/>
          <c:w val="0.13862337451711668"/>
          <c:h val="5.0880351142004406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ln cap="rnd">
                <a:solidFill>
                  <a:schemeClr val="accent1"/>
                </a:solidFill>
              </a:ln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uk-UA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gradFill flip="none" rotWithShape="1">
      <a:gsLst>
        <a:gs pos="0">
          <a:schemeClr val="accent3">
            <a:lumMod val="5000"/>
            <a:lumOff val="95000"/>
          </a:schemeClr>
        </a:gs>
        <a:gs pos="74000">
          <a:schemeClr val="accent3">
            <a:lumMod val="45000"/>
            <a:lumOff val="55000"/>
          </a:schemeClr>
        </a:gs>
        <a:gs pos="83000">
          <a:schemeClr val="accent3">
            <a:lumMod val="45000"/>
            <a:lumOff val="55000"/>
          </a:schemeClr>
        </a:gs>
        <a:gs pos="100000">
          <a:schemeClr val="accent3">
            <a:lumMod val="30000"/>
            <a:lumOff val="70000"/>
          </a:schemeClr>
        </a:gs>
      </a:gsLst>
      <a:lin ang="5400000" scaled="1"/>
      <a:tileRect/>
    </a:gradFill>
    <a:ln cap="rnd">
      <a:gradFill flip="none" rotWithShape="1">
        <a:gsLst>
          <a:gs pos="0">
            <a:schemeClr val="accent3">
              <a:lumMod val="5000"/>
              <a:lumOff val="95000"/>
            </a:schemeClr>
          </a:gs>
          <a:gs pos="74000">
            <a:schemeClr val="accent3">
              <a:lumMod val="45000"/>
              <a:lumOff val="55000"/>
            </a:schemeClr>
          </a:gs>
          <a:gs pos="83000">
            <a:schemeClr val="accent3">
              <a:lumMod val="45000"/>
              <a:lumOff val="55000"/>
            </a:schemeClr>
          </a:gs>
          <a:gs pos="100000">
            <a:schemeClr val="accent3">
              <a:lumMod val="30000"/>
              <a:lumOff val="70000"/>
            </a:schemeClr>
          </a:gs>
        </a:gsLst>
        <a:lin ang="5400000" scaled="1"/>
        <a:tileRect/>
      </a:gradFill>
    </a:ln>
    <a:effectLst/>
  </c:spPr>
  <c:txPr>
    <a:bodyPr/>
    <a:lstStyle/>
    <a:p>
      <a:pPr>
        <a:defRPr>
          <a:ln cap="rnd">
            <a:solidFill>
              <a:schemeClr val="accent1"/>
            </a:solidFill>
          </a:ln>
        </a:defRPr>
      </a:pPr>
      <a:endParaRPr lang="uk-UA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uk-UA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7.9832633654386614E-2"/>
          <c:y val="0.10030345207434073"/>
          <c:w val="0.7450412090069749"/>
          <c:h val="0.82374797332907101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Аркуш1!$B$1</c:f>
              <c:strCache>
                <c:ptCount val="1"/>
                <c:pt idx="0">
                  <c:v>ішемічний інсульт</c:v>
                </c:pt>
              </c:strCache>
            </c:strRef>
          </c:tx>
          <c:spPr>
            <a:solidFill>
              <a:srgbClr val="336699"/>
            </a:solidFill>
            <a:ln>
              <a:solidFill>
                <a:srgbClr val="002060"/>
              </a:solidFill>
            </a:ln>
            <a:effectLst/>
          </c:spPr>
          <c:invertIfNegative val="0"/>
          <c:cat>
            <c:strRef>
              <c:f>Аркуш1!$A$2:$A$5</c:f>
              <c:strCache>
                <c:ptCount val="4"/>
                <c:pt idx="0">
                  <c:v>2020р.</c:v>
                </c:pt>
                <c:pt idx="1">
                  <c:v>2021р.</c:v>
                </c:pt>
                <c:pt idx="2">
                  <c:v>2022р.</c:v>
                </c:pt>
                <c:pt idx="3">
                  <c:v>2023р.</c:v>
                </c:pt>
              </c:strCache>
            </c:strRef>
          </c:cat>
          <c:val>
            <c:numRef>
              <c:f>Аркуш1!$B$2:$B$5</c:f>
              <c:numCache>
                <c:formatCode>General</c:formatCode>
                <c:ptCount val="4"/>
                <c:pt idx="0">
                  <c:v>2917</c:v>
                </c:pt>
                <c:pt idx="1">
                  <c:v>5111</c:v>
                </c:pt>
                <c:pt idx="2">
                  <c:v>5964</c:v>
                </c:pt>
                <c:pt idx="3">
                  <c:v>6413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978-41BB-944D-7DD2AD5445CA}"/>
            </c:ext>
          </c:extLst>
        </c:ser>
        <c:ser>
          <c:idx val="1"/>
          <c:order val="1"/>
          <c:tx>
            <c:strRef>
              <c:f>Аркуш1!$C$1</c:f>
              <c:strCache>
                <c:ptCount val="1"/>
                <c:pt idx="0">
                  <c:v>геморагічний інсульт</c:v>
                </c:pt>
              </c:strCache>
            </c:strRef>
          </c:tx>
          <c:spPr>
            <a:solidFill>
              <a:schemeClr val="accent4">
                <a:lumMod val="40000"/>
                <a:lumOff val="60000"/>
              </a:schemeClr>
            </a:solidFill>
            <a:ln>
              <a:solidFill>
                <a:schemeClr val="accent1">
                  <a:lumMod val="60000"/>
                  <a:lumOff val="40000"/>
                </a:schemeClr>
              </a:solidFill>
            </a:ln>
            <a:effectLst/>
          </c:spPr>
          <c:invertIfNegative val="0"/>
          <c:cat>
            <c:strRef>
              <c:f>Аркуш1!$A$2:$A$5</c:f>
              <c:strCache>
                <c:ptCount val="4"/>
                <c:pt idx="0">
                  <c:v>2020р.</c:v>
                </c:pt>
                <c:pt idx="1">
                  <c:v>2021р.</c:v>
                </c:pt>
                <c:pt idx="2">
                  <c:v>2022р.</c:v>
                </c:pt>
                <c:pt idx="3">
                  <c:v>2023р.</c:v>
                </c:pt>
              </c:strCache>
            </c:strRef>
          </c:cat>
          <c:val>
            <c:numRef>
              <c:f>Аркуш1!$C$2:$C$5</c:f>
              <c:numCache>
                <c:formatCode>General</c:formatCode>
                <c:ptCount val="4"/>
                <c:pt idx="0">
                  <c:v>514</c:v>
                </c:pt>
                <c:pt idx="1">
                  <c:v>900</c:v>
                </c:pt>
                <c:pt idx="2">
                  <c:v>1025</c:v>
                </c:pt>
                <c:pt idx="3">
                  <c:v>1112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B978-41BB-944D-7DD2AD5445C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2031612127"/>
        <c:axId val="2031622943"/>
      </c:barChart>
      <c:lineChart>
        <c:grouping val="standard"/>
        <c:varyColors val="0"/>
        <c:ser>
          <c:idx val="2"/>
          <c:order val="2"/>
          <c:tx>
            <c:strRef>
              <c:f>Аркуш1!$D$1</c:f>
              <c:strCache>
                <c:ptCount val="1"/>
                <c:pt idx="0">
                  <c:v>ГМІ</c:v>
                </c:pt>
              </c:strCache>
            </c:strRef>
          </c:tx>
          <c:spPr>
            <a:ln w="28575" cap="rnd">
              <a:solidFill>
                <a:schemeClr val="accent1">
                  <a:lumMod val="60000"/>
                  <a:lumOff val="40000"/>
                </a:schemeClr>
              </a:solidFill>
              <a:prstDash val="dash"/>
              <a:round/>
            </a:ln>
            <a:effectLst/>
          </c:spPr>
          <c:marker>
            <c:symbol val="none"/>
          </c:marker>
          <c:cat>
            <c:strRef>
              <c:f>Аркуш1!$A$2:$A$5</c:f>
              <c:strCache>
                <c:ptCount val="4"/>
                <c:pt idx="0">
                  <c:v>2020р.</c:v>
                </c:pt>
                <c:pt idx="1">
                  <c:v>2021р.</c:v>
                </c:pt>
                <c:pt idx="2">
                  <c:v>2022р.</c:v>
                </c:pt>
                <c:pt idx="3">
                  <c:v>2023р.</c:v>
                </c:pt>
              </c:strCache>
            </c:strRef>
          </c:cat>
          <c:val>
            <c:numRef>
              <c:f>Аркуш1!$D$2:$D$5</c:f>
              <c:numCache>
                <c:formatCode>General</c:formatCode>
                <c:ptCount val="4"/>
                <c:pt idx="0">
                  <c:v>3431</c:v>
                </c:pt>
                <c:pt idx="1">
                  <c:v>6011</c:v>
                </c:pt>
                <c:pt idx="2">
                  <c:v>6989</c:v>
                </c:pt>
                <c:pt idx="3">
                  <c:v>7525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E8C1-40E8-9CAF-7478628E0B2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018415552"/>
        <c:axId val="1172980432"/>
      </c:lineChart>
      <c:catAx>
        <c:axId val="203161212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rgbClr val="002060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1" u="none" strike="noStrike" kern="1200" baseline="0">
                <a:solidFill>
                  <a:srgbClr val="00206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endParaRPr lang="uk-UA"/>
          </a:p>
        </c:txPr>
        <c:crossAx val="2031622943"/>
        <c:crosses val="autoZero"/>
        <c:auto val="1"/>
        <c:lblAlgn val="ctr"/>
        <c:lblOffset val="100"/>
        <c:noMultiLvlLbl val="0"/>
      </c:catAx>
      <c:valAx>
        <c:axId val="2031622943"/>
        <c:scaling>
          <c:orientation val="minMax"/>
          <c:max val="800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1" u="none" strike="noStrike" kern="1200" baseline="0">
                <a:solidFill>
                  <a:srgbClr val="00206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endParaRPr lang="uk-UA"/>
          </a:p>
        </c:txPr>
        <c:crossAx val="2031612127"/>
        <c:crosses val="autoZero"/>
        <c:crossBetween val="between"/>
      </c:valAx>
      <c:valAx>
        <c:axId val="1172980432"/>
        <c:scaling>
          <c:orientation val="minMax"/>
        </c:scaling>
        <c:delete val="1"/>
        <c:axPos val="r"/>
        <c:numFmt formatCode="General" sourceLinked="1"/>
        <c:majorTickMark val="out"/>
        <c:minorTickMark val="none"/>
        <c:tickLblPos val="nextTo"/>
        <c:crossAx val="1018415552"/>
        <c:crosses val="max"/>
        <c:crossBetween val="between"/>
      </c:valAx>
      <c:catAx>
        <c:axId val="1018415552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1172980432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tr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1" u="none" strike="noStrike" kern="1200" baseline="0">
              <a:solidFill>
                <a:srgbClr val="00206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defRPr>
          </a:pPr>
          <a:endParaRPr lang="uk-UA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b="0" i="1" baseline="0">
          <a:solidFill>
            <a:srgbClr val="002060"/>
          </a:solidFill>
          <a:latin typeface="Times New Roman" panose="02020603050405020304" pitchFamily="18" charset="0"/>
          <a:cs typeface="Times New Roman" panose="02020603050405020304" pitchFamily="18" charset="0"/>
        </a:defRPr>
      </a:pPr>
      <a:endParaRPr lang="uk-UA"/>
    </a:p>
  </c:txPr>
  <c:externalData r:id="rId3">
    <c:autoUpdate val="0"/>
  </c:externalData>
  <c:userShapes r:id="rId4"/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uk-UA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7.6580099751202502E-2"/>
          <c:y val="0.11388200390215067"/>
          <c:w val="0.82635455658657753"/>
          <c:h val="0.71423648978538168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Аркуш1!$B$1</c:f>
              <c:strCache>
                <c:ptCount val="1"/>
                <c:pt idx="0">
                  <c:v>Стовпець1</c:v>
                </c:pt>
              </c:strCache>
            </c:strRef>
          </c:tx>
          <c:spPr>
            <a:solidFill>
              <a:srgbClr val="336699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1.0841779677280342E-3"/>
                  <c:y val="-1.2329374439977885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0-2403-46AF-848B-E0570CB1106B}"/>
                </c:ext>
              </c:extLst>
            </c:dLbl>
            <c:dLbl>
              <c:idx val="1"/>
              <c:layout>
                <c:manualLayout>
                  <c:x val="2.168355935455989E-3"/>
                  <c:y val="-1.4662434036630832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1-2403-46AF-848B-E0570CB1106B}"/>
                </c:ext>
              </c:extLst>
            </c:dLbl>
            <c:dLbl>
              <c:idx val="2"/>
              <c:layout>
                <c:manualLayout>
                  <c:x val="6.5050678063682055E-3"/>
                  <c:y val="5.7709179407269672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2-2403-46AF-848B-E0570CB1106B}"/>
                </c:ext>
              </c:extLst>
            </c:dLbl>
            <c:dLbl>
              <c:idx val="3"/>
              <c:layout>
                <c:manualLayout>
                  <c:x val="3.2525339031841028E-3"/>
                  <c:y val="-9.2095245399633728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3-2403-46AF-848B-E0570CB1106B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200" b="1" i="0" u="none" strike="noStrike" kern="1200" baseline="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pPr>
                <a:endParaRPr lang="uk-UA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Аркуш1!$A$2:$A$5</c:f>
              <c:strCache>
                <c:ptCount val="4"/>
                <c:pt idx="0">
                  <c:v>2020р.</c:v>
                </c:pt>
                <c:pt idx="1">
                  <c:v>2021р.</c:v>
                </c:pt>
                <c:pt idx="2">
                  <c:v>2022р.</c:v>
                </c:pt>
                <c:pt idx="3">
                  <c:v>2023р.</c:v>
                </c:pt>
              </c:strCache>
            </c:strRef>
          </c:cat>
          <c:val>
            <c:numRef>
              <c:f>Аркуш1!$B$2:$B$5</c:f>
              <c:numCache>
                <c:formatCode>0.0%</c:formatCode>
                <c:ptCount val="4"/>
                <c:pt idx="0">
                  <c:v>0.16800000000000001</c:v>
                </c:pt>
                <c:pt idx="1">
                  <c:v>0.16700000000000001</c:v>
                </c:pt>
                <c:pt idx="2">
                  <c:v>0.186</c:v>
                </c:pt>
                <c:pt idx="3">
                  <c:v>0.185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978-41BB-944D-7DD2AD5445CA}"/>
            </c:ext>
          </c:extLst>
        </c:ser>
        <c:ser>
          <c:idx val="1"/>
          <c:order val="1"/>
          <c:tx>
            <c:strRef>
              <c:f>Аркуш1!$C$1</c:f>
              <c:strCache>
                <c:ptCount val="1"/>
                <c:pt idx="0">
                  <c:v>летальність у першу добу</c:v>
                </c:pt>
              </c:strCache>
            </c:strRef>
          </c:tx>
          <c:spPr>
            <a:solidFill>
              <a:schemeClr val="tx2">
                <a:lumMod val="40000"/>
                <a:lumOff val="60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200" b="1" i="0" u="none" strike="noStrike" kern="1200" baseline="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pPr>
                <a:endParaRPr lang="uk-UA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Аркуш1!$A$2:$A$5</c:f>
              <c:strCache>
                <c:ptCount val="4"/>
                <c:pt idx="0">
                  <c:v>2020р.</c:v>
                </c:pt>
                <c:pt idx="1">
                  <c:v>2021р.</c:v>
                </c:pt>
                <c:pt idx="2">
                  <c:v>2022р.</c:v>
                </c:pt>
                <c:pt idx="3">
                  <c:v>2023р.</c:v>
                </c:pt>
              </c:strCache>
            </c:strRef>
          </c:cat>
          <c:val>
            <c:numRef>
              <c:f>Аркуш1!$C$2:$C$5</c:f>
              <c:numCache>
                <c:formatCode>0.0%</c:formatCode>
                <c:ptCount val="4"/>
                <c:pt idx="0">
                  <c:v>2.5999999999999999E-2</c:v>
                </c:pt>
                <c:pt idx="1">
                  <c:v>2.5999999999999999E-2</c:v>
                </c:pt>
                <c:pt idx="2">
                  <c:v>2.7E-2</c:v>
                </c:pt>
                <c:pt idx="3">
                  <c:v>2.5999999999999999E-2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B978-41BB-944D-7DD2AD5445CA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1359537152"/>
        <c:axId val="1172977104"/>
      </c:barChart>
      <c:lineChart>
        <c:grouping val="standard"/>
        <c:varyColors val="0"/>
        <c:ser>
          <c:idx val="2"/>
          <c:order val="2"/>
          <c:tx>
            <c:strRef>
              <c:f>Аркуш1!$D$1</c:f>
              <c:strCache>
                <c:ptCount val="1"/>
                <c:pt idx="0">
                  <c:v>загальна летальність</c:v>
                </c:pt>
              </c:strCache>
            </c:strRef>
          </c:tx>
          <c:spPr>
            <a:ln w="28575" cap="rnd">
              <a:solidFill>
                <a:schemeClr val="tx2">
                  <a:lumMod val="75000"/>
                </a:schemeClr>
              </a:solidFill>
              <a:prstDash val="dash"/>
              <a:round/>
            </a:ln>
            <a:effectLst/>
          </c:spPr>
          <c:marker>
            <c:symbol val="none"/>
          </c:marker>
          <c:cat>
            <c:strRef>
              <c:f>Аркуш1!$A$2:$A$5</c:f>
              <c:strCache>
                <c:ptCount val="4"/>
                <c:pt idx="0">
                  <c:v>2020р.</c:v>
                </c:pt>
                <c:pt idx="1">
                  <c:v>2021р.</c:v>
                </c:pt>
                <c:pt idx="2">
                  <c:v>2022р.</c:v>
                </c:pt>
                <c:pt idx="3">
                  <c:v>2023р.</c:v>
                </c:pt>
              </c:strCache>
            </c:strRef>
          </c:cat>
          <c:val>
            <c:numRef>
              <c:f>Аркуш1!$D$2:$D$5</c:f>
              <c:numCache>
                <c:formatCode>0.0%</c:formatCode>
                <c:ptCount val="4"/>
                <c:pt idx="0">
                  <c:v>0.16800000000000001</c:v>
                </c:pt>
                <c:pt idx="1">
                  <c:v>0.16700000000000001</c:v>
                </c:pt>
                <c:pt idx="2">
                  <c:v>0.186</c:v>
                </c:pt>
                <c:pt idx="3">
                  <c:v>0.185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E8C1-40E8-9CAF-7478628E0B2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359537152"/>
        <c:axId val="1172977104"/>
      </c:lineChart>
      <c:valAx>
        <c:axId val="1172977104"/>
        <c:scaling>
          <c:orientation val="minMax"/>
        </c:scaling>
        <c:delete val="1"/>
        <c:axPos val="l"/>
        <c:numFmt formatCode="0.0%" sourceLinked="1"/>
        <c:majorTickMark val="none"/>
        <c:minorTickMark val="none"/>
        <c:tickLblPos val="nextTo"/>
        <c:crossAx val="1359537152"/>
        <c:crosses val="autoZero"/>
        <c:crossBetween val="between"/>
      </c:valAx>
      <c:catAx>
        <c:axId val="135953715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300" b="1" i="0" u="none" strike="noStrike" kern="1200" baseline="0">
                <a:solidFill>
                  <a:srgbClr val="003399"/>
                </a:solidFill>
                <a:latin typeface="+mn-lt"/>
                <a:ea typeface="+mn-ea"/>
                <a:cs typeface="+mn-cs"/>
              </a:defRPr>
            </a:pPr>
            <a:endParaRPr lang="uk-UA"/>
          </a:p>
        </c:txPr>
        <c:crossAx val="1172977104"/>
        <c:crosses val="autoZero"/>
        <c:auto val="1"/>
        <c:lblAlgn val="ctr"/>
        <c:lblOffset val="100"/>
        <c:noMultiLvlLbl val="0"/>
      </c:catAx>
      <c:spPr>
        <a:noFill/>
        <a:ln w="25400">
          <a:noFill/>
        </a:ln>
        <a:effectLst/>
      </c:spPr>
    </c:plotArea>
    <c:legend>
      <c:legendPos val="b"/>
      <c:legendEntry>
        <c:idx val="0"/>
        <c:delete val="1"/>
      </c:legendEntry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rgbClr val="002060"/>
              </a:solidFill>
              <a:latin typeface="+mn-lt"/>
              <a:ea typeface="+mn-ea"/>
              <a:cs typeface="+mn-cs"/>
            </a:defRPr>
          </a:pPr>
          <a:endParaRPr lang="uk-UA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uk-UA"/>
    </a:p>
  </c:txPr>
  <c:externalData r:id="rId3">
    <c:autoUpdate val="0"/>
  </c:externalData>
  <c:userShapes r:id="rId4"/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uk-UA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Аркуш1!$B$1</c:f>
              <c:strCache>
                <c:ptCount val="1"/>
                <c:pt idx="0">
                  <c:v>% від к-ті ГМІ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5"/>
            <c:invertIfNegative val="0"/>
            <c:bubble3D val="0"/>
            <c:spPr>
              <a:solidFill>
                <a:srgbClr val="C0000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4-155E-46A2-98A5-3FC5F5EA128D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00" b="1" i="0" u="none" strike="noStrike" kern="1200" baseline="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pPr>
                <a:endParaRPr lang="uk-UA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Аркуш1!$A$2:$A$12</c:f>
              <c:strCache>
                <c:ptCount val="11"/>
                <c:pt idx="0">
                  <c:v>КНП Буської міської ради «Буська центральна районна лiкарня»</c:v>
                </c:pt>
                <c:pt idx="1">
                  <c:v>КНП «Дрогобицька міська лікарня № 1» Дрогобицької міської ради</c:v>
                </c:pt>
                <c:pt idx="2">
                  <c:v> КНП ЛОР «Львівська обласна клінічна лікарня»</c:v>
                </c:pt>
                <c:pt idx="3">
                  <c:v> КНП Самбірської міської ради «Самбірська центральна лікарня»</c:v>
                </c:pt>
                <c:pt idx="4">
                  <c:v>Відокремлений підрозділ «Лікарня Святого Пантелеймона «КНП  1 Територіальне медичне об'єднання м.Львова»</c:v>
                </c:pt>
                <c:pt idx="5">
                  <c:v>По області</c:v>
                </c:pt>
                <c:pt idx="6">
                  <c:v>КП «Центральна міська лікарня Червоноградської міської ради»</c:v>
                </c:pt>
                <c:pt idx="7">
                  <c:v> КНП «Новояворівська лікарня імені Юрія Липи» Новояворівської міської ради</c:v>
                </c:pt>
                <c:pt idx="8">
                  <c:v>Відокремлений підрозділ «Лікарня Святого Луки «КНП  1 Територіальне медичне об'єднання м.Львова»</c:v>
                </c:pt>
                <c:pt idx="9">
                  <c:v> КНП ЛОР «Львівський обласний госпіталь ветеранів війн та репресованих ім. Ю. Липи»</c:v>
                </c:pt>
                <c:pt idx="10">
                  <c:v>КНП Стрийської міської ради ТМО «Стрийська міська об'єднана лікарня», ВП «Лікарня інтенсивного лікування»</c:v>
                </c:pt>
              </c:strCache>
            </c:strRef>
          </c:cat>
          <c:val>
            <c:numRef>
              <c:f>Аркуш1!$B$2:$B$12</c:f>
              <c:numCache>
                <c:formatCode>0.0</c:formatCode>
                <c:ptCount val="11"/>
                <c:pt idx="0">
                  <c:v>2.8</c:v>
                </c:pt>
                <c:pt idx="1">
                  <c:v>5.3</c:v>
                </c:pt>
                <c:pt idx="2">
                  <c:v>5.4</c:v>
                </c:pt>
                <c:pt idx="3">
                  <c:v>5.6</c:v>
                </c:pt>
                <c:pt idx="4">
                  <c:v>6.9</c:v>
                </c:pt>
                <c:pt idx="5">
                  <c:v>8</c:v>
                </c:pt>
                <c:pt idx="6">
                  <c:v>8.9</c:v>
                </c:pt>
                <c:pt idx="7">
                  <c:v>9.4</c:v>
                </c:pt>
                <c:pt idx="8">
                  <c:v>10</c:v>
                </c:pt>
                <c:pt idx="9">
                  <c:v>10.5</c:v>
                </c:pt>
                <c:pt idx="10">
                  <c:v>13.9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55E-46A2-98A5-3FC5F5EA128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1252892496"/>
        <c:axId val="1293867056"/>
      </c:barChart>
      <c:catAx>
        <c:axId val="1252892496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1" i="0" u="none" strike="noStrike" kern="1200" baseline="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pPr>
            <a:endParaRPr lang="uk-UA"/>
          </a:p>
        </c:txPr>
        <c:crossAx val="1293867056"/>
        <c:crosses val="autoZero"/>
        <c:auto val="1"/>
        <c:lblAlgn val="ctr"/>
        <c:lblOffset val="100"/>
        <c:noMultiLvlLbl val="0"/>
      </c:catAx>
      <c:valAx>
        <c:axId val="1293867056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pPr>
            <a:endParaRPr lang="uk-UA"/>
          </a:p>
        </c:txPr>
        <c:crossAx val="125289249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uk-UA"/>
    </a:p>
  </c:txPr>
  <c:externalData r:id="rId3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uk-UA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4.9352124237553197E-2"/>
          <c:y val="6.0655051968028784E-2"/>
          <c:w val="0.90207234965194572"/>
          <c:h val="0.68585418635152606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Аркуш1!$B$1</c:f>
              <c:strCache>
                <c:ptCount val="1"/>
                <c:pt idx="0">
                  <c:v>2020р.</c:v>
                </c:pt>
              </c:strCache>
            </c:strRef>
          </c:tx>
          <c:spPr>
            <a:solidFill>
              <a:schemeClr val="tx2">
                <a:lumMod val="40000"/>
                <a:lumOff val="60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pPr>
                <a:endParaRPr lang="uk-UA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Аркуш1!$A$2:$A$12</c:f>
              <c:strCache>
                <c:ptCount val="11"/>
                <c:pt idx="0">
                  <c:v>По області</c:v>
                </c:pt>
                <c:pt idx="1">
                  <c:v>ВП "Лікарня Святого Пантелеймона"КНП "1 Територіальне медичне об'єднання м.Львова"</c:v>
                </c:pt>
                <c:pt idx="2">
                  <c:v>ВП "Лікарня Святого Луки " КНП "1 Територіальне медичне об'єднання м.Львова"</c:v>
                </c:pt>
                <c:pt idx="3">
                  <c:v>КНП "Дрогобицька міська лікарня № 1" Дрогобицької МР</c:v>
                </c:pt>
                <c:pt idx="4">
                  <c:v>КНП ЛОР "Львівська обласна клінічна лікарня"</c:v>
                </c:pt>
                <c:pt idx="5">
                  <c:v>КНП СМР ТМО «Стрийська міська об'єднана лікарня», ВП «Лікарня інтенсивного лікування»</c:v>
                </c:pt>
                <c:pt idx="6">
                  <c:v>КНП ЛОР "Львівський обласний госпіталь ветеранів війн та репресованих ім. Ю. Липи"</c:v>
                </c:pt>
                <c:pt idx="7">
                  <c:v>КП "Центральна міська лікарня Червоноградської МР"</c:v>
                </c:pt>
                <c:pt idx="8">
                  <c:v>КНП Буської МР "Буська центральна районна лiкарня"</c:v>
                </c:pt>
                <c:pt idx="9">
                  <c:v>КНП Самбірської МР "Самбірська центральна лікарня"</c:v>
                </c:pt>
                <c:pt idx="10">
                  <c:v> КНП "Новояворівська лікарня імені Юрія Липи" Новояворівської МР</c:v>
                </c:pt>
              </c:strCache>
            </c:strRef>
          </c:cat>
          <c:val>
            <c:numRef>
              <c:f>Аркуш1!$B$2:$B$12</c:f>
              <c:numCache>
                <c:formatCode>General</c:formatCode>
                <c:ptCount val="11"/>
                <c:pt idx="0">
                  <c:v>2917</c:v>
                </c:pt>
                <c:pt idx="1">
                  <c:v>1218</c:v>
                </c:pt>
                <c:pt idx="2">
                  <c:v>22</c:v>
                </c:pt>
                <c:pt idx="3">
                  <c:v>390</c:v>
                </c:pt>
                <c:pt idx="4">
                  <c:v>318</c:v>
                </c:pt>
                <c:pt idx="5">
                  <c:v>248</c:v>
                </c:pt>
                <c:pt idx="6">
                  <c:v>14</c:v>
                </c:pt>
                <c:pt idx="7">
                  <c:v>305</c:v>
                </c:pt>
                <c:pt idx="8">
                  <c:v>27</c:v>
                </c:pt>
                <c:pt idx="9">
                  <c:v>179</c:v>
                </c:pt>
                <c:pt idx="10">
                  <c:v>196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F13-4D57-B375-264127718529}"/>
            </c:ext>
          </c:extLst>
        </c:ser>
        <c:ser>
          <c:idx val="1"/>
          <c:order val="1"/>
          <c:tx>
            <c:strRef>
              <c:f>Аркуш1!$C$1</c:f>
              <c:strCache>
                <c:ptCount val="1"/>
                <c:pt idx="0">
                  <c:v>2021р.</c:v>
                </c:pt>
              </c:strCache>
            </c:strRef>
          </c:tx>
          <c:spPr>
            <a:solidFill>
              <a:schemeClr val="accent1">
                <a:lumMod val="75000"/>
              </a:schemeClr>
            </a:solidFill>
            <a:ln>
              <a:noFill/>
            </a:ln>
            <a:effectLst/>
          </c:spPr>
          <c:invertIfNegative val="0"/>
          <c:dLbls>
            <c:dLbl>
              <c:idx val="3"/>
              <c:layout>
                <c:manualLayout>
                  <c:x val="-3.1250005126313559E-3"/>
                  <c:y val="-9.1672194668431777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2-7189-4675-9D6B-51ABA61C67EA}"/>
                </c:ext>
              </c:extLst>
            </c:dLbl>
            <c:dLbl>
              <c:idx val="5"/>
              <c:layout>
                <c:manualLayout>
                  <c:x val="0"/>
                  <c:y val="-1.6042634066975644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4-4870-4BD4-A35A-07EE6223EA0D}"/>
                </c:ext>
              </c:extLst>
            </c:dLbl>
            <c:dLbl>
              <c:idx val="7"/>
              <c:layout>
                <c:manualLayout>
                  <c:x val="0"/>
                  <c:y val="-1.6042634066975644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3-7189-4675-9D6B-51ABA61C67EA}"/>
                </c:ext>
              </c:extLst>
            </c:dLbl>
            <c:dLbl>
              <c:idx val="9"/>
              <c:layout>
                <c:manualLayout>
                  <c:x val="-1.0416668375437725E-3"/>
                  <c:y val="-9.1672194668431777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4-7189-4675-9D6B-51ABA61C67EA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pPr>
                <a:endParaRPr lang="uk-UA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Аркуш1!$A$2:$A$12</c:f>
              <c:strCache>
                <c:ptCount val="11"/>
                <c:pt idx="0">
                  <c:v>По області</c:v>
                </c:pt>
                <c:pt idx="1">
                  <c:v>ВП "Лікарня Святого Пантелеймона"КНП "1 Територіальне медичне об'єднання м.Львова"</c:v>
                </c:pt>
                <c:pt idx="2">
                  <c:v>ВП "Лікарня Святого Луки " КНП "1 Територіальне медичне об'єднання м.Львова"</c:v>
                </c:pt>
                <c:pt idx="3">
                  <c:v>КНП "Дрогобицька міська лікарня № 1" Дрогобицької МР</c:v>
                </c:pt>
                <c:pt idx="4">
                  <c:v>КНП ЛОР "Львівська обласна клінічна лікарня"</c:v>
                </c:pt>
                <c:pt idx="5">
                  <c:v>КНП СМР ТМО «Стрийська міська об'єднана лікарня», ВП «Лікарня інтенсивного лікування»</c:v>
                </c:pt>
                <c:pt idx="6">
                  <c:v>КНП ЛОР "Львівський обласний госпіталь ветеранів війн та репресованих ім. Ю. Липи"</c:v>
                </c:pt>
                <c:pt idx="7">
                  <c:v>КП "Центральна міська лікарня Червоноградської МР"</c:v>
                </c:pt>
                <c:pt idx="8">
                  <c:v>КНП Буської МР "Буська центральна районна лiкарня"</c:v>
                </c:pt>
                <c:pt idx="9">
                  <c:v>КНП Самбірської МР "Самбірська центральна лікарня"</c:v>
                </c:pt>
                <c:pt idx="10">
                  <c:v> КНП "Новояворівська лікарня імені Юрія Липи" Новояворівської МР</c:v>
                </c:pt>
              </c:strCache>
            </c:strRef>
          </c:cat>
          <c:val>
            <c:numRef>
              <c:f>Аркуш1!$C$2:$C$12</c:f>
              <c:numCache>
                <c:formatCode>General</c:formatCode>
                <c:ptCount val="11"/>
                <c:pt idx="0">
                  <c:v>5111</c:v>
                </c:pt>
                <c:pt idx="1">
                  <c:v>2044</c:v>
                </c:pt>
                <c:pt idx="2">
                  <c:v>38</c:v>
                </c:pt>
                <c:pt idx="3">
                  <c:v>619</c:v>
                </c:pt>
                <c:pt idx="4">
                  <c:v>674</c:v>
                </c:pt>
                <c:pt idx="5">
                  <c:v>559</c:v>
                </c:pt>
                <c:pt idx="6">
                  <c:v>28</c:v>
                </c:pt>
                <c:pt idx="7">
                  <c:v>405</c:v>
                </c:pt>
                <c:pt idx="8">
                  <c:v>53</c:v>
                </c:pt>
                <c:pt idx="9">
                  <c:v>365</c:v>
                </c:pt>
                <c:pt idx="10">
                  <c:v>326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DF13-4D57-B375-264127718529}"/>
            </c:ext>
          </c:extLst>
        </c:ser>
        <c:ser>
          <c:idx val="2"/>
          <c:order val="2"/>
          <c:tx>
            <c:strRef>
              <c:f>Аркуш1!$D$1</c:f>
              <c:strCache>
                <c:ptCount val="1"/>
                <c:pt idx="0">
                  <c:v>2022р.</c:v>
                </c:pt>
              </c:strCache>
            </c:strRef>
          </c:tx>
          <c:spPr>
            <a:solidFill>
              <a:schemeClr val="accent3">
                <a:lumMod val="75000"/>
              </a:schemeClr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chemeClr val="bg2">
                  <a:lumMod val="5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1DE8-4697-8247-430AC562C997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rgbClr val="003399"/>
                    </a:solidFill>
                    <a:latin typeface="+mn-lt"/>
                    <a:ea typeface="+mn-ea"/>
                    <a:cs typeface="+mn-cs"/>
                  </a:defRPr>
                </a:pPr>
                <a:endParaRPr lang="uk-UA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Аркуш1!$A$2:$A$12</c:f>
              <c:strCache>
                <c:ptCount val="11"/>
                <c:pt idx="0">
                  <c:v>По області</c:v>
                </c:pt>
                <c:pt idx="1">
                  <c:v>ВП "Лікарня Святого Пантелеймона"КНП "1 Територіальне медичне об'єднання м.Львова"</c:v>
                </c:pt>
                <c:pt idx="2">
                  <c:v>ВП "Лікарня Святого Луки " КНП "1 Територіальне медичне об'єднання м.Львова"</c:v>
                </c:pt>
                <c:pt idx="3">
                  <c:v>КНП "Дрогобицька міська лікарня № 1" Дрогобицької МР</c:v>
                </c:pt>
                <c:pt idx="4">
                  <c:v>КНП ЛОР "Львівська обласна клінічна лікарня"</c:v>
                </c:pt>
                <c:pt idx="5">
                  <c:v>КНП СМР ТМО «Стрийська міська об'єднана лікарня», ВП «Лікарня інтенсивного лікування»</c:v>
                </c:pt>
                <c:pt idx="6">
                  <c:v>КНП ЛОР "Львівський обласний госпіталь ветеранів війн та репресованих ім. Ю. Липи"</c:v>
                </c:pt>
                <c:pt idx="7">
                  <c:v>КП "Центральна міська лікарня Червоноградської МР"</c:v>
                </c:pt>
                <c:pt idx="8">
                  <c:v>КНП Буської МР "Буська центральна районна лiкарня"</c:v>
                </c:pt>
                <c:pt idx="9">
                  <c:v>КНП Самбірської МР "Самбірська центральна лікарня"</c:v>
                </c:pt>
                <c:pt idx="10">
                  <c:v> КНП "Новояворівська лікарня імені Юрія Липи" Новояворівської МР</c:v>
                </c:pt>
              </c:strCache>
            </c:strRef>
          </c:cat>
          <c:val>
            <c:numRef>
              <c:f>Аркуш1!$D$2:$D$12</c:f>
              <c:numCache>
                <c:formatCode>General</c:formatCode>
                <c:ptCount val="11"/>
                <c:pt idx="0">
                  <c:v>5964</c:v>
                </c:pt>
                <c:pt idx="1">
                  <c:v>1824</c:v>
                </c:pt>
                <c:pt idx="2">
                  <c:v>850</c:v>
                </c:pt>
                <c:pt idx="3">
                  <c:v>670</c:v>
                </c:pt>
                <c:pt idx="4">
                  <c:v>531</c:v>
                </c:pt>
                <c:pt idx="5">
                  <c:v>551</c:v>
                </c:pt>
                <c:pt idx="6">
                  <c:v>342</c:v>
                </c:pt>
                <c:pt idx="7">
                  <c:v>359</c:v>
                </c:pt>
                <c:pt idx="8">
                  <c:v>90</c:v>
                </c:pt>
                <c:pt idx="9">
                  <c:v>326</c:v>
                </c:pt>
                <c:pt idx="10">
                  <c:v>421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DF13-4D57-B375-264127718529}"/>
            </c:ext>
          </c:extLst>
        </c:ser>
        <c:ser>
          <c:idx val="3"/>
          <c:order val="3"/>
          <c:tx>
            <c:strRef>
              <c:f>Аркуш1!$E$1</c:f>
              <c:strCache>
                <c:ptCount val="1"/>
                <c:pt idx="0">
                  <c:v>2023р.</c:v>
                </c:pt>
              </c:strCache>
            </c:strRef>
          </c:tx>
          <c:spPr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  <a:effectLst/>
          </c:spPr>
          <c:invertIfNegative val="0"/>
          <c:dLbls>
            <c:dLbl>
              <c:idx val="5"/>
              <c:layout>
                <c:manualLayout>
                  <c:x val="0"/>
                  <c:y val="-1.6042634066975477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5-4870-4BD4-A35A-07EE6223EA0D}"/>
                </c:ext>
              </c:extLst>
            </c:dLbl>
            <c:dLbl>
              <c:idx val="9"/>
              <c:layout>
                <c:manualLayout>
                  <c:x val="1.0416668375437725E-3"/>
                  <c:y val="-4.583609733421673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5-7189-4675-9D6B-51ABA61C67EA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rgbClr val="003399"/>
                    </a:solidFill>
                    <a:latin typeface="+mn-lt"/>
                    <a:ea typeface="+mn-ea"/>
                    <a:cs typeface="+mn-cs"/>
                  </a:defRPr>
                </a:pPr>
                <a:endParaRPr lang="uk-UA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Аркуш1!$A$2:$A$12</c:f>
              <c:strCache>
                <c:ptCount val="11"/>
                <c:pt idx="0">
                  <c:v>По області</c:v>
                </c:pt>
                <c:pt idx="1">
                  <c:v>ВП "Лікарня Святого Пантелеймона"КНП "1 Територіальне медичне об'єднання м.Львова"</c:v>
                </c:pt>
                <c:pt idx="2">
                  <c:v>ВП "Лікарня Святого Луки " КНП "1 Територіальне медичне об'єднання м.Львова"</c:v>
                </c:pt>
                <c:pt idx="3">
                  <c:v>КНП "Дрогобицька міська лікарня № 1" Дрогобицької МР</c:v>
                </c:pt>
                <c:pt idx="4">
                  <c:v>КНП ЛОР "Львівська обласна клінічна лікарня"</c:v>
                </c:pt>
                <c:pt idx="5">
                  <c:v>КНП СМР ТМО «Стрийська міська об'єднана лікарня», ВП «Лікарня інтенсивного лікування»</c:v>
                </c:pt>
                <c:pt idx="6">
                  <c:v>КНП ЛОР "Львівський обласний госпіталь ветеранів війн та репресованих ім. Ю. Липи"</c:v>
                </c:pt>
                <c:pt idx="7">
                  <c:v>КП "Центральна міська лікарня Червоноградської МР"</c:v>
                </c:pt>
                <c:pt idx="8">
                  <c:v>КНП Буської МР "Буська центральна районна лiкарня"</c:v>
                </c:pt>
                <c:pt idx="9">
                  <c:v>КНП Самбірської МР "Самбірська центральна лікарня"</c:v>
                </c:pt>
                <c:pt idx="10">
                  <c:v> КНП "Новояворівська лікарня імені Юрія Липи" Новояворівської МР</c:v>
                </c:pt>
              </c:strCache>
            </c:strRef>
          </c:cat>
          <c:val>
            <c:numRef>
              <c:f>Аркуш1!$E$2:$E$12</c:f>
              <c:numCache>
                <c:formatCode>General</c:formatCode>
                <c:ptCount val="11"/>
                <c:pt idx="0">
                  <c:v>6413</c:v>
                </c:pt>
                <c:pt idx="1">
                  <c:v>1469</c:v>
                </c:pt>
                <c:pt idx="2">
                  <c:v>1052</c:v>
                </c:pt>
                <c:pt idx="3">
                  <c:v>762</c:v>
                </c:pt>
                <c:pt idx="4">
                  <c:v>642</c:v>
                </c:pt>
                <c:pt idx="5">
                  <c:v>561</c:v>
                </c:pt>
                <c:pt idx="6">
                  <c:v>509</c:v>
                </c:pt>
                <c:pt idx="7">
                  <c:v>435</c:v>
                </c:pt>
                <c:pt idx="8">
                  <c:v>347</c:v>
                </c:pt>
                <c:pt idx="9">
                  <c:v>361</c:v>
                </c:pt>
                <c:pt idx="10">
                  <c:v>275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4870-4BD4-A35A-07EE6223EA0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2020275951"/>
        <c:axId val="2020269711"/>
      </c:barChart>
      <c:catAx>
        <c:axId val="202027595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0" spcFirstLastPara="1" vertOverflow="ellipsis" wrap="square" anchor="ctr" anchorCtr="1"/>
          <a:lstStyle/>
          <a:p>
            <a:pPr>
              <a:defRPr sz="800" b="0" i="0" u="none" strike="noStrike" kern="1200" baseline="0">
                <a:ln>
                  <a:noFill/>
                </a:ln>
                <a:solidFill>
                  <a:srgbClr val="002060"/>
                </a:solidFill>
                <a:latin typeface="+mn-lt"/>
                <a:ea typeface="+mn-ea"/>
                <a:cs typeface="+mn-cs"/>
              </a:defRPr>
            </a:pPr>
            <a:endParaRPr lang="uk-UA"/>
          </a:p>
        </c:txPr>
        <c:crossAx val="2020269711"/>
        <c:crosses val="autoZero"/>
        <c:auto val="1"/>
        <c:lblAlgn val="ctr"/>
        <c:lblOffset val="100"/>
        <c:noMultiLvlLbl val="0"/>
      </c:catAx>
      <c:valAx>
        <c:axId val="2020269711"/>
        <c:scaling>
          <c:orientation val="minMax"/>
        </c:scaling>
        <c:delete val="0"/>
        <c:axPos val="l"/>
        <c:majorGridlines>
          <c:spPr>
            <a:ln w="9525" cap="flat" cmpd="sng" algn="ctr">
              <a:noFill/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rgbClr val="003399"/>
                </a:solidFill>
                <a:latin typeface="+mn-lt"/>
                <a:ea typeface="+mn-ea"/>
                <a:cs typeface="+mn-cs"/>
              </a:defRPr>
            </a:pPr>
            <a:endParaRPr lang="uk-UA"/>
          </a:p>
        </c:txPr>
        <c:crossAx val="2020275951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rgbClr val="002060"/>
              </a:solidFill>
              <a:latin typeface="+mn-lt"/>
              <a:ea typeface="+mn-ea"/>
              <a:cs typeface="+mn-cs"/>
            </a:defRPr>
          </a:pPr>
          <a:endParaRPr lang="uk-UA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uk-UA"/>
    </a:p>
  </c:txPr>
  <c:externalData r:id="rId3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uk-UA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4.9352124237553197E-2"/>
          <c:y val="6.0655051968028784E-2"/>
          <c:w val="0.90207234965194572"/>
          <c:h val="0.68585418635152606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Аркуш1!$B$1</c:f>
              <c:strCache>
                <c:ptCount val="1"/>
                <c:pt idx="0">
                  <c:v>2020р.</c:v>
                </c:pt>
              </c:strCache>
            </c:strRef>
          </c:tx>
          <c:spPr>
            <a:solidFill>
              <a:schemeClr val="accent1">
                <a:lumMod val="75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rgbClr val="003399"/>
                    </a:solidFill>
                    <a:latin typeface="+mn-lt"/>
                    <a:ea typeface="+mn-ea"/>
                    <a:cs typeface="+mn-cs"/>
                  </a:defRPr>
                </a:pPr>
                <a:endParaRPr lang="uk-UA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Аркуш1!$A$2:$A$12</c:f>
              <c:strCache>
                <c:ptCount val="11"/>
                <c:pt idx="0">
                  <c:v>По області</c:v>
                </c:pt>
                <c:pt idx="1">
                  <c:v>ВП "Лікарня Святого Пантелеймона"КНП "1 Територіальне медичне об'єднання м.Львова"</c:v>
                </c:pt>
                <c:pt idx="2">
                  <c:v>ВП "Лікарня Святого Луки " КНП "1 Територіальне медичне об'єднання м.Львова"</c:v>
                </c:pt>
                <c:pt idx="3">
                  <c:v>КНП "Дрогобицька міська лікарня № 1" Дрогобицької МР</c:v>
                </c:pt>
                <c:pt idx="4">
                  <c:v>КНП ЛОР "Львівська обласна клінічна лікарня"</c:v>
                </c:pt>
                <c:pt idx="5">
                  <c:v>КНП СМР ТМО «Стрийська міська об'єднана лікарня», ВП «Лікарня інтенсивного лікування»</c:v>
                </c:pt>
                <c:pt idx="6">
                  <c:v>КНП ЛОР "Львівський обласний госпіталь ветеранів війн та репресованих ім. Ю. Липи"</c:v>
                </c:pt>
                <c:pt idx="7">
                  <c:v>КП "Центральна міська лікарня Червоноградської МР"</c:v>
                </c:pt>
                <c:pt idx="8">
                  <c:v>КНП Буської МР "Буська центральна районна лiкарня"</c:v>
                </c:pt>
                <c:pt idx="9">
                  <c:v>КНП Самбірської МР "Самбірська центральна лікарня"</c:v>
                </c:pt>
                <c:pt idx="10">
                  <c:v> КНП "Новояворівська лікарня імені Юрія Липи" Новояворівської МР</c:v>
                </c:pt>
              </c:strCache>
            </c:strRef>
          </c:cat>
          <c:val>
            <c:numRef>
              <c:f>Аркуш1!$B$2:$B$12</c:f>
              <c:numCache>
                <c:formatCode>General</c:formatCode>
                <c:ptCount val="11"/>
                <c:pt idx="0">
                  <c:v>514</c:v>
                </c:pt>
                <c:pt idx="1">
                  <c:v>257</c:v>
                </c:pt>
                <c:pt idx="2">
                  <c:v>1</c:v>
                </c:pt>
                <c:pt idx="3">
                  <c:v>66</c:v>
                </c:pt>
                <c:pt idx="4">
                  <c:v>51</c:v>
                </c:pt>
                <c:pt idx="5">
                  <c:v>27</c:v>
                </c:pt>
                <c:pt idx="6">
                  <c:v>0</c:v>
                </c:pt>
                <c:pt idx="7">
                  <c:v>62</c:v>
                </c:pt>
                <c:pt idx="8">
                  <c:v>4</c:v>
                </c:pt>
                <c:pt idx="9">
                  <c:v>13</c:v>
                </c:pt>
                <c:pt idx="10">
                  <c:v>33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F13-4D57-B375-264127718529}"/>
            </c:ext>
          </c:extLst>
        </c:ser>
        <c:ser>
          <c:idx val="1"/>
          <c:order val="1"/>
          <c:tx>
            <c:strRef>
              <c:f>Аркуш1!$C$1</c:f>
              <c:strCache>
                <c:ptCount val="1"/>
                <c:pt idx="0">
                  <c:v>2021р.</c:v>
                </c:pt>
              </c:strCache>
            </c:strRef>
          </c:tx>
          <c:spPr>
            <a:solidFill>
              <a:schemeClr val="accent3">
                <a:lumMod val="75000"/>
              </a:schemeClr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chemeClr val="bg2">
                  <a:lumMod val="5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2-0B53-4460-8736-7C534A3CD33F}"/>
              </c:ext>
            </c:extLst>
          </c:dPt>
          <c:dLbls>
            <c:dLbl>
              <c:idx val="1"/>
              <c:layout>
                <c:manualLayout>
                  <c:x val="-1.0416668375437725E-3"/>
                  <c:y val="-4.583609733421673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3-1D96-4D2B-8C79-ED25566883CB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rgbClr val="003399"/>
                    </a:solidFill>
                    <a:latin typeface="+mn-lt"/>
                    <a:ea typeface="+mn-ea"/>
                    <a:cs typeface="+mn-cs"/>
                  </a:defRPr>
                </a:pPr>
                <a:endParaRPr lang="uk-UA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Аркуш1!$A$2:$A$12</c:f>
              <c:strCache>
                <c:ptCount val="11"/>
                <c:pt idx="0">
                  <c:v>По області</c:v>
                </c:pt>
                <c:pt idx="1">
                  <c:v>ВП "Лікарня Святого Пантелеймона"КНП "1 Територіальне медичне об'єднання м.Львова"</c:v>
                </c:pt>
                <c:pt idx="2">
                  <c:v>ВП "Лікарня Святого Луки " КНП "1 Територіальне медичне об'єднання м.Львова"</c:v>
                </c:pt>
                <c:pt idx="3">
                  <c:v>КНП "Дрогобицька міська лікарня № 1" Дрогобицької МР</c:v>
                </c:pt>
                <c:pt idx="4">
                  <c:v>КНП ЛОР "Львівська обласна клінічна лікарня"</c:v>
                </c:pt>
                <c:pt idx="5">
                  <c:v>КНП СМР ТМО «Стрийська міська об'єднана лікарня», ВП «Лікарня інтенсивного лікування»</c:v>
                </c:pt>
                <c:pt idx="6">
                  <c:v>КНП ЛОР "Львівський обласний госпіталь ветеранів війн та репресованих ім. Ю. Липи"</c:v>
                </c:pt>
                <c:pt idx="7">
                  <c:v>КП "Центральна міська лікарня Червоноградської МР"</c:v>
                </c:pt>
                <c:pt idx="8">
                  <c:v>КНП Буської МР "Буська центральна районна лiкарня"</c:v>
                </c:pt>
                <c:pt idx="9">
                  <c:v>КНП Самбірської МР "Самбірська центральна лікарня"</c:v>
                </c:pt>
                <c:pt idx="10">
                  <c:v> КНП "Новояворівська лікарня імені Юрія Липи" Новояворівської МР</c:v>
                </c:pt>
              </c:strCache>
            </c:strRef>
          </c:cat>
          <c:val>
            <c:numRef>
              <c:f>Аркуш1!$C$2:$C$12</c:f>
              <c:numCache>
                <c:formatCode>General</c:formatCode>
                <c:ptCount val="11"/>
                <c:pt idx="0">
                  <c:v>900</c:v>
                </c:pt>
                <c:pt idx="1">
                  <c:v>406</c:v>
                </c:pt>
                <c:pt idx="2">
                  <c:v>7</c:v>
                </c:pt>
                <c:pt idx="3">
                  <c:v>52</c:v>
                </c:pt>
                <c:pt idx="4">
                  <c:v>110</c:v>
                </c:pt>
                <c:pt idx="5">
                  <c:v>85</c:v>
                </c:pt>
                <c:pt idx="6">
                  <c:v>6</c:v>
                </c:pt>
                <c:pt idx="7">
                  <c:v>106</c:v>
                </c:pt>
                <c:pt idx="8">
                  <c:v>6</c:v>
                </c:pt>
                <c:pt idx="9">
                  <c:v>57</c:v>
                </c:pt>
                <c:pt idx="10">
                  <c:v>65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DF13-4D57-B375-264127718529}"/>
            </c:ext>
          </c:extLst>
        </c:ser>
        <c:ser>
          <c:idx val="2"/>
          <c:order val="2"/>
          <c:tx>
            <c:strRef>
              <c:f>Аркуш1!$D$1</c:f>
              <c:strCache>
                <c:ptCount val="1"/>
                <c:pt idx="0">
                  <c:v>2022р.</c:v>
                </c:pt>
              </c:strCache>
            </c:strRef>
          </c:tx>
          <c:spPr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  <a:effectLst/>
          </c:spPr>
          <c:invertIfNegative val="0"/>
          <c:dLbls>
            <c:dLbl>
              <c:idx val="5"/>
              <c:layout>
                <c:manualLayout>
                  <c:x val="-2.083333675087545E-3"/>
                  <c:y val="-9.1672194668431777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2-1D96-4D2B-8C79-ED25566883CB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rgbClr val="003399"/>
                    </a:solidFill>
                    <a:latin typeface="+mn-lt"/>
                    <a:ea typeface="+mn-ea"/>
                    <a:cs typeface="+mn-cs"/>
                  </a:defRPr>
                </a:pPr>
                <a:endParaRPr lang="uk-UA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Аркуш1!$A$2:$A$12</c:f>
              <c:strCache>
                <c:ptCount val="11"/>
                <c:pt idx="0">
                  <c:v>По області</c:v>
                </c:pt>
                <c:pt idx="1">
                  <c:v>ВП "Лікарня Святого Пантелеймона"КНП "1 Територіальне медичне об'єднання м.Львова"</c:v>
                </c:pt>
                <c:pt idx="2">
                  <c:v>ВП "Лікарня Святого Луки " КНП "1 Територіальне медичне об'єднання м.Львова"</c:v>
                </c:pt>
                <c:pt idx="3">
                  <c:v>КНП "Дрогобицька міська лікарня № 1" Дрогобицької МР</c:v>
                </c:pt>
                <c:pt idx="4">
                  <c:v>КНП ЛОР "Львівська обласна клінічна лікарня"</c:v>
                </c:pt>
                <c:pt idx="5">
                  <c:v>КНП СМР ТМО «Стрийська міська об'єднана лікарня», ВП «Лікарня інтенсивного лікування»</c:v>
                </c:pt>
                <c:pt idx="6">
                  <c:v>КНП ЛОР "Львівський обласний госпіталь ветеранів війн та репресованих ім. Ю. Липи"</c:v>
                </c:pt>
                <c:pt idx="7">
                  <c:v>КП "Центральна міська лікарня Червоноградської МР"</c:v>
                </c:pt>
                <c:pt idx="8">
                  <c:v>КНП Буської МР "Буська центральна районна лiкарня"</c:v>
                </c:pt>
                <c:pt idx="9">
                  <c:v>КНП Самбірської МР "Самбірська центральна лікарня"</c:v>
                </c:pt>
                <c:pt idx="10">
                  <c:v> КНП "Новояворівська лікарня імені Юрія Липи" Новояворівської МР</c:v>
                </c:pt>
              </c:strCache>
            </c:strRef>
          </c:cat>
          <c:val>
            <c:numRef>
              <c:f>Аркуш1!$D$2:$D$12</c:f>
              <c:numCache>
                <c:formatCode>General</c:formatCode>
                <c:ptCount val="11"/>
                <c:pt idx="0">
                  <c:v>1025</c:v>
                </c:pt>
                <c:pt idx="1">
                  <c:v>389</c:v>
                </c:pt>
                <c:pt idx="2">
                  <c:v>130</c:v>
                </c:pt>
                <c:pt idx="3">
                  <c:v>98</c:v>
                </c:pt>
                <c:pt idx="4">
                  <c:v>51</c:v>
                </c:pt>
                <c:pt idx="5">
                  <c:v>112</c:v>
                </c:pt>
                <c:pt idx="6">
                  <c:v>41</c:v>
                </c:pt>
                <c:pt idx="7">
                  <c:v>73</c:v>
                </c:pt>
                <c:pt idx="8">
                  <c:v>10</c:v>
                </c:pt>
                <c:pt idx="9">
                  <c:v>68</c:v>
                </c:pt>
                <c:pt idx="10">
                  <c:v>53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DF13-4D57-B375-264127718529}"/>
            </c:ext>
          </c:extLst>
        </c:ser>
        <c:ser>
          <c:idx val="3"/>
          <c:order val="3"/>
          <c:tx>
            <c:strRef>
              <c:f>Аркуш1!$E$1</c:f>
              <c:strCache>
                <c:ptCount val="1"/>
                <c:pt idx="0">
                  <c:v>2023р.</c:v>
                </c:pt>
              </c:strCache>
            </c:strRef>
          </c:tx>
          <c:spPr>
            <a:solidFill>
              <a:schemeClr val="bg1">
                <a:lumMod val="75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rgbClr val="003399"/>
                    </a:solidFill>
                    <a:latin typeface="+mn-lt"/>
                    <a:ea typeface="+mn-ea"/>
                    <a:cs typeface="+mn-cs"/>
                  </a:defRPr>
                </a:pPr>
                <a:endParaRPr lang="uk-UA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Аркуш1!$A$2:$A$12</c:f>
              <c:strCache>
                <c:ptCount val="11"/>
                <c:pt idx="0">
                  <c:v>По області</c:v>
                </c:pt>
                <c:pt idx="1">
                  <c:v>ВП "Лікарня Святого Пантелеймона"КНП "1 Територіальне медичне об'єднання м.Львова"</c:v>
                </c:pt>
                <c:pt idx="2">
                  <c:v>ВП "Лікарня Святого Луки " КНП "1 Територіальне медичне об'єднання м.Львова"</c:v>
                </c:pt>
                <c:pt idx="3">
                  <c:v>КНП "Дрогобицька міська лікарня № 1" Дрогобицької МР</c:v>
                </c:pt>
                <c:pt idx="4">
                  <c:v>КНП ЛОР "Львівська обласна клінічна лікарня"</c:v>
                </c:pt>
                <c:pt idx="5">
                  <c:v>КНП СМР ТМО «Стрийська міська об'єднана лікарня», ВП «Лікарня інтенсивного лікування»</c:v>
                </c:pt>
                <c:pt idx="6">
                  <c:v>КНП ЛОР "Львівський обласний госпіталь ветеранів війн та репресованих ім. Ю. Липи"</c:v>
                </c:pt>
                <c:pt idx="7">
                  <c:v>КП "Центральна міська лікарня Червоноградської МР"</c:v>
                </c:pt>
                <c:pt idx="8">
                  <c:v>КНП Буської МР "Буська центральна районна лiкарня"</c:v>
                </c:pt>
                <c:pt idx="9">
                  <c:v>КНП Самбірської МР "Самбірська центральна лікарня"</c:v>
                </c:pt>
                <c:pt idx="10">
                  <c:v> КНП "Новояворівська лікарня імені Юрія Липи" Новояворівської МР</c:v>
                </c:pt>
              </c:strCache>
            </c:strRef>
          </c:cat>
          <c:val>
            <c:numRef>
              <c:f>Аркуш1!$E$2:$E$12</c:f>
              <c:numCache>
                <c:formatCode>General</c:formatCode>
                <c:ptCount val="11"/>
                <c:pt idx="0">
                  <c:v>1112</c:v>
                </c:pt>
                <c:pt idx="1">
                  <c:v>348</c:v>
                </c:pt>
                <c:pt idx="2">
                  <c:v>178</c:v>
                </c:pt>
                <c:pt idx="3">
                  <c:v>117</c:v>
                </c:pt>
                <c:pt idx="4">
                  <c:v>79</c:v>
                </c:pt>
                <c:pt idx="5">
                  <c:v>110</c:v>
                </c:pt>
                <c:pt idx="6">
                  <c:v>51</c:v>
                </c:pt>
                <c:pt idx="7">
                  <c:v>94</c:v>
                </c:pt>
                <c:pt idx="8">
                  <c:v>49</c:v>
                </c:pt>
                <c:pt idx="9">
                  <c:v>32</c:v>
                </c:pt>
                <c:pt idx="10">
                  <c:v>54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A065-48B2-993A-ADFEEA8629F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2020275951"/>
        <c:axId val="2020269711"/>
      </c:barChart>
      <c:catAx>
        <c:axId val="202027595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0" spcFirstLastPara="1" vertOverflow="ellipsis" wrap="square" anchor="ctr" anchorCtr="1"/>
          <a:lstStyle/>
          <a:p>
            <a:pPr>
              <a:defRPr sz="800" b="0" i="0" u="none" strike="noStrike" kern="1200" baseline="0">
                <a:ln>
                  <a:noFill/>
                </a:ln>
                <a:solidFill>
                  <a:srgbClr val="002060"/>
                </a:solidFill>
                <a:latin typeface="+mn-lt"/>
                <a:ea typeface="+mn-ea"/>
                <a:cs typeface="+mn-cs"/>
              </a:defRPr>
            </a:pPr>
            <a:endParaRPr lang="uk-UA"/>
          </a:p>
        </c:txPr>
        <c:crossAx val="2020269711"/>
        <c:crosses val="autoZero"/>
        <c:auto val="1"/>
        <c:lblAlgn val="ctr"/>
        <c:lblOffset val="100"/>
        <c:noMultiLvlLbl val="0"/>
      </c:catAx>
      <c:valAx>
        <c:axId val="2020269711"/>
        <c:scaling>
          <c:orientation val="minMax"/>
        </c:scaling>
        <c:delete val="0"/>
        <c:axPos val="l"/>
        <c:majorGridlines>
          <c:spPr>
            <a:ln w="9525" cap="flat" cmpd="sng" algn="ctr">
              <a:noFill/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rgbClr val="003399"/>
                </a:solidFill>
                <a:latin typeface="+mn-lt"/>
                <a:ea typeface="+mn-ea"/>
                <a:cs typeface="+mn-cs"/>
              </a:defRPr>
            </a:pPr>
            <a:endParaRPr lang="uk-UA"/>
          </a:p>
        </c:txPr>
        <c:crossAx val="2020275951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rgbClr val="002060"/>
              </a:solidFill>
              <a:latin typeface="+mn-lt"/>
              <a:ea typeface="+mn-ea"/>
              <a:cs typeface="+mn-cs"/>
            </a:defRPr>
          </a:pPr>
          <a:endParaRPr lang="uk-UA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uk-UA"/>
    </a:p>
  </c:txPr>
  <c:externalData r:id="rId3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uk-UA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view3D>
      <c:rotX val="15"/>
      <c:rotY val="20"/>
      <c:depthPercent val="100"/>
      <c:rAngAx val="1"/>
    </c:view3D>
    <c:floor>
      <c:thickness val="0"/>
      <c:spPr>
        <a:noFill/>
        <a:ln>
          <a:solidFill>
            <a:schemeClr val="tx1">
              <a:lumMod val="50000"/>
              <a:lumOff val="50000"/>
            </a:schemeClr>
          </a:solidFill>
        </a:ln>
        <a:effectLst/>
        <a:sp3d>
          <a:contourClr>
            <a:schemeClr val="tx1">
              <a:lumMod val="50000"/>
              <a:lumOff val="50000"/>
            </a:schemeClr>
          </a:contourClr>
        </a:sp3d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>
        <c:manualLayout>
          <c:layoutTarget val="inner"/>
          <c:xMode val="edge"/>
          <c:yMode val="edge"/>
          <c:x val="0.12395993743658315"/>
          <c:y val="0.44233254090633112"/>
          <c:w val="0.82756281561863043"/>
          <c:h val="0.43414605600873152"/>
        </c:manualLayout>
      </c:layout>
      <c:bar3DChart>
        <c:barDir val="col"/>
        <c:grouping val="clustered"/>
        <c:varyColors val="0"/>
        <c:ser>
          <c:idx val="0"/>
          <c:order val="0"/>
          <c:tx>
            <c:strRef>
              <c:f>Аркуш1!$B$1</c:f>
              <c:strCache>
                <c:ptCount val="1"/>
                <c:pt idx="0">
                  <c:v>Летальність пацієнтів з ішемічним інсультом</c:v>
                </c:pt>
              </c:strCache>
            </c:strRef>
          </c:tx>
          <c:spPr>
            <a:solidFill>
              <a:srgbClr val="99CCFF"/>
            </a:solidFill>
            <a:ln w="9525" cap="flat" cmpd="sng" algn="ctr">
              <a:solidFill>
                <a:schemeClr val="accent1">
                  <a:shade val="95000"/>
                </a:schemeClr>
              </a:solidFill>
              <a:round/>
            </a:ln>
            <a:effectLst/>
            <a:sp3d contourW="9525">
              <a:contourClr>
                <a:schemeClr val="accent1">
                  <a:shade val="95000"/>
                </a:schemeClr>
              </a:contourClr>
            </a:sp3d>
          </c:spPr>
          <c:invertIfNegative val="0"/>
          <c:dPt>
            <c:idx val="0"/>
            <c:invertIfNegative val="0"/>
            <c:bubble3D val="0"/>
            <c:spPr>
              <a:solidFill>
                <a:srgbClr val="99CCFF"/>
              </a:solidFill>
              <a:ln w="9525" cap="flat" cmpd="sng" algn="ctr">
                <a:solidFill>
                  <a:schemeClr val="accent1">
                    <a:shade val="95000"/>
                  </a:schemeClr>
                </a:solidFill>
                <a:round/>
              </a:ln>
              <a:effectLst/>
              <a:sp3d contourW="9525">
                <a:contourClr>
                  <a:schemeClr val="accent1">
                    <a:shade val="95000"/>
                  </a:schemeClr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1-7C83-47CD-ADFC-9949B631CE28}"/>
              </c:ext>
            </c:extLst>
          </c:dPt>
          <c:dPt>
            <c:idx val="1"/>
            <c:invertIfNegative val="0"/>
            <c:bubble3D val="0"/>
            <c:spPr>
              <a:solidFill>
                <a:srgbClr val="99CCFF"/>
              </a:solidFill>
              <a:ln w="9525" cap="flat" cmpd="sng" algn="ctr">
                <a:solidFill>
                  <a:schemeClr val="accent1">
                    <a:shade val="95000"/>
                  </a:schemeClr>
                </a:solidFill>
                <a:round/>
              </a:ln>
              <a:effectLst/>
              <a:sp3d contourW="9525">
                <a:contourClr>
                  <a:schemeClr val="accent1">
                    <a:shade val="95000"/>
                  </a:schemeClr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3-7C83-47CD-ADFC-9949B631CE28}"/>
              </c:ext>
            </c:extLst>
          </c:dPt>
          <c:dPt>
            <c:idx val="2"/>
            <c:invertIfNegative val="0"/>
            <c:bubble3D val="0"/>
            <c:spPr>
              <a:solidFill>
                <a:srgbClr val="99CCFF"/>
              </a:solidFill>
              <a:ln w="9525" cap="flat" cmpd="sng" algn="ctr">
                <a:solidFill>
                  <a:schemeClr val="accent1">
                    <a:shade val="95000"/>
                  </a:schemeClr>
                </a:solidFill>
                <a:round/>
              </a:ln>
              <a:effectLst/>
              <a:sp3d contourW="9525">
                <a:contourClr>
                  <a:schemeClr val="accent1">
                    <a:shade val="95000"/>
                  </a:schemeClr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5-7C83-47CD-ADFC-9949B631CE28}"/>
              </c:ext>
            </c:extLst>
          </c:dPt>
          <c:dPt>
            <c:idx val="3"/>
            <c:invertIfNegative val="0"/>
            <c:bubble3D val="0"/>
            <c:spPr>
              <a:solidFill>
                <a:srgbClr val="99CCFF"/>
              </a:solidFill>
              <a:ln w="9525" cap="flat" cmpd="sng" algn="ctr">
                <a:solidFill>
                  <a:schemeClr val="accent1">
                    <a:shade val="95000"/>
                  </a:schemeClr>
                </a:solidFill>
                <a:round/>
              </a:ln>
              <a:effectLst/>
              <a:sp3d contourW="9525">
                <a:contourClr>
                  <a:schemeClr val="accent1">
                    <a:shade val="95000"/>
                  </a:schemeClr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7-7C83-47CD-ADFC-9949B631CE28}"/>
              </c:ext>
            </c:extLst>
          </c:dPt>
          <c:dPt>
            <c:idx val="6"/>
            <c:invertIfNegative val="0"/>
            <c:bubble3D val="0"/>
            <c:spPr>
              <a:solidFill>
                <a:srgbClr val="99CCFF"/>
              </a:solidFill>
              <a:ln w="9525" cap="flat" cmpd="sng" algn="ctr">
                <a:solidFill>
                  <a:schemeClr val="accent1">
                    <a:shade val="95000"/>
                  </a:schemeClr>
                </a:solidFill>
                <a:round/>
              </a:ln>
              <a:effectLst/>
              <a:sp3d contourW="9525">
                <a:contourClr>
                  <a:schemeClr val="accent1">
                    <a:shade val="95000"/>
                  </a:schemeClr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B-7C83-47CD-ADFC-9949B631CE28}"/>
              </c:ext>
            </c:extLst>
          </c:dPt>
          <c:dLbls>
            <c:dLbl>
              <c:idx val="0"/>
              <c:layout>
                <c:manualLayout>
                  <c:x val="1.8849776251250578E-2"/>
                  <c:y val="-3.4244923454297395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1-7C83-47CD-ADFC-9949B631CE28}"/>
                </c:ext>
              </c:extLst>
            </c:dLbl>
            <c:dLbl>
              <c:idx val="1"/>
              <c:layout>
                <c:manualLayout>
                  <c:x val="1.7607173269340137E-2"/>
                  <c:y val="-3.2683715384765312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3-7C83-47CD-ADFC-9949B631CE28}"/>
                </c:ext>
              </c:extLst>
            </c:dLbl>
            <c:dLbl>
              <c:idx val="2"/>
              <c:layout>
                <c:manualLayout>
                  <c:x val="1.1318897101718661E-2"/>
                  <c:y val="-3.501826648367716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5-7C83-47CD-ADFC-9949B631CE28}"/>
                </c:ext>
              </c:extLst>
            </c:dLbl>
            <c:dLbl>
              <c:idx val="3"/>
              <c:layout>
                <c:manualLayout>
                  <c:x val="1.634951803581575E-2"/>
                  <c:y val="-3.5018266483677035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7-7C83-47CD-ADFC-9949B631CE28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0" i="0" u="none" strike="noStrike" kern="1200" baseline="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pPr>
                <a:endParaRPr lang="uk-UA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numRef>
              <c:f>Аркуш1!$A$2:$A$5</c:f>
              <c:numCache>
                <c:formatCode>General</c:formatCode>
                <c:ptCount val="4"/>
                <c:pt idx="0">
                  <c:v>2020</c:v>
                </c:pt>
                <c:pt idx="1">
                  <c:v>2021</c:v>
                </c:pt>
                <c:pt idx="2">
                  <c:v>2022</c:v>
                </c:pt>
                <c:pt idx="3">
                  <c:v>2023</c:v>
                </c:pt>
              </c:numCache>
            </c:numRef>
          </c:cat>
          <c:val>
            <c:numRef>
              <c:f>Аркуш1!$B$2:$B$5</c:f>
              <c:numCache>
                <c:formatCode>0.0</c:formatCode>
                <c:ptCount val="4"/>
                <c:pt idx="0">
                  <c:v>12.6</c:v>
                </c:pt>
                <c:pt idx="1">
                  <c:v>13.1</c:v>
                </c:pt>
                <c:pt idx="2">
                  <c:v>15.2</c:v>
                </c:pt>
                <c:pt idx="3">
                  <c:v>14.6</c:v>
                </c:pt>
              </c:numCache>
            </c:numRef>
          </c:val>
          <c:shape val="cylinder"/>
          <c:extLst>
            <c:ext xmlns:c16="http://schemas.microsoft.com/office/drawing/2014/chart" uri="{C3380CC4-5D6E-409C-BE32-E72D297353CC}">
              <c16:uniqueId val="{0000000C-7C83-47CD-ADFC-9949B631CE28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shape val="box"/>
        <c:axId val="647249920"/>
        <c:axId val="647250248"/>
        <c:axId val="0"/>
      </c:bar3DChart>
      <c:catAx>
        <c:axId val="64724992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pPr>
            <a:endParaRPr lang="uk-UA"/>
          </a:p>
        </c:txPr>
        <c:crossAx val="647250248"/>
        <c:crosses val="autoZero"/>
        <c:auto val="1"/>
        <c:lblAlgn val="ctr"/>
        <c:lblOffset val="100"/>
        <c:noMultiLvlLbl val="0"/>
      </c:catAx>
      <c:valAx>
        <c:axId val="64725024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pPr>
            <a:endParaRPr lang="uk-UA"/>
          </a:p>
        </c:txPr>
        <c:crossAx val="64724992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zero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gradFill flip="none" rotWithShape="1">
      <a:gsLst>
        <a:gs pos="0">
          <a:schemeClr val="accent3">
            <a:lumMod val="0"/>
            <a:lumOff val="100000"/>
          </a:schemeClr>
        </a:gs>
        <a:gs pos="35000">
          <a:schemeClr val="accent3">
            <a:lumMod val="0"/>
            <a:lumOff val="100000"/>
          </a:schemeClr>
        </a:gs>
        <a:gs pos="100000">
          <a:schemeClr val="accent3">
            <a:lumMod val="100000"/>
          </a:schemeClr>
        </a:gs>
      </a:gsLst>
      <a:path path="circle">
        <a:fillToRect l="50000" t="-80000" r="50000" b="180000"/>
      </a:path>
      <a:tileRect/>
    </a:gradFill>
    <a:ln>
      <a:noFill/>
    </a:ln>
    <a:effectLst/>
  </c:spPr>
  <c:txPr>
    <a:bodyPr/>
    <a:lstStyle/>
    <a:p>
      <a:pPr>
        <a:defRPr/>
      </a:pPr>
      <a:endParaRPr lang="uk-UA"/>
    </a:p>
  </c:txPr>
  <c:externalData r:id="rId3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uk-UA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view3D>
      <c:rotX val="15"/>
      <c:rotY val="20"/>
      <c:depthPercent val="100"/>
      <c:rAngAx val="1"/>
    </c:view3D>
    <c:floor>
      <c:thickness val="0"/>
      <c:spPr>
        <a:noFill/>
        <a:ln>
          <a:solidFill>
            <a:schemeClr val="tx1">
              <a:lumMod val="50000"/>
              <a:lumOff val="50000"/>
            </a:schemeClr>
          </a:solidFill>
        </a:ln>
        <a:effectLst/>
        <a:sp3d>
          <a:contourClr>
            <a:schemeClr val="tx1">
              <a:lumMod val="50000"/>
              <a:lumOff val="50000"/>
            </a:schemeClr>
          </a:contourClr>
        </a:sp3d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>
        <c:manualLayout>
          <c:layoutTarget val="inner"/>
          <c:xMode val="edge"/>
          <c:yMode val="edge"/>
          <c:x val="0.11303420600956837"/>
          <c:y val="2.6159619253911724E-2"/>
          <c:w val="0.84375042107912068"/>
          <c:h val="0.85103431044823219"/>
        </c:manualLayout>
      </c:layout>
      <c:bar3DChart>
        <c:barDir val="col"/>
        <c:grouping val="clustered"/>
        <c:varyColors val="0"/>
        <c:ser>
          <c:idx val="0"/>
          <c:order val="0"/>
          <c:tx>
            <c:strRef>
              <c:f>Аркуш1!$B$1</c:f>
              <c:strCache>
                <c:ptCount val="1"/>
                <c:pt idx="0">
                  <c:v>Стовпець1</c:v>
                </c:pt>
              </c:strCache>
            </c:strRef>
          </c:tx>
          <c:spPr>
            <a:solidFill>
              <a:srgbClr val="66FF99"/>
            </a:solidFill>
            <a:ln w="9525" cap="flat" cmpd="sng" algn="ctr">
              <a:solidFill>
                <a:schemeClr val="accent1">
                  <a:shade val="95000"/>
                </a:schemeClr>
              </a:solidFill>
              <a:round/>
            </a:ln>
            <a:effectLst/>
            <a:sp3d contourW="9525">
              <a:contourClr>
                <a:schemeClr val="accent1">
                  <a:shade val="95000"/>
                </a:schemeClr>
              </a:contourClr>
            </a:sp3d>
          </c:spPr>
          <c:invertIfNegative val="0"/>
          <c:dPt>
            <c:idx val="0"/>
            <c:invertIfNegative val="0"/>
            <c:bubble3D val="0"/>
            <c:spPr>
              <a:solidFill>
                <a:srgbClr val="66FF99"/>
              </a:solidFill>
              <a:ln w="9525" cap="flat" cmpd="sng" algn="ctr">
                <a:solidFill>
                  <a:schemeClr val="accent1">
                    <a:shade val="95000"/>
                  </a:schemeClr>
                </a:solidFill>
                <a:round/>
              </a:ln>
              <a:effectLst/>
              <a:sp3d contourW="9525">
                <a:contourClr>
                  <a:schemeClr val="accent1">
                    <a:shade val="95000"/>
                  </a:schemeClr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1-9665-4D76-8CD7-6A640D9AE006}"/>
              </c:ext>
            </c:extLst>
          </c:dPt>
          <c:dPt>
            <c:idx val="1"/>
            <c:invertIfNegative val="0"/>
            <c:bubble3D val="0"/>
            <c:spPr>
              <a:solidFill>
                <a:srgbClr val="66FF99"/>
              </a:solidFill>
              <a:ln w="9525" cap="flat" cmpd="sng" algn="ctr">
                <a:solidFill>
                  <a:schemeClr val="accent1">
                    <a:shade val="95000"/>
                  </a:schemeClr>
                </a:solidFill>
                <a:round/>
              </a:ln>
              <a:effectLst/>
              <a:sp3d contourW="9525">
                <a:contourClr>
                  <a:schemeClr val="accent1">
                    <a:shade val="95000"/>
                  </a:schemeClr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3-9665-4D76-8CD7-6A640D9AE006}"/>
              </c:ext>
            </c:extLst>
          </c:dPt>
          <c:dPt>
            <c:idx val="2"/>
            <c:invertIfNegative val="0"/>
            <c:bubble3D val="0"/>
            <c:spPr>
              <a:solidFill>
                <a:srgbClr val="66FF99"/>
              </a:solidFill>
              <a:ln w="9525" cap="flat" cmpd="sng" algn="ctr">
                <a:solidFill>
                  <a:schemeClr val="accent1">
                    <a:shade val="95000"/>
                  </a:schemeClr>
                </a:solidFill>
                <a:round/>
              </a:ln>
              <a:effectLst/>
              <a:sp3d contourW="9525">
                <a:contourClr>
                  <a:schemeClr val="accent1">
                    <a:shade val="95000"/>
                  </a:schemeClr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5-9665-4D76-8CD7-6A640D9AE006}"/>
              </c:ext>
            </c:extLst>
          </c:dPt>
          <c:dPt>
            <c:idx val="3"/>
            <c:invertIfNegative val="0"/>
            <c:bubble3D val="0"/>
            <c:spPr>
              <a:solidFill>
                <a:srgbClr val="66FF99"/>
              </a:solidFill>
              <a:ln w="9525" cap="flat" cmpd="sng" algn="ctr">
                <a:solidFill>
                  <a:schemeClr val="accent1">
                    <a:shade val="95000"/>
                  </a:schemeClr>
                </a:solidFill>
                <a:round/>
              </a:ln>
              <a:effectLst/>
              <a:sp3d contourW="9525">
                <a:contourClr>
                  <a:schemeClr val="accent1">
                    <a:shade val="95000"/>
                  </a:schemeClr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7-9665-4D76-8CD7-6A640D9AE006}"/>
              </c:ext>
            </c:extLst>
          </c:dPt>
          <c:dPt>
            <c:idx val="6"/>
            <c:invertIfNegative val="0"/>
            <c:bubble3D val="0"/>
            <c:spPr>
              <a:solidFill>
                <a:srgbClr val="66FF99"/>
              </a:solidFill>
              <a:ln w="9525" cap="flat" cmpd="sng" algn="ctr">
                <a:solidFill>
                  <a:schemeClr val="accent1">
                    <a:shade val="95000"/>
                  </a:schemeClr>
                </a:solidFill>
                <a:round/>
              </a:ln>
              <a:effectLst/>
              <a:sp3d contourW="9525">
                <a:contourClr>
                  <a:schemeClr val="accent1">
                    <a:shade val="95000"/>
                  </a:schemeClr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B-9665-4D76-8CD7-6A640D9AE006}"/>
              </c:ext>
            </c:extLst>
          </c:dPt>
          <c:dLbls>
            <c:dLbl>
              <c:idx val="0"/>
              <c:layout>
                <c:manualLayout>
                  <c:x val="1.8849776251250578E-2"/>
                  <c:y val="-3.4244923454297395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1-9665-4D76-8CD7-6A640D9AE006}"/>
                </c:ext>
              </c:extLst>
            </c:dLbl>
            <c:dLbl>
              <c:idx val="1"/>
              <c:layout>
                <c:manualLayout>
                  <c:x val="1.7607173269340137E-2"/>
                  <c:y val="-3.2683715384765312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3-9665-4D76-8CD7-6A640D9AE006}"/>
                </c:ext>
              </c:extLst>
            </c:dLbl>
            <c:dLbl>
              <c:idx val="2"/>
              <c:layout>
                <c:manualLayout>
                  <c:x val="1.1318897101718661E-2"/>
                  <c:y val="-3.501826648367716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5-9665-4D76-8CD7-6A640D9AE006}"/>
                </c:ext>
              </c:extLst>
            </c:dLbl>
            <c:dLbl>
              <c:idx val="3"/>
              <c:layout>
                <c:manualLayout>
                  <c:x val="1.634951803581575E-2"/>
                  <c:y val="-3.5018266483677035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7-9665-4D76-8CD7-6A640D9AE006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0" i="0" u="none" strike="noStrike" kern="1200" baseline="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pPr>
                <a:endParaRPr lang="uk-UA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numRef>
              <c:f>Аркуш1!$A$2:$A$5</c:f>
              <c:numCache>
                <c:formatCode>General</c:formatCode>
                <c:ptCount val="4"/>
                <c:pt idx="0">
                  <c:v>2020</c:v>
                </c:pt>
                <c:pt idx="1">
                  <c:v>2021</c:v>
                </c:pt>
                <c:pt idx="2">
                  <c:v>2022</c:v>
                </c:pt>
                <c:pt idx="3">
                  <c:v>2023</c:v>
                </c:pt>
              </c:numCache>
            </c:numRef>
          </c:cat>
          <c:val>
            <c:numRef>
              <c:f>Аркуш1!$B$2:$B$5</c:f>
              <c:numCache>
                <c:formatCode>0.0</c:formatCode>
                <c:ptCount val="4"/>
                <c:pt idx="0">
                  <c:v>40.299999999999997</c:v>
                </c:pt>
                <c:pt idx="1">
                  <c:v>37.1</c:v>
                </c:pt>
                <c:pt idx="2">
                  <c:v>38.5</c:v>
                </c:pt>
                <c:pt idx="3">
                  <c:v>40.1</c:v>
                </c:pt>
              </c:numCache>
            </c:numRef>
          </c:val>
          <c:shape val="cylinder"/>
          <c:extLst>
            <c:ext xmlns:c16="http://schemas.microsoft.com/office/drawing/2014/chart" uri="{C3380CC4-5D6E-409C-BE32-E72D297353CC}">
              <c16:uniqueId val="{0000000C-9665-4D76-8CD7-6A640D9AE006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shape val="box"/>
        <c:axId val="647249920"/>
        <c:axId val="647250248"/>
        <c:axId val="0"/>
      </c:bar3DChart>
      <c:catAx>
        <c:axId val="647249920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pPr>
            <a:endParaRPr lang="uk-UA"/>
          </a:p>
        </c:txPr>
        <c:crossAx val="647250248"/>
        <c:crosses val="autoZero"/>
        <c:auto val="1"/>
        <c:lblAlgn val="ctr"/>
        <c:lblOffset val="100"/>
        <c:noMultiLvlLbl val="0"/>
      </c:catAx>
      <c:valAx>
        <c:axId val="647250248"/>
        <c:scaling>
          <c:orientation val="minMax"/>
          <c:min val="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pPr>
            <a:endParaRPr lang="uk-UA"/>
          </a:p>
        </c:txPr>
        <c:crossAx val="647249920"/>
        <c:crosses val="autoZero"/>
        <c:crossBetween val="between"/>
        <c:minorUnit val="2"/>
      </c:valAx>
      <c:spPr>
        <a:noFill/>
        <a:ln>
          <a:noFill/>
        </a:ln>
        <a:effectLst/>
      </c:spPr>
    </c:plotArea>
    <c:plotVisOnly val="1"/>
    <c:dispBlanksAs val="zero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gradFill flip="none" rotWithShape="1">
      <a:gsLst>
        <a:gs pos="0">
          <a:schemeClr val="accent3">
            <a:lumMod val="0"/>
            <a:lumOff val="100000"/>
          </a:schemeClr>
        </a:gs>
        <a:gs pos="35000">
          <a:schemeClr val="accent3">
            <a:lumMod val="0"/>
            <a:lumOff val="100000"/>
          </a:schemeClr>
        </a:gs>
        <a:gs pos="100000">
          <a:schemeClr val="accent3">
            <a:lumMod val="100000"/>
          </a:schemeClr>
        </a:gs>
      </a:gsLst>
      <a:path path="circle">
        <a:fillToRect l="50000" t="-80000" r="50000" b="180000"/>
      </a:path>
      <a:tileRect/>
    </a:gradFill>
    <a:ln>
      <a:noFill/>
    </a:ln>
    <a:effectLst/>
  </c:spPr>
  <c:txPr>
    <a:bodyPr/>
    <a:lstStyle/>
    <a:p>
      <a:pPr>
        <a:defRPr/>
      </a:pPr>
      <a:endParaRPr lang="uk-UA"/>
    </a:p>
  </c:txPr>
  <c:externalData r:id="rId3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uk-UA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view3D>
      <c:rotX val="15"/>
      <c:rotY val="20"/>
      <c:depthPercent val="100"/>
      <c:rAngAx val="1"/>
    </c:view3D>
    <c:floor>
      <c:thickness val="0"/>
      <c:spPr>
        <a:noFill/>
        <a:ln>
          <a:solidFill>
            <a:schemeClr val="tx1">
              <a:lumMod val="50000"/>
              <a:lumOff val="50000"/>
            </a:schemeClr>
          </a:solidFill>
        </a:ln>
        <a:effectLst/>
        <a:sp3d>
          <a:contourClr>
            <a:schemeClr val="tx1">
              <a:lumMod val="50000"/>
              <a:lumOff val="50000"/>
            </a:schemeClr>
          </a:contourClr>
        </a:sp3d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>
        <c:manualLayout>
          <c:layoutTarget val="inner"/>
          <c:xMode val="edge"/>
          <c:yMode val="edge"/>
          <c:x val="5.0197123794998098E-2"/>
          <c:y val="0.17744545268498021"/>
          <c:w val="0.88641924854538501"/>
          <c:h val="0.58278240541946491"/>
        </c:manualLayout>
      </c:layout>
      <c:bar3DChart>
        <c:barDir val="col"/>
        <c:grouping val="clustered"/>
        <c:varyColors val="0"/>
        <c:ser>
          <c:idx val="0"/>
          <c:order val="0"/>
          <c:tx>
            <c:strRef>
              <c:f>Аркуш1!$B$1</c:f>
              <c:strCache>
                <c:ptCount val="1"/>
                <c:pt idx="0">
                  <c:v>2023</c:v>
                </c:pt>
              </c:strCache>
            </c:strRef>
          </c:tx>
          <c:spPr>
            <a:solidFill>
              <a:schemeClr val="accent1">
                <a:lumMod val="20000"/>
                <a:lumOff val="80000"/>
              </a:schemeClr>
            </a:solidFill>
            <a:ln w="9525" cap="flat" cmpd="sng" algn="ctr">
              <a:solidFill>
                <a:schemeClr val="accent1">
                  <a:shade val="95000"/>
                </a:schemeClr>
              </a:solidFill>
              <a:round/>
            </a:ln>
            <a:effectLst/>
            <a:sp3d contourW="9525">
              <a:contourClr>
                <a:schemeClr val="accent1">
                  <a:shade val="95000"/>
                </a:schemeClr>
              </a:contourClr>
            </a:sp3d>
          </c:spPr>
          <c:invertIfNegative val="0"/>
          <c:dPt>
            <c:idx val="0"/>
            <c:invertIfNegative val="0"/>
            <c:bubble3D val="0"/>
            <c:spPr>
              <a:solidFill>
                <a:schemeClr val="accent1">
                  <a:lumMod val="20000"/>
                  <a:lumOff val="80000"/>
                </a:schemeClr>
              </a:solidFill>
              <a:ln w="9525" cap="flat" cmpd="sng" algn="ctr">
                <a:solidFill>
                  <a:schemeClr val="accent1">
                    <a:shade val="95000"/>
                  </a:schemeClr>
                </a:solidFill>
                <a:round/>
              </a:ln>
              <a:effectLst/>
              <a:sp3d contourW="9525">
                <a:contourClr>
                  <a:schemeClr val="accent1">
                    <a:shade val="95000"/>
                  </a:schemeClr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1-1B32-40D9-94D6-BA6A08577709}"/>
              </c:ext>
            </c:extLst>
          </c:dPt>
          <c:dPt>
            <c:idx val="1"/>
            <c:invertIfNegative val="0"/>
            <c:bubble3D val="0"/>
            <c:spPr>
              <a:solidFill>
                <a:schemeClr val="accent1">
                  <a:lumMod val="20000"/>
                  <a:lumOff val="80000"/>
                </a:schemeClr>
              </a:solidFill>
              <a:ln w="9525" cap="flat" cmpd="sng" algn="ctr">
                <a:solidFill>
                  <a:schemeClr val="accent1">
                    <a:shade val="95000"/>
                  </a:schemeClr>
                </a:solidFill>
                <a:round/>
              </a:ln>
              <a:effectLst/>
              <a:sp3d contourW="9525">
                <a:contourClr>
                  <a:schemeClr val="accent1">
                    <a:shade val="95000"/>
                  </a:schemeClr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3-1B32-40D9-94D6-BA6A08577709}"/>
              </c:ext>
            </c:extLst>
          </c:dPt>
          <c:dPt>
            <c:idx val="2"/>
            <c:invertIfNegative val="0"/>
            <c:bubble3D val="0"/>
            <c:spPr>
              <a:solidFill>
                <a:schemeClr val="accent2">
                  <a:lumMod val="40000"/>
                  <a:lumOff val="60000"/>
                </a:schemeClr>
              </a:solidFill>
              <a:ln w="9525" cap="flat" cmpd="sng" algn="ctr">
                <a:solidFill>
                  <a:schemeClr val="accent1">
                    <a:shade val="95000"/>
                  </a:schemeClr>
                </a:solidFill>
                <a:round/>
              </a:ln>
              <a:effectLst/>
              <a:sp3d contourW="9525">
                <a:contourClr>
                  <a:schemeClr val="accent1">
                    <a:shade val="95000"/>
                  </a:schemeClr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5-1B32-40D9-94D6-BA6A08577709}"/>
              </c:ext>
            </c:extLst>
          </c:dPt>
          <c:dPt>
            <c:idx val="6"/>
            <c:invertIfNegative val="0"/>
            <c:bubble3D val="0"/>
            <c:spPr>
              <a:solidFill>
                <a:schemeClr val="accent1">
                  <a:lumMod val="20000"/>
                  <a:lumOff val="80000"/>
                </a:schemeClr>
              </a:solidFill>
              <a:ln w="9525" cap="flat" cmpd="sng" algn="ctr">
                <a:solidFill>
                  <a:schemeClr val="accent1">
                    <a:shade val="95000"/>
                  </a:schemeClr>
                </a:solidFill>
                <a:round/>
              </a:ln>
              <a:effectLst/>
              <a:sp3d contourW="9525">
                <a:contourClr>
                  <a:schemeClr val="accent1">
                    <a:shade val="95000"/>
                  </a:schemeClr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9-1B32-40D9-94D6-BA6A08577709}"/>
              </c:ext>
            </c:extLst>
          </c:dPt>
          <c:dLbls>
            <c:dLbl>
              <c:idx val="0"/>
              <c:layout>
                <c:manualLayout>
                  <c:x val="1.8849776251250578E-2"/>
                  <c:y val="-3.4244923454297395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1-1B32-40D9-94D6-BA6A08577709}"/>
                </c:ext>
              </c:extLst>
            </c:dLbl>
            <c:dLbl>
              <c:idx val="1"/>
              <c:layout>
                <c:manualLayout>
                  <c:x val="1.7607173269340137E-2"/>
                  <c:y val="-3.2683715384765312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3-1B32-40D9-94D6-BA6A08577709}"/>
                </c:ext>
              </c:extLst>
            </c:dLbl>
            <c:dLbl>
              <c:idx val="2"/>
              <c:layout>
                <c:manualLayout>
                  <c:x val="9.5079719349559916E-3"/>
                  <c:y val="-5.4094263918694881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5-1B32-40D9-94D6-BA6A08577709}"/>
                </c:ext>
              </c:extLst>
            </c:dLbl>
            <c:dLbl>
              <c:idx val="3"/>
              <c:layout>
                <c:manualLayout>
                  <c:x val="1.9920568693022334E-2"/>
                  <c:y val="-6.6765425423057356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7-1B32-40D9-94D6-BA6A08577709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0" i="0" u="none" strike="noStrike" kern="1200" baseline="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pPr>
                <a:endParaRPr lang="uk-UA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Аркуш1!$A$2:$A$5</c:f>
              <c:strCache>
                <c:ptCount val="4"/>
                <c:pt idx="0">
                  <c:v>Відокремлений підрозділ «Лікарня Святого Луки»   КНП "1 Територіальне медичне об'єднання м.Львова"</c:v>
                </c:pt>
                <c:pt idx="1">
                  <c:v>Відокремлений підрозділ «Лікарня Святого Пантелеймона КНП "1 Територіальне медичне об'єднання м.Львова"</c:v>
                </c:pt>
                <c:pt idx="2">
                  <c:v>По області</c:v>
                </c:pt>
                <c:pt idx="3">
                  <c:v>КП «Центральна міська лікарня Червоноградської міської ради»</c:v>
                </c:pt>
              </c:strCache>
            </c:strRef>
          </c:cat>
          <c:val>
            <c:numRef>
              <c:f>Аркуш1!$B$2:$B$5</c:f>
              <c:numCache>
                <c:formatCode>0.0</c:formatCode>
                <c:ptCount val="4"/>
                <c:pt idx="0">
                  <c:v>6.7</c:v>
                </c:pt>
                <c:pt idx="1">
                  <c:v>4.5999999999999996</c:v>
                </c:pt>
                <c:pt idx="2">
                  <c:v>2.2999999999999998</c:v>
                </c:pt>
                <c:pt idx="3">
                  <c:v>0.9</c:v>
                </c:pt>
              </c:numCache>
            </c:numRef>
          </c:val>
          <c:shape val="cylinder"/>
          <c:extLst>
            <c:ext xmlns:c16="http://schemas.microsoft.com/office/drawing/2014/chart" uri="{C3380CC4-5D6E-409C-BE32-E72D297353CC}">
              <c16:uniqueId val="{0000000A-1B32-40D9-94D6-BA6A08577709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shape val="box"/>
        <c:axId val="647249920"/>
        <c:axId val="647250248"/>
        <c:axId val="0"/>
      </c:bar3DChart>
      <c:catAx>
        <c:axId val="64724992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rgbClr val="002060"/>
                </a:solidFill>
                <a:latin typeface="Times New Roman" panose="02020603050405020304" pitchFamily="18" charset="0"/>
                <a:ea typeface="+mn-ea"/>
                <a:cs typeface="+mn-cs"/>
              </a:defRPr>
            </a:pPr>
            <a:endParaRPr lang="uk-UA"/>
          </a:p>
        </c:txPr>
        <c:crossAx val="647250248"/>
        <c:crosses val="autoZero"/>
        <c:auto val="1"/>
        <c:lblAlgn val="ctr"/>
        <c:lblOffset val="100"/>
        <c:noMultiLvlLbl val="0"/>
      </c:catAx>
      <c:valAx>
        <c:axId val="64725024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pPr>
            <a:endParaRPr lang="uk-UA"/>
          </a:p>
        </c:txPr>
        <c:crossAx val="64724992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zero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gradFill flip="none" rotWithShape="1">
      <a:gsLst>
        <a:gs pos="0">
          <a:schemeClr val="accent3">
            <a:lumMod val="5000"/>
            <a:lumOff val="95000"/>
          </a:schemeClr>
        </a:gs>
        <a:gs pos="74000">
          <a:schemeClr val="accent3">
            <a:lumMod val="45000"/>
            <a:lumOff val="55000"/>
          </a:schemeClr>
        </a:gs>
        <a:gs pos="83000">
          <a:schemeClr val="accent3">
            <a:lumMod val="45000"/>
            <a:lumOff val="55000"/>
          </a:schemeClr>
        </a:gs>
        <a:gs pos="100000">
          <a:schemeClr val="accent3">
            <a:lumMod val="30000"/>
            <a:lumOff val="70000"/>
          </a:schemeClr>
        </a:gs>
      </a:gsLst>
      <a:lin ang="5400000" scaled="1"/>
      <a:tileRect/>
    </a:gradFill>
    <a:ln>
      <a:noFill/>
    </a:ln>
    <a:effectLst/>
  </c:spPr>
  <c:txPr>
    <a:bodyPr/>
    <a:lstStyle/>
    <a:p>
      <a:pPr>
        <a:defRPr/>
      </a:pPr>
      <a:endParaRPr lang="uk-UA"/>
    </a:p>
  </c:txPr>
  <c:externalData r:id="rId3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uk-UA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6.4543588763577478E-2"/>
          <c:y val="8.5045047841259075E-2"/>
          <c:w val="0.88998391346692785"/>
          <c:h val="0.83025311270107782"/>
        </c:manualLayout>
      </c:layout>
      <c:lineChart>
        <c:grouping val="standard"/>
        <c:varyColors val="0"/>
        <c:ser>
          <c:idx val="0"/>
          <c:order val="0"/>
          <c:tx>
            <c:strRef>
              <c:f>Аркуш1!$A$2</c:f>
              <c:strCache>
                <c:ptCount val="1"/>
                <c:pt idx="0">
                  <c:v>Кількість пацієнтів, яким проведено тромбоєкстракцію</c:v>
                </c:pt>
              </c:strCache>
            </c:strRef>
          </c:tx>
          <c:spPr>
            <a:ln w="22225" cap="rnd" cmpd="sng" algn="ctr">
              <a:solidFill>
                <a:srgbClr val="3333FF"/>
              </a:solidFill>
              <a:round/>
            </a:ln>
            <a:effectLst/>
          </c:spPr>
          <c:marker>
            <c:symbol val="circle"/>
            <c:size val="9"/>
            <c:spPr>
              <a:blipFill>
                <a:blip xmlns:r="http://schemas.openxmlformats.org/officeDocument/2006/relationships" r:embed="rId3"/>
                <a:tile tx="0" ty="0" sx="100000" sy="100000" flip="none" algn="tl"/>
              </a:blipFill>
              <a:ln w="9525" cap="flat" cmpd="sng" algn="ctr">
                <a:solidFill>
                  <a:schemeClr val="accent1"/>
                </a:solidFill>
                <a:round/>
              </a:ln>
              <a:effectLst/>
            </c:spPr>
          </c:marker>
          <c:dLbls>
            <c:dLbl>
              <c:idx val="0"/>
              <c:layout>
                <c:manualLayout>
                  <c:x val="-5.2796664553678783E-2"/>
                  <c:y val="-4.368147359188021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1A-9EE9-4BFB-A5C6-B095DBDE1B9B}"/>
                </c:ext>
              </c:extLst>
            </c:dLbl>
            <c:dLbl>
              <c:idx val="1"/>
              <c:layout>
                <c:manualLayout>
                  <c:x val="-5.0531155719972742E-2"/>
                  <c:y val="-7.1600866397558444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1B-9EE9-4BFB-A5C6-B095DBDE1B9B}"/>
                </c:ext>
              </c:extLst>
            </c:dLbl>
            <c:dLbl>
              <c:idx val="2"/>
              <c:layout>
                <c:manualLayout>
                  <c:x val="-6.4788850417036289E-2"/>
                  <c:y val="-8.1620154483696875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1C-9EE9-4BFB-A5C6-B095DBDE1B9B}"/>
                </c:ext>
              </c:extLst>
            </c:dLbl>
            <c:dLbl>
              <c:idx val="3"/>
              <c:layout>
                <c:manualLayout>
                  <c:x val="-6.0731823255345832E-2"/>
                  <c:y val="-5.1374667716845526E-2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noAutofit/>
                </a:bodyPr>
                <a:lstStyle/>
                <a:p>
                  <a:pPr>
                    <a:defRPr sz="1197" b="1" i="0" u="none" strike="noStrike" kern="1200" baseline="0">
                      <a:solidFill>
                        <a:srgbClr val="0070C0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uk-UA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7.3814564062868779E-2"/>
                      <c:h val="6.4007580978635417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1D-9EE9-4BFB-A5C6-B095DBDE1B9B}"/>
                </c:ext>
              </c:extLst>
            </c:dLbl>
            <c:dLbl>
              <c:idx val="4"/>
              <c:layout>
                <c:manualLayout>
                  <c:x val="-3.543988032662479E-2"/>
                  <c:y val="-5.263773502208359E-2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noAutofit/>
                </a:bodyPr>
                <a:lstStyle/>
                <a:p>
                  <a:pPr>
                    <a:defRPr sz="1197" b="1" i="0" u="none" strike="noStrike" kern="1200" baseline="0">
                      <a:solidFill>
                        <a:srgbClr val="0070C0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uk-UA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6.0105596679566296E-2"/>
                      <c:h val="6.2560417983068675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1E-9EE9-4BFB-A5C6-B095DBDE1B9B}"/>
                </c:ext>
              </c:extLst>
            </c:dLbl>
            <c:dLbl>
              <c:idx val="5"/>
              <c:layout>
                <c:manualLayout>
                  <c:x val="-3.4515625000000001E-2"/>
                  <c:y val="-4.4531247260627016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F-9EE9-4BFB-A5C6-B095DBDE1B9B}"/>
                </c:ext>
              </c:extLst>
            </c:dLbl>
            <c:dLbl>
              <c:idx val="6"/>
              <c:layout>
                <c:manualLayout>
                  <c:x val="-2.9828125E-2"/>
                  <c:y val="-4.6874997116449491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0-9EE9-4BFB-A5C6-B095DBDE1B9B}"/>
                </c:ext>
              </c:extLst>
            </c:dLbl>
            <c:dLbl>
              <c:idx val="7"/>
              <c:layout>
                <c:manualLayout>
                  <c:x val="-3.4515625000000001E-2"/>
                  <c:y val="-4.4531247260627016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1-9EE9-4BFB-A5C6-B095DBDE1B9B}"/>
                </c:ext>
              </c:extLst>
            </c:dLbl>
            <c:dLbl>
              <c:idx val="8"/>
              <c:layout>
                <c:manualLayout>
                  <c:x val="-4.5453124999999997E-2"/>
                  <c:y val="-2.8124998269869694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2-9EE9-4BFB-A5C6-B095DBDE1B9B}"/>
                </c:ext>
              </c:extLst>
            </c:dLbl>
            <c:dLbl>
              <c:idx val="9"/>
              <c:layout>
                <c:manualLayout>
                  <c:x val="-4.5453124999999997E-2"/>
                  <c:y val="-2.578124841404722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3-9EE9-4BFB-A5C6-B095DBDE1B9B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1" i="0" u="none" strike="noStrike" kern="1200" baseline="0">
                    <a:solidFill>
                      <a:srgbClr val="0070C0"/>
                    </a:solidFill>
                    <a:latin typeface="+mn-lt"/>
                    <a:ea typeface="+mn-ea"/>
                    <a:cs typeface="+mn-cs"/>
                  </a:defRPr>
                </a:pPr>
                <a:endParaRPr lang="uk-UA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rgbClr val="0F0FF5"/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Аркуш1!$B$1:$E$1</c:f>
              <c:strCache>
                <c:ptCount val="4"/>
                <c:pt idx="0">
                  <c:v>2020р.</c:v>
                </c:pt>
                <c:pt idx="1">
                  <c:v>2021р.</c:v>
                </c:pt>
                <c:pt idx="2">
                  <c:v>2022р.</c:v>
                </c:pt>
                <c:pt idx="3">
                  <c:v>2023р</c:v>
                </c:pt>
              </c:strCache>
            </c:strRef>
          </c:cat>
          <c:val>
            <c:numRef>
              <c:f>Аркуш1!$B$2:$E$2</c:f>
              <c:numCache>
                <c:formatCode>0</c:formatCode>
                <c:ptCount val="4"/>
                <c:pt idx="0">
                  <c:v>18</c:v>
                </c:pt>
                <c:pt idx="1">
                  <c:v>48</c:v>
                </c:pt>
                <c:pt idx="2">
                  <c:v>112</c:v>
                </c:pt>
                <c:pt idx="3">
                  <c:v>172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A-7228-4926-B234-245BA62B4893}"/>
            </c:ext>
          </c:extLst>
        </c:ser>
        <c:ser>
          <c:idx val="1"/>
          <c:order val="1"/>
          <c:tx>
            <c:strRef>
              <c:f>Аркуш1!$A$3</c:f>
              <c:strCache>
                <c:ptCount val="1"/>
                <c:pt idx="0">
                  <c:v>Летальність після  проведеної тромбоєкстракції</c:v>
                </c:pt>
              </c:strCache>
            </c:strRef>
          </c:tx>
          <c:spPr>
            <a:ln w="22225" cap="rnd" cmpd="sng" algn="ctr">
              <a:solidFill>
                <a:schemeClr val="accent2"/>
              </a:solidFill>
              <a:round/>
            </a:ln>
            <a:effectLst/>
          </c:spPr>
          <c:marker>
            <c:symbol val="diamond"/>
            <c:size val="8"/>
            <c:spPr>
              <a:solidFill>
                <a:schemeClr val="accent2"/>
              </a:solidFill>
              <a:ln w="9525" cap="flat" cmpd="sng" algn="ctr">
                <a:solidFill>
                  <a:schemeClr val="accent2"/>
                </a:solidFill>
                <a:round/>
              </a:ln>
              <a:effectLst/>
              <a:scene3d>
                <a:camera prst="orthographicFront"/>
                <a:lightRig rig="threePt" dir="t"/>
              </a:scene3d>
              <a:sp3d>
                <a:bevelB/>
              </a:sp3d>
            </c:spPr>
          </c:marker>
          <c:dLbls>
            <c:dLbl>
              <c:idx val="0"/>
              <c:layout>
                <c:manualLayout>
                  <c:x val="-5.3980702639701325E-2"/>
                  <c:y val="-2.3622277139564017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F-9EE9-4BFB-A5C6-B095DBDE1B9B}"/>
                </c:ext>
              </c:extLst>
            </c:dLbl>
            <c:dLbl>
              <c:idx val="1"/>
              <c:layout>
                <c:manualLayout>
                  <c:x val="-2.6720742671671217E-2"/>
                  <c:y val="-4.9341691201905402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10-9EE9-4BFB-A5C6-B095DBDE1B9B}"/>
                </c:ext>
              </c:extLst>
            </c:dLbl>
            <c:dLbl>
              <c:idx val="2"/>
              <c:layout>
                <c:manualLayout>
                  <c:x val="-2.8212859200336136E-2"/>
                  <c:y val="-4.6326694333302464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11-9EE9-4BFB-A5C6-B095DBDE1B9B}"/>
                </c:ext>
              </c:extLst>
            </c:dLbl>
            <c:dLbl>
              <c:idx val="3"/>
              <c:layout>
                <c:manualLayout>
                  <c:x val="-2.9845689795032732E-2"/>
                  <c:y val="-4.342345711262173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12-9EE9-4BFB-A5C6-B095DBDE1B9B}"/>
                </c:ext>
              </c:extLst>
            </c:dLbl>
            <c:dLbl>
              <c:idx val="4"/>
              <c:layout>
                <c:manualLayout>
                  <c:x val="-2.9828125E-2"/>
                  <c:y val="3.7499997693159592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3-9EE9-4BFB-A5C6-B095DBDE1B9B}"/>
                </c:ext>
              </c:extLst>
            </c:dLbl>
            <c:dLbl>
              <c:idx val="5"/>
              <c:layout>
                <c:manualLayout>
                  <c:x val="-2.5089936023622049E-2"/>
                  <c:y val="4.2187497404804541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4-9EE9-4BFB-A5C6-B095DBDE1B9B}"/>
                </c:ext>
              </c:extLst>
            </c:dLbl>
            <c:dLbl>
              <c:idx val="6"/>
              <c:layout>
                <c:manualLayout>
                  <c:x val="-2.5089936023622049E-2"/>
                  <c:y val="4.4531247260627016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5-9EE9-4BFB-A5C6-B095DBDE1B9B}"/>
                </c:ext>
              </c:extLst>
            </c:dLbl>
            <c:dLbl>
              <c:idx val="7"/>
              <c:layout>
                <c:manualLayout>
                  <c:x val="-2.1964936023622046E-2"/>
                  <c:y val="3.0468748125692082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6-9EE9-4BFB-A5C6-B095DBDE1B9B}"/>
                </c:ext>
              </c:extLst>
            </c:dLbl>
            <c:dLbl>
              <c:idx val="8"/>
              <c:layout>
                <c:manualLayout>
                  <c:x val="-2.5089936023622049E-2"/>
                  <c:y val="3.5156247837337118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7-9EE9-4BFB-A5C6-B095DBDE1B9B}"/>
                </c:ext>
              </c:extLst>
            </c:dLbl>
            <c:dLbl>
              <c:idx val="9"/>
              <c:layout>
                <c:manualLayout>
                  <c:x val="-2.5089936023622049E-2"/>
                  <c:y val="3.9843747548982067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8-9EE9-4BFB-A5C6-B095DBDE1B9B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1" i="0" u="none" strike="noStrike" kern="1200" baseline="0">
                    <a:solidFill>
                      <a:schemeClr val="accent2">
                        <a:lumMod val="7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uk-UA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Аркуш1!$B$1:$E$1</c:f>
              <c:strCache>
                <c:ptCount val="4"/>
                <c:pt idx="0">
                  <c:v>2020р.</c:v>
                </c:pt>
                <c:pt idx="1">
                  <c:v>2021р.</c:v>
                </c:pt>
                <c:pt idx="2">
                  <c:v>2022р.</c:v>
                </c:pt>
                <c:pt idx="3">
                  <c:v>2023р</c:v>
                </c:pt>
              </c:strCache>
            </c:strRef>
          </c:cat>
          <c:val>
            <c:numRef>
              <c:f>Аркуш1!$B$3:$E$3</c:f>
              <c:numCache>
                <c:formatCode>0</c:formatCode>
                <c:ptCount val="4"/>
                <c:pt idx="0">
                  <c:v>3</c:v>
                </c:pt>
                <c:pt idx="1">
                  <c:v>3</c:v>
                </c:pt>
                <c:pt idx="2">
                  <c:v>17</c:v>
                </c:pt>
                <c:pt idx="3">
                  <c:v>31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9EE9-4BFB-A5C6-B095DBDE1B9B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dropLines>
          <c:spPr>
            <a:ln w="9525" cap="flat" cmpd="sng" algn="ctr">
              <a:solidFill>
                <a:schemeClr val="dk1">
                  <a:lumMod val="35000"/>
                  <a:lumOff val="65000"/>
                  <a:alpha val="33000"/>
                </a:schemeClr>
              </a:solidFill>
              <a:round/>
            </a:ln>
            <a:effectLst/>
          </c:spPr>
        </c:dropLines>
        <c:upDownBars>
          <c:gapWidth val="150"/>
          <c:upBars>
            <c:spPr>
              <a:solidFill>
                <a:schemeClr val="lt1"/>
              </a:solidFill>
              <a:ln w="9525">
                <a:solidFill>
                  <a:schemeClr val="dk1">
                    <a:lumMod val="65000"/>
                    <a:lumOff val="35000"/>
                  </a:schemeClr>
                </a:solidFill>
              </a:ln>
              <a:effectLst/>
            </c:spPr>
          </c:upBars>
          <c:downBars>
            <c:spPr>
              <a:noFill/>
              <a:ln w="3175" cap="rnd">
                <a:noFill/>
                <a:prstDash val="sysDot"/>
              </a:ln>
              <a:effectLst/>
            </c:spPr>
          </c:downBars>
        </c:upDownBars>
        <c:marker val="1"/>
        <c:smooth val="0"/>
        <c:axId val="448161968"/>
        <c:axId val="448158360"/>
      </c:lineChart>
      <c:catAx>
        <c:axId val="44816196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dk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1" i="0" u="none" strike="noStrike" kern="1200" spc="20" baseline="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pPr>
            <a:endParaRPr lang="uk-UA"/>
          </a:p>
        </c:txPr>
        <c:crossAx val="448158360"/>
        <c:crosses val="autoZero"/>
        <c:auto val="1"/>
        <c:lblAlgn val="ctr"/>
        <c:lblOffset val="100"/>
        <c:noMultiLvlLbl val="0"/>
      </c:catAx>
      <c:valAx>
        <c:axId val="448158360"/>
        <c:scaling>
          <c:orientation val="minMax"/>
        </c:scaling>
        <c:delete val="0"/>
        <c:axPos val="l"/>
        <c:numFmt formatCode="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spc="20" baseline="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pPr>
            <a:endParaRPr lang="uk-UA"/>
          </a:p>
        </c:txPr>
        <c:crossAx val="448161968"/>
        <c:crosses val="autoZero"/>
        <c:crossBetween val="between"/>
      </c:valAx>
      <c:spPr>
        <a:gradFill flip="none" rotWithShape="1">
          <a:gsLst>
            <a:gs pos="0">
              <a:schemeClr val="accent1">
                <a:lumMod val="5000"/>
                <a:lumOff val="95000"/>
              </a:schemeClr>
            </a:gs>
            <a:gs pos="69000">
              <a:schemeClr val="accent1">
                <a:lumMod val="45000"/>
                <a:lumOff val="55000"/>
              </a:schemeClr>
            </a:gs>
            <a:gs pos="9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2700000" scaled="1"/>
          <a:tileRect/>
        </a:gradFill>
        <a:ln w="9525">
          <a:noFill/>
        </a:ln>
        <a:effectLst/>
      </c:spPr>
    </c:plotArea>
    <c:legend>
      <c:legendPos val="r"/>
      <c:layout>
        <c:manualLayout>
          <c:xMode val="edge"/>
          <c:yMode val="edge"/>
          <c:x val="9.8499970637913728E-2"/>
          <c:y val="0.11514086066143536"/>
          <c:w val="0.37856425867699417"/>
          <c:h val="0.27836543974037731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baseline="0">
              <a:solidFill>
                <a:srgbClr val="002060"/>
              </a:solidFill>
              <a:latin typeface="+mn-lt"/>
              <a:ea typeface="+mn-ea"/>
              <a:cs typeface="+mn-cs"/>
            </a:defRPr>
          </a:pPr>
          <a:endParaRPr lang="uk-UA"/>
        </a:p>
      </c:txPr>
    </c:legend>
    <c:plotVisOnly val="1"/>
    <c:dispBlanksAs val="gap"/>
    <c:showDLblsOverMax val="0"/>
  </c:chart>
  <c:spPr>
    <a:solidFill>
      <a:schemeClr val="lt1"/>
    </a:solidFill>
    <a:ln>
      <a:gradFill flip="none" rotWithShape="1">
        <a:gsLst>
          <a:gs pos="0">
            <a:schemeClr val="accent1">
              <a:lumMod val="5000"/>
              <a:lumOff val="95000"/>
            </a:schemeClr>
          </a:gs>
          <a:gs pos="74000">
            <a:schemeClr val="accent1">
              <a:lumMod val="45000"/>
              <a:lumOff val="55000"/>
            </a:schemeClr>
          </a:gs>
          <a:gs pos="83000">
            <a:schemeClr val="accent1">
              <a:lumMod val="45000"/>
              <a:lumOff val="55000"/>
            </a:schemeClr>
          </a:gs>
          <a:gs pos="100000">
            <a:schemeClr val="accent1">
              <a:lumMod val="30000"/>
              <a:lumOff val="70000"/>
            </a:schemeClr>
          </a:gs>
        </a:gsLst>
        <a:path path="circle">
          <a:fillToRect l="100000" t="100000"/>
        </a:path>
        <a:tileRect r="-100000" b="-100000"/>
      </a:gradFill>
    </a:ln>
    <a:effectLst/>
  </c:spPr>
  <c:txPr>
    <a:bodyPr/>
    <a:lstStyle/>
    <a:p>
      <a:pPr>
        <a:defRPr/>
      </a:pPr>
      <a:endParaRPr lang="uk-UA"/>
    </a:p>
  </c:txPr>
  <c:externalData r:id="rId4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uk-UA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view3D>
      <c:rotX val="15"/>
      <c:rotY val="20"/>
      <c:depthPercent val="100"/>
      <c:rAngAx val="1"/>
    </c:view3D>
    <c:floor>
      <c:thickness val="0"/>
      <c:spPr>
        <a:noFill/>
        <a:ln>
          <a:solidFill>
            <a:schemeClr val="tx1">
              <a:lumMod val="50000"/>
              <a:lumOff val="50000"/>
            </a:schemeClr>
          </a:solidFill>
        </a:ln>
        <a:effectLst/>
        <a:sp3d>
          <a:contourClr>
            <a:schemeClr val="tx1">
              <a:lumMod val="50000"/>
              <a:lumOff val="50000"/>
            </a:schemeClr>
          </a:contourClr>
        </a:sp3d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>
        <c:manualLayout>
          <c:layoutTarget val="inner"/>
          <c:xMode val="edge"/>
          <c:yMode val="edge"/>
          <c:x val="0.10628825110204125"/>
          <c:y val="0.13332550356268646"/>
          <c:w val="0.82756281561863043"/>
          <c:h val="0.69008979169711981"/>
        </c:manualLayout>
      </c:layout>
      <c:bar3DChart>
        <c:barDir val="col"/>
        <c:grouping val="clustered"/>
        <c:varyColors val="0"/>
        <c:ser>
          <c:idx val="0"/>
          <c:order val="0"/>
          <c:tx>
            <c:strRef>
              <c:f>Аркуш1!$B$1</c:f>
              <c:strCache>
                <c:ptCount val="1"/>
                <c:pt idx="0">
                  <c:v>ангіопластики</c:v>
                </c:pt>
              </c:strCache>
            </c:strRef>
          </c:tx>
          <c:spPr>
            <a:solidFill>
              <a:schemeClr val="accent2">
                <a:lumMod val="40000"/>
                <a:lumOff val="60000"/>
              </a:schemeClr>
            </a:solidFill>
            <a:ln w="9525" cap="flat" cmpd="sng" algn="ctr">
              <a:solidFill>
                <a:schemeClr val="accent1">
                  <a:shade val="95000"/>
                </a:schemeClr>
              </a:solidFill>
              <a:round/>
            </a:ln>
            <a:effectLst/>
            <a:sp3d contourW="9525">
              <a:contourClr>
                <a:schemeClr val="accent1">
                  <a:shade val="95000"/>
                </a:schemeClr>
              </a:contourClr>
            </a:sp3d>
          </c:spPr>
          <c:invertIfNegative val="0"/>
          <c:dPt>
            <c:idx val="0"/>
            <c:invertIfNegative val="0"/>
            <c:bubble3D val="0"/>
            <c:spPr>
              <a:solidFill>
                <a:schemeClr val="accent2">
                  <a:lumMod val="40000"/>
                  <a:lumOff val="60000"/>
                </a:schemeClr>
              </a:solidFill>
              <a:ln w="9525" cap="flat" cmpd="sng" algn="ctr">
                <a:solidFill>
                  <a:schemeClr val="accent1">
                    <a:shade val="95000"/>
                  </a:schemeClr>
                </a:solidFill>
                <a:round/>
              </a:ln>
              <a:effectLst/>
              <a:sp3d contourW="9525">
                <a:contourClr>
                  <a:schemeClr val="accent1">
                    <a:shade val="95000"/>
                  </a:schemeClr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1-D7DF-40FE-B37D-616BDEFD2C0E}"/>
              </c:ext>
            </c:extLst>
          </c:dPt>
          <c:dPt>
            <c:idx val="1"/>
            <c:invertIfNegative val="0"/>
            <c:bubble3D val="0"/>
            <c:spPr>
              <a:solidFill>
                <a:schemeClr val="accent2">
                  <a:lumMod val="40000"/>
                  <a:lumOff val="60000"/>
                </a:schemeClr>
              </a:solidFill>
              <a:ln w="9525" cap="flat" cmpd="sng" algn="ctr">
                <a:solidFill>
                  <a:schemeClr val="accent1">
                    <a:shade val="95000"/>
                  </a:schemeClr>
                </a:solidFill>
                <a:round/>
              </a:ln>
              <a:effectLst/>
              <a:sp3d contourW="9525">
                <a:contourClr>
                  <a:schemeClr val="accent1">
                    <a:shade val="95000"/>
                  </a:schemeClr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3-D7DF-40FE-B37D-616BDEFD2C0E}"/>
              </c:ext>
            </c:extLst>
          </c:dPt>
          <c:dPt>
            <c:idx val="2"/>
            <c:invertIfNegative val="0"/>
            <c:bubble3D val="0"/>
            <c:spPr>
              <a:solidFill>
                <a:schemeClr val="accent2">
                  <a:lumMod val="40000"/>
                  <a:lumOff val="60000"/>
                </a:schemeClr>
              </a:solidFill>
              <a:ln w="9525" cap="flat" cmpd="sng" algn="ctr">
                <a:solidFill>
                  <a:schemeClr val="accent1">
                    <a:shade val="95000"/>
                  </a:schemeClr>
                </a:solidFill>
                <a:round/>
              </a:ln>
              <a:effectLst/>
              <a:sp3d contourW="9525">
                <a:contourClr>
                  <a:schemeClr val="accent1">
                    <a:shade val="95000"/>
                  </a:schemeClr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5-D7DF-40FE-B37D-616BDEFD2C0E}"/>
              </c:ext>
            </c:extLst>
          </c:dPt>
          <c:dPt>
            <c:idx val="6"/>
            <c:invertIfNegative val="0"/>
            <c:bubble3D val="0"/>
            <c:spPr>
              <a:solidFill>
                <a:schemeClr val="accent2">
                  <a:lumMod val="40000"/>
                  <a:lumOff val="60000"/>
                </a:schemeClr>
              </a:solidFill>
              <a:ln w="9525" cap="flat" cmpd="sng" algn="ctr">
                <a:solidFill>
                  <a:schemeClr val="accent1">
                    <a:shade val="95000"/>
                  </a:schemeClr>
                </a:solidFill>
                <a:round/>
              </a:ln>
              <a:effectLst/>
              <a:sp3d contourW="9525">
                <a:contourClr>
                  <a:schemeClr val="accent1">
                    <a:shade val="95000"/>
                  </a:schemeClr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7-D7DF-40FE-B37D-616BDEFD2C0E}"/>
              </c:ext>
            </c:extLst>
          </c:dPt>
          <c:dLbls>
            <c:dLbl>
              <c:idx val="0"/>
              <c:layout>
                <c:manualLayout>
                  <c:x val="1.8849776251250578E-2"/>
                  <c:y val="-3.4244923454297395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1-D7DF-40FE-B37D-616BDEFD2C0E}"/>
                </c:ext>
              </c:extLst>
            </c:dLbl>
            <c:dLbl>
              <c:idx val="1"/>
              <c:layout>
                <c:manualLayout>
                  <c:x val="1.7607173269340137E-2"/>
                  <c:y val="-3.2683715384765312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3-D7DF-40FE-B37D-616BDEFD2C0E}"/>
                </c:ext>
              </c:extLst>
            </c:dLbl>
            <c:dLbl>
              <c:idx val="2"/>
              <c:layout>
                <c:manualLayout>
                  <c:x val="9.5079719349559916E-3"/>
                  <c:y val="-5.4094263918694881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5-D7DF-40FE-B37D-616BDEFD2C0E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00" b="1" i="0" u="none" strike="noStrike" kern="1200" baseline="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pPr>
                <a:endParaRPr lang="uk-UA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Аркуш1!$A$2:$A$4</c:f>
              <c:strCache>
                <c:ptCount val="3"/>
                <c:pt idx="0">
                  <c:v>2021р.</c:v>
                </c:pt>
                <c:pt idx="1">
                  <c:v>2022р.</c:v>
                </c:pt>
                <c:pt idx="2">
                  <c:v>2023р.</c:v>
                </c:pt>
              </c:strCache>
            </c:strRef>
          </c:cat>
          <c:val>
            <c:numRef>
              <c:f>Аркуш1!$B$2:$B$4</c:f>
              <c:numCache>
                <c:formatCode>0.0</c:formatCode>
                <c:ptCount val="3"/>
                <c:pt idx="0">
                  <c:v>1.3</c:v>
                </c:pt>
                <c:pt idx="1">
                  <c:v>1.2</c:v>
                </c:pt>
                <c:pt idx="2">
                  <c:v>1</c:v>
                </c:pt>
              </c:numCache>
            </c:numRef>
          </c:val>
          <c:shape val="cylinder"/>
          <c:extLst>
            <c:ext xmlns:c16="http://schemas.microsoft.com/office/drawing/2014/chart" uri="{C3380CC4-5D6E-409C-BE32-E72D297353CC}">
              <c16:uniqueId val="{00000008-D7DF-40FE-B37D-616BDEFD2C0E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shape val="box"/>
        <c:axId val="647249920"/>
        <c:axId val="647250248"/>
        <c:axId val="0"/>
      </c:bar3DChart>
      <c:catAx>
        <c:axId val="64724992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1" i="0" u="none" strike="noStrike" kern="1200" baseline="0">
                <a:solidFill>
                  <a:srgbClr val="002060"/>
                </a:solidFill>
                <a:latin typeface="Times New Roman" panose="02020603050405020304" pitchFamily="18" charset="0"/>
                <a:ea typeface="+mn-ea"/>
                <a:cs typeface="+mn-cs"/>
              </a:defRPr>
            </a:pPr>
            <a:endParaRPr lang="uk-UA"/>
          </a:p>
        </c:txPr>
        <c:crossAx val="647250248"/>
        <c:crosses val="autoZero"/>
        <c:auto val="1"/>
        <c:lblAlgn val="ctr"/>
        <c:lblOffset val="100"/>
        <c:noMultiLvlLbl val="0"/>
      </c:catAx>
      <c:valAx>
        <c:axId val="64725024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pPr>
            <a:endParaRPr lang="uk-UA"/>
          </a:p>
        </c:txPr>
        <c:crossAx val="64724992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zero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gradFill flip="none" rotWithShape="1">
      <a:gsLst>
        <a:gs pos="0">
          <a:schemeClr val="accent3">
            <a:lumMod val="5000"/>
            <a:lumOff val="95000"/>
          </a:schemeClr>
        </a:gs>
        <a:gs pos="74000">
          <a:schemeClr val="accent3">
            <a:lumMod val="45000"/>
            <a:lumOff val="55000"/>
          </a:schemeClr>
        </a:gs>
        <a:gs pos="83000">
          <a:schemeClr val="accent3">
            <a:lumMod val="45000"/>
            <a:lumOff val="55000"/>
          </a:schemeClr>
        </a:gs>
        <a:gs pos="100000">
          <a:schemeClr val="accent3">
            <a:lumMod val="30000"/>
            <a:lumOff val="70000"/>
          </a:schemeClr>
        </a:gs>
      </a:gsLst>
      <a:lin ang="5400000" scaled="1"/>
      <a:tileRect/>
    </a:gradFill>
    <a:ln>
      <a:noFill/>
    </a:ln>
    <a:effectLst/>
  </c:spPr>
  <c:txPr>
    <a:bodyPr/>
    <a:lstStyle/>
    <a:p>
      <a:pPr>
        <a:defRPr/>
      </a:pPr>
      <a:endParaRPr lang="uk-UA"/>
    </a:p>
  </c:txPr>
  <c:externalData r:id="rId3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uk-UA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view3D>
      <c:rotX val="15"/>
      <c:rotY val="20"/>
      <c:depthPercent val="100"/>
      <c:rAngAx val="1"/>
    </c:view3D>
    <c:floor>
      <c:thickness val="0"/>
      <c:spPr>
        <a:noFill/>
        <a:ln>
          <a:solidFill>
            <a:schemeClr val="tx1">
              <a:lumMod val="50000"/>
              <a:lumOff val="50000"/>
            </a:schemeClr>
          </a:solidFill>
        </a:ln>
        <a:effectLst/>
        <a:sp3d>
          <a:contourClr>
            <a:schemeClr val="tx1">
              <a:lumMod val="50000"/>
              <a:lumOff val="50000"/>
            </a:schemeClr>
          </a:contourClr>
        </a:sp3d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>
        <c:manualLayout>
          <c:layoutTarget val="inner"/>
          <c:xMode val="edge"/>
          <c:yMode val="edge"/>
          <c:x val="0.10628825110204125"/>
          <c:y val="0.28892107168718317"/>
          <c:w val="0.82756281561863043"/>
          <c:h val="0.56132104566305341"/>
        </c:manualLayout>
      </c:layout>
      <c:bar3DChart>
        <c:barDir val="col"/>
        <c:grouping val="clustered"/>
        <c:varyColors val="0"/>
        <c:ser>
          <c:idx val="0"/>
          <c:order val="0"/>
          <c:tx>
            <c:strRef>
              <c:f>Аркуш1!$B$1</c:f>
              <c:strCache>
                <c:ptCount val="1"/>
                <c:pt idx="0">
                  <c:v>ангіопластики</c:v>
                </c:pt>
              </c:strCache>
            </c:strRef>
          </c:tx>
          <c:spPr>
            <a:solidFill>
              <a:schemeClr val="accent1">
                <a:lumMod val="20000"/>
                <a:lumOff val="80000"/>
              </a:schemeClr>
            </a:solidFill>
            <a:ln w="9525" cap="flat" cmpd="sng" algn="ctr">
              <a:solidFill>
                <a:schemeClr val="accent1">
                  <a:shade val="95000"/>
                </a:schemeClr>
              </a:solidFill>
              <a:round/>
            </a:ln>
            <a:effectLst/>
            <a:sp3d contourW="9525">
              <a:contourClr>
                <a:schemeClr val="accent1">
                  <a:shade val="95000"/>
                </a:schemeClr>
              </a:contourClr>
            </a:sp3d>
          </c:spPr>
          <c:invertIfNegative val="0"/>
          <c:dPt>
            <c:idx val="0"/>
            <c:invertIfNegative val="0"/>
            <c:bubble3D val="0"/>
            <c:spPr>
              <a:solidFill>
                <a:schemeClr val="accent1">
                  <a:lumMod val="20000"/>
                  <a:lumOff val="80000"/>
                </a:schemeClr>
              </a:solidFill>
              <a:ln w="9525" cap="flat" cmpd="sng" algn="ctr">
                <a:solidFill>
                  <a:schemeClr val="accent1">
                    <a:shade val="95000"/>
                  </a:schemeClr>
                </a:solidFill>
                <a:round/>
              </a:ln>
              <a:effectLst/>
              <a:sp3d contourW="9525">
                <a:contourClr>
                  <a:schemeClr val="accent1">
                    <a:shade val="95000"/>
                  </a:schemeClr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1-4245-4227-A11A-87C876333EEE}"/>
              </c:ext>
            </c:extLst>
          </c:dPt>
          <c:dPt>
            <c:idx val="1"/>
            <c:invertIfNegative val="0"/>
            <c:bubble3D val="0"/>
            <c:spPr>
              <a:solidFill>
                <a:schemeClr val="accent1">
                  <a:lumMod val="20000"/>
                  <a:lumOff val="80000"/>
                </a:schemeClr>
              </a:solidFill>
              <a:ln w="9525" cap="flat" cmpd="sng" algn="ctr">
                <a:solidFill>
                  <a:schemeClr val="accent1">
                    <a:shade val="95000"/>
                  </a:schemeClr>
                </a:solidFill>
                <a:round/>
              </a:ln>
              <a:effectLst/>
              <a:sp3d contourW="9525">
                <a:contourClr>
                  <a:schemeClr val="accent1">
                    <a:shade val="95000"/>
                  </a:schemeClr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3-4245-4227-A11A-87C876333EEE}"/>
              </c:ext>
            </c:extLst>
          </c:dPt>
          <c:dPt>
            <c:idx val="2"/>
            <c:invertIfNegative val="0"/>
            <c:bubble3D val="0"/>
            <c:spPr>
              <a:solidFill>
                <a:schemeClr val="accent1">
                  <a:lumMod val="20000"/>
                  <a:lumOff val="80000"/>
                </a:schemeClr>
              </a:solidFill>
              <a:ln w="9525" cap="flat" cmpd="sng" algn="ctr">
                <a:solidFill>
                  <a:schemeClr val="accent1">
                    <a:shade val="95000"/>
                  </a:schemeClr>
                </a:solidFill>
                <a:round/>
              </a:ln>
              <a:effectLst/>
              <a:sp3d contourW="9525">
                <a:contourClr>
                  <a:schemeClr val="accent1">
                    <a:shade val="95000"/>
                  </a:schemeClr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5-4245-4227-A11A-87C876333EEE}"/>
              </c:ext>
            </c:extLst>
          </c:dPt>
          <c:dPt>
            <c:idx val="6"/>
            <c:invertIfNegative val="0"/>
            <c:bubble3D val="0"/>
            <c:spPr>
              <a:solidFill>
                <a:schemeClr val="accent1">
                  <a:lumMod val="20000"/>
                  <a:lumOff val="80000"/>
                </a:schemeClr>
              </a:solidFill>
              <a:ln w="9525" cap="flat" cmpd="sng" algn="ctr">
                <a:solidFill>
                  <a:schemeClr val="accent1">
                    <a:shade val="95000"/>
                  </a:schemeClr>
                </a:solidFill>
                <a:round/>
              </a:ln>
              <a:effectLst/>
              <a:sp3d contourW="9525">
                <a:contourClr>
                  <a:schemeClr val="accent1">
                    <a:shade val="95000"/>
                  </a:schemeClr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7-4245-4227-A11A-87C876333EEE}"/>
              </c:ext>
            </c:extLst>
          </c:dPt>
          <c:dLbls>
            <c:dLbl>
              <c:idx val="0"/>
              <c:layout>
                <c:manualLayout>
                  <c:x val="1.8849776251250578E-2"/>
                  <c:y val="-3.4244923454297395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1-4245-4227-A11A-87C876333EEE}"/>
                </c:ext>
              </c:extLst>
            </c:dLbl>
            <c:dLbl>
              <c:idx val="1"/>
              <c:layout>
                <c:manualLayout>
                  <c:x val="1.7607173269340137E-2"/>
                  <c:y val="-3.2683715384765312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3-4245-4227-A11A-87C876333EEE}"/>
                </c:ext>
              </c:extLst>
            </c:dLbl>
            <c:dLbl>
              <c:idx val="2"/>
              <c:layout>
                <c:manualLayout>
                  <c:x val="9.5079719349559916E-3"/>
                  <c:y val="-5.4094263918694881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5-4245-4227-A11A-87C876333EEE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00" b="1" i="0" u="none" strike="noStrike" kern="1200" baseline="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pPr>
                <a:endParaRPr lang="uk-UA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Аркуш1!$A$2:$A$4</c:f>
              <c:strCache>
                <c:ptCount val="3"/>
                <c:pt idx="0">
                  <c:v>2021р.</c:v>
                </c:pt>
                <c:pt idx="1">
                  <c:v>2022р.</c:v>
                </c:pt>
                <c:pt idx="2">
                  <c:v>2023р.</c:v>
                </c:pt>
              </c:strCache>
            </c:strRef>
          </c:cat>
          <c:val>
            <c:numRef>
              <c:f>Аркуш1!$B$2:$B$4</c:f>
              <c:numCache>
                <c:formatCode>0.0</c:formatCode>
                <c:ptCount val="3"/>
                <c:pt idx="0">
                  <c:v>0.3</c:v>
                </c:pt>
                <c:pt idx="1">
                  <c:v>0.5</c:v>
                </c:pt>
                <c:pt idx="2">
                  <c:v>0.8</c:v>
                </c:pt>
              </c:numCache>
            </c:numRef>
          </c:val>
          <c:shape val="cylinder"/>
          <c:extLst>
            <c:ext xmlns:c16="http://schemas.microsoft.com/office/drawing/2014/chart" uri="{C3380CC4-5D6E-409C-BE32-E72D297353CC}">
              <c16:uniqueId val="{00000009-4245-4227-A11A-87C876333EEE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shape val="box"/>
        <c:axId val="647249920"/>
        <c:axId val="647250248"/>
        <c:axId val="0"/>
      </c:bar3DChart>
      <c:catAx>
        <c:axId val="64724992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1" i="0" u="none" strike="noStrike" kern="1200" baseline="0">
                <a:solidFill>
                  <a:srgbClr val="002060"/>
                </a:solidFill>
                <a:latin typeface="Times New Roman" panose="02020603050405020304" pitchFamily="18" charset="0"/>
                <a:ea typeface="+mn-ea"/>
                <a:cs typeface="+mn-cs"/>
              </a:defRPr>
            </a:pPr>
            <a:endParaRPr lang="uk-UA"/>
          </a:p>
        </c:txPr>
        <c:crossAx val="647250248"/>
        <c:crosses val="autoZero"/>
        <c:auto val="1"/>
        <c:lblAlgn val="ctr"/>
        <c:lblOffset val="100"/>
        <c:noMultiLvlLbl val="0"/>
      </c:catAx>
      <c:valAx>
        <c:axId val="64725024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pPr>
            <a:endParaRPr lang="uk-UA"/>
          </a:p>
        </c:txPr>
        <c:crossAx val="64724992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zero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gradFill flip="none" rotWithShape="1">
      <a:gsLst>
        <a:gs pos="0">
          <a:schemeClr val="accent3">
            <a:lumMod val="5000"/>
            <a:lumOff val="95000"/>
          </a:schemeClr>
        </a:gs>
        <a:gs pos="74000">
          <a:schemeClr val="accent3">
            <a:lumMod val="45000"/>
            <a:lumOff val="55000"/>
          </a:schemeClr>
        </a:gs>
        <a:gs pos="83000">
          <a:schemeClr val="accent3">
            <a:lumMod val="45000"/>
            <a:lumOff val="55000"/>
          </a:schemeClr>
        </a:gs>
        <a:gs pos="100000">
          <a:schemeClr val="accent3">
            <a:lumMod val="30000"/>
            <a:lumOff val="70000"/>
          </a:schemeClr>
        </a:gs>
      </a:gsLst>
      <a:lin ang="5400000" scaled="1"/>
      <a:tileRect/>
    </a:gradFill>
    <a:ln>
      <a:noFill/>
    </a:ln>
    <a:effectLst/>
  </c:spPr>
  <c:txPr>
    <a:bodyPr/>
    <a:lstStyle/>
    <a:p>
      <a:pPr>
        <a:defRPr/>
      </a:pPr>
      <a:endParaRPr lang="uk-UA"/>
    </a:p>
  </c:txPr>
  <c:externalData r:id="rId3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uk-UA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3.2254720573129961E-2"/>
          <c:y val="7.1705264476789113E-2"/>
          <c:w val="0.90207234965194572"/>
          <c:h val="0.68585418635152606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Аркуш1!$B$1</c:f>
              <c:strCache>
                <c:ptCount val="1"/>
                <c:pt idx="0">
                  <c:v>2023</c:v>
                </c:pt>
              </c:strCache>
            </c:strRef>
          </c:tx>
          <c:spPr>
            <a:solidFill>
              <a:schemeClr val="accent1">
                <a:lumMod val="75000"/>
              </a:schemeClr>
            </a:solidFill>
            <a:ln>
              <a:noFill/>
            </a:ln>
            <a:effectLst/>
          </c:spPr>
          <c:invertIfNegative val="0"/>
          <c:dPt>
            <c:idx val="5"/>
            <c:invertIfNegative val="0"/>
            <c:bubble3D val="0"/>
            <c:spPr>
              <a:solidFill>
                <a:schemeClr val="accent2">
                  <a:lumMod val="7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0-3AC9-4BE2-A9A1-7F7F7DDC5A69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rgbClr val="003399"/>
                    </a:solidFill>
                    <a:latin typeface="+mn-lt"/>
                    <a:ea typeface="+mn-ea"/>
                    <a:cs typeface="+mn-cs"/>
                  </a:defRPr>
                </a:pPr>
                <a:endParaRPr lang="uk-UA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Аркуш1!$A$2:$A$12</c:f>
              <c:strCache>
                <c:ptCount val="11"/>
                <c:pt idx="0">
                  <c:v>КНП Стрийської міської ради ТМО «Стрийська міська об'єднана лікарня», ВП «Лікарня інтенсивного лікування»</c:v>
                </c:pt>
                <c:pt idx="1">
                  <c:v> КНП ЛОР «Львівський обласний госпіталь ветеранів війн та репресованих ім. Ю. Липи»</c:v>
                </c:pt>
                <c:pt idx="2">
                  <c:v>Відокремлений підрозділ «Лікарня Святого Луки»   КНП "1 Територіальне медичне об'єднання м.Львова"</c:v>
                </c:pt>
                <c:pt idx="3">
                  <c:v> КНП «Новояворівська лікарня імені Юрія Липи» Новояворівської міської ради</c:v>
                </c:pt>
                <c:pt idx="4">
                  <c:v>КП «Центральна міська лікарня Червоноградської міської ради»</c:v>
                </c:pt>
                <c:pt idx="5">
                  <c:v>По області</c:v>
                </c:pt>
                <c:pt idx="6">
                  <c:v>Відокремлений підрозділ «Лікарня Святого Пантелеймона КНП "1 Територіальне медичне об'єднання м.Львова"</c:v>
                </c:pt>
                <c:pt idx="7">
                  <c:v> КНП Самбірської міської ради «Самбірська центральна лікарня»</c:v>
                </c:pt>
                <c:pt idx="8">
                  <c:v> КНП ЛОР «Львівська обласна клінічна лікарня»</c:v>
                </c:pt>
                <c:pt idx="9">
                  <c:v>КНП «Дрогобицька міська лікарня № 1» Дрогобицької міської ради</c:v>
                </c:pt>
                <c:pt idx="10">
                  <c:v>КНП Буської міської ради «Буська центральна районна лiкарня»</c:v>
                </c:pt>
              </c:strCache>
            </c:strRef>
          </c:cat>
          <c:val>
            <c:numRef>
              <c:f>Аркуш1!$B$2:$B$12</c:f>
              <c:numCache>
                <c:formatCode>0.0</c:formatCode>
                <c:ptCount val="11"/>
                <c:pt idx="0">
                  <c:v>13.86</c:v>
                </c:pt>
                <c:pt idx="1">
                  <c:v>10.536</c:v>
                </c:pt>
                <c:pt idx="2">
                  <c:v>10</c:v>
                </c:pt>
                <c:pt idx="3">
                  <c:v>9.4220000000000006</c:v>
                </c:pt>
                <c:pt idx="4">
                  <c:v>8.8849999999999998</c:v>
                </c:pt>
                <c:pt idx="5">
                  <c:v>7.96</c:v>
                </c:pt>
                <c:pt idx="6">
                  <c:v>6.99</c:v>
                </c:pt>
                <c:pt idx="7">
                  <c:v>5.5979999999999999</c:v>
                </c:pt>
                <c:pt idx="8">
                  <c:v>5.4089999999999998</c:v>
                </c:pt>
                <c:pt idx="9">
                  <c:v>5.3470000000000004</c:v>
                </c:pt>
                <c:pt idx="10">
                  <c:v>2.778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F13-4D57-B375-26412771852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2020275951"/>
        <c:axId val="2020269711"/>
      </c:barChart>
      <c:catAx>
        <c:axId val="202027595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0" spcFirstLastPara="1" vertOverflow="ellipsis" wrap="square" anchor="ctr" anchorCtr="1"/>
          <a:lstStyle/>
          <a:p>
            <a:pPr>
              <a:defRPr sz="800" b="0" i="0" u="none" strike="noStrike" kern="1200" baseline="0">
                <a:ln>
                  <a:noFill/>
                </a:ln>
                <a:solidFill>
                  <a:srgbClr val="002060"/>
                </a:solidFill>
                <a:latin typeface="+mn-lt"/>
                <a:ea typeface="+mn-ea"/>
                <a:cs typeface="+mn-cs"/>
              </a:defRPr>
            </a:pPr>
            <a:endParaRPr lang="uk-UA"/>
          </a:p>
        </c:txPr>
        <c:crossAx val="2020269711"/>
        <c:crosses val="autoZero"/>
        <c:auto val="1"/>
        <c:lblAlgn val="ctr"/>
        <c:lblOffset val="100"/>
        <c:noMultiLvlLbl val="0"/>
      </c:catAx>
      <c:valAx>
        <c:axId val="2020269711"/>
        <c:scaling>
          <c:orientation val="minMax"/>
        </c:scaling>
        <c:delete val="0"/>
        <c:axPos val="l"/>
        <c:majorGridlines>
          <c:spPr>
            <a:ln w="9525" cap="flat" cmpd="sng" algn="ctr">
              <a:noFill/>
              <a:round/>
            </a:ln>
            <a:effectLst/>
          </c:spPr>
        </c:majorGridlines>
        <c:numFmt formatCode="0.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rgbClr val="003399"/>
                </a:solidFill>
                <a:latin typeface="+mn-lt"/>
                <a:ea typeface="+mn-ea"/>
                <a:cs typeface="+mn-cs"/>
              </a:defRPr>
            </a:pPr>
            <a:endParaRPr lang="uk-UA"/>
          </a:p>
        </c:txPr>
        <c:crossAx val="2020275951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uk-UA"/>
    </a:p>
  </c:txPr>
  <c:externalData r:id="rId3">
    <c:autoUpdate val="0"/>
  </c:externalData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uk-UA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6.277744130125508E-2"/>
          <c:y val="7.4954409877202505E-2"/>
          <c:w val="0.78071698113207555"/>
          <c:h val="0.62495221002102763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Аркуш1!$B$1</c:f>
              <c:strCache>
                <c:ptCount val="1"/>
                <c:pt idx="0">
                  <c:v>2023</c:v>
                </c:pt>
              </c:strCache>
            </c:strRef>
          </c:tx>
          <c:spPr>
            <a:gradFill flip="none" rotWithShape="1">
              <a:gsLst>
                <a:gs pos="0">
                  <a:schemeClr val="accent1">
                    <a:lumMod val="67000"/>
                  </a:schemeClr>
                </a:gs>
                <a:gs pos="48000">
                  <a:schemeClr val="accent1">
                    <a:lumMod val="97000"/>
                    <a:lumOff val="3000"/>
                  </a:schemeClr>
                </a:gs>
                <a:gs pos="100000">
                  <a:schemeClr val="accent1">
                    <a:lumMod val="60000"/>
                    <a:lumOff val="40000"/>
                  </a:schemeClr>
                </a:gs>
              </a:gsLst>
              <a:lin ang="16200000" scaled="1"/>
              <a:tileRect/>
            </a:gradFill>
            <a:ln>
              <a:noFill/>
            </a:ln>
            <a:effectLst/>
          </c:spPr>
          <c:invertIfNegative val="0"/>
          <c:dPt>
            <c:idx val="2"/>
            <c:invertIfNegative val="0"/>
            <c:bubble3D val="0"/>
            <c:spPr>
              <a:gradFill flip="none" rotWithShape="1">
                <a:gsLst>
                  <a:gs pos="0">
                    <a:schemeClr val="accent1">
                      <a:lumMod val="67000"/>
                    </a:schemeClr>
                  </a:gs>
                  <a:gs pos="48000">
                    <a:schemeClr val="accent1">
                      <a:lumMod val="97000"/>
                      <a:lumOff val="3000"/>
                    </a:schemeClr>
                  </a:gs>
                  <a:gs pos="100000">
                    <a:schemeClr val="accent1">
                      <a:lumMod val="60000"/>
                      <a:lumOff val="40000"/>
                    </a:schemeClr>
                  </a:gs>
                </a:gsLst>
                <a:lin ang="16200000" scaled="1"/>
                <a:tileRect/>
              </a:gra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7A2D-43E3-AECE-318AF2F3F643}"/>
              </c:ext>
            </c:extLst>
          </c:dPt>
          <c:dPt>
            <c:idx val="5"/>
            <c:invertIfNegative val="0"/>
            <c:bubble3D val="0"/>
            <c:spPr>
              <a:gradFill flip="none" rotWithShape="1">
                <a:gsLst>
                  <a:gs pos="0">
                    <a:schemeClr val="accent1">
                      <a:lumMod val="67000"/>
                    </a:schemeClr>
                  </a:gs>
                  <a:gs pos="48000">
                    <a:schemeClr val="accent1">
                      <a:lumMod val="97000"/>
                      <a:lumOff val="3000"/>
                    </a:schemeClr>
                  </a:gs>
                  <a:gs pos="100000">
                    <a:schemeClr val="accent1">
                      <a:lumMod val="60000"/>
                      <a:lumOff val="40000"/>
                    </a:schemeClr>
                  </a:gs>
                </a:gsLst>
                <a:lin ang="16200000" scaled="1"/>
                <a:tileRect/>
              </a:gra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7A2D-43E3-AECE-318AF2F3F643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overflow" horzOverflow="overflow" vert="horz" wrap="square" lIns="38100" tIns="19050" rIns="38100" bIns="19050" anchor="ctr" anchorCtr="1">
                <a:noAutofit/>
              </a:bodyPr>
              <a:lstStyle/>
              <a:p>
                <a:pPr>
                  <a:defRPr sz="900" b="1" i="0" u="none" strike="noStrike" kern="1200" baseline="0">
                    <a:solidFill>
                      <a:srgbClr val="003399"/>
                    </a:solidFill>
                    <a:latin typeface="+mn-lt"/>
                    <a:ea typeface="+mn-ea"/>
                    <a:cs typeface="+mn-cs"/>
                  </a:defRPr>
                </a:pPr>
                <a:endParaRPr lang="uk-UA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  <a:noFill/>
                  <a:ln>
                    <a:noFill/>
                  </a:ln>
                </c15:spPr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Аркуш1!$A$2:$A$5</c:f>
              <c:strCache>
                <c:ptCount val="4"/>
                <c:pt idx="0">
                  <c:v>2020р.</c:v>
                </c:pt>
                <c:pt idx="1">
                  <c:v>2021р.</c:v>
                </c:pt>
                <c:pt idx="2">
                  <c:v>2022р.</c:v>
                </c:pt>
                <c:pt idx="3">
                  <c:v>2023р</c:v>
                </c:pt>
              </c:strCache>
            </c:strRef>
          </c:cat>
          <c:val>
            <c:numRef>
              <c:f>Аркуш1!$B$2:$B$5</c:f>
              <c:numCache>
                <c:formatCode>0.0</c:formatCode>
                <c:ptCount val="4"/>
                <c:pt idx="0">
                  <c:v>0.5</c:v>
                </c:pt>
                <c:pt idx="1">
                  <c:v>0.8</c:v>
                </c:pt>
                <c:pt idx="2">
                  <c:v>1.6</c:v>
                </c:pt>
                <c:pt idx="3">
                  <c:v>2.2999999999999998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7A2D-43E3-AECE-318AF2F3F64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73"/>
        <c:overlap val="-45"/>
        <c:axId val="2020275951"/>
        <c:axId val="2020269711"/>
      </c:barChart>
      <c:catAx>
        <c:axId val="202027595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0" spcFirstLastPara="1" vertOverflow="ellipsis" wrap="square" anchor="ctr" anchorCtr="1"/>
          <a:lstStyle/>
          <a:p>
            <a:pPr>
              <a:defRPr sz="800" b="0" i="0" u="none" strike="noStrike" kern="1200" baseline="0">
                <a:ln>
                  <a:noFill/>
                </a:ln>
                <a:solidFill>
                  <a:srgbClr val="002060"/>
                </a:solidFill>
                <a:latin typeface="+mn-lt"/>
                <a:ea typeface="+mn-ea"/>
                <a:cs typeface="+mn-cs"/>
              </a:defRPr>
            </a:pPr>
            <a:endParaRPr lang="uk-UA"/>
          </a:p>
        </c:txPr>
        <c:crossAx val="2020269711"/>
        <c:crosses val="autoZero"/>
        <c:auto val="1"/>
        <c:lblAlgn val="ctr"/>
        <c:lblOffset val="100"/>
        <c:noMultiLvlLbl val="0"/>
      </c:catAx>
      <c:valAx>
        <c:axId val="2020269711"/>
        <c:scaling>
          <c:orientation val="minMax"/>
        </c:scaling>
        <c:delete val="0"/>
        <c:axPos val="l"/>
        <c:majorGridlines>
          <c:spPr>
            <a:ln w="9525" cap="flat" cmpd="sng" algn="ctr">
              <a:noFill/>
              <a:round/>
            </a:ln>
            <a:effectLst/>
          </c:spPr>
        </c:majorGridlines>
        <c:numFmt formatCode="0.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rgbClr val="003399"/>
                </a:solidFill>
                <a:latin typeface="+mn-lt"/>
                <a:ea typeface="+mn-ea"/>
                <a:cs typeface="+mn-cs"/>
              </a:defRPr>
            </a:pPr>
            <a:endParaRPr lang="uk-UA"/>
          </a:p>
        </c:txPr>
        <c:crossAx val="2020275951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uk-UA"/>
    </a:p>
  </c:txPr>
  <c:externalData r:id="rId3">
    <c:autoUpdate val="0"/>
  </c:externalData>
</c:chartSpace>
</file>

<file path=ppt/charts/chart1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uk-UA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6.277744130125508E-2"/>
          <c:y val="7.4954409877202505E-2"/>
          <c:w val="0.80370302947610894"/>
          <c:h val="0.65385377091322439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Аркуш1!$B$1</c:f>
              <c:strCache>
                <c:ptCount val="1"/>
                <c:pt idx="0">
                  <c:v>2023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2"/>
            <c:invertIfNegative val="0"/>
            <c:bubble3D val="0"/>
            <c:spPr>
              <a:solidFill>
                <a:schemeClr val="accent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5D24-43B2-982D-4D5C12A66854}"/>
              </c:ext>
            </c:extLst>
          </c:dPt>
          <c:dPt>
            <c:idx val="5"/>
            <c:invertIfNegative val="0"/>
            <c:bubble3D val="0"/>
            <c:spPr>
              <a:solidFill>
                <a:schemeClr val="accent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5D24-43B2-982D-4D5C12A66854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rgbClr val="003399"/>
                    </a:solidFill>
                    <a:latin typeface="+mn-lt"/>
                    <a:ea typeface="+mn-ea"/>
                    <a:cs typeface="+mn-cs"/>
                  </a:defRPr>
                </a:pPr>
                <a:endParaRPr lang="uk-UA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Аркуш1!$A$2:$A$4</c:f>
              <c:strCache>
                <c:ptCount val="3"/>
                <c:pt idx="0">
                  <c:v>Частка пацієнтів, яким проведено тромбоекстракцію (ТЕ) </c:v>
                </c:pt>
                <c:pt idx="1">
                  <c:v>Частка пацієнтів, яким проведено ангіопластику </c:v>
                </c:pt>
                <c:pt idx="2">
                  <c:v>Частка пацієнтів, яким проведено ендоваскулярні втручання</c:v>
                </c:pt>
              </c:strCache>
            </c:strRef>
          </c:cat>
          <c:val>
            <c:numRef>
              <c:f>Аркуш1!$B$2:$B$4</c:f>
              <c:numCache>
                <c:formatCode>0.0</c:formatCode>
                <c:ptCount val="3"/>
                <c:pt idx="0">
                  <c:v>2.2999999999999998</c:v>
                </c:pt>
                <c:pt idx="1">
                  <c:v>0.8</c:v>
                </c:pt>
                <c:pt idx="2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5D24-43B2-982D-4D5C12A6685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2020275951"/>
        <c:axId val="2020269711"/>
      </c:barChart>
      <c:catAx>
        <c:axId val="202027595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0" spcFirstLastPara="1" vertOverflow="ellipsis" wrap="square" anchor="ctr" anchorCtr="1"/>
          <a:lstStyle/>
          <a:p>
            <a:pPr>
              <a:defRPr sz="800" b="0" i="0" u="none" strike="noStrike" kern="1200" baseline="0">
                <a:ln>
                  <a:noFill/>
                </a:ln>
                <a:solidFill>
                  <a:srgbClr val="002060"/>
                </a:solidFill>
                <a:latin typeface="+mn-lt"/>
                <a:ea typeface="+mn-ea"/>
                <a:cs typeface="+mn-cs"/>
              </a:defRPr>
            </a:pPr>
            <a:endParaRPr lang="uk-UA"/>
          </a:p>
        </c:txPr>
        <c:crossAx val="2020269711"/>
        <c:crosses val="autoZero"/>
        <c:auto val="1"/>
        <c:lblAlgn val="ctr"/>
        <c:lblOffset val="100"/>
        <c:noMultiLvlLbl val="0"/>
      </c:catAx>
      <c:valAx>
        <c:axId val="2020269711"/>
        <c:scaling>
          <c:orientation val="minMax"/>
        </c:scaling>
        <c:delete val="0"/>
        <c:axPos val="l"/>
        <c:majorGridlines>
          <c:spPr>
            <a:ln w="9525" cap="flat" cmpd="sng" algn="ctr">
              <a:noFill/>
              <a:round/>
            </a:ln>
            <a:effectLst/>
          </c:spPr>
        </c:majorGridlines>
        <c:numFmt formatCode="0.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rgbClr val="003399"/>
                </a:solidFill>
                <a:latin typeface="+mn-lt"/>
                <a:ea typeface="+mn-ea"/>
                <a:cs typeface="+mn-cs"/>
              </a:defRPr>
            </a:pPr>
            <a:endParaRPr lang="uk-UA"/>
          </a:p>
        </c:txPr>
        <c:crossAx val="2020275951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uk-UA"/>
    </a:p>
  </c:txPr>
  <c:externalData r:id="rId3">
    <c:autoUpdate val="0"/>
  </c:externalData>
</c:chartSpace>
</file>

<file path=ppt/charts/chart2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uk-UA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view3D>
      <c:rotX val="50"/>
      <c:rotY val="0"/>
      <c:depthPercent val="100"/>
      <c:rAngAx val="0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>
        <c:manualLayout>
          <c:layoutTarget val="inner"/>
          <c:xMode val="edge"/>
          <c:yMode val="edge"/>
          <c:x val="0"/>
          <c:y val="0.28390077160047983"/>
          <c:w val="0.76929196073749395"/>
          <c:h val="0.542014293494951"/>
        </c:manualLayout>
      </c:layout>
      <c:pie3DChart>
        <c:varyColors val="1"/>
        <c:ser>
          <c:idx val="0"/>
          <c:order val="0"/>
          <c:tx>
            <c:strRef>
              <c:f>Аркуш1!$B$1</c:f>
              <c:strCache>
                <c:ptCount val="1"/>
                <c:pt idx="0">
                  <c:v>Стовпець1</c:v>
                </c:pt>
              </c:strCache>
            </c:strRef>
          </c:tx>
          <c:dPt>
            <c:idx val="0"/>
            <c:bubble3D val="0"/>
            <c:spPr>
              <a:solidFill>
                <a:schemeClr val="accent1">
                  <a:lumMod val="60000"/>
                  <a:lumOff val="40000"/>
                </a:schemeClr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  <a:sp3d/>
            </c:spPr>
            <c:extLst>
              <c:ext xmlns:c16="http://schemas.microsoft.com/office/drawing/2014/chart" uri="{C3380CC4-5D6E-409C-BE32-E72D297353CC}">
                <c16:uniqueId val="{00000001-867F-4D70-9B98-C8953C4E3665}"/>
              </c:ext>
            </c:extLst>
          </c:dPt>
          <c:dPt>
            <c:idx val="1"/>
            <c:bubble3D val="0"/>
            <c:spPr>
              <a:solidFill>
                <a:srgbClr val="FF00FF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  <a:sp3d/>
            </c:spPr>
            <c:extLst>
              <c:ext xmlns:c16="http://schemas.microsoft.com/office/drawing/2014/chart" uri="{C3380CC4-5D6E-409C-BE32-E72D297353CC}">
                <c16:uniqueId val="{00000003-867F-4D70-9B98-C8953C4E3665}"/>
              </c:ext>
            </c:extLst>
          </c:dPt>
          <c:dPt>
            <c:idx val="2"/>
            <c:bubble3D val="0"/>
            <c:spPr>
              <a:solidFill>
                <a:schemeClr val="accent4">
                  <a:lumMod val="75000"/>
                </a:schemeClr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  <a:sp3d/>
            </c:spPr>
            <c:extLst>
              <c:ext xmlns:c16="http://schemas.microsoft.com/office/drawing/2014/chart" uri="{C3380CC4-5D6E-409C-BE32-E72D297353CC}">
                <c16:uniqueId val="{00000005-867F-4D70-9B98-C8953C4E3665}"/>
              </c:ext>
            </c:extLst>
          </c:dPt>
          <c:dPt>
            <c:idx val="3"/>
            <c:bubble3D val="0"/>
            <c:spPr>
              <a:solidFill>
                <a:srgbClr val="FF6600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  <a:sp3d/>
            </c:spPr>
            <c:extLst>
              <c:ext xmlns:c16="http://schemas.microsoft.com/office/drawing/2014/chart" uri="{C3380CC4-5D6E-409C-BE32-E72D297353CC}">
                <c16:uniqueId val="{00000007-867F-4D70-9B98-C8953C4E3665}"/>
              </c:ext>
            </c:extLst>
          </c:dPt>
          <c:dLbls>
            <c:dLbl>
              <c:idx val="0"/>
              <c:layout>
                <c:manualLayout>
                  <c:x val="-0.11857327784679812"/>
                  <c:y val="-8.3635232901368151E-2"/>
                </c:manualLayout>
              </c:layout>
              <c:spPr>
                <a:solidFill>
                  <a:schemeClr val="accent2">
                    <a:lumMod val="75000"/>
                  </a:schemeClr>
                </a:solidFill>
                <a:ln>
                  <a:noFill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c:spPr>
              <c:txPr>
                <a:bodyPr rot="0" spcFirstLastPara="1" vertOverflow="ellipsis" vert="horz" wrap="square" lIns="38100" tIns="19050" rIns="38100" bIns="19050" anchor="ctr" anchorCtr="1">
                  <a:noAutofit/>
                </a:bodyPr>
                <a:lstStyle/>
                <a:p>
                  <a:pPr>
                    <a:defRPr sz="1330" b="1" i="0" u="none" strike="noStrike" kern="1200" baseline="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uk-UA"/>
                </a:p>
              </c:txPr>
              <c:dLblPos val="bestFi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7.6385498205954666E-2"/>
                      <c:h val="0.10064087030131211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1-867F-4D70-9B98-C8953C4E3665}"/>
                </c:ext>
              </c:extLst>
            </c:dLbl>
            <c:dLbl>
              <c:idx val="1"/>
              <c:layout>
                <c:manualLayout>
                  <c:x val="3.0417973467242385E-3"/>
                  <c:y val="-2.389039089568645E-2"/>
                </c:manualLayout>
              </c:layout>
              <c:spPr>
                <a:solidFill>
                  <a:schemeClr val="accent2">
                    <a:lumMod val="75000"/>
                  </a:schemeClr>
                </a:solidFill>
                <a:ln>
                  <a:noFill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c:spPr>
              <c:txPr>
                <a:bodyPr rot="0" spcFirstLastPara="1" vertOverflow="ellipsis" vert="horz" wrap="square" lIns="38100" tIns="19050" rIns="38100" bIns="19050" anchor="ctr" anchorCtr="1">
                  <a:noAutofit/>
                </a:bodyPr>
                <a:lstStyle/>
                <a:p>
                  <a:pPr>
                    <a:defRPr sz="1330" b="1" i="0" u="none" strike="noStrike" kern="1200" baseline="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uk-UA"/>
                </a:p>
              </c:txPr>
              <c:dLblPos val="bestFi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6.0066896605648852E-2"/>
                      <c:h val="7.8129759713518904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3-867F-4D70-9B98-C8953C4E3665}"/>
                </c:ext>
              </c:extLst>
            </c:dLbl>
            <c:dLbl>
              <c:idx val="2"/>
              <c:layout>
                <c:manualLayout>
                  <c:x val="0.15480534825330353"/>
                  <c:y val="-0.11242818411303059"/>
                </c:manualLayout>
              </c:layout>
              <c:spPr>
                <a:solidFill>
                  <a:schemeClr val="accent2">
                    <a:lumMod val="75000"/>
                  </a:schemeClr>
                </a:solidFill>
                <a:ln>
                  <a:noFill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c:spPr>
              <c:txPr>
                <a:bodyPr rot="0" spcFirstLastPara="1" vertOverflow="ellipsis" vert="horz" wrap="square" lIns="38100" tIns="19050" rIns="38100" bIns="19050" anchor="ctr" anchorCtr="1">
                  <a:noAutofit/>
                </a:bodyPr>
                <a:lstStyle/>
                <a:p>
                  <a:pPr>
                    <a:defRPr sz="1330" b="1" i="0" u="none" strike="noStrike" kern="1200" baseline="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uk-UA"/>
                </a:p>
              </c:txPr>
              <c:dLblPos val="bestFi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7.9927369399581255E-2"/>
                      <c:h val="9.4209124419085466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5-867F-4D70-9B98-C8953C4E3665}"/>
                </c:ext>
              </c:extLst>
            </c:dLbl>
            <c:dLbl>
              <c:idx val="3"/>
              <c:layout>
                <c:manualLayout>
                  <c:x val="-6.457034134644625E-2"/>
                  <c:y val="-1.4875058271870908E-2"/>
                </c:manualLayout>
              </c:layout>
              <c:spPr>
                <a:solidFill>
                  <a:schemeClr val="accent2">
                    <a:lumMod val="75000"/>
                  </a:schemeClr>
                </a:solidFill>
                <a:ln>
                  <a:noFill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c:spPr>
              <c:txPr>
                <a:bodyPr rot="0" spcFirstLastPara="1" vertOverflow="ellipsis" vert="horz" wrap="square" lIns="38100" tIns="19050" rIns="38100" bIns="19050" anchor="ctr" anchorCtr="1">
                  <a:noAutofit/>
                </a:bodyPr>
                <a:lstStyle/>
                <a:p>
                  <a:pPr>
                    <a:defRPr sz="1330" b="1" i="0" u="none" strike="noStrike" kern="1200" baseline="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uk-UA"/>
                </a:p>
              </c:txPr>
              <c:dLblPos val="bestFi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8.5863444045767706E-2"/>
                      <c:h val="9.0800299101505361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7-867F-4D70-9B98-C8953C4E3665}"/>
                </c:ext>
              </c:extLst>
            </c:dLbl>
            <c:spPr>
              <a:solidFill>
                <a:schemeClr val="accent2">
                  <a:lumMod val="75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33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uk-UA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>
                  <a:solidFill>
                    <a:schemeClr val="dk1">
                      <a:lumMod val="50000"/>
                      <a:lumOff val="50000"/>
                    </a:schemeClr>
                  </a:solidFill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Аркуш1!$A$2:$A$5</c:f>
              <c:strCache>
                <c:ptCount val="4"/>
                <c:pt idx="0">
                  <c:v>Амбулаторна реабілітаційна допомога хворим з ішемічним інсультом</c:v>
                </c:pt>
                <c:pt idx="1">
                  <c:v>Амбулаторна реабілітаційна допомога хворим з геморагічним  інсультом</c:v>
                </c:pt>
                <c:pt idx="2">
                  <c:v>Стаціонарна реабілітаційна допомога хворим з ішемічним інсультом</c:v>
                </c:pt>
                <c:pt idx="3">
                  <c:v>Стаціонарна реабілітаційна допомога хворим з геморагічним  інсультом</c:v>
                </c:pt>
              </c:strCache>
            </c:strRef>
          </c:cat>
          <c:val>
            <c:numRef>
              <c:f>Аркуш1!$B$2:$B$5</c:f>
              <c:numCache>
                <c:formatCode>0.0</c:formatCode>
                <c:ptCount val="4"/>
                <c:pt idx="0">
                  <c:v>4.5</c:v>
                </c:pt>
                <c:pt idx="1">
                  <c:v>0.2</c:v>
                </c:pt>
                <c:pt idx="2">
                  <c:v>52.2</c:v>
                </c:pt>
                <c:pt idx="3">
                  <c:v>7.3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E-867F-4D70-9B98-C8953C4E3665}"/>
            </c:ext>
          </c:extLst>
        </c:ser>
        <c:dLbls>
          <c:showLegendKey val="0"/>
          <c:showVal val="0"/>
          <c:showCatName val="0"/>
          <c:showSerName val="0"/>
          <c:showPercent val="1"/>
          <c:showBubbleSize val="0"/>
          <c:showLeaderLines val="1"/>
        </c:dLbls>
      </c:pie3DChart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.6308095114071246"/>
          <c:y val="6.405655885635754E-2"/>
          <c:w val="0.33995343301217168"/>
          <c:h val="0.89046584831562969"/>
        </c:manualLayout>
      </c:layout>
      <c:overlay val="0"/>
      <c:spPr>
        <a:solidFill>
          <a:schemeClr val="lt1">
            <a:lumMod val="95000"/>
            <a:alpha val="39000"/>
          </a:schemeClr>
        </a:solidFill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0" i="0" u="none" strike="noStrike" kern="1200" baseline="0">
              <a:solidFill>
                <a:srgbClr val="002060"/>
              </a:solidFill>
              <a:latin typeface="Times New Roman" panose="02020603050405020304" pitchFamily="18" charset="0"/>
              <a:ea typeface="+mn-ea"/>
              <a:cs typeface="+mn-cs"/>
            </a:defRPr>
          </a:pPr>
          <a:endParaRPr lang="uk-UA"/>
        </a:p>
      </c:txPr>
    </c:legend>
    <c:plotVisOnly val="1"/>
    <c:dispBlanksAs val="zero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gradFill flip="none" rotWithShape="1">
      <a:gsLst>
        <a:gs pos="0">
          <a:schemeClr val="lt1"/>
        </a:gs>
        <a:gs pos="39000">
          <a:schemeClr val="lt1"/>
        </a:gs>
        <a:gs pos="100000">
          <a:schemeClr val="lt1">
            <a:lumMod val="75000"/>
          </a:schemeClr>
        </a:gs>
      </a:gsLst>
      <a:path path="circle">
        <a:fillToRect l="50000" t="-80000" r="50000" b="180000"/>
      </a:path>
      <a:tileRect/>
    </a:gradFill>
    <a:ln w="9525" cap="flat" cmpd="sng" algn="ctr">
      <a:solidFill>
        <a:schemeClr val="dk1">
          <a:lumMod val="25000"/>
          <a:lumOff val="75000"/>
        </a:schemeClr>
      </a:solidFill>
      <a:round/>
    </a:ln>
    <a:effectLst/>
  </c:spPr>
  <c:txPr>
    <a:bodyPr/>
    <a:lstStyle/>
    <a:p>
      <a:pPr>
        <a:defRPr/>
      </a:pPr>
      <a:endParaRPr lang="uk-UA"/>
    </a:p>
  </c:txPr>
  <c:externalData r:id="rId3">
    <c:autoUpdate val="0"/>
  </c:externalData>
</c:chartSpace>
</file>

<file path=ppt/charts/chart2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uk-UA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view3D>
      <c:rotX val="50"/>
      <c:rotY val="0"/>
      <c:depthPercent val="100"/>
      <c:rAngAx val="0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>
        <c:manualLayout>
          <c:layoutTarget val="inner"/>
          <c:xMode val="edge"/>
          <c:yMode val="edge"/>
          <c:x val="0"/>
          <c:y val="0.27781926338277929"/>
          <c:w val="0.82756281561863043"/>
          <c:h val="0.58278240541946491"/>
        </c:manualLayout>
      </c:layout>
      <c:pie3DChart>
        <c:varyColors val="1"/>
        <c:ser>
          <c:idx val="0"/>
          <c:order val="0"/>
          <c:tx>
            <c:strRef>
              <c:f>Аркуш1!$B$1</c:f>
              <c:strCache>
                <c:ptCount val="1"/>
                <c:pt idx="0">
                  <c:v>Стовпець1</c:v>
                </c:pt>
              </c:strCache>
            </c:strRef>
          </c:tx>
          <c:dPt>
            <c:idx val="0"/>
            <c:bubble3D val="0"/>
            <c:spPr>
              <a:solidFill>
                <a:srgbClr val="66FFCC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  <a:sp3d/>
            </c:spPr>
            <c:extLst>
              <c:ext xmlns:c16="http://schemas.microsoft.com/office/drawing/2014/chart" uri="{C3380CC4-5D6E-409C-BE32-E72D297353CC}">
                <c16:uniqueId val="{00000001-4351-44C4-9BE8-DE03E10CACFB}"/>
              </c:ext>
            </c:extLst>
          </c:dPt>
          <c:dPt>
            <c:idx val="1"/>
            <c:bubble3D val="0"/>
            <c:spPr>
              <a:solidFill>
                <a:srgbClr val="FF00FF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  <a:sp3d/>
            </c:spPr>
            <c:extLst>
              <c:ext xmlns:c16="http://schemas.microsoft.com/office/drawing/2014/chart" uri="{C3380CC4-5D6E-409C-BE32-E72D297353CC}">
                <c16:uniqueId val="{00000003-4351-44C4-9BE8-DE03E10CACFB}"/>
              </c:ext>
            </c:extLst>
          </c:dPt>
          <c:dPt>
            <c:idx val="2"/>
            <c:bubble3D val="0"/>
            <c:spPr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  <a:sp3d/>
            </c:spPr>
            <c:extLst>
              <c:ext xmlns:c16="http://schemas.microsoft.com/office/drawing/2014/chart" uri="{C3380CC4-5D6E-409C-BE32-E72D297353CC}">
                <c16:uniqueId val="{00000005-4351-44C4-9BE8-DE03E10CACFB}"/>
              </c:ext>
            </c:extLst>
          </c:dPt>
          <c:dPt>
            <c:idx val="3"/>
            <c:bubble3D val="0"/>
            <c:spPr>
              <a:solidFill>
                <a:srgbClr val="0070C0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  <a:sp3d/>
            </c:spPr>
            <c:extLst>
              <c:ext xmlns:c16="http://schemas.microsoft.com/office/drawing/2014/chart" uri="{C3380CC4-5D6E-409C-BE32-E72D297353CC}">
                <c16:uniqueId val="{00000007-4351-44C4-9BE8-DE03E10CACFB}"/>
              </c:ext>
            </c:extLst>
          </c:dPt>
          <c:dLbls>
            <c:dLbl>
              <c:idx val="0"/>
              <c:layout>
                <c:manualLayout>
                  <c:x val="-7.8048338889130334E-2"/>
                  <c:y val="-8.1704699683546017E-2"/>
                </c:manualLayout>
              </c:layout>
              <c:spPr>
                <a:solidFill>
                  <a:schemeClr val="accent1">
                    <a:lumMod val="75000"/>
                  </a:schemeClr>
                </a:solidFill>
                <a:ln>
                  <a:noFill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c:spPr>
              <c:txPr>
                <a:bodyPr rot="0" spcFirstLastPara="1" vertOverflow="ellipsis" vert="horz" wrap="square" lIns="38100" tIns="19050" rIns="38100" bIns="19050" anchor="ctr" anchorCtr="1">
                  <a:noAutofit/>
                </a:bodyPr>
                <a:lstStyle/>
                <a:p>
                  <a:pPr>
                    <a:defRPr sz="1330" b="1" i="0" u="none" strike="noStrike" kern="1200" baseline="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uk-UA"/>
                </a:p>
              </c:txPr>
              <c:dLblPos val="bestFi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6.9353607449349375E-2"/>
                      <c:h val="8.5206698612138004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1-4351-44C4-9BE8-DE03E10CACFB}"/>
                </c:ext>
              </c:extLst>
            </c:dLbl>
            <c:dLbl>
              <c:idx val="1"/>
              <c:layout>
                <c:manualLayout>
                  <c:x val="3.0417973467242385E-3"/>
                  <c:y val="-2.389039089568645E-2"/>
                </c:manualLayout>
              </c:layout>
              <c:spPr>
                <a:solidFill>
                  <a:schemeClr val="accent1">
                    <a:lumMod val="75000"/>
                  </a:schemeClr>
                </a:solidFill>
                <a:ln>
                  <a:noFill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c:spPr>
              <c:txPr>
                <a:bodyPr rot="0" spcFirstLastPara="1" vertOverflow="ellipsis" vert="horz" wrap="square" lIns="38100" tIns="19050" rIns="38100" bIns="19050" anchor="ctr" anchorCtr="1">
                  <a:noAutofit/>
                </a:bodyPr>
                <a:lstStyle/>
                <a:p>
                  <a:pPr>
                    <a:defRPr sz="1330" b="1" i="0" u="none" strike="noStrike" kern="1200" baseline="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uk-UA"/>
                </a:p>
              </c:txPr>
              <c:dLblPos val="bestFi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6.0066896605648852E-2"/>
                      <c:h val="7.8129759713518904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3-4351-44C4-9BE8-DE03E10CACFB}"/>
                </c:ext>
              </c:extLst>
            </c:dLbl>
            <c:dLbl>
              <c:idx val="2"/>
              <c:layout>
                <c:manualLayout>
                  <c:x val="-3.0314443020596934E-2"/>
                  <c:y val="-0.28532753159479685"/>
                </c:manualLayout>
              </c:layout>
              <c:spPr>
                <a:solidFill>
                  <a:schemeClr val="accent1">
                    <a:lumMod val="75000"/>
                  </a:schemeClr>
                </a:solidFill>
                <a:ln>
                  <a:noFill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c:spPr>
              <c:txPr>
                <a:bodyPr rot="0" spcFirstLastPara="1" vertOverflow="ellipsis" vert="horz" wrap="square" lIns="38100" tIns="19050" rIns="38100" bIns="19050" anchor="ctr" anchorCtr="1">
                  <a:noAutofit/>
                </a:bodyPr>
                <a:lstStyle/>
                <a:p>
                  <a:pPr>
                    <a:defRPr sz="1330" b="1" i="0" u="none" strike="noStrike" kern="1200" baseline="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uk-UA"/>
                </a:p>
              </c:txPr>
              <c:dLblPos val="bestFi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1187745675039158"/>
                      <c:h val="0.1309230216411747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5-4351-44C4-9BE8-DE03E10CACFB}"/>
                </c:ext>
              </c:extLst>
            </c:dLbl>
            <c:dLbl>
              <c:idx val="3"/>
              <c:layout>
                <c:manualLayout>
                  <c:x val="-6.6621690880865003E-2"/>
                  <c:y val="-1.5289790428145617E-2"/>
                </c:manualLayout>
              </c:layout>
              <c:spPr>
                <a:solidFill>
                  <a:schemeClr val="accent1">
                    <a:lumMod val="75000"/>
                  </a:schemeClr>
                </a:solidFill>
                <a:ln>
                  <a:noFill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c:spPr>
              <c:txPr>
                <a:bodyPr rot="0" spcFirstLastPara="1" vertOverflow="ellipsis" vert="horz" wrap="square" lIns="38100" tIns="19050" rIns="38100" bIns="19050" anchor="ctr" anchorCtr="1">
                  <a:noAutofit/>
                </a:bodyPr>
                <a:lstStyle/>
                <a:p>
                  <a:pPr>
                    <a:defRPr sz="1330" b="1" i="0" u="none" strike="noStrike" kern="1200" baseline="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uk-UA"/>
                </a:p>
              </c:txPr>
              <c:dLblPos val="bestFi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8.2341687427641169E-2"/>
                      <c:h val="8.8198081599182229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7-4351-44C4-9BE8-DE03E10CACFB}"/>
                </c:ext>
              </c:extLst>
            </c:dLbl>
            <c:spPr>
              <a:solidFill>
                <a:schemeClr val="accent1">
                  <a:lumMod val="75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33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uk-UA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>
                  <a:solidFill>
                    <a:schemeClr val="dk1">
                      <a:lumMod val="50000"/>
                      <a:lumOff val="50000"/>
                    </a:schemeClr>
                  </a:solidFill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Аркуш1!$A$2:$A$5</c:f>
              <c:strCache>
                <c:ptCount val="4"/>
                <c:pt idx="0">
                  <c:v>Амбулаторна реабілітаційна допомога хворим з ішемічним інсультом</c:v>
                </c:pt>
                <c:pt idx="1">
                  <c:v>Амбулаторна реабілітаційна допомога хворим з геморагічним  інсультом</c:v>
                </c:pt>
                <c:pt idx="2">
                  <c:v>Стаціонарна реабілітаційна допомога хворим з ішемічним інсультом</c:v>
                </c:pt>
                <c:pt idx="3">
                  <c:v>Стаціонарна реабілітаційна допомога хворим з геморагічним  інсультом</c:v>
                </c:pt>
              </c:strCache>
            </c:strRef>
          </c:cat>
          <c:val>
            <c:numRef>
              <c:f>Аркуш1!$B$2:$B$5</c:f>
              <c:numCache>
                <c:formatCode>0</c:formatCode>
                <c:ptCount val="4"/>
                <c:pt idx="0">
                  <c:v>342</c:v>
                </c:pt>
                <c:pt idx="1">
                  <c:v>14</c:v>
                </c:pt>
                <c:pt idx="2">
                  <c:v>3931</c:v>
                </c:pt>
                <c:pt idx="3">
                  <c:v>549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4351-44C4-9BE8-DE03E10CACFB}"/>
            </c:ext>
          </c:extLst>
        </c:ser>
        <c:dLbls>
          <c:showLegendKey val="0"/>
          <c:showVal val="0"/>
          <c:showCatName val="0"/>
          <c:showSerName val="0"/>
          <c:showPercent val="1"/>
          <c:showBubbleSize val="0"/>
          <c:showLeaderLines val="1"/>
        </c:dLbls>
      </c:pie3DChart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.65740303333695937"/>
          <c:y val="1.2657287407785569E-2"/>
          <c:w val="0.33995343301217168"/>
          <c:h val="0.89046584831562969"/>
        </c:manualLayout>
      </c:layout>
      <c:overlay val="0"/>
      <c:spPr>
        <a:solidFill>
          <a:schemeClr val="lt1">
            <a:lumMod val="95000"/>
            <a:alpha val="39000"/>
          </a:schemeClr>
        </a:solidFill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0" i="0" u="none" strike="noStrike" kern="1200" baseline="0">
              <a:solidFill>
                <a:srgbClr val="002060"/>
              </a:solidFill>
              <a:latin typeface="Times New Roman" panose="02020603050405020304" pitchFamily="18" charset="0"/>
              <a:ea typeface="+mn-ea"/>
              <a:cs typeface="+mn-cs"/>
            </a:defRPr>
          </a:pPr>
          <a:endParaRPr lang="uk-UA"/>
        </a:p>
      </c:txPr>
    </c:legend>
    <c:plotVisOnly val="1"/>
    <c:dispBlanksAs val="zero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gradFill flip="none" rotWithShape="1">
      <a:gsLst>
        <a:gs pos="0">
          <a:schemeClr val="accent3">
            <a:lumMod val="5000"/>
            <a:lumOff val="95000"/>
          </a:schemeClr>
        </a:gs>
        <a:gs pos="74000">
          <a:schemeClr val="accent3">
            <a:lumMod val="45000"/>
            <a:lumOff val="55000"/>
          </a:schemeClr>
        </a:gs>
        <a:gs pos="83000">
          <a:schemeClr val="accent3">
            <a:lumMod val="45000"/>
            <a:lumOff val="55000"/>
          </a:schemeClr>
        </a:gs>
        <a:gs pos="100000">
          <a:schemeClr val="accent3">
            <a:lumMod val="30000"/>
            <a:lumOff val="70000"/>
          </a:schemeClr>
        </a:gs>
      </a:gsLst>
      <a:lin ang="10800000" scaled="1"/>
      <a:tileRect/>
    </a:gradFill>
    <a:ln w="9525" cap="flat" cmpd="sng" algn="ctr">
      <a:solidFill>
        <a:schemeClr val="dk1">
          <a:lumMod val="25000"/>
          <a:lumOff val="75000"/>
        </a:schemeClr>
      </a:solidFill>
      <a:round/>
    </a:ln>
    <a:effectLst/>
  </c:spPr>
  <c:txPr>
    <a:bodyPr/>
    <a:lstStyle/>
    <a:p>
      <a:pPr>
        <a:defRPr/>
      </a:pPr>
      <a:endParaRPr lang="uk-UA"/>
    </a:p>
  </c:txPr>
  <c:externalData r:id="rId3">
    <c:autoUpdate val="0"/>
  </c:externalData>
</c:chartSpace>
</file>

<file path=ppt/charts/chart2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uk-UA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view3D>
      <c:rotX val="15"/>
      <c:rotY val="20"/>
      <c:depthPercent val="100"/>
      <c:rAngAx val="1"/>
    </c:view3D>
    <c:floor>
      <c:thickness val="0"/>
      <c:spPr>
        <a:solidFill>
          <a:schemeClr val="accent3">
            <a:lumMod val="20000"/>
            <a:lumOff val="80000"/>
          </a:schemeClr>
        </a:solidFill>
        <a:ln>
          <a:solidFill>
            <a:schemeClr val="tx1">
              <a:lumMod val="50000"/>
              <a:lumOff val="50000"/>
            </a:schemeClr>
          </a:solidFill>
        </a:ln>
        <a:effectLst/>
        <a:sp3d>
          <a:contourClr>
            <a:schemeClr val="tx1">
              <a:lumMod val="50000"/>
              <a:lumOff val="50000"/>
            </a:schemeClr>
          </a:contourClr>
        </a:sp3d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>
        <c:manualLayout>
          <c:layoutTarget val="inner"/>
          <c:xMode val="edge"/>
          <c:yMode val="edge"/>
          <c:x val="0.10946578685342326"/>
          <c:y val="0.1259904916706879"/>
          <c:w val="0.82756281561863043"/>
          <c:h val="0.43414605600873152"/>
        </c:manualLayout>
      </c:layout>
      <c:bar3DChart>
        <c:barDir val="col"/>
        <c:grouping val="clustered"/>
        <c:varyColors val="0"/>
        <c:ser>
          <c:idx val="0"/>
          <c:order val="0"/>
          <c:tx>
            <c:strRef>
              <c:f>Аркуш1!$B$1</c:f>
              <c:strCache>
                <c:ptCount val="1"/>
                <c:pt idx="0">
                  <c:v>Стовпець1</c:v>
                </c:pt>
              </c:strCache>
            </c:strRef>
          </c:tx>
          <c:spPr>
            <a:solidFill>
              <a:srgbClr val="99CCFF"/>
            </a:solidFill>
            <a:ln w="9525" cap="flat" cmpd="sng" algn="ctr">
              <a:solidFill>
                <a:schemeClr val="accent1">
                  <a:shade val="95000"/>
                </a:schemeClr>
              </a:solidFill>
              <a:round/>
            </a:ln>
            <a:effectLst/>
            <a:sp3d contourW="9525">
              <a:contourClr>
                <a:schemeClr val="accent1">
                  <a:shade val="95000"/>
                </a:schemeClr>
              </a:contourClr>
            </a:sp3d>
          </c:spPr>
          <c:invertIfNegative val="0"/>
          <c:dPt>
            <c:idx val="0"/>
            <c:invertIfNegative val="0"/>
            <c:bubble3D val="0"/>
            <c:spPr>
              <a:solidFill>
                <a:srgbClr val="99CCFF"/>
              </a:solidFill>
              <a:ln w="9525" cap="flat" cmpd="sng" algn="ctr">
                <a:solidFill>
                  <a:schemeClr val="accent1">
                    <a:shade val="95000"/>
                  </a:schemeClr>
                </a:solidFill>
                <a:round/>
              </a:ln>
              <a:effectLst/>
              <a:sp3d contourW="9525">
                <a:contourClr>
                  <a:schemeClr val="accent1">
                    <a:shade val="95000"/>
                  </a:schemeClr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1-7C83-47CD-ADFC-9949B631CE28}"/>
              </c:ext>
            </c:extLst>
          </c:dPt>
          <c:dPt>
            <c:idx val="1"/>
            <c:invertIfNegative val="0"/>
            <c:bubble3D val="0"/>
            <c:spPr>
              <a:gradFill flip="none" rotWithShape="1">
                <a:gsLst>
                  <a:gs pos="0">
                    <a:schemeClr val="accent1">
                      <a:lumMod val="40000"/>
                      <a:lumOff val="60000"/>
                    </a:schemeClr>
                  </a:gs>
                  <a:gs pos="46000">
                    <a:schemeClr val="accent1">
                      <a:lumMod val="95000"/>
                      <a:lumOff val="5000"/>
                    </a:schemeClr>
                  </a:gs>
                  <a:gs pos="100000">
                    <a:schemeClr val="accent1">
                      <a:lumMod val="60000"/>
                    </a:schemeClr>
                  </a:gs>
                </a:gsLst>
                <a:path path="circle">
                  <a:fillToRect l="50000" t="130000" r="50000" b="-30000"/>
                </a:path>
                <a:tileRect/>
              </a:gradFill>
              <a:ln w="9525" cap="flat" cmpd="sng" algn="ctr">
                <a:solidFill>
                  <a:schemeClr val="accent1">
                    <a:shade val="95000"/>
                  </a:schemeClr>
                </a:solidFill>
                <a:round/>
              </a:ln>
              <a:effectLst/>
              <a:sp3d contourW="9525">
                <a:contourClr>
                  <a:schemeClr val="accent1">
                    <a:shade val="95000"/>
                  </a:schemeClr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3-7C83-47CD-ADFC-9949B631CE28}"/>
              </c:ext>
            </c:extLst>
          </c:dPt>
          <c:dPt>
            <c:idx val="2"/>
            <c:invertIfNegative val="0"/>
            <c:bubble3D val="0"/>
            <c:spPr>
              <a:gradFill flip="none" rotWithShape="1">
                <a:gsLst>
                  <a:gs pos="0">
                    <a:schemeClr val="accent4">
                      <a:lumMod val="0"/>
                      <a:lumOff val="100000"/>
                    </a:schemeClr>
                  </a:gs>
                  <a:gs pos="35000">
                    <a:schemeClr val="accent4">
                      <a:lumMod val="0"/>
                      <a:lumOff val="100000"/>
                    </a:schemeClr>
                  </a:gs>
                  <a:gs pos="100000">
                    <a:schemeClr val="accent4">
                      <a:lumMod val="100000"/>
                    </a:schemeClr>
                  </a:gs>
                </a:gsLst>
                <a:path path="circle">
                  <a:fillToRect l="50000" t="-80000" r="50000" b="180000"/>
                </a:path>
                <a:tileRect/>
              </a:gradFill>
              <a:ln w="9525" cap="flat" cmpd="sng" algn="ctr">
                <a:solidFill>
                  <a:schemeClr val="accent1">
                    <a:shade val="95000"/>
                  </a:schemeClr>
                </a:solidFill>
                <a:round/>
              </a:ln>
              <a:effectLst/>
              <a:sp3d contourW="9525">
                <a:contourClr>
                  <a:schemeClr val="accent1">
                    <a:shade val="95000"/>
                  </a:schemeClr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5-7C83-47CD-ADFC-9949B631CE28}"/>
              </c:ext>
            </c:extLst>
          </c:dPt>
          <c:dPt>
            <c:idx val="3"/>
            <c:invertIfNegative val="0"/>
            <c:bubble3D val="0"/>
            <c:spPr>
              <a:gradFill flip="none" rotWithShape="1">
                <a:gsLst>
                  <a:gs pos="0">
                    <a:schemeClr val="accent4">
                      <a:lumMod val="89000"/>
                    </a:schemeClr>
                  </a:gs>
                  <a:gs pos="23000">
                    <a:schemeClr val="accent4">
                      <a:lumMod val="89000"/>
                    </a:schemeClr>
                  </a:gs>
                  <a:gs pos="69000">
                    <a:schemeClr val="accent4">
                      <a:lumMod val="75000"/>
                    </a:schemeClr>
                  </a:gs>
                  <a:gs pos="97000">
                    <a:schemeClr val="accent4">
                      <a:lumMod val="7000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  <a:ln w="9525" cap="flat" cmpd="sng" algn="ctr">
                <a:solidFill>
                  <a:schemeClr val="accent1">
                    <a:shade val="95000"/>
                  </a:schemeClr>
                </a:solidFill>
                <a:round/>
              </a:ln>
              <a:effectLst/>
              <a:sp3d contourW="9525">
                <a:contourClr>
                  <a:schemeClr val="accent1">
                    <a:shade val="95000"/>
                  </a:schemeClr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7-7C83-47CD-ADFC-9949B631CE28}"/>
              </c:ext>
            </c:extLst>
          </c:dPt>
          <c:dPt>
            <c:idx val="6"/>
            <c:invertIfNegative val="0"/>
            <c:bubble3D val="0"/>
            <c:spPr>
              <a:solidFill>
                <a:srgbClr val="99CCFF"/>
              </a:solidFill>
              <a:ln w="9525" cap="flat" cmpd="sng" algn="ctr">
                <a:solidFill>
                  <a:schemeClr val="accent1">
                    <a:shade val="95000"/>
                  </a:schemeClr>
                </a:solidFill>
                <a:round/>
              </a:ln>
              <a:effectLst/>
              <a:sp3d contourW="9525">
                <a:contourClr>
                  <a:schemeClr val="accent1">
                    <a:shade val="95000"/>
                  </a:schemeClr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B-7C83-47CD-ADFC-9949B631CE28}"/>
              </c:ext>
            </c:extLst>
          </c:dPt>
          <c:dLbls>
            <c:dLbl>
              <c:idx val="0"/>
              <c:layout>
                <c:manualLayout>
                  <c:x val="1.8849776251250578E-2"/>
                  <c:y val="-3.4244923454297395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1-7C83-47CD-ADFC-9949B631CE28}"/>
                </c:ext>
              </c:extLst>
            </c:dLbl>
            <c:dLbl>
              <c:idx val="1"/>
              <c:layout>
                <c:manualLayout>
                  <c:x val="1.7607173269340137E-2"/>
                  <c:y val="-3.2683715384765312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3-7C83-47CD-ADFC-9949B631CE28}"/>
                </c:ext>
              </c:extLst>
            </c:dLbl>
            <c:dLbl>
              <c:idx val="2"/>
              <c:layout>
                <c:manualLayout>
                  <c:x val="1.1318897101718661E-2"/>
                  <c:y val="-3.501826648367716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5-7C83-47CD-ADFC-9949B631CE28}"/>
                </c:ext>
              </c:extLst>
            </c:dLbl>
            <c:dLbl>
              <c:idx val="3"/>
              <c:layout>
                <c:manualLayout>
                  <c:x val="1.634951803581575E-2"/>
                  <c:y val="-3.5018266483677035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7-7C83-47CD-ADFC-9949B631CE28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1" i="0" u="none" strike="noStrike" kern="1200" baseline="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pPr>
                <a:endParaRPr lang="uk-UA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Аркуш1!$A$2:$A$5</c:f>
              <c:strCache>
                <c:ptCount val="4"/>
                <c:pt idx="0">
                  <c:v>Мобільна паліативна допомога хворим з ішемічним інсультом</c:v>
                </c:pt>
                <c:pt idx="1">
                  <c:v>Мобільна паліативна допомога хворим з геморагічним  інсультом</c:v>
                </c:pt>
                <c:pt idx="2">
                  <c:v>Стаціонарна паліативна допомога хворим з ішемічним інсультом</c:v>
                </c:pt>
                <c:pt idx="3">
                  <c:v>Стаціонарна паліативна допомога хворим з геморагічним  інсультом</c:v>
                </c:pt>
              </c:strCache>
            </c:strRef>
          </c:cat>
          <c:val>
            <c:numRef>
              <c:f>Аркуш1!$B$2:$B$5</c:f>
              <c:numCache>
                <c:formatCode>0.0</c:formatCode>
                <c:ptCount val="4"/>
                <c:pt idx="0">
                  <c:v>0.6</c:v>
                </c:pt>
                <c:pt idx="1">
                  <c:v>0.2</c:v>
                </c:pt>
                <c:pt idx="2">
                  <c:v>2.1</c:v>
                </c:pt>
                <c:pt idx="3">
                  <c:v>0.5</c:v>
                </c:pt>
              </c:numCache>
            </c:numRef>
          </c:val>
          <c:shape val="cylinder"/>
          <c:extLst>
            <c:ext xmlns:c16="http://schemas.microsoft.com/office/drawing/2014/chart" uri="{C3380CC4-5D6E-409C-BE32-E72D297353CC}">
              <c16:uniqueId val="{0000000C-7C83-47CD-ADFC-9949B631CE28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shape val="box"/>
        <c:axId val="647249920"/>
        <c:axId val="647250248"/>
        <c:axId val="0"/>
      </c:bar3DChart>
      <c:catAx>
        <c:axId val="647249920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647250248"/>
        <c:crosses val="autoZero"/>
        <c:auto val="1"/>
        <c:lblAlgn val="ctr"/>
        <c:lblOffset val="100"/>
        <c:noMultiLvlLbl val="0"/>
      </c:catAx>
      <c:valAx>
        <c:axId val="64725024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pPr>
            <a:endParaRPr lang="uk-UA"/>
          </a:p>
        </c:txPr>
        <c:crossAx val="64724992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19900465589539629"/>
          <c:y val="0.63293248050763184"/>
          <c:w val="0.58588602769798714"/>
          <c:h val="0.24921463974040134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rgbClr val="002060"/>
              </a:solidFill>
              <a:latin typeface="+mn-lt"/>
              <a:ea typeface="+mn-ea"/>
              <a:cs typeface="+mn-cs"/>
            </a:defRPr>
          </a:pPr>
          <a:endParaRPr lang="uk-UA"/>
        </a:p>
      </c:txPr>
    </c:legend>
    <c:plotVisOnly val="1"/>
    <c:dispBlanksAs val="zero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gradFill flip="none" rotWithShape="1">
      <a:gsLst>
        <a:gs pos="0">
          <a:schemeClr val="accent3">
            <a:lumMod val="5000"/>
            <a:lumOff val="95000"/>
          </a:schemeClr>
        </a:gs>
        <a:gs pos="74000">
          <a:schemeClr val="accent3">
            <a:lumMod val="45000"/>
            <a:lumOff val="55000"/>
          </a:schemeClr>
        </a:gs>
        <a:gs pos="83000">
          <a:schemeClr val="accent3">
            <a:lumMod val="45000"/>
            <a:lumOff val="55000"/>
          </a:schemeClr>
        </a:gs>
        <a:gs pos="100000">
          <a:schemeClr val="accent3">
            <a:lumMod val="30000"/>
            <a:lumOff val="70000"/>
          </a:schemeClr>
        </a:gs>
      </a:gsLst>
      <a:lin ang="5400000" scaled="1"/>
      <a:tileRect/>
    </a:gradFill>
    <a:ln>
      <a:noFill/>
    </a:ln>
    <a:effectLst/>
  </c:spPr>
  <c:txPr>
    <a:bodyPr/>
    <a:lstStyle/>
    <a:p>
      <a:pPr>
        <a:defRPr/>
      </a:pPr>
      <a:endParaRPr lang="uk-UA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64">
  <cs:axisTitle>
    <cs:lnRef idx="0"/>
    <cs:fillRef idx="0"/>
    <cs:effectRef idx="0"/>
    <cs:fontRef idx="minor">
      <a:schemeClr val="dk1">
        <a:lumMod val="75000"/>
        <a:lumOff val="25000"/>
      </a:schemeClr>
    </cs:fontRef>
    <cs:defRPr sz="1197" b="1" kern="1200"/>
  </cs:axisTitle>
  <cs:categoryAxis>
    <cs:lnRef idx="0"/>
    <cs:fillRef idx="0"/>
    <cs:effectRef idx="0"/>
    <cs:fontRef idx="minor">
      <a:schemeClr val="dk1">
        <a:lumMod val="75000"/>
        <a:lumOff val="25000"/>
      </a:schemeClr>
    </cs:fontRef>
    <cs:spPr>
      <a:ln w="190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1197" kern="1200" cap="all" baseline="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lt1"/>
          </a:gs>
          <a:gs pos="39000">
            <a:schemeClr val="lt1"/>
          </a:gs>
          <a:gs pos="100000">
            <a:schemeClr val="lt1">
              <a:lumMod val="75000"/>
            </a:schemeClr>
          </a:gs>
        </a:gsLst>
        <a:path path="circle">
          <a:fillToRect l="50000" t="-80000" r="50000" b="180000"/>
        </a:path>
        <a:tileRect/>
      </a:gradFill>
      <a:ln w="9525" cap="flat" cmpd="sng" algn="ctr">
        <a:solidFill>
          <a:schemeClr val="dk1">
            <a:lumMod val="25000"/>
            <a:lumOff val="7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lt1"/>
    </cs:fontRef>
    <cs:spPr>
      <a:pattFill prst="pct75">
        <a:fgClr>
          <a:schemeClr val="dk1">
            <a:lumMod val="75000"/>
            <a:lumOff val="25000"/>
          </a:schemeClr>
        </a:fgClr>
        <a:bgClr>
          <a:schemeClr val="dk1">
            <a:lumMod val="65000"/>
            <a:lumOff val="35000"/>
          </a:schemeClr>
        </a:bgClr>
      </a:pattFill>
      <a:effectLst>
        <a:outerShdw blurRad="50800" dist="38100" dir="2700000" algn="tl" rotWithShape="0">
          <a:prstClr val="black">
            <a:alpha val="40000"/>
          </a:prstClr>
        </a:outerShdw>
      </a:effectLst>
    </cs:spPr>
    <cs:defRPr sz="1330" b="1" i="0" u="none" strike="noStrike" kern="1200" baseline="0"/>
  </cs:dataLabel>
  <cs:dataLabelCallout>
    <cs:lnRef idx="0"/>
    <cs:fillRef idx="0"/>
    <cs:effectRef idx="0"/>
    <cs:fontRef idx="minor">
      <a:schemeClr val="lt1"/>
    </cs:fontRef>
    <cs:spPr>
      <a:pattFill prst="pct75">
        <a:fgClr>
          <a:schemeClr val="dk1">
            <a:lumMod val="75000"/>
            <a:lumOff val="25000"/>
          </a:schemeClr>
        </a:fgClr>
        <a:bgClr>
          <a:schemeClr val="dk1">
            <a:lumMod val="65000"/>
            <a:lumOff val="35000"/>
          </a:schemeClr>
        </a:bgClr>
      </a:pattFill>
      <a:effectLst>
        <a:outerShdw blurRad="50800" dist="38100" dir="2700000" algn="tl" rotWithShape="0">
          <a:prstClr val="black">
            <a:alpha val="40000"/>
          </a:prstClr>
        </a:outerShdw>
      </a:effectLst>
    </cs:spPr>
    <cs:defRPr sz="1330" b="1" i="0" u="none" strike="noStrike" kern="1200" baseline="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254000" sx="102000" sy="102000" algn="ctr" rotWithShape="0">
          <a:prstClr val="black">
            <a:alpha val="20000"/>
          </a:prstClr>
        </a:outerShdw>
      </a:effectLst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254000" sx="102000" sy="102000" algn="ctr" rotWithShape="0">
          <a:prstClr val="black">
            <a:alpha val="20000"/>
          </a:prstClr>
        </a:outerShdw>
      </a:effectLst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31750" cap="rnd">
        <a:solidFill>
          <a:schemeClr val="phClr">
            <a:alpha val="85000"/>
          </a:schemeClr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75000"/>
        <a:lumOff val="25000"/>
      </a:schemeClr>
    </cs:fontRef>
    <cs:spPr>
      <a:ln w="9525">
        <a:solidFill>
          <a:schemeClr val="dk1">
            <a:lumMod val="35000"/>
            <a:lumOff val="6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50000"/>
          <a:lumOff val="50000"/>
        </a:schemeClr>
      </a:solidFill>
      <a:ln w="9525">
        <a:solidFill>
          <a:schemeClr val="dk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</a:ln>
    </cs:spPr>
  </cs:leaderLine>
  <cs:legend>
    <cs:lnRef idx="0"/>
    <cs:fillRef idx="0"/>
    <cs:effectRef idx="0"/>
    <cs:fontRef idx="minor">
      <a:schemeClr val="dk1">
        <a:lumMod val="75000"/>
        <a:lumOff val="25000"/>
      </a:schemeClr>
    </cs:fontRef>
    <cs:spPr>
      <a:solidFill>
        <a:schemeClr val="lt1">
          <a:lumMod val="95000"/>
          <a:alpha val="39000"/>
        </a:schemeClr>
      </a:solidFill>
    </cs:spPr>
    <cs:defRPr sz="1197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75000"/>
        <a:lumOff val="25000"/>
      </a:schemeClr>
    </cs:fontRef>
    <cs:spPr>
      <a:ln w="317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seriesLine>
  <cs:title>
    <cs:lnRef idx="0"/>
    <cs:fillRef idx="0"/>
    <cs:effectRef idx="0"/>
    <cs:fontRef idx="minor">
      <a:schemeClr val="dk1">
        <a:lumMod val="75000"/>
        <a:lumOff val="25000"/>
      </a:schemeClr>
    </cs:fontRef>
    <cs:defRPr sz="2200" b="1" kern="120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75000"/>
        <a:lumOff val="2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dk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dk1">
        <a:lumMod val="75000"/>
        <a:lumOff val="25000"/>
      </a:schemeClr>
    </cs:fontRef>
    <cs:spPr>
      <a:ln>
        <a:noFill/>
      </a:ln>
    </cs:spPr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charts/style2.xml><?xml version="1.0" encoding="utf-8"?>
<cs:chartStyle xmlns:cs="http://schemas.microsoft.com/office/drawing/2012/chartStyle" xmlns:a="http://schemas.openxmlformats.org/drawingml/2006/main" id="264">
  <cs:axisTitle>
    <cs:lnRef idx="0"/>
    <cs:fillRef idx="0"/>
    <cs:effectRef idx="0"/>
    <cs:fontRef idx="minor">
      <a:schemeClr val="dk1">
        <a:lumMod val="75000"/>
        <a:lumOff val="25000"/>
      </a:schemeClr>
    </cs:fontRef>
    <cs:defRPr sz="1197" b="1" kern="1200"/>
  </cs:axisTitle>
  <cs:categoryAxis>
    <cs:lnRef idx="0"/>
    <cs:fillRef idx="0"/>
    <cs:effectRef idx="0"/>
    <cs:fontRef idx="minor">
      <a:schemeClr val="dk1">
        <a:lumMod val="75000"/>
        <a:lumOff val="25000"/>
      </a:schemeClr>
    </cs:fontRef>
    <cs:spPr>
      <a:ln w="190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1197" kern="1200" cap="all" baseline="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lt1"/>
          </a:gs>
          <a:gs pos="39000">
            <a:schemeClr val="lt1"/>
          </a:gs>
          <a:gs pos="100000">
            <a:schemeClr val="lt1">
              <a:lumMod val="75000"/>
            </a:schemeClr>
          </a:gs>
        </a:gsLst>
        <a:path path="circle">
          <a:fillToRect l="50000" t="-80000" r="50000" b="180000"/>
        </a:path>
        <a:tileRect/>
      </a:gradFill>
      <a:ln w="9525" cap="flat" cmpd="sng" algn="ctr">
        <a:solidFill>
          <a:schemeClr val="dk1">
            <a:lumMod val="25000"/>
            <a:lumOff val="7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lt1"/>
    </cs:fontRef>
    <cs:spPr>
      <a:pattFill prst="pct75">
        <a:fgClr>
          <a:schemeClr val="dk1">
            <a:lumMod val="75000"/>
            <a:lumOff val="25000"/>
          </a:schemeClr>
        </a:fgClr>
        <a:bgClr>
          <a:schemeClr val="dk1">
            <a:lumMod val="65000"/>
            <a:lumOff val="35000"/>
          </a:schemeClr>
        </a:bgClr>
      </a:pattFill>
      <a:effectLst>
        <a:outerShdw blurRad="50800" dist="38100" dir="2700000" algn="tl" rotWithShape="0">
          <a:prstClr val="black">
            <a:alpha val="40000"/>
          </a:prstClr>
        </a:outerShdw>
      </a:effectLst>
    </cs:spPr>
    <cs:defRPr sz="1330" b="1" i="0" u="none" strike="noStrike" kern="1200" baseline="0"/>
  </cs:dataLabel>
  <cs:dataLabelCallout>
    <cs:lnRef idx="0"/>
    <cs:fillRef idx="0"/>
    <cs:effectRef idx="0"/>
    <cs:fontRef idx="minor">
      <a:schemeClr val="lt1"/>
    </cs:fontRef>
    <cs:spPr>
      <a:pattFill prst="pct75">
        <a:fgClr>
          <a:schemeClr val="dk1">
            <a:lumMod val="75000"/>
            <a:lumOff val="25000"/>
          </a:schemeClr>
        </a:fgClr>
        <a:bgClr>
          <a:schemeClr val="dk1">
            <a:lumMod val="65000"/>
            <a:lumOff val="35000"/>
          </a:schemeClr>
        </a:bgClr>
      </a:pattFill>
      <a:effectLst>
        <a:outerShdw blurRad="50800" dist="38100" dir="2700000" algn="tl" rotWithShape="0">
          <a:prstClr val="black">
            <a:alpha val="40000"/>
          </a:prstClr>
        </a:outerShdw>
      </a:effectLst>
    </cs:spPr>
    <cs:defRPr sz="1330" b="1" i="0" u="none" strike="noStrike" kern="1200" baseline="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254000" sx="102000" sy="102000" algn="ctr" rotWithShape="0">
          <a:prstClr val="black">
            <a:alpha val="20000"/>
          </a:prstClr>
        </a:outerShdw>
      </a:effectLst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254000" sx="102000" sy="102000" algn="ctr" rotWithShape="0">
          <a:prstClr val="black">
            <a:alpha val="20000"/>
          </a:prstClr>
        </a:outerShdw>
      </a:effectLst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31750" cap="rnd">
        <a:solidFill>
          <a:schemeClr val="phClr">
            <a:alpha val="85000"/>
          </a:schemeClr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75000"/>
        <a:lumOff val="25000"/>
      </a:schemeClr>
    </cs:fontRef>
    <cs:spPr>
      <a:ln w="9525">
        <a:solidFill>
          <a:schemeClr val="dk1">
            <a:lumMod val="35000"/>
            <a:lumOff val="6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50000"/>
          <a:lumOff val="50000"/>
        </a:schemeClr>
      </a:solidFill>
      <a:ln w="9525">
        <a:solidFill>
          <a:schemeClr val="dk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</a:ln>
    </cs:spPr>
  </cs:leaderLine>
  <cs:legend>
    <cs:lnRef idx="0"/>
    <cs:fillRef idx="0"/>
    <cs:effectRef idx="0"/>
    <cs:fontRef idx="minor">
      <a:schemeClr val="dk1">
        <a:lumMod val="75000"/>
        <a:lumOff val="25000"/>
      </a:schemeClr>
    </cs:fontRef>
    <cs:spPr>
      <a:solidFill>
        <a:schemeClr val="lt1">
          <a:lumMod val="95000"/>
          <a:alpha val="39000"/>
        </a:schemeClr>
      </a:solidFill>
    </cs:spPr>
    <cs:defRPr sz="1197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75000"/>
        <a:lumOff val="25000"/>
      </a:schemeClr>
    </cs:fontRef>
    <cs:spPr>
      <a:ln w="317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seriesLine>
  <cs:title>
    <cs:lnRef idx="0"/>
    <cs:fillRef idx="0"/>
    <cs:effectRef idx="0"/>
    <cs:fontRef idx="minor">
      <a:schemeClr val="dk1">
        <a:lumMod val="75000"/>
        <a:lumOff val="25000"/>
      </a:schemeClr>
    </cs:fontRef>
    <cs:defRPr sz="2200" b="1" kern="120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75000"/>
        <a:lumOff val="2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dk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dk1">
        <a:lumMod val="75000"/>
        <a:lumOff val="25000"/>
      </a:schemeClr>
    </cs:fontRef>
    <cs:spPr>
      <a:ln>
        <a:noFill/>
      </a:ln>
    </cs:spPr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8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32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9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0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1.xml><?xml version="1.0" encoding="utf-8"?>
<cs:chartStyle xmlns:cs="http://schemas.microsoft.com/office/drawing/2012/chartStyle" xmlns:a="http://schemas.openxmlformats.org/drawingml/2006/main" id="289">
  <cs:axisTitle>
    <cs:lnRef idx="0"/>
    <cs:fillRef idx="0"/>
    <cs:effectRef idx="0"/>
    <cs:fontRef idx="minor">
      <a:schemeClr val="tx1">
        <a:lumMod val="50000"/>
        <a:lumOff val="50000"/>
      </a:schemeClr>
    </cs:fontRef>
    <cs:defRPr sz="1197" kern="1200" cap="all"/>
  </cs:axisTitle>
  <cs:categoryAxis>
    <cs:lnRef idx="0"/>
    <cs:fillRef idx="0"/>
    <cs:effectRef idx="0"/>
    <cs:fontRef idx="minor">
      <a:schemeClr val="tx1">
        <a:lumMod val="50000"/>
        <a:lumOff val="50000"/>
      </a:schemeClr>
    </cs:fontRef>
    <cs:defRPr sz="1197" kern="120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50000"/>
        <a:lumOff val="50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>
  <cs:dataPoint3D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3D>
  <cs:dataPointLine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158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Marker>
  <cs:dataPointMarkerLayout symbol="circle" size="4"/>
  <cs:dataPointWireframe>
    <cs:lnRef idx="0">
      <cs:styleClr val="auto"/>
    </cs:lnRef>
    <cs:fillRef idx="2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50000"/>
        <a:lumOff val="50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50000"/>
            <a:lumOff val="50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50000"/>
        <a:lumOff val="50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50000"/>
        <a:lumOff val="50000"/>
      </a:schemeClr>
    </cs:fontRef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tx1">
        <a:lumMod val="50000"/>
        <a:lumOff val="50000"/>
      </a:schemeClr>
    </cs:fontRef>
    <cs:defRPr sz="1862" kern="1200" cap="none" spc="20" baseline="0"/>
  </cs:title>
  <cs:trendline>
    <cs:lnRef idx="0">
      <cs:styleClr val="auto"/>
    </cs:lnRef>
    <cs:fillRef idx="2"/>
    <cs:effectRef idx="0"/>
    <cs:fontRef idx="minor">
      <a:schemeClr val="dk1"/>
    </cs:fontRef>
    <cs:spPr>
      <a:ln w="9525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50000"/>
        <a:lumOff val="50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50000"/>
            <a:lumOff val="50000"/>
          </a:schemeClr>
        </a:solidFill>
      </a:ln>
    </cs:spPr>
  </cs:upBar>
  <cs:valueAxis>
    <cs:lnRef idx="0"/>
    <cs:fillRef idx="0"/>
    <cs:effectRef idx="0"/>
    <cs:fontRef idx="minor">
      <a:schemeClr val="tx1">
        <a:lumMod val="50000"/>
        <a:lumOff val="50000"/>
      </a:schemeClr>
    </cs:fontRef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charts/style12.xml><?xml version="1.0" encoding="utf-8"?>
<cs:chartStyle xmlns:cs="http://schemas.microsoft.com/office/drawing/2012/chartStyle" xmlns:a="http://schemas.openxmlformats.org/drawingml/2006/main" id="289">
  <cs:axisTitle>
    <cs:lnRef idx="0"/>
    <cs:fillRef idx="0"/>
    <cs:effectRef idx="0"/>
    <cs:fontRef idx="minor">
      <a:schemeClr val="tx1">
        <a:lumMod val="50000"/>
        <a:lumOff val="50000"/>
      </a:schemeClr>
    </cs:fontRef>
    <cs:defRPr sz="1197" kern="1200" cap="all"/>
  </cs:axisTitle>
  <cs:categoryAxis>
    <cs:lnRef idx="0"/>
    <cs:fillRef idx="0"/>
    <cs:effectRef idx="0"/>
    <cs:fontRef idx="minor">
      <a:schemeClr val="tx1">
        <a:lumMod val="50000"/>
        <a:lumOff val="50000"/>
      </a:schemeClr>
    </cs:fontRef>
    <cs:defRPr sz="1197" kern="120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50000"/>
        <a:lumOff val="50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>
  <cs:dataPoint3D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3D>
  <cs:dataPointLine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158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Marker>
  <cs:dataPointMarkerLayout symbol="circle" size="4"/>
  <cs:dataPointWireframe>
    <cs:lnRef idx="0">
      <cs:styleClr val="auto"/>
    </cs:lnRef>
    <cs:fillRef idx="2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50000"/>
        <a:lumOff val="50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50000"/>
            <a:lumOff val="50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50000"/>
        <a:lumOff val="50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50000"/>
        <a:lumOff val="50000"/>
      </a:schemeClr>
    </cs:fontRef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tx1">
        <a:lumMod val="50000"/>
        <a:lumOff val="50000"/>
      </a:schemeClr>
    </cs:fontRef>
    <cs:defRPr sz="1862" kern="1200" cap="none" spc="20" baseline="0"/>
  </cs:title>
  <cs:trendline>
    <cs:lnRef idx="0">
      <cs:styleClr val="auto"/>
    </cs:lnRef>
    <cs:fillRef idx="2"/>
    <cs:effectRef idx="0"/>
    <cs:fontRef idx="minor">
      <a:schemeClr val="dk1"/>
    </cs:fontRef>
    <cs:spPr>
      <a:ln w="9525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50000"/>
        <a:lumOff val="50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50000"/>
            <a:lumOff val="50000"/>
          </a:schemeClr>
        </a:solidFill>
      </a:ln>
    </cs:spPr>
  </cs:upBar>
  <cs:valueAxis>
    <cs:lnRef idx="0"/>
    <cs:fillRef idx="0"/>
    <cs:effectRef idx="0"/>
    <cs:fontRef idx="minor">
      <a:schemeClr val="tx1">
        <a:lumMod val="50000"/>
        <a:lumOff val="50000"/>
      </a:schemeClr>
    </cs:fontRef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charts/style13.xml><?xml version="1.0" encoding="utf-8"?>
<cs:chartStyle xmlns:cs="http://schemas.microsoft.com/office/drawing/2012/chartStyle" xmlns:a="http://schemas.openxmlformats.org/drawingml/2006/main" id="289">
  <cs:axisTitle>
    <cs:lnRef idx="0"/>
    <cs:fillRef idx="0"/>
    <cs:effectRef idx="0"/>
    <cs:fontRef idx="minor">
      <a:schemeClr val="tx1">
        <a:lumMod val="50000"/>
        <a:lumOff val="50000"/>
      </a:schemeClr>
    </cs:fontRef>
    <cs:defRPr sz="1197" kern="1200" cap="all"/>
  </cs:axisTitle>
  <cs:categoryAxis>
    <cs:lnRef idx="0"/>
    <cs:fillRef idx="0"/>
    <cs:effectRef idx="0"/>
    <cs:fontRef idx="minor">
      <a:schemeClr val="tx1">
        <a:lumMod val="50000"/>
        <a:lumOff val="50000"/>
      </a:schemeClr>
    </cs:fontRef>
    <cs:defRPr sz="1197" kern="120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50000"/>
        <a:lumOff val="50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>
  <cs:dataPoint3D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3D>
  <cs:dataPointLine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158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Marker>
  <cs:dataPointMarkerLayout symbol="circle" size="4"/>
  <cs:dataPointWireframe>
    <cs:lnRef idx="0">
      <cs:styleClr val="auto"/>
    </cs:lnRef>
    <cs:fillRef idx="2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50000"/>
        <a:lumOff val="50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50000"/>
            <a:lumOff val="50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50000"/>
        <a:lumOff val="50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50000"/>
        <a:lumOff val="50000"/>
      </a:schemeClr>
    </cs:fontRef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tx1">
        <a:lumMod val="50000"/>
        <a:lumOff val="50000"/>
      </a:schemeClr>
    </cs:fontRef>
    <cs:defRPr sz="1862" kern="1200" cap="none" spc="20" baseline="0"/>
  </cs:title>
  <cs:trendline>
    <cs:lnRef idx="0">
      <cs:styleClr val="auto"/>
    </cs:lnRef>
    <cs:fillRef idx="2"/>
    <cs:effectRef idx="0"/>
    <cs:fontRef idx="minor">
      <a:schemeClr val="dk1"/>
    </cs:fontRef>
    <cs:spPr>
      <a:ln w="9525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50000"/>
        <a:lumOff val="50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50000"/>
            <a:lumOff val="50000"/>
          </a:schemeClr>
        </a:solidFill>
      </a:ln>
    </cs:spPr>
  </cs:upBar>
  <cs:valueAxis>
    <cs:lnRef idx="0"/>
    <cs:fillRef idx="0"/>
    <cs:effectRef idx="0"/>
    <cs:fontRef idx="minor">
      <a:schemeClr val="tx1">
        <a:lumMod val="50000"/>
        <a:lumOff val="50000"/>
      </a:schemeClr>
    </cs:fontRef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charts/style14.xml><?xml version="1.0" encoding="utf-8"?>
<cs:chartStyle xmlns:cs="http://schemas.microsoft.com/office/drawing/2012/chartStyle" xmlns:a="http://schemas.openxmlformats.org/drawingml/2006/main" id="230">
  <cs:axisTitle>
    <cs:lnRef idx="0"/>
    <cs:fillRef idx="0"/>
    <cs:effectRef idx="0"/>
    <cs:fontRef idx="minor">
      <a:schemeClr val="dk1">
        <a:lumMod val="65000"/>
        <a:lumOff val="35000"/>
      </a:schemeClr>
    </cs:fontRef>
    <cs:defRPr sz="1197" kern="1200" cap="all"/>
  </cs:axisTitle>
  <cs:categoryAxis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b="0" kern="1200" spc="20" baseline="0"/>
  </cs:categoryAxis>
  <cs:chartArea mods="allowNoLineOverride"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>
  <cs:dataPoint3D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2225" cap="rnd" cmpd="sng" algn="ctr">
        <a:solidFill>
          <a:schemeClr val="phClr"/>
        </a:solidFill>
        <a:round/>
      </a:ln>
    </cs:spPr>
  </cs:dataPointLine>
  <cs:dataPointMarker>
    <cs:lnRef idx="0">
      <cs:styleClr val="auto"/>
    </cs:lnRef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 cap="flat" cmpd="sng" algn="ctr">
        <a:solidFill>
          <a:schemeClr val="phClr"/>
        </a:solidFill>
        <a:round/>
      </a:ln>
    </cs:spPr>
  </cs:dataPointMarker>
  <cs:dataPointMarkerLayout symbol="circle" size="4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65000"/>
        <a:lumOff val="35000"/>
      </a:schemeClr>
    </cs:fontRef>
    <cs:spPr>
      <a:ln w="9525">
        <a:solidFill>
          <a:schemeClr val="dk1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dk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  <a:alpha val="33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65000"/>
            <a:lumOff val="35000"/>
          </a:schemeClr>
        </a:solidFill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>
        <a:solidFill>
          <a:schemeClr val="dk1">
            <a:lumMod val="15000"/>
            <a:lumOff val="85000"/>
          </a:schemeClr>
        </a:solidFill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dk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legend>
  <cs:plotArea>
    <cs:lnRef idx="0"/>
    <cs:fillRef idx="0"/>
    <cs:effectRef idx="0"/>
    <cs:fontRef idx="minor">
      <a:schemeClr val="dk1"/>
    </cs:fontRef>
    <cs:spPr>
      <a:gradFill>
        <a:gsLst>
          <a:gs pos="100000">
            <a:schemeClr val="lt1">
              <a:lumMod val="95000"/>
            </a:schemeClr>
          </a:gs>
          <a:gs pos="0">
            <a:schemeClr val="lt1"/>
          </a:gs>
        </a:gsLst>
        <a:lin ang="5400000" scaled="0"/>
      </a:gradFill>
    </cs:spPr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dk1">
        <a:lumMod val="50000"/>
        <a:lumOff val="50000"/>
      </a:schemeClr>
    </cs:fontRef>
    <cs:defRPr sz="1862" kern="1200" cap="none" spc="2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dk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dk1">
        <a:lumMod val="65000"/>
        <a:lumOff val="35000"/>
      </a:schemeClr>
    </cs:fontRef>
    <cs:defRPr sz="1197" kern="1200" spc="20" baseline="0"/>
  </cs:valueAxis>
  <cs:wall>
    <cs:lnRef idx="0"/>
    <cs:fillRef idx="0"/>
    <cs:effectRef idx="0"/>
    <cs:fontRef idx="minor">
      <a:schemeClr val="dk1"/>
    </cs:fontRef>
  </cs:wall>
</cs:chartStyle>
</file>

<file path=ppt/charts/style15.xml><?xml version="1.0" encoding="utf-8"?>
<cs:chartStyle xmlns:cs="http://schemas.microsoft.com/office/drawing/2012/chartStyle" xmlns:a="http://schemas.openxmlformats.org/drawingml/2006/main" id="289">
  <cs:axisTitle>
    <cs:lnRef idx="0"/>
    <cs:fillRef idx="0"/>
    <cs:effectRef idx="0"/>
    <cs:fontRef idx="minor">
      <a:schemeClr val="tx1">
        <a:lumMod val="50000"/>
        <a:lumOff val="50000"/>
      </a:schemeClr>
    </cs:fontRef>
    <cs:defRPr sz="1197" kern="1200" cap="all"/>
  </cs:axisTitle>
  <cs:categoryAxis>
    <cs:lnRef idx="0"/>
    <cs:fillRef idx="0"/>
    <cs:effectRef idx="0"/>
    <cs:fontRef idx="minor">
      <a:schemeClr val="tx1">
        <a:lumMod val="50000"/>
        <a:lumOff val="50000"/>
      </a:schemeClr>
    </cs:fontRef>
    <cs:defRPr sz="1197" kern="120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50000"/>
        <a:lumOff val="50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>
  <cs:dataPoint3D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3D>
  <cs:dataPointLine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158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Marker>
  <cs:dataPointMarkerLayout symbol="circle" size="4"/>
  <cs:dataPointWireframe>
    <cs:lnRef idx="0">
      <cs:styleClr val="auto"/>
    </cs:lnRef>
    <cs:fillRef idx="2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50000"/>
        <a:lumOff val="50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50000"/>
            <a:lumOff val="50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50000"/>
        <a:lumOff val="50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50000"/>
        <a:lumOff val="50000"/>
      </a:schemeClr>
    </cs:fontRef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tx1">
        <a:lumMod val="50000"/>
        <a:lumOff val="50000"/>
      </a:schemeClr>
    </cs:fontRef>
    <cs:defRPr sz="1862" kern="1200" cap="none" spc="20" baseline="0"/>
  </cs:title>
  <cs:trendline>
    <cs:lnRef idx="0">
      <cs:styleClr val="auto"/>
    </cs:lnRef>
    <cs:fillRef idx="2"/>
    <cs:effectRef idx="0"/>
    <cs:fontRef idx="minor">
      <a:schemeClr val="dk1"/>
    </cs:fontRef>
    <cs:spPr>
      <a:ln w="9525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50000"/>
        <a:lumOff val="50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50000"/>
            <a:lumOff val="50000"/>
          </a:schemeClr>
        </a:solidFill>
      </a:ln>
    </cs:spPr>
  </cs:upBar>
  <cs:valueAxis>
    <cs:lnRef idx="0"/>
    <cs:fillRef idx="0"/>
    <cs:effectRef idx="0"/>
    <cs:fontRef idx="minor">
      <a:schemeClr val="tx1">
        <a:lumMod val="50000"/>
        <a:lumOff val="50000"/>
      </a:schemeClr>
    </cs:fontRef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charts/style16.xml><?xml version="1.0" encoding="utf-8"?>
<cs:chartStyle xmlns:cs="http://schemas.microsoft.com/office/drawing/2012/chartStyle" xmlns:a="http://schemas.openxmlformats.org/drawingml/2006/main" id="289">
  <cs:axisTitle>
    <cs:lnRef idx="0"/>
    <cs:fillRef idx="0"/>
    <cs:effectRef idx="0"/>
    <cs:fontRef idx="minor">
      <a:schemeClr val="tx1">
        <a:lumMod val="50000"/>
        <a:lumOff val="50000"/>
      </a:schemeClr>
    </cs:fontRef>
    <cs:defRPr sz="1197" kern="1200" cap="all"/>
  </cs:axisTitle>
  <cs:categoryAxis>
    <cs:lnRef idx="0"/>
    <cs:fillRef idx="0"/>
    <cs:effectRef idx="0"/>
    <cs:fontRef idx="minor">
      <a:schemeClr val="tx1">
        <a:lumMod val="50000"/>
        <a:lumOff val="50000"/>
      </a:schemeClr>
    </cs:fontRef>
    <cs:defRPr sz="1197" kern="120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50000"/>
        <a:lumOff val="50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>
  <cs:dataPoint3D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3D>
  <cs:dataPointLine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158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Marker>
  <cs:dataPointMarkerLayout symbol="circle" size="4"/>
  <cs:dataPointWireframe>
    <cs:lnRef idx="0">
      <cs:styleClr val="auto"/>
    </cs:lnRef>
    <cs:fillRef idx="2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50000"/>
        <a:lumOff val="50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50000"/>
            <a:lumOff val="50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50000"/>
        <a:lumOff val="50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50000"/>
        <a:lumOff val="50000"/>
      </a:schemeClr>
    </cs:fontRef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tx1">
        <a:lumMod val="50000"/>
        <a:lumOff val="50000"/>
      </a:schemeClr>
    </cs:fontRef>
    <cs:defRPr sz="1862" kern="1200" cap="none" spc="20" baseline="0"/>
  </cs:title>
  <cs:trendline>
    <cs:lnRef idx="0">
      <cs:styleClr val="auto"/>
    </cs:lnRef>
    <cs:fillRef idx="2"/>
    <cs:effectRef idx="0"/>
    <cs:fontRef idx="minor">
      <a:schemeClr val="dk1"/>
    </cs:fontRef>
    <cs:spPr>
      <a:ln w="9525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50000"/>
        <a:lumOff val="50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50000"/>
            <a:lumOff val="50000"/>
          </a:schemeClr>
        </a:solidFill>
      </a:ln>
    </cs:spPr>
  </cs:upBar>
  <cs:valueAxis>
    <cs:lnRef idx="0"/>
    <cs:fillRef idx="0"/>
    <cs:effectRef idx="0"/>
    <cs:fontRef idx="minor">
      <a:schemeClr val="tx1">
        <a:lumMod val="50000"/>
        <a:lumOff val="50000"/>
      </a:schemeClr>
    </cs:fontRef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charts/style17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8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9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0.xml><?xml version="1.0" encoding="utf-8"?>
<cs:chartStyle xmlns:cs="http://schemas.microsoft.com/office/drawing/2012/chartStyle" xmlns:a="http://schemas.openxmlformats.org/drawingml/2006/main" id="264">
  <cs:axisTitle>
    <cs:lnRef idx="0"/>
    <cs:fillRef idx="0"/>
    <cs:effectRef idx="0"/>
    <cs:fontRef idx="minor">
      <a:schemeClr val="dk1">
        <a:lumMod val="75000"/>
        <a:lumOff val="25000"/>
      </a:schemeClr>
    </cs:fontRef>
    <cs:defRPr sz="1197" b="1" kern="1200"/>
  </cs:axisTitle>
  <cs:categoryAxis>
    <cs:lnRef idx="0"/>
    <cs:fillRef idx="0"/>
    <cs:effectRef idx="0"/>
    <cs:fontRef idx="minor">
      <a:schemeClr val="dk1">
        <a:lumMod val="75000"/>
        <a:lumOff val="25000"/>
      </a:schemeClr>
    </cs:fontRef>
    <cs:spPr>
      <a:ln w="190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1197" kern="1200" cap="all" baseline="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lt1"/>
          </a:gs>
          <a:gs pos="39000">
            <a:schemeClr val="lt1"/>
          </a:gs>
          <a:gs pos="100000">
            <a:schemeClr val="lt1">
              <a:lumMod val="75000"/>
            </a:schemeClr>
          </a:gs>
        </a:gsLst>
        <a:path path="circle">
          <a:fillToRect l="50000" t="-80000" r="50000" b="180000"/>
        </a:path>
        <a:tileRect/>
      </a:gradFill>
      <a:ln w="9525" cap="flat" cmpd="sng" algn="ctr">
        <a:solidFill>
          <a:schemeClr val="dk1">
            <a:lumMod val="25000"/>
            <a:lumOff val="7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lt1"/>
    </cs:fontRef>
    <cs:spPr>
      <a:pattFill prst="pct75">
        <a:fgClr>
          <a:schemeClr val="dk1">
            <a:lumMod val="75000"/>
            <a:lumOff val="25000"/>
          </a:schemeClr>
        </a:fgClr>
        <a:bgClr>
          <a:schemeClr val="dk1">
            <a:lumMod val="65000"/>
            <a:lumOff val="35000"/>
          </a:schemeClr>
        </a:bgClr>
      </a:pattFill>
      <a:effectLst>
        <a:outerShdw blurRad="50800" dist="38100" dir="2700000" algn="tl" rotWithShape="0">
          <a:prstClr val="black">
            <a:alpha val="40000"/>
          </a:prstClr>
        </a:outerShdw>
      </a:effectLst>
    </cs:spPr>
    <cs:defRPr sz="1330" b="1" i="0" u="none" strike="noStrike" kern="1200" baseline="0"/>
  </cs:dataLabel>
  <cs:dataLabelCallout>
    <cs:lnRef idx="0"/>
    <cs:fillRef idx="0"/>
    <cs:effectRef idx="0"/>
    <cs:fontRef idx="minor">
      <a:schemeClr val="lt1"/>
    </cs:fontRef>
    <cs:spPr>
      <a:pattFill prst="pct75">
        <a:fgClr>
          <a:schemeClr val="dk1">
            <a:lumMod val="75000"/>
            <a:lumOff val="25000"/>
          </a:schemeClr>
        </a:fgClr>
        <a:bgClr>
          <a:schemeClr val="dk1">
            <a:lumMod val="65000"/>
            <a:lumOff val="35000"/>
          </a:schemeClr>
        </a:bgClr>
      </a:pattFill>
      <a:effectLst>
        <a:outerShdw blurRad="50800" dist="38100" dir="2700000" algn="tl" rotWithShape="0">
          <a:prstClr val="black">
            <a:alpha val="40000"/>
          </a:prstClr>
        </a:outerShdw>
      </a:effectLst>
    </cs:spPr>
    <cs:defRPr sz="1330" b="1" i="0" u="none" strike="noStrike" kern="1200" baseline="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254000" sx="102000" sy="102000" algn="ctr" rotWithShape="0">
          <a:prstClr val="black">
            <a:alpha val="20000"/>
          </a:prstClr>
        </a:outerShdw>
      </a:effectLst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254000" sx="102000" sy="102000" algn="ctr" rotWithShape="0">
          <a:prstClr val="black">
            <a:alpha val="20000"/>
          </a:prstClr>
        </a:outerShdw>
      </a:effectLst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31750" cap="rnd">
        <a:solidFill>
          <a:schemeClr val="phClr">
            <a:alpha val="85000"/>
          </a:schemeClr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75000"/>
        <a:lumOff val="25000"/>
      </a:schemeClr>
    </cs:fontRef>
    <cs:spPr>
      <a:ln w="9525">
        <a:solidFill>
          <a:schemeClr val="dk1">
            <a:lumMod val="35000"/>
            <a:lumOff val="6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50000"/>
          <a:lumOff val="50000"/>
        </a:schemeClr>
      </a:solidFill>
      <a:ln w="9525">
        <a:solidFill>
          <a:schemeClr val="dk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</a:ln>
    </cs:spPr>
  </cs:leaderLine>
  <cs:legend>
    <cs:lnRef idx="0"/>
    <cs:fillRef idx="0"/>
    <cs:effectRef idx="0"/>
    <cs:fontRef idx="minor">
      <a:schemeClr val="dk1">
        <a:lumMod val="75000"/>
        <a:lumOff val="25000"/>
      </a:schemeClr>
    </cs:fontRef>
    <cs:spPr>
      <a:solidFill>
        <a:schemeClr val="lt1">
          <a:lumMod val="95000"/>
          <a:alpha val="39000"/>
        </a:schemeClr>
      </a:solidFill>
    </cs:spPr>
    <cs:defRPr sz="1197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75000"/>
        <a:lumOff val="25000"/>
      </a:schemeClr>
    </cs:fontRef>
    <cs:spPr>
      <a:ln w="317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seriesLine>
  <cs:title>
    <cs:lnRef idx="0"/>
    <cs:fillRef idx="0"/>
    <cs:effectRef idx="0"/>
    <cs:fontRef idx="minor">
      <a:schemeClr val="dk1">
        <a:lumMod val="75000"/>
        <a:lumOff val="25000"/>
      </a:schemeClr>
    </cs:fontRef>
    <cs:defRPr sz="2200" b="1" kern="120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75000"/>
        <a:lumOff val="2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dk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dk1">
        <a:lumMod val="75000"/>
        <a:lumOff val="25000"/>
      </a:schemeClr>
    </cs:fontRef>
    <cs:spPr>
      <a:ln>
        <a:noFill/>
      </a:ln>
    </cs:spPr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charts/style21.xml><?xml version="1.0" encoding="utf-8"?>
<cs:chartStyle xmlns:cs="http://schemas.microsoft.com/office/drawing/2012/chartStyle" xmlns:a="http://schemas.openxmlformats.org/drawingml/2006/main" id="264">
  <cs:axisTitle>
    <cs:lnRef idx="0"/>
    <cs:fillRef idx="0"/>
    <cs:effectRef idx="0"/>
    <cs:fontRef idx="minor">
      <a:schemeClr val="dk1">
        <a:lumMod val="75000"/>
        <a:lumOff val="25000"/>
      </a:schemeClr>
    </cs:fontRef>
    <cs:defRPr sz="1197" b="1" kern="1200"/>
  </cs:axisTitle>
  <cs:categoryAxis>
    <cs:lnRef idx="0"/>
    <cs:fillRef idx="0"/>
    <cs:effectRef idx="0"/>
    <cs:fontRef idx="minor">
      <a:schemeClr val="dk1">
        <a:lumMod val="75000"/>
        <a:lumOff val="25000"/>
      </a:schemeClr>
    </cs:fontRef>
    <cs:spPr>
      <a:ln w="190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1197" kern="1200" cap="all" baseline="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lt1"/>
          </a:gs>
          <a:gs pos="39000">
            <a:schemeClr val="lt1"/>
          </a:gs>
          <a:gs pos="100000">
            <a:schemeClr val="lt1">
              <a:lumMod val="75000"/>
            </a:schemeClr>
          </a:gs>
        </a:gsLst>
        <a:path path="circle">
          <a:fillToRect l="50000" t="-80000" r="50000" b="180000"/>
        </a:path>
        <a:tileRect/>
      </a:gradFill>
      <a:ln w="9525" cap="flat" cmpd="sng" algn="ctr">
        <a:solidFill>
          <a:schemeClr val="dk1">
            <a:lumMod val="25000"/>
            <a:lumOff val="7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lt1"/>
    </cs:fontRef>
    <cs:spPr>
      <a:pattFill prst="pct75">
        <a:fgClr>
          <a:schemeClr val="dk1">
            <a:lumMod val="75000"/>
            <a:lumOff val="25000"/>
          </a:schemeClr>
        </a:fgClr>
        <a:bgClr>
          <a:schemeClr val="dk1">
            <a:lumMod val="65000"/>
            <a:lumOff val="35000"/>
          </a:schemeClr>
        </a:bgClr>
      </a:pattFill>
      <a:effectLst>
        <a:outerShdw blurRad="50800" dist="38100" dir="2700000" algn="tl" rotWithShape="0">
          <a:prstClr val="black">
            <a:alpha val="40000"/>
          </a:prstClr>
        </a:outerShdw>
      </a:effectLst>
    </cs:spPr>
    <cs:defRPr sz="1330" b="1" i="0" u="none" strike="noStrike" kern="1200" baseline="0"/>
  </cs:dataLabel>
  <cs:dataLabelCallout>
    <cs:lnRef idx="0"/>
    <cs:fillRef idx="0"/>
    <cs:effectRef idx="0"/>
    <cs:fontRef idx="minor">
      <a:schemeClr val="lt1"/>
    </cs:fontRef>
    <cs:spPr>
      <a:pattFill prst="pct75">
        <a:fgClr>
          <a:schemeClr val="dk1">
            <a:lumMod val="75000"/>
            <a:lumOff val="25000"/>
          </a:schemeClr>
        </a:fgClr>
        <a:bgClr>
          <a:schemeClr val="dk1">
            <a:lumMod val="65000"/>
            <a:lumOff val="35000"/>
          </a:schemeClr>
        </a:bgClr>
      </a:pattFill>
      <a:effectLst>
        <a:outerShdw blurRad="50800" dist="38100" dir="2700000" algn="tl" rotWithShape="0">
          <a:prstClr val="black">
            <a:alpha val="40000"/>
          </a:prstClr>
        </a:outerShdw>
      </a:effectLst>
    </cs:spPr>
    <cs:defRPr sz="1330" b="1" i="0" u="none" strike="noStrike" kern="1200" baseline="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254000" sx="102000" sy="102000" algn="ctr" rotWithShape="0">
          <a:prstClr val="black">
            <a:alpha val="20000"/>
          </a:prstClr>
        </a:outerShdw>
      </a:effectLst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254000" sx="102000" sy="102000" algn="ctr" rotWithShape="0">
          <a:prstClr val="black">
            <a:alpha val="20000"/>
          </a:prstClr>
        </a:outerShdw>
      </a:effectLst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31750" cap="rnd">
        <a:solidFill>
          <a:schemeClr val="phClr">
            <a:alpha val="85000"/>
          </a:schemeClr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75000"/>
        <a:lumOff val="25000"/>
      </a:schemeClr>
    </cs:fontRef>
    <cs:spPr>
      <a:ln w="9525">
        <a:solidFill>
          <a:schemeClr val="dk1">
            <a:lumMod val="35000"/>
            <a:lumOff val="6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50000"/>
          <a:lumOff val="50000"/>
        </a:schemeClr>
      </a:solidFill>
      <a:ln w="9525">
        <a:solidFill>
          <a:schemeClr val="dk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</a:ln>
    </cs:spPr>
  </cs:leaderLine>
  <cs:legend>
    <cs:lnRef idx="0"/>
    <cs:fillRef idx="0"/>
    <cs:effectRef idx="0"/>
    <cs:fontRef idx="minor">
      <a:schemeClr val="dk1">
        <a:lumMod val="75000"/>
        <a:lumOff val="25000"/>
      </a:schemeClr>
    </cs:fontRef>
    <cs:spPr>
      <a:solidFill>
        <a:schemeClr val="lt1">
          <a:lumMod val="95000"/>
          <a:alpha val="39000"/>
        </a:schemeClr>
      </a:solidFill>
    </cs:spPr>
    <cs:defRPr sz="1197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75000"/>
        <a:lumOff val="25000"/>
      </a:schemeClr>
    </cs:fontRef>
    <cs:spPr>
      <a:ln w="317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seriesLine>
  <cs:title>
    <cs:lnRef idx="0"/>
    <cs:fillRef idx="0"/>
    <cs:effectRef idx="0"/>
    <cs:fontRef idx="minor">
      <a:schemeClr val="dk1">
        <a:lumMod val="75000"/>
        <a:lumOff val="25000"/>
      </a:schemeClr>
    </cs:fontRef>
    <cs:defRPr sz="2200" b="1" kern="120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75000"/>
        <a:lumOff val="2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dk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dk1">
        <a:lumMod val="75000"/>
        <a:lumOff val="25000"/>
      </a:schemeClr>
    </cs:fontRef>
    <cs:spPr>
      <a:ln>
        <a:noFill/>
      </a:ln>
    </cs:spPr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charts/style22.xml><?xml version="1.0" encoding="utf-8"?>
<cs:chartStyle xmlns:cs="http://schemas.microsoft.com/office/drawing/2012/chartStyle" xmlns:a="http://schemas.openxmlformats.org/drawingml/2006/main" id="289">
  <cs:axisTitle>
    <cs:lnRef idx="0"/>
    <cs:fillRef idx="0"/>
    <cs:effectRef idx="0"/>
    <cs:fontRef idx="minor">
      <a:schemeClr val="tx1">
        <a:lumMod val="50000"/>
        <a:lumOff val="50000"/>
      </a:schemeClr>
    </cs:fontRef>
    <cs:defRPr sz="1197" kern="1200" cap="all"/>
  </cs:axisTitle>
  <cs:categoryAxis>
    <cs:lnRef idx="0"/>
    <cs:fillRef idx="0"/>
    <cs:effectRef idx="0"/>
    <cs:fontRef idx="minor">
      <a:schemeClr val="tx1">
        <a:lumMod val="50000"/>
        <a:lumOff val="50000"/>
      </a:schemeClr>
    </cs:fontRef>
    <cs:defRPr sz="1197" kern="120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50000"/>
        <a:lumOff val="50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>
  <cs:dataPoint3D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3D>
  <cs:dataPointLine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158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Marker>
  <cs:dataPointMarkerLayout symbol="circle" size="4"/>
  <cs:dataPointWireframe>
    <cs:lnRef idx="0">
      <cs:styleClr val="auto"/>
    </cs:lnRef>
    <cs:fillRef idx="2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50000"/>
        <a:lumOff val="50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50000"/>
            <a:lumOff val="50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50000"/>
        <a:lumOff val="50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50000"/>
        <a:lumOff val="50000"/>
      </a:schemeClr>
    </cs:fontRef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tx1">
        <a:lumMod val="50000"/>
        <a:lumOff val="50000"/>
      </a:schemeClr>
    </cs:fontRef>
    <cs:defRPr sz="1862" kern="1200" cap="none" spc="20" baseline="0"/>
  </cs:title>
  <cs:trendline>
    <cs:lnRef idx="0">
      <cs:styleClr val="auto"/>
    </cs:lnRef>
    <cs:fillRef idx="2"/>
    <cs:effectRef idx="0"/>
    <cs:fontRef idx="minor">
      <a:schemeClr val="dk1"/>
    </cs:fontRef>
    <cs:spPr>
      <a:ln w="9525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50000"/>
        <a:lumOff val="50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50000"/>
            <a:lumOff val="50000"/>
          </a:schemeClr>
        </a:solidFill>
      </a:ln>
    </cs:spPr>
  </cs:upBar>
  <cs:valueAxis>
    <cs:lnRef idx="0"/>
    <cs:fillRef idx="0"/>
    <cs:effectRef idx="0"/>
    <cs:fontRef idx="minor">
      <a:schemeClr val="tx1">
        <a:lumMod val="50000"/>
        <a:lumOff val="50000"/>
      </a:schemeClr>
    </cs:fontRef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drawings/drawing1.xml><?xml version="1.0" encoding="utf-8"?>
<c:userShapes xmlns:c="http://schemas.openxmlformats.org/drawingml/2006/chart">
  <cdr:relSizeAnchor xmlns:cdr="http://schemas.openxmlformats.org/drawingml/2006/chartDrawing">
    <cdr:from>
      <cdr:x>0.60945</cdr:x>
      <cdr:y>0.0252</cdr:y>
    </cdr:from>
    <cdr:to>
      <cdr:x>0.97995</cdr:x>
      <cdr:y>0.1054</cdr:y>
    </cdr:to>
    <cdr:sp macro="" textlink="">
      <cdr:nvSpPr>
        <cdr:cNvPr id="2" name="Прямокутник 1">
          <a:extLst xmlns:a="http://schemas.openxmlformats.org/drawingml/2006/main">
            <a:ext uri="{FF2B5EF4-FFF2-40B4-BE49-F238E27FC236}">
              <a16:creationId xmlns:a16="http://schemas.microsoft.com/office/drawing/2014/main" id="{6EB21FEB-7DF1-4332-86F3-7555620AEEC9}"/>
            </a:ext>
          </a:extLst>
        </cdr:cNvPr>
        <cdr:cNvSpPr/>
      </cdr:nvSpPr>
      <cdr:spPr>
        <a:xfrm xmlns:a="http://schemas.openxmlformats.org/drawingml/2006/main">
          <a:off x="7430377" y="129761"/>
          <a:ext cx="4517208" cy="413010"/>
        </a:xfrm>
        <a:prstGeom xmlns:a="http://schemas.openxmlformats.org/drawingml/2006/main" prst="rect">
          <a:avLst/>
        </a:prstGeom>
        <a:noFill xmlns:a="http://schemas.openxmlformats.org/drawingml/2006/main"/>
        <a:ln xmlns:a="http://schemas.openxmlformats.org/drawingml/2006/main">
          <a:noFill/>
        </a:ln>
      </cdr:spPr>
      <cdr:style>
        <a:lnRef xmlns:a="http://schemas.openxmlformats.org/drawingml/2006/main" idx="2">
          <a:schemeClr val="accent1">
            <a:shade val="50000"/>
          </a:schemeClr>
        </a:lnRef>
        <a:fillRef xmlns:a="http://schemas.openxmlformats.org/drawingml/2006/main" idx="1">
          <a:schemeClr val="accent1"/>
        </a:fillRef>
        <a:effectRef xmlns:a="http://schemas.openxmlformats.org/drawingml/2006/main" idx="0">
          <a:schemeClr val="accent1"/>
        </a:effectRef>
        <a:fontRef xmlns:a="http://schemas.openxmlformats.org/drawingml/2006/main" idx="minor">
          <a:schemeClr val="lt1"/>
        </a:fontRef>
      </cdr:style>
      <cdr:txBody>
        <a:bodyPr xmlns:a="http://schemas.openxmlformats.org/drawingml/2006/main" rtlCol="0" anchor="ctr"/>
        <a:lstStyle xmlns:a="http://schemas.openxmlformats.org/drawingml/2006/main">
          <a:defPPr>
            <a:defRPr lang="uk-UA"/>
          </a:defPPr>
          <a:lvl1pPr marL="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1pPr>
          <a:lvl2pPr marL="45720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2pPr>
          <a:lvl3pPr marL="91440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3pPr>
          <a:lvl4pPr marL="137160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4pPr>
          <a:lvl5pPr marL="182880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5pPr>
          <a:lvl6pPr marL="228600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6pPr>
          <a:lvl7pPr marL="274320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7pPr>
          <a:lvl8pPr marL="320040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8pPr>
          <a:lvl9pPr marL="365760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pPr algn="ctr"/>
          <a:r>
            <a:rPr lang="uk-UA" sz="1400" b="1" dirty="0">
              <a:solidFill>
                <a:srgbClr val="002060"/>
              </a:solidFill>
            </a:rPr>
            <a:t>% - від загальної кількості пролікованих</a:t>
          </a:r>
        </a:p>
      </cdr:txBody>
    </cdr:sp>
  </cdr:relSizeAnchor>
</c:userShapes>
</file>

<file path=ppt/drawings/drawing2.xml><?xml version="1.0" encoding="utf-8"?>
<c:userShapes xmlns:c="http://schemas.openxmlformats.org/drawingml/2006/chart">
  <cdr:relSizeAnchor xmlns:cdr="http://schemas.openxmlformats.org/drawingml/2006/chartDrawing">
    <cdr:from>
      <cdr:x>0.69912</cdr:x>
      <cdr:y>0.18354</cdr:y>
    </cdr:from>
    <cdr:to>
      <cdr:x>0.76432</cdr:x>
      <cdr:y>0.224</cdr:y>
    </cdr:to>
    <cdr:sp macro="" textlink="">
      <cdr:nvSpPr>
        <cdr:cNvPr id="2" name="Прямокутник 1">
          <a:extLst xmlns:a="http://schemas.openxmlformats.org/drawingml/2006/main">
            <a:ext uri="{FF2B5EF4-FFF2-40B4-BE49-F238E27FC236}">
              <a16:creationId xmlns:a16="http://schemas.microsoft.com/office/drawing/2014/main" id="{539397DA-DDA0-4131-9748-21DDE39A7E8E}"/>
            </a:ext>
          </a:extLst>
        </cdr:cNvPr>
        <cdr:cNvSpPr/>
      </cdr:nvSpPr>
      <cdr:spPr>
        <a:xfrm xmlns:a="http://schemas.openxmlformats.org/drawingml/2006/main">
          <a:off x="8189421" y="911740"/>
          <a:ext cx="763749" cy="200985"/>
        </a:xfrm>
        <a:prstGeom xmlns:a="http://schemas.openxmlformats.org/drawingml/2006/main" prst="rect">
          <a:avLst/>
        </a:prstGeom>
        <a:noFill xmlns:a="http://schemas.openxmlformats.org/drawingml/2006/main"/>
        <a:ln xmlns:a="http://schemas.openxmlformats.org/drawingml/2006/main">
          <a:noFill/>
        </a:ln>
      </cdr:spPr>
      <cdr:style>
        <a:lnRef xmlns:a="http://schemas.openxmlformats.org/drawingml/2006/main" idx="2">
          <a:schemeClr val="accent1">
            <a:shade val="50000"/>
          </a:schemeClr>
        </a:lnRef>
        <a:fillRef xmlns:a="http://schemas.openxmlformats.org/drawingml/2006/main" idx="1">
          <a:schemeClr val="accent1"/>
        </a:fillRef>
        <a:effectRef xmlns:a="http://schemas.openxmlformats.org/drawingml/2006/main" idx="0">
          <a:schemeClr val="accent1"/>
        </a:effectRef>
        <a:fontRef xmlns:a="http://schemas.openxmlformats.org/drawingml/2006/main" idx="minor">
          <a:schemeClr val="lt1"/>
        </a:fontRef>
      </cdr:style>
      <cdr:txBody>
        <a:bodyPr xmlns:a="http://schemas.openxmlformats.org/drawingml/2006/main" rtlCol="0" anchor="ctr"/>
        <a:lstStyle xmlns:a="http://schemas.openxmlformats.org/drawingml/2006/main">
          <a:defPPr>
            <a:defRPr lang="uk-UA"/>
          </a:defPPr>
          <a:lvl1pPr marL="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1pPr>
          <a:lvl2pPr marL="45720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2pPr>
          <a:lvl3pPr marL="91440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3pPr>
          <a:lvl4pPr marL="137160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4pPr>
          <a:lvl5pPr marL="182880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5pPr>
          <a:lvl6pPr marL="228600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6pPr>
          <a:lvl7pPr marL="274320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7pPr>
          <a:lvl8pPr marL="320040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8pPr>
          <a:lvl9pPr marL="365760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pPr algn="ctr"/>
          <a:r>
            <a:rPr lang="uk-UA" sz="1400" b="1" dirty="0">
              <a:solidFill>
                <a:srgbClr val="002060"/>
              </a:solidFill>
            </a:rPr>
            <a:t>14,8%/</a:t>
          </a:r>
        </a:p>
        <a:p xmlns:a="http://schemas.openxmlformats.org/drawingml/2006/main">
          <a:pPr algn="ctr"/>
          <a:r>
            <a:rPr lang="uk-UA" sz="1400" b="1" dirty="0">
              <a:solidFill>
                <a:srgbClr val="002060"/>
              </a:solidFill>
            </a:rPr>
            <a:t>1112</a:t>
          </a:r>
        </a:p>
      </cdr:txBody>
    </cdr:sp>
  </cdr:relSizeAnchor>
</c:userShapes>
</file>

<file path=ppt/drawings/drawing3.xml><?xml version="1.0" encoding="utf-8"?>
<c:userShapes xmlns:c="http://schemas.openxmlformats.org/drawingml/2006/chart">
  <cdr:relSizeAnchor xmlns:cdr="http://schemas.openxmlformats.org/drawingml/2006/chartDrawing">
    <cdr:from>
      <cdr:x>0.02435</cdr:x>
      <cdr:y>0.01098</cdr:y>
    </cdr:from>
    <cdr:to>
      <cdr:x>0.44645</cdr:x>
      <cdr:y>0.08824</cdr:y>
    </cdr:to>
    <cdr:sp macro="" textlink="">
      <cdr:nvSpPr>
        <cdr:cNvPr id="2" name="Прямокутник 1">
          <a:extLst xmlns:a="http://schemas.openxmlformats.org/drawingml/2006/main">
            <a:ext uri="{FF2B5EF4-FFF2-40B4-BE49-F238E27FC236}">
              <a16:creationId xmlns:a16="http://schemas.microsoft.com/office/drawing/2014/main" id="{6EB21FEB-7DF1-4332-86F3-7555620AEEC9}"/>
            </a:ext>
          </a:extLst>
        </cdr:cNvPr>
        <cdr:cNvSpPr/>
      </cdr:nvSpPr>
      <cdr:spPr>
        <a:xfrm xmlns:a="http://schemas.openxmlformats.org/drawingml/2006/main">
          <a:off x="285225" y="58723"/>
          <a:ext cx="4944424" cy="413014"/>
        </a:xfrm>
        <a:prstGeom xmlns:a="http://schemas.openxmlformats.org/drawingml/2006/main" prst="rect">
          <a:avLst/>
        </a:prstGeom>
        <a:noFill xmlns:a="http://schemas.openxmlformats.org/drawingml/2006/main"/>
        <a:ln xmlns:a="http://schemas.openxmlformats.org/drawingml/2006/main">
          <a:noFill/>
        </a:ln>
      </cdr:spPr>
      <cdr:style>
        <a:lnRef xmlns:a="http://schemas.openxmlformats.org/drawingml/2006/main" idx="2">
          <a:schemeClr val="accent1">
            <a:shade val="50000"/>
          </a:schemeClr>
        </a:lnRef>
        <a:fillRef xmlns:a="http://schemas.openxmlformats.org/drawingml/2006/main" idx="1">
          <a:schemeClr val="accent1"/>
        </a:fillRef>
        <a:effectRef xmlns:a="http://schemas.openxmlformats.org/drawingml/2006/main" idx="0">
          <a:schemeClr val="accent1"/>
        </a:effectRef>
        <a:fontRef xmlns:a="http://schemas.openxmlformats.org/drawingml/2006/main" idx="minor">
          <a:schemeClr val="lt1"/>
        </a:fontRef>
      </cdr:style>
      <cdr:txBody>
        <a:bodyPr xmlns:a="http://schemas.openxmlformats.org/drawingml/2006/main" rtlCol="0" anchor="ctr"/>
        <a:lstStyle xmlns:a="http://schemas.openxmlformats.org/drawingml/2006/main">
          <a:defPPr>
            <a:defRPr lang="uk-UA"/>
          </a:defPPr>
          <a:lvl1pPr marL="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1pPr>
          <a:lvl2pPr marL="45720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2pPr>
          <a:lvl3pPr marL="91440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3pPr>
          <a:lvl4pPr marL="137160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4pPr>
          <a:lvl5pPr marL="182880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5pPr>
          <a:lvl6pPr marL="228600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6pPr>
          <a:lvl7pPr marL="274320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7pPr>
          <a:lvl8pPr marL="320040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8pPr>
          <a:lvl9pPr marL="365760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pPr algn="ctr"/>
          <a:r>
            <a:rPr lang="uk-UA" sz="1400" b="1" dirty="0">
              <a:solidFill>
                <a:srgbClr val="002060"/>
              </a:solidFill>
            </a:rPr>
            <a:t>% - від загальної кількості пролікованих</a:t>
          </a:r>
        </a:p>
      </cdr:txBody>
    </cdr:sp>
  </cdr:relSizeAnchor>
</c:userShape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2" y="1"/>
            <a:ext cx="4308423" cy="34144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uk-UA"/>
          </a:p>
        </p:txBody>
      </p:sp>
      <p:sp>
        <p:nvSpPr>
          <p:cNvPr id="3" name="Дата 2"/>
          <p:cNvSpPr>
            <a:spLocks noGrp="1"/>
          </p:cNvSpPr>
          <p:nvPr>
            <p:ph type="dt" sz="quarter" idx="1"/>
          </p:nvPr>
        </p:nvSpPr>
        <p:spPr>
          <a:xfrm>
            <a:off x="5631775" y="1"/>
            <a:ext cx="4308423" cy="34144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86CE68-5029-4171-8A41-B9AB315F9747}" type="datetimeFigureOut">
              <a:rPr lang="uk-UA" smtClean="0"/>
              <a:t>28.03.2024</a:t>
            </a:fld>
            <a:endParaRPr lang="uk-UA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2"/>
          </p:nvPr>
        </p:nvSpPr>
        <p:spPr>
          <a:xfrm>
            <a:off x="2" y="6468933"/>
            <a:ext cx="4308423" cy="34144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uk-UA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3"/>
          </p:nvPr>
        </p:nvSpPr>
        <p:spPr>
          <a:xfrm>
            <a:off x="5631775" y="6468933"/>
            <a:ext cx="4308423" cy="34144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A0685A4-3B50-46CE-895A-61BF14CC4D9B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414975107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верхнього колонтитула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4308422" cy="341702"/>
          </a:xfrm>
          <a:prstGeom prst="rect">
            <a:avLst/>
          </a:prstGeom>
        </p:spPr>
        <p:txBody>
          <a:bodyPr vert="horz" lIns="91595" tIns="45798" rIns="91595" bIns="45798" rtlCol="0"/>
          <a:lstStyle>
            <a:lvl1pPr algn="l">
              <a:defRPr sz="1200"/>
            </a:lvl1pPr>
          </a:lstStyle>
          <a:p>
            <a:endParaRPr lang="uk-UA"/>
          </a:p>
        </p:txBody>
      </p:sp>
      <p:sp>
        <p:nvSpPr>
          <p:cNvPr id="3" name="Місце для дати 2"/>
          <p:cNvSpPr>
            <a:spLocks noGrp="1"/>
          </p:cNvSpPr>
          <p:nvPr>
            <p:ph type="dt" idx="1"/>
          </p:nvPr>
        </p:nvSpPr>
        <p:spPr>
          <a:xfrm>
            <a:off x="5631790" y="0"/>
            <a:ext cx="4308422" cy="341702"/>
          </a:xfrm>
          <a:prstGeom prst="rect">
            <a:avLst/>
          </a:prstGeom>
        </p:spPr>
        <p:txBody>
          <a:bodyPr vert="horz" lIns="91595" tIns="45798" rIns="91595" bIns="45798" rtlCol="0"/>
          <a:lstStyle>
            <a:lvl1pPr algn="r">
              <a:defRPr sz="1200"/>
            </a:lvl1pPr>
          </a:lstStyle>
          <a:p>
            <a:fld id="{91CBEFBC-63ED-4DE9-A2D0-860A595D3A2E}" type="datetimeFigureOut">
              <a:rPr lang="uk-UA" smtClean="0"/>
              <a:t>28.03.2024</a:t>
            </a:fld>
            <a:endParaRPr lang="uk-UA"/>
          </a:p>
        </p:txBody>
      </p:sp>
      <p:sp>
        <p:nvSpPr>
          <p:cNvPr id="4" name="Місце для зображення 3"/>
          <p:cNvSpPr>
            <a:spLocks noGrp="1" noRot="1" noChangeAspect="1"/>
          </p:cNvSpPr>
          <p:nvPr>
            <p:ph type="sldImg" idx="2"/>
          </p:nvPr>
        </p:nvSpPr>
        <p:spPr>
          <a:xfrm>
            <a:off x="2927350" y="850900"/>
            <a:ext cx="4087813" cy="22987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595" tIns="45798" rIns="91595" bIns="45798" rtlCol="0" anchor="ctr"/>
          <a:lstStyle/>
          <a:p>
            <a:endParaRPr lang="uk-UA"/>
          </a:p>
        </p:txBody>
      </p:sp>
      <p:sp>
        <p:nvSpPr>
          <p:cNvPr id="5" name="Місце для нотаток 4"/>
          <p:cNvSpPr>
            <a:spLocks noGrp="1"/>
          </p:cNvSpPr>
          <p:nvPr>
            <p:ph type="body" sz="quarter" idx="3"/>
          </p:nvPr>
        </p:nvSpPr>
        <p:spPr>
          <a:xfrm>
            <a:off x="994252" y="3277493"/>
            <a:ext cx="7954010" cy="2681586"/>
          </a:xfrm>
          <a:prstGeom prst="rect">
            <a:avLst/>
          </a:prstGeom>
        </p:spPr>
        <p:txBody>
          <a:bodyPr vert="horz" lIns="91595" tIns="45798" rIns="91595" bIns="45798" rtlCol="0"/>
          <a:lstStyle/>
          <a:p>
            <a:pPr lvl="0"/>
            <a:r>
              <a:rPr lang="uk-UA"/>
              <a:t>Відредагуйте стиль зразка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  <p:sp>
        <p:nvSpPr>
          <p:cNvPr id="6" name="Місце для нижнього колонтитула 5"/>
          <p:cNvSpPr>
            <a:spLocks noGrp="1"/>
          </p:cNvSpPr>
          <p:nvPr>
            <p:ph type="ftr" sz="quarter" idx="4"/>
          </p:nvPr>
        </p:nvSpPr>
        <p:spPr>
          <a:xfrm>
            <a:off x="1" y="6468675"/>
            <a:ext cx="4308422" cy="341701"/>
          </a:xfrm>
          <a:prstGeom prst="rect">
            <a:avLst/>
          </a:prstGeom>
        </p:spPr>
        <p:txBody>
          <a:bodyPr vert="horz" lIns="91595" tIns="45798" rIns="91595" bIns="45798" rtlCol="0" anchor="b"/>
          <a:lstStyle>
            <a:lvl1pPr algn="l">
              <a:defRPr sz="1200"/>
            </a:lvl1pPr>
          </a:lstStyle>
          <a:p>
            <a:endParaRPr lang="uk-UA"/>
          </a:p>
        </p:txBody>
      </p:sp>
      <p:sp>
        <p:nvSpPr>
          <p:cNvPr id="7" name="Місце для номера слайда 6"/>
          <p:cNvSpPr>
            <a:spLocks noGrp="1"/>
          </p:cNvSpPr>
          <p:nvPr>
            <p:ph type="sldNum" sz="quarter" idx="5"/>
          </p:nvPr>
        </p:nvSpPr>
        <p:spPr>
          <a:xfrm>
            <a:off x="5631790" y="6468675"/>
            <a:ext cx="4308422" cy="341701"/>
          </a:xfrm>
          <a:prstGeom prst="rect">
            <a:avLst/>
          </a:prstGeom>
        </p:spPr>
        <p:txBody>
          <a:bodyPr vert="horz" lIns="91595" tIns="45798" rIns="91595" bIns="45798" rtlCol="0" anchor="b"/>
          <a:lstStyle>
            <a:lvl1pPr algn="r">
              <a:defRPr sz="1200"/>
            </a:lvl1pPr>
          </a:lstStyle>
          <a:p>
            <a:fld id="{8D151577-9450-4626-8A28-B5C19205AD48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2819384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5" name="Google Shape;845;g106a35e0ebc_12_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-515938" y="738188"/>
            <a:ext cx="6575426" cy="36988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46" name="Google Shape;846;g106a35e0ebc_12_54:notes"/>
          <p:cNvSpPr txBox="1">
            <a:spLocks noGrp="1"/>
          </p:cNvSpPr>
          <p:nvPr>
            <p:ph type="body" idx="1"/>
          </p:nvPr>
        </p:nvSpPr>
        <p:spPr>
          <a:xfrm>
            <a:off x="739132" y="4682411"/>
            <a:ext cx="4065318" cy="44359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580" tIns="45778" rIns="91580" bIns="45778" anchor="t" anchorCtr="0">
            <a:noAutofit/>
          </a:bodyPr>
          <a:lstStyle/>
          <a:p>
            <a:pPr>
              <a:buClr>
                <a:schemeClr val="dk1"/>
              </a:buClr>
              <a:buSzPts val="1200"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Як працює система:</a:t>
            </a:r>
            <a:endParaRPr/>
          </a:p>
          <a:p>
            <a:pPr>
              <a:buClr>
                <a:schemeClr val="dk1"/>
              </a:buClr>
              <a:buSzPts val="1200"/>
            </a:pPr>
            <a:endParaRPr/>
          </a:p>
          <a:p>
            <a:pPr marL="228989">
              <a:buClr>
                <a:schemeClr val="dk1"/>
              </a:buClr>
              <a:buSzPts val="1200"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Дворівнева система: ЦБД + вільний ринок ІТ-рішень</a:t>
            </a:r>
            <a:endParaRPr/>
          </a:p>
          <a:p>
            <a:pPr marL="228989">
              <a:buClr>
                <a:schemeClr val="dk1"/>
              </a:buClr>
              <a:buSzPts val="1200"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В ЦБД - медична картка. Не розкидана по базах, а в одному місці.</a:t>
            </a:r>
            <a:endParaRPr/>
          </a:p>
          <a:p>
            <a:pPr marL="228989">
              <a:buClr>
                <a:schemeClr val="dk1"/>
              </a:buClr>
              <a:buSzPts val="1200"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ІТ-рішення гнучкі (модульні) - відповідають потребам користувачів (лікарні, аптеки). </a:t>
            </a:r>
            <a:endParaRPr/>
          </a:p>
          <a:p>
            <a:pPr>
              <a:buClr>
                <a:schemeClr val="dk1"/>
              </a:buClr>
              <a:buSzPts val="1200"/>
            </a:pPr>
            <a:endParaRPr/>
          </a:p>
          <a:p>
            <a:pPr>
              <a:buClr>
                <a:schemeClr val="dk1"/>
              </a:buClr>
              <a:buSzPts val="1200"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ЦБД базовані та відкритому коді - немає власника коду, який може “перекривати кисень”.</a:t>
            </a:r>
            <a:endParaRPr/>
          </a:p>
          <a:p>
            <a:pPr>
              <a:buClr>
                <a:schemeClr val="dk1"/>
              </a:buClr>
              <a:buSzPts val="1200"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 ЦБД володіє Уряд, але ніхто з учасників ринку не залежний від Уряду</a:t>
            </a:r>
            <a:endParaRPr/>
          </a:p>
          <a:p>
            <a:pPr>
              <a:buClr>
                <a:schemeClr val="dk1"/>
              </a:buClr>
              <a:buSzPts val="1200"/>
            </a:pPr>
            <a:endParaRPr/>
          </a:p>
          <a:p>
            <a:pPr>
              <a:buClr>
                <a:schemeClr val="dk1"/>
              </a:buClr>
              <a:buSzPts val="1200"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Єдиний спосіб третім сторонам отримати дані з ЦБД - через знеособлену big data.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423967323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5" name="Google Shape;845;g106a35e0ebc_12_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-231775" y="681038"/>
            <a:ext cx="6053138" cy="34051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46" name="Google Shape;846;g106a35e0ebc_12_54:notes"/>
          <p:cNvSpPr txBox="1">
            <a:spLocks noGrp="1"/>
          </p:cNvSpPr>
          <p:nvPr>
            <p:ph type="body" idx="1"/>
          </p:nvPr>
        </p:nvSpPr>
        <p:spPr>
          <a:xfrm>
            <a:off x="745690" y="4313238"/>
            <a:ext cx="4101395" cy="408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580" tIns="45778" rIns="91580" bIns="45778" anchor="t" anchorCtr="0">
            <a:noAutofit/>
          </a:bodyPr>
          <a:lstStyle/>
          <a:p>
            <a:pPr>
              <a:buClr>
                <a:schemeClr val="dk1"/>
              </a:buClr>
              <a:buSzPts val="1200"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Як працює система:</a:t>
            </a:r>
            <a:endParaRPr/>
          </a:p>
          <a:p>
            <a:pPr>
              <a:buClr>
                <a:schemeClr val="dk1"/>
              </a:buClr>
              <a:buSzPts val="1200"/>
            </a:pPr>
            <a:endParaRPr/>
          </a:p>
          <a:p>
            <a:pPr marL="228989">
              <a:buClr>
                <a:schemeClr val="dk1"/>
              </a:buClr>
              <a:buSzPts val="1200"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Дворівнева система: ЦБД + вільний ринок ІТ-рішень</a:t>
            </a:r>
            <a:endParaRPr/>
          </a:p>
          <a:p>
            <a:pPr marL="228989">
              <a:buClr>
                <a:schemeClr val="dk1"/>
              </a:buClr>
              <a:buSzPts val="1200"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В ЦБД - медична картка. Не розкидана по базах, а в одному місці.</a:t>
            </a:r>
            <a:endParaRPr/>
          </a:p>
          <a:p>
            <a:pPr marL="228989">
              <a:buClr>
                <a:schemeClr val="dk1"/>
              </a:buClr>
              <a:buSzPts val="1200"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ІТ-рішення гнучкі (модульні) - відповідають потребам користувачів (лікарні, аптеки). </a:t>
            </a:r>
            <a:endParaRPr/>
          </a:p>
          <a:p>
            <a:pPr>
              <a:buClr>
                <a:schemeClr val="dk1"/>
              </a:buClr>
              <a:buSzPts val="1200"/>
            </a:pPr>
            <a:endParaRPr/>
          </a:p>
          <a:p>
            <a:pPr>
              <a:buClr>
                <a:schemeClr val="dk1"/>
              </a:buClr>
              <a:buSzPts val="1200"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ЦБД базовані та відкритому коді - немає власника коду, який може “перекривати кисень”.</a:t>
            </a:r>
            <a:endParaRPr/>
          </a:p>
          <a:p>
            <a:pPr>
              <a:buClr>
                <a:schemeClr val="dk1"/>
              </a:buClr>
              <a:buSzPts val="1200"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 ЦБД володіє Уряд, але ніхто з учасників ринку не залежний від Уряду</a:t>
            </a:r>
            <a:endParaRPr/>
          </a:p>
          <a:p>
            <a:pPr>
              <a:buClr>
                <a:schemeClr val="dk1"/>
              </a:buClr>
              <a:buSzPts val="1200"/>
            </a:pPr>
            <a:endParaRPr/>
          </a:p>
          <a:p>
            <a:pPr>
              <a:buClr>
                <a:schemeClr val="dk1"/>
              </a:buClr>
              <a:buSzPts val="1200"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Єдиний спосіб третім сторонам отримати дані з ЦБД - через знеособлену big data.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69268058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5" name="Google Shape;845;g106a35e0ebc_12_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-231775" y="681038"/>
            <a:ext cx="6053138" cy="34051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46" name="Google Shape;846;g106a35e0ebc_12_54:notes"/>
          <p:cNvSpPr txBox="1">
            <a:spLocks noGrp="1"/>
          </p:cNvSpPr>
          <p:nvPr>
            <p:ph type="body" idx="1"/>
          </p:nvPr>
        </p:nvSpPr>
        <p:spPr>
          <a:xfrm>
            <a:off x="745690" y="4313238"/>
            <a:ext cx="4101395" cy="408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580" tIns="45778" rIns="91580" bIns="45778" anchor="t" anchorCtr="0">
            <a:noAutofit/>
          </a:bodyPr>
          <a:lstStyle/>
          <a:p>
            <a:pPr>
              <a:buClr>
                <a:schemeClr val="dk1"/>
              </a:buClr>
              <a:buSzPts val="1200"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Як працює система:</a:t>
            </a:r>
            <a:endParaRPr/>
          </a:p>
          <a:p>
            <a:pPr>
              <a:buClr>
                <a:schemeClr val="dk1"/>
              </a:buClr>
              <a:buSzPts val="1200"/>
            </a:pPr>
            <a:endParaRPr/>
          </a:p>
          <a:p>
            <a:pPr marL="228989">
              <a:buClr>
                <a:schemeClr val="dk1"/>
              </a:buClr>
              <a:buSzPts val="1200"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Дворівнева система: ЦБД + вільний ринок ІТ-рішень</a:t>
            </a:r>
            <a:endParaRPr/>
          </a:p>
          <a:p>
            <a:pPr marL="228989">
              <a:buClr>
                <a:schemeClr val="dk1"/>
              </a:buClr>
              <a:buSzPts val="1200"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В ЦБД - медична картка. Не розкидана по базах, а в одному місці.</a:t>
            </a:r>
            <a:endParaRPr/>
          </a:p>
          <a:p>
            <a:pPr marL="228989">
              <a:buClr>
                <a:schemeClr val="dk1"/>
              </a:buClr>
              <a:buSzPts val="1200"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ІТ-рішення гнучкі (модульні) - відповідають потребам користувачів (лікарні, аптеки). </a:t>
            </a:r>
            <a:endParaRPr/>
          </a:p>
          <a:p>
            <a:pPr>
              <a:buClr>
                <a:schemeClr val="dk1"/>
              </a:buClr>
              <a:buSzPts val="1200"/>
            </a:pPr>
            <a:endParaRPr/>
          </a:p>
          <a:p>
            <a:pPr>
              <a:buClr>
                <a:schemeClr val="dk1"/>
              </a:buClr>
              <a:buSzPts val="1200"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ЦБД базовані та відкритому коді - немає власника коду, який може “перекривати кисень”.</a:t>
            </a:r>
            <a:endParaRPr/>
          </a:p>
          <a:p>
            <a:pPr>
              <a:buClr>
                <a:schemeClr val="dk1"/>
              </a:buClr>
              <a:buSzPts val="1200"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 ЦБД володіє Уряд, але ніхто з учасників ринку не залежний від Уряду</a:t>
            </a:r>
            <a:endParaRPr/>
          </a:p>
          <a:p>
            <a:pPr>
              <a:buClr>
                <a:schemeClr val="dk1"/>
              </a:buClr>
              <a:buSzPts val="1200"/>
            </a:pPr>
            <a:endParaRPr/>
          </a:p>
          <a:p>
            <a:pPr>
              <a:buClr>
                <a:schemeClr val="dk1"/>
              </a:buClr>
              <a:buSzPts val="1200"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Єдиний спосіб третім сторонам отримати дані з ЦБД - через знеособлену big data.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00648244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5" name="Google Shape;845;g106a35e0ebc_12_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-515938" y="738188"/>
            <a:ext cx="6575426" cy="36988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46" name="Google Shape;846;g106a35e0ebc_12_54:notes"/>
          <p:cNvSpPr txBox="1">
            <a:spLocks noGrp="1"/>
          </p:cNvSpPr>
          <p:nvPr>
            <p:ph type="body" idx="1"/>
          </p:nvPr>
        </p:nvSpPr>
        <p:spPr>
          <a:xfrm>
            <a:off x="739132" y="4682411"/>
            <a:ext cx="4065318" cy="44359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580" tIns="45778" rIns="91580" bIns="45778" anchor="t" anchorCtr="0">
            <a:noAutofit/>
          </a:bodyPr>
          <a:lstStyle/>
          <a:p>
            <a:pPr>
              <a:buClr>
                <a:schemeClr val="dk1"/>
              </a:buClr>
              <a:buSzPts val="1200"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Як працює система:</a:t>
            </a:r>
            <a:endParaRPr/>
          </a:p>
          <a:p>
            <a:pPr>
              <a:buClr>
                <a:schemeClr val="dk1"/>
              </a:buClr>
              <a:buSzPts val="1200"/>
            </a:pPr>
            <a:endParaRPr/>
          </a:p>
          <a:p>
            <a:pPr marL="228989">
              <a:buClr>
                <a:schemeClr val="dk1"/>
              </a:buClr>
              <a:buSzPts val="1200"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Дворівнева система: ЦБД + вільний ринок ІТ-рішень</a:t>
            </a:r>
            <a:endParaRPr/>
          </a:p>
          <a:p>
            <a:pPr marL="228989">
              <a:buClr>
                <a:schemeClr val="dk1"/>
              </a:buClr>
              <a:buSzPts val="1200"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В ЦБД - медична картка. Не розкидана по базах, а в одному місці.</a:t>
            </a:r>
            <a:endParaRPr/>
          </a:p>
          <a:p>
            <a:pPr marL="228989">
              <a:buClr>
                <a:schemeClr val="dk1"/>
              </a:buClr>
              <a:buSzPts val="1200"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ІТ-рішення гнучкі (модульні) - відповідають потребам користувачів (лікарні, аптеки). </a:t>
            </a:r>
            <a:endParaRPr/>
          </a:p>
          <a:p>
            <a:pPr>
              <a:buClr>
                <a:schemeClr val="dk1"/>
              </a:buClr>
              <a:buSzPts val="1200"/>
            </a:pPr>
            <a:endParaRPr/>
          </a:p>
          <a:p>
            <a:pPr>
              <a:buClr>
                <a:schemeClr val="dk1"/>
              </a:buClr>
              <a:buSzPts val="1200"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ЦБД базовані та відкритому коді - немає власника коду, який може “перекривати кисень”.</a:t>
            </a:r>
            <a:endParaRPr/>
          </a:p>
          <a:p>
            <a:pPr>
              <a:buClr>
                <a:schemeClr val="dk1"/>
              </a:buClr>
              <a:buSzPts val="1200"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 ЦБД володіє Уряд, але ніхто з учасників ринку не залежний від Уряду</a:t>
            </a:r>
            <a:endParaRPr/>
          </a:p>
          <a:p>
            <a:pPr>
              <a:buClr>
                <a:schemeClr val="dk1"/>
              </a:buClr>
              <a:buSzPts val="1200"/>
            </a:pPr>
            <a:endParaRPr/>
          </a:p>
          <a:p>
            <a:pPr>
              <a:buClr>
                <a:schemeClr val="dk1"/>
              </a:buClr>
              <a:buSzPts val="1200"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Єдиний спосіб третім сторонам отримати дані з ЦБД - через знеособлену big data.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97385671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5" name="Google Shape;845;g106a35e0ebc_12_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-515938" y="738188"/>
            <a:ext cx="6575426" cy="36988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46" name="Google Shape;846;g106a35e0ebc_12_54:notes"/>
          <p:cNvSpPr txBox="1">
            <a:spLocks noGrp="1"/>
          </p:cNvSpPr>
          <p:nvPr>
            <p:ph type="body" idx="1"/>
          </p:nvPr>
        </p:nvSpPr>
        <p:spPr>
          <a:xfrm>
            <a:off x="739132" y="4682411"/>
            <a:ext cx="4065318" cy="44359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580" tIns="45778" rIns="91580" bIns="45778" anchor="t" anchorCtr="0">
            <a:noAutofit/>
          </a:bodyPr>
          <a:lstStyle/>
          <a:p>
            <a:pPr>
              <a:buClr>
                <a:schemeClr val="dk1"/>
              </a:buClr>
              <a:buSzPts val="1200"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Як працює система:</a:t>
            </a:r>
            <a:endParaRPr/>
          </a:p>
          <a:p>
            <a:pPr>
              <a:buClr>
                <a:schemeClr val="dk1"/>
              </a:buClr>
              <a:buSzPts val="1200"/>
            </a:pPr>
            <a:endParaRPr/>
          </a:p>
          <a:p>
            <a:pPr marL="228989">
              <a:buClr>
                <a:schemeClr val="dk1"/>
              </a:buClr>
              <a:buSzPts val="1200"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Дворівнева система: ЦБД + вільний ринок ІТ-рішень</a:t>
            </a:r>
            <a:endParaRPr/>
          </a:p>
          <a:p>
            <a:pPr marL="228989">
              <a:buClr>
                <a:schemeClr val="dk1"/>
              </a:buClr>
              <a:buSzPts val="1200"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В ЦБД - медична картка. Не розкидана по базах, а в одному місці.</a:t>
            </a:r>
            <a:endParaRPr/>
          </a:p>
          <a:p>
            <a:pPr marL="228989">
              <a:buClr>
                <a:schemeClr val="dk1"/>
              </a:buClr>
              <a:buSzPts val="1200"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ІТ-рішення гнучкі (модульні) - відповідають потребам користувачів (лікарні, аптеки). </a:t>
            </a:r>
            <a:endParaRPr/>
          </a:p>
          <a:p>
            <a:pPr>
              <a:buClr>
                <a:schemeClr val="dk1"/>
              </a:buClr>
              <a:buSzPts val="1200"/>
            </a:pPr>
            <a:endParaRPr/>
          </a:p>
          <a:p>
            <a:pPr>
              <a:buClr>
                <a:schemeClr val="dk1"/>
              </a:buClr>
              <a:buSzPts val="1200"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ЦБД базовані та відкритому коді - немає власника коду, який може “перекривати кисень”.</a:t>
            </a:r>
            <a:endParaRPr/>
          </a:p>
          <a:p>
            <a:pPr>
              <a:buClr>
                <a:schemeClr val="dk1"/>
              </a:buClr>
              <a:buSzPts val="1200"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 ЦБД володіє Уряд, але ніхто з учасників ринку не залежний від Уряду</a:t>
            </a:r>
            <a:endParaRPr/>
          </a:p>
          <a:p>
            <a:pPr>
              <a:buClr>
                <a:schemeClr val="dk1"/>
              </a:buClr>
              <a:buSzPts val="1200"/>
            </a:pPr>
            <a:endParaRPr/>
          </a:p>
          <a:p>
            <a:pPr>
              <a:buClr>
                <a:schemeClr val="dk1"/>
              </a:buClr>
              <a:buSzPts val="1200"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Єдиний спосіб третім сторонам отримати дані з ЦБД - через знеособлену big data.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423967323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49" name="Google Shape;845;g106a35e0ebc_12_54:notes"/>
          <p:cNvSpPr>
            <a:spLocks noGrp="1" noRot="1" noChangeAspect="1"/>
          </p:cNvSpPr>
          <p:nvPr>
            <p:ph type="sldImg" idx="2"/>
          </p:nvPr>
        </p:nvSpPr>
        <p:spPr bwMode="auto">
          <a:xfrm>
            <a:off x="-231775" y="681038"/>
            <a:ext cx="6053138" cy="3405187"/>
          </a:xfrm>
          <a:custGeom>
            <a:avLst/>
            <a:gdLst>
              <a:gd name="T0" fmla="*/ 0 w 120000"/>
              <a:gd name="T1" fmla="*/ 0 h 120000"/>
              <a:gd name="T2" fmla="*/ 2147483647 w 120000"/>
              <a:gd name="T3" fmla="*/ 0 h 120000"/>
              <a:gd name="T4" fmla="*/ 2147483647 w 120000"/>
              <a:gd name="T5" fmla="*/ 2147483647 h 120000"/>
              <a:gd name="T6" fmla="*/ 0 w 120000"/>
              <a:gd name="T7" fmla="*/ 2147483647 h 120000"/>
              <a:gd name="T8" fmla="*/ 0 60000 65536"/>
              <a:gd name="T9" fmla="*/ 0 60000 65536"/>
              <a:gd name="T10" fmla="*/ 0 60000 65536"/>
              <a:gd name="T11" fmla="*/ 0 60000 65536"/>
              <a:gd name="T12" fmla="*/ 0 w 120000"/>
              <a:gd name="T13" fmla="*/ 0 h 120000"/>
              <a:gd name="T14" fmla="*/ 120000 w 120000"/>
              <a:gd name="T15" fmla="*/ 120000 h 1200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>
            <a:noFill/>
          </a:ln>
        </p:spPr>
      </p:sp>
      <p:sp>
        <p:nvSpPr>
          <p:cNvPr id="53250" name="Google Shape;846;g106a35e0ebc_12_54:notes"/>
          <p:cNvSpPr>
            <a:spLocks noGrp="1"/>
          </p:cNvSpPr>
          <p:nvPr>
            <p:ph type="body" idx="1"/>
          </p:nvPr>
        </p:nvSpPr>
        <p:spPr bwMode="auto">
          <a:xfrm>
            <a:off x="745690" y="4313238"/>
            <a:ext cx="4101287" cy="4086225"/>
          </a:xfrm>
          <a:noFill/>
        </p:spPr>
        <p:txBody>
          <a:bodyPr wrap="square" lIns="91580" tIns="45778" rIns="91580" bIns="45778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  <a:buClr>
                <a:srgbClr val="000000"/>
              </a:buClr>
              <a:buSzPts val="1200"/>
              <a:buFont typeface="Calibri" pitchFamily="34" charset="0"/>
              <a:buNone/>
            </a:pPr>
            <a:r>
              <a:rPr lang="uk-UA">
                <a:sym typeface="Calibri" pitchFamily="34" charset="0"/>
              </a:rPr>
              <a:t>Як працює система:</a:t>
            </a:r>
            <a:endParaRPr lang="uk-UA"/>
          </a:p>
          <a:p>
            <a:pPr eaLnBrk="1" hangingPunct="1">
              <a:spcBef>
                <a:spcPct val="0"/>
              </a:spcBef>
              <a:buClr>
                <a:srgbClr val="000000"/>
              </a:buClr>
              <a:buSzPts val="1200"/>
              <a:buFont typeface="Calibri" pitchFamily="34" charset="0"/>
              <a:buNone/>
            </a:pPr>
            <a:endParaRPr lang="uk-UA"/>
          </a:p>
          <a:p>
            <a:pPr eaLnBrk="1" hangingPunct="1">
              <a:spcBef>
                <a:spcPct val="0"/>
              </a:spcBef>
              <a:buClr>
                <a:srgbClr val="000000"/>
              </a:buClr>
              <a:buSzPts val="1200"/>
              <a:buFont typeface="Calibri" pitchFamily="34" charset="0"/>
              <a:buNone/>
            </a:pPr>
            <a:r>
              <a:rPr lang="uk-UA">
                <a:sym typeface="Calibri" pitchFamily="34" charset="0"/>
              </a:rPr>
              <a:t>Дворівнева система: ЦБД + вільний ринок ІТ-рішень</a:t>
            </a:r>
            <a:endParaRPr lang="uk-UA"/>
          </a:p>
          <a:p>
            <a:pPr eaLnBrk="1" hangingPunct="1">
              <a:spcBef>
                <a:spcPct val="0"/>
              </a:spcBef>
              <a:buClr>
                <a:srgbClr val="000000"/>
              </a:buClr>
              <a:buSzPts val="1200"/>
              <a:buFont typeface="Calibri" pitchFamily="34" charset="0"/>
              <a:buNone/>
            </a:pPr>
            <a:r>
              <a:rPr lang="uk-UA">
                <a:sym typeface="Calibri" pitchFamily="34" charset="0"/>
              </a:rPr>
              <a:t>В ЦБД - медична картка. Не розкидана по базах, а в одному місці.</a:t>
            </a:r>
            <a:endParaRPr lang="uk-UA"/>
          </a:p>
          <a:p>
            <a:pPr eaLnBrk="1" hangingPunct="1">
              <a:spcBef>
                <a:spcPct val="0"/>
              </a:spcBef>
              <a:buClr>
                <a:srgbClr val="000000"/>
              </a:buClr>
              <a:buSzPts val="1200"/>
              <a:buFont typeface="Calibri" pitchFamily="34" charset="0"/>
              <a:buNone/>
            </a:pPr>
            <a:r>
              <a:rPr lang="uk-UA">
                <a:sym typeface="Calibri" pitchFamily="34" charset="0"/>
              </a:rPr>
              <a:t>ІТ-рішення гнучкі (модульні) - відповідають потребам користувачів (лікарні, аптеки). </a:t>
            </a:r>
            <a:endParaRPr lang="uk-UA"/>
          </a:p>
          <a:p>
            <a:pPr eaLnBrk="1" hangingPunct="1">
              <a:spcBef>
                <a:spcPct val="0"/>
              </a:spcBef>
              <a:buClr>
                <a:srgbClr val="000000"/>
              </a:buClr>
              <a:buSzPts val="1200"/>
              <a:buFont typeface="Calibri" pitchFamily="34" charset="0"/>
              <a:buNone/>
            </a:pPr>
            <a:endParaRPr lang="uk-UA"/>
          </a:p>
          <a:p>
            <a:pPr eaLnBrk="1" hangingPunct="1">
              <a:spcBef>
                <a:spcPct val="0"/>
              </a:spcBef>
              <a:buClr>
                <a:srgbClr val="000000"/>
              </a:buClr>
              <a:buSzPts val="1200"/>
              <a:buFont typeface="Calibri" pitchFamily="34" charset="0"/>
              <a:buNone/>
            </a:pPr>
            <a:r>
              <a:rPr lang="uk-UA">
                <a:sym typeface="Calibri" pitchFamily="34" charset="0"/>
              </a:rPr>
              <a:t>ЦБД базовані та відкритому коді - немає власника коду, який може “перекривати кисень”.</a:t>
            </a:r>
            <a:endParaRPr lang="uk-UA"/>
          </a:p>
          <a:p>
            <a:pPr eaLnBrk="1" hangingPunct="1">
              <a:spcBef>
                <a:spcPct val="0"/>
              </a:spcBef>
              <a:buClr>
                <a:srgbClr val="000000"/>
              </a:buClr>
              <a:buSzPts val="1200"/>
              <a:buFont typeface="Calibri" pitchFamily="34" charset="0"/>
              <a:buNone/>
            </a:pPr>
            <a:r>
              <a:rPr lang="uk-UA">
                <a:sym typeface="Calibri" pitchFamily="34" charset="0"/>
              </a:rPr>
              <a:t> ЦБД володіє Уряд, але ніхто з учасників ринку не залежний від Уряду</a:t>
            </a:r>
            <a:endParaRPr lang="uk-UA"/>
          </a:p>
          <a:p>
            <a:pPr eaLnBrk="1" hangingPunct="1">
              <a:spcBef>
                <a:spcPct val="0"/>
              </a:spcBef>
              <a:buClr>
                <a:srgbClr val="000000"/>
              </a:buClr>
              <a:buSzPts val="1200"/>
              <a:buFont typeface="Calibri" pitchFamily="34" charset="0"/>
              <a:buNone/>
            </a:pPr>
            <a:endParaRPr lang="uk-UA"/>
          </a:p>
          <a:p>
            <a:pPr eaLnBrk="1" hangingPunct="1">
              <a:spcBef>
                <a:spcPct val="0"/>
              </a:spcBef>
              <a:buClr>
                <a:srgbClr val="000000"/>
              </a:buClr>
              <a:buSzPts val="1200"/>
              <a:buFont typeface="Calibri" pitchFamily="34" charset="0"/>
              <a:buNone/>
            </a:pPr>
            <a:r>
              <a:rPr lang="uk-UA">
                <a:sym typeface="Calibri" pitchFamily="34" charset="0"/>
              </a:rPr>
              <a:t>Єдиний спосіб третім сторонам отримати дані з ЦБД - через знеособлену big data.</a:t>
            </a:r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22218506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5" name="Google Shape;845;g106a35e0ebc_12_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-231775" y="681038"/>
            <a:ext cx="6053138" cy="34051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46" name="Google Shape;846;g106a35e0ebc_12_54:notes"/>
          <p:cNvSpPr txBox="1">
            <a:spLocks noGrp="1"/>
          </p:cNvSpPr>
          <p:nvPr>
            <p:ph type="body" idx="1"/>
          </p:nvPr>
        </p:nvSpPr>
        <p:spPr>
          <a:xfrm>
            <a:off x="745690" y="4313238"/>
            <a:ext cx="4101395" cy="408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580" tIns="45778" rIns="91580" bIns="45778" anchor="t" anchorCtr="0">
            <a:noAutofit/>
          </a:bodyPr>
          <a:lstStyle/>
          <a:p>
            <a:pPr>
              <a:buClr>
                <a:schemeClr val="dk1"/>
              </a:buClr>
              <a:buSzPts val="1200"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Як працює система:</a:t>
            </a:r>
            <a:endParaRPr/>
          </a:p>
          <a:p>
            <a:pPr>
              <a:buClr>
                <a:schemeClr val="dk1"/>
              </a:buClr>
              <a:buSzPts val="1200"/>
            </a:pPr>
            <a:endParaRPr/>
          </a:p>
          <a:p>
            <a:pPr marL="228989">
              <a:buClr>
                <a:schemeClr val="dk1"/>
              </a:buClr>
              <a:buSzPts val="1200"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Дворівнева система: ЦБД + вільний ринок ІТ-рішень</a:t>
            </a:r>
            <a:endParaRPr/>
          </a:p>
          <a:p>
            <a:pPr marL="228989">
              <a:buClr>
                <a:schemeClr val="dk1"/>
              </a:buClr>
              <a:buSzPts val="1200"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В ЦБД - медична картка. Не розкидана по базах, а в одному місці.</a:t>
            </a:r>
            <a:endParaRPr/>
          </a:p>
          <a:p>
            <a:pPr marL="228989">
              <a:buClr>
                <a:schemeClr val="dk1"/>
              </a:buClr>
              <a:buSzPts val="1200"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ІТ-рішення гнучкі (модульні) - відповідають потребам користувачів (лікарні, аптеки). </a:t>
            </a:r>
            <a:endParaRPr/>
          </a:p>
          <a:p>
            <a:pPr>
              <a:buClr>
                <a:schemeClr val="dk1"/>
              </a:buClr>
              <a:buSzPts val="1200"/>
            </a:pPr>
            <a:endParaRPr/>
          </a:p>
          <a:p>
            <a:pPr>
              <a:buClr>
                <a:schemeClr val="dk1"/>
              </a:buClr>
              <a:buSzPts val="1200"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ЦБД базовані та відкритому коді - немає власника коду, який може “перекривати кисень”.</a:t>
            </a:r>
            <a:endParaRPr/>
          </a:p>
          <a:p>
            <a:pPr>
              <a:buClr>
                <a:schemeClr val="dk1"/>
              </a:buClr>
              <a:buSzPts val="1200"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 ЦБД володіє Уряд, але ніхто з учасників ринку не залежний від Уряду</a:t>
            </a:r>
            <a:endParaRPr/>
          </a:p>
          <a:p>
            <a:pPr>
              <a:buClr>
                <a:schemeClr val="dk1"/>
              </a:buClr>
              <a:buSzPts val="1200"/>
            </a:pPr>
            <a:endParaRPr/>
          </a:p>
          <a:p>
            <a:pPr>
              <a:buClr>
                <a:schemeClr val="dk1"/>
              </a:buClr>
              <a:buSzPts val="1200"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Єдиний спосіб третім сторонам отримати дані з ЦБД - через знеособлену big data.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425750755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5" name="Google Shape;845;g106a35e0ebc_12_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-515938" y="738188"/>
            <a:ext cx="6575426" cy="36988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46" name="Google Shape;846;g106a35e0ebc_12_54:notes"/>
          <p:cNvSpPr txBox="1">
            <a:spLocks noGrp="1"/>
          </p:cNvSpPr>
          <p:nvPr>
            <p:ph type="body" idx="1"/>
          </p:nvPr>
        </p:nvSpPr>
        <p:spPr>
          <a:xfrm>
            <a:off x="739132" y="4682411"/>
            <a:ext cx="4065318" cy="44359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580" tIns="45778" rIns="91580" bIns="45778" anchor="t" anchorCtr="0">
            <a:noAutofit/>
          </a:bodyPr>
          <a:lstStyle/>
          <a:p>
            <a:pPr>
              <a:buClr>
                <a:schemeClr val="dk1"/>
              </a:buClr>
              <a:buSzPts val="1200"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Як працює система:</a:t>
            </a:r>
            <a:endParaRPr/>
          </a:p>
          <a:p>
            <a:pPr>
              <a:buClr>
                <a:schemeClr val="dk1"/>
              </a:buClr>
              <a:buSzPts val="1200"/>
            </a:pPr>
            <a:endParaRPr/>
          </a:p>
          <a:p>
            <a:pPr marL="228989">
              <a:buClr>
                <a:schemeClr val="dk1"/>
              </a:buClr>
              <a:buSzPts val="1200"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Дворівнева система: ЦБД + вільний ринок ІТ-рішень</a:t>
            </a:r>
            <a:endParaRPr/>
          </a:p>
          <a:p>
            <a:pPr marL="228989">
              <a:buClr>
                <a:schemeClr val="dk1"/>
              </a:buClr>
              <a:buSzPts val="1200"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В ЦБД - медична картка. Не розкидана по базах, а в одному місці.</a:t>
            </a:r>
            <a:endParaRPr/>
          </a:p>
          <a:p>
            <a:pPr marL="228989">
              <a:buClr>
                <a:schemeClr val="dk1"/>
              </a:buClr>
              <a:buSzPts val="1200"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ІТ-рішення гнучкі (модульні) - відповідають потребам користувачів (лікарні, аптеки). </a:t>
            </a:r>
            <a:endParaRPr/>
          </a:p>
          <a:p>
            <a:pPr>
              <a:buClr>
                <a:schemeClr val="dk1"/>
              </a:buClr>
              <a:buSzPts val="1200"/>
            </a:pPr>
            <a:endParaRPr/>
          </a:p>
          <a:p>
            <a:pPr>
              <a:buClr>
                <a:schemeClr val="dk1"/>
              </a:buClr>
              <a:buSzPts val="1200"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ЦБД базовані та відкритому коді - немає власника коду, який може “перекривати кисень”.</a:t>
            </a:r>
            <a:endParaRPr/>
          </a:p>
          <a:p>
            <a:pPr>
              <a:buClr>
                <a:schemeClr val="dk1"/>
              </a:buClr>
              <a:buSzPts val="1200"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 ЦБД володіє Уряд, але ніхто з учасників ринку не залежний від Уряду</a:t>
            </a:r>
            <a:endParaRPr/>
          </a:p>
          <a:p>
            <a:pPr>
              <a:buClr>
                <a:schemeClr val="dk1"/>
              </a:buClr>
              <a:buSzPts val="1200"/>
            </a:pPr>
            <a:endParaRPr/>
          </a:p>
          <a:p>
            <a:pPr>
              <a:buClr>
                <a:schemeClr val="dk1"/>
              </a:buClr>
              <a:buSzPts val="1200"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Єдиний спосіб третім сторонам отримати дані з ЦБД - через знеособлену big data.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61007453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5" name="Google Shape;845;g106a35e0ebc_12_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-515938" y="738188"/>
            <a:ext cx="6575426" cy="36988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46" name="Google Shape;846;g106a35e0ebc_12_54:notes"/>
          <p:cNvSpPr txBox="1">
            <a:spLocks noGrp="1"/>
          </p:cNvSpPr>
          <p:nvPr>
            <p:ph type="body" idx="1"/>
          </p:nvPr>
        </p:nvSpPr>
        <p:spPr>
          <a:xfrm>
            <a:off x="739132" y="4682411"/>
            <a:ext cx="4065318" cy="44359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580" tIns="45778" rIns="91580" bIns="45778" anchor="t" anchorCtr="0">
            <a:noAutofit/>
          </a:bodyPr>
          <a:lstStyle/>
          <a:p>
            <a:pPr>
              <a:buClr>
                <a:schemeClr val="dk1"/>
              </a:buClr>
              <a:buSzPts val="1200"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Як працює система:</a:t>
            </a:r>
            <a:endParaRPr/>
          </a:p>
          <a:p>
            <a:pPr>
              <a:buClr>
                <a:schemeClr val="dk1"/>
              </a:buClr>
              <a:buSzPts val="1200"/>
            </a:pPr>
            <a:endParaRPr/>
          </a:p>
          <a:p>
            <a:pPr marL="228989">
              <a:buClr>
                <a:schemeClr val="dk1"/>
              </a:buClr>
              <a:buSzPts val="1200"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Дворівнева система: ЦБД + вільний ринок ІТ-рішень</a:t>
            </a:r>
            <a:endParaRPr/>
          </a:p>
          <a:p>
            <a:pPr marL="228989">
              <a:buClr>
                <a:schemeClr val="dk1"/>
              </a:buClr>
              <a:buSzPts val="1200"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В ЦБД - медична картка. Не розкидана по базах, а в одному місці.</a:t>
            </a:r>
            <a:endParaRPr/>
          </a:p>
          <a:p>
            <a:pPr marL="228989">
              <a:buClr>
                <a:schemeClr val="dk1"/>
              </a:buClr>
              <a:buSzPts val="1200"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ІТ-рішення гнучкі (модульні) - відповідають потребам користувачів (лікарні, аптеки). </a:t>
            </a:r>
            <a:endParaRPr/>
          </a:p>
          <a:p>
            <a:pPr>
              <a:buClr>
                <a:schemeClr val="dk1"/>
              </a:buClr>
              <a:buSzPts val="1200"/>
            </a:pPr>
            <a:endParaRPr/>
          </a:p>
          <a:p>
            <a:pPr>
              <a:buClr>
                <a:schemeClr val="dk1"/>
              </a:buClr>
              <a:buSzPts val="1200"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ЦБД базовані та відкритому коді - немає власника коду, який може “перекривати кисень”.</a:t>
            </a:r>
            <a:endParaRPr/>
          </a:p>
          <a:p>
            <a:pPr>
              <a:buClr>
                <a:schemeClr val="dk1"/>
              </a:buClr>
              <a:buSzPts val="1200"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 ЦБД володіє Уряд, але ніхто з учасників ринку не залежний від Уряду</a:t>
            </a:r>
            <a:endParaRPr/>
          </a:p>
          <a:p>
            <a:pPr>
              <a:buClr>
                <a:schemeClr val="dk1"/>
              </a:buClr>
              <a:buSzPts val="1200"/>
            </a:pPr>
            <a:endParaRPr/>
          </a:p>
          <a:p>
            <a:pPr>
              <a:buClr>
                <a:schemeClr val="dk1"/>
              </a:buClr>
              <a:buSzPts val="1200"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Єдиний спосіб третім сторонам отримати дані з ЦБД - через знеособлену big data.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8282922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Образ слайда 1">
            <a:extLst>
              <a:ext uri="{FF2B5EF4-FFF2-40B4-BE49-F238E27FC236}">
                <a16:creationId xmlns:a16="http://schemas.microsoft.com/office/drawing/2014/main" id="{489E4B7E-9967-46C8-B8EC-8F7AACFD448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195" name="Заметки 2">
            <a:extLst>
              <a:ext uri="{FF2B5EF4-FFF2-40B4-BE49-F238E27FC236}">
                <a16:creationId xmlns:a16="http://schemas.microsoft.com/office/drawing/2014/main" id="{9C9DC2FB-A659-4FDB-B514-6BC81E2173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just"/>
            <a:r>
              <a:rPr lang="uk-UA" altLang="uk-UA" sz="1600">
                <a:latin typeface="Arial" panose="020B0604020202020204" pitchFamily="34" charset="0"/>
              </a:rPr>
              <a:t>Незважаючи на те, що впродовж 2005-2009 років на Львівщині спостерігалась позитивна динаміка народжуваності, за даними Головного управління статистики Львівської області у 2010 році зафіксовано спад народжуваності з 11,8‰ у 2009 році до 11,2‰ цьогоріч. Народилось живими 28651 дитина, що на 1419 (4,7%)  дітей менше, ніж у 2009 році.</a:t>
            </a:r>
          </a:p>
          <a:p>
            <a:endParaRPr lang="uk-UA" altLang="uk-UA">
              <a:latin typeface="Arial" panose="020B0604020202020204" pitchFamily="34" charset="0"/>
            </a:endParaRPr>
          </a:p>
        </p:txBody>
      </p:sp>
      <p:sp>
        <p:nvSpPr>
          <p:cNvPr id="8196" name="Номер слайда 3">
            <a:extLst>
              <a:ext uri="{FF2B5EF4-FFF2-40B4-BE49-F238E27FC236}">
                <a16:creationId xmlns:a16="http://schemas.microsoft.com/office/drawing/2014/main" id="{3F40AF96-6B47-45B7-9496-84D33284DD3C}"/>
              </a:ext>
            </a:extLst>
          </p:cNvPr>
          <p:cNvSpPr txBox="1">
            <a:spLocks noGrp="1"/>
          </p:cNvSpPr>
          <p:nvPr/>
        </p:nvSpPr>
        <p:spPr bwMode="auto">
          <a:xfrm>
            <a:off x="5684090" y="6325710"/>
            <a:ext cx="4346657" cy="365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595" tIns="45798" rIns="91595" bIns="45798"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BE7B5C65-F479-416C-BBD2-9FD2DC22E167}" type="slidenum">
              <a:rPr lang="ru-RU" altLang="uk-UA"/>
              <a:pPr algn="r" eaLnBrk="1" hangingPunct="1">
                <a:spcBef>
                  <a:spcPct val="0"/>
                </a:spcBef>
              </a:pPr>
              <a:t>28</a:t>
            </a:fld>
            <a:endParaRPr lang="ru-RU" altLang="uk-UA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5" name="Google Shape;845;g106a35e0ebc_12_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-515938" y="738188"/>
            <a:ext cx="6575426" cy="36988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46" name="Google Shape;846;g106a35e0ebc_12_54:notes"/>
          <p:cNvSpPr txBox="1">
            <a:spLocks noGrp="1"/>
          </p:cNvSpPr>
          <p:nvPr>
            <p:ph type="body" idx="1"/>
          </p:nvPr>
        </p:nvSpPr>
        <p:spPr>
          <a:xfrm>
            <a:off x="739132" y="4682411"/>
            <a:ext cx="4065318" cy="44359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580" tIns="45778" rIns="91580" bIns="45778" anchor="t" anchorCtr="0">
            <a:noAutofit/>
          </a:bodyPr>
          <a:lstStyle/>
          <a:p>
            <a:pPr>
              <a:buClr>
                <a:schemeClr val="dk1"/>
              </a:buClr>
              <a:buSzPts val="1200"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Як працює система:</a:t>
            </a:r>
            <a:endParaRPr/>
          </a:p>
          <a:p>
            <a:pPr>
              <a:buClr>
                <a:schemeClr val="dk1"/>
              </a:buClr>
              <a:buSzPts val="1200"/>
            </a:pPr>
            <a:endParaRPr/>
          </a:p>
          <a:p>
            <a:pPr marL="228989">
              <a:buClr>
                <a:schemeClr val="dk1"/>
              </a:buClr>
              <a:buSzPts val="1200"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Дворівнева система: ЦБД + вільний ринок ІТ-рішень</a:t>
            </a:r>
            <a:endParaRPr/>
          </a:p>
          <a:p>
            <a:pPr marL="228989">
              <a:buClr>
                <a:schemeClr val="dk1"/>
              </a:buClr>
              <a:buSzPts val="1200"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В ЦБД - медична картка. Не розкидана по базах, а в одному місці.</a:t>
            </a:r>
            <a:endParaRPr/>
          </a:p>
          <a:p>
            <a:pPr marL="228989">
              <a:buClr>
                <a:schemeClr val="dk1"/>
              </a:buClr>
              <a:buSzPts val="1200"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ІТ-рішення гнучкі (модульні) - відповідають потребам користувачів (лікарні, аптеки). </a:t>
            </a:r>
            <a:endParaRPr/>
          </a:p>
          <a:p>
            <a:pPr>
              <a:buClr>
                <a:schemeClr val="dk1"/>
              </a:buClr>
              <a:buSzPts val="1200"/>
            </a:pPr>
            <a:endParaRPr/>
          </a:p>
          <a:p>
            <a:pPr>
              <a:buClr>
                <a:schemeClr val="dk1"/>
              </a:buClr>
              <a:buSzPts val="1200"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ЦБД базовані та відкритому коді - немає власника коду, який може “перекривати кисень”.</a:t>
            </a:r>
            <a:endParaRPr/>
          </a:p>
          <a:p>
            <a:pPr>
              <a:buClr>
                <a:schemeClr val="dk1"/>
              </a:buClr>
              <a:buSzPts val="1200"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 ЦБД володіє Уряд, але ніхто з учасників ринку не залежний від Уряду</a:t>
            </a:r>
            <a:endParaRPr/>
          </a:p>
          <a:p>
            <a:pPr>
              <a:buClr>
                <a:schemeClr val="dk1"/>
              </a:buClr>
              <a:buSzPts val="1200"/>
            </a:pPr>
            <a:endParaRPr/>
          </a:p>
          <a:p>
            <a:pPr>
              <a:buClr>
                <a:schemeClr val="dk1"/>
              </a:buClr>
              <a:buSzPts val="1200"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Єдиний спосіб третім сторонам отримати дані з ЦБД - через знеособлену big data.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7032384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B4274B7-E2A1-4FB8-B9B2-D01CD5332E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Підзаголовок 2">
            <a:extLst>
              <a:ext uri="{FF2B5EF4-FFF2-40B4-BE49-F238E27FC236}">
                <a16:creationId xmlns:a16="http://schemas.microsoft.com/office/drawing/2014/main" id="{7F2C7CCE-A290-40C4-AD21-F0D5234226C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uk-UA"/>
              <a:t>Клацніть, щоб редагувати стиль зразка підзаголовка</a:t>
            </a:r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E93E66FB-5758-41E1-AA9E-4CA59F9391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9302BF-E980-48A7-BA73-F008482585AE}" type="datetimeFigureOut">
              <a:rPr lang="uk-UA" smtClean="0"/>
              <a:t>28.03.2024</a:t>
            </a:fld>
            <a:endParaRPr lang="uk-UA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E0B07E06-26F2-4638-B2BA-B078601166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DF1BC641-6A3F-4528-B8F7-6768D39024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64790C-1DA9-418F-ADB3-E9B76F769C72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7980452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Назва та вмі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6CD6960-9F45-4C0D-8192-8745E417AC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4125A5D0-2150-430A-AE11-EB14A0D4FD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uk-UA"/>
              <a:t>Відредагуйте стиль зразка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C2B45AE1-83C0-455A-BF9D-8FB7C04728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9302BF-E980-48A7-BA73-F008482585AE}" type="datetimeFigureOut">
              <a:rPr lang="uk-UA" smtClean="0"/>
              <a:t>28.03.2024</a:t>
            </a:fld>
            <a:endParaRPr lang="uk-UA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E7A9BDCF-9533-4DE2-BE3C-FA043F6DCC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90C9C6AB-B2C8-4DA8-86C8-B55D2EFC40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64790C-1DA9-418F-ADB3-E9B76F769C72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4838682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Назва розділ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6AC670C-1925-400E-BAF2-E6CB7E3753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Місце для тексту 2">
            <a:extLst>
              <a:ext uri="{FF2B5EF4-FFF2-40B4-BE49-F238E27FC236}">
                <a16:creationId xmlns:a16="http://schemas.microsoft.com/office/drawing/2014/main" id="{32396C19-39A1-43DF-AFAC-DB392EB6DB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uk-UA"/>
              <a:t>Відредагуйте стиль зразка тексту</a:t>
            </a:r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2CB293A1-1ED5-4E4A-8D75-5090971DF7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9302BF-E980-48A7-BA73-F008482585AE}" type="datetimeFigureOut">
              <a:rPr lang="uk-UA" smtClean="0"/>
              <a:t>28.03.2024</a:t>
            </a:fld>
            <a:endParaRPr lang="uk-UA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85CB0F52-FD47-475F-818D-5E4671C3BA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C50DA563-6AE4-4AB5-B699-87CBA8C2F2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64790C-1DA9-418F-ADB3-E9B76F769C72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5165047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’єкт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09E929B-78FD-4DF8-B5EC-298E5BAEFB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AAF973B8-81CB-4B9F-9667-60F81FAE02C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uk-UA"/>
              <a:t>Відредагуйте стиль зразка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22C3A682-B433-4486-BB6B-F33B33F2297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uk-UA"/>
              <a:t>Відредагуйте стиль зразка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  <p:sp>
        <p:nvSpPr>
          <p:cNvPr id="5" name="Місце для дати 4">
            <a:extLst>
              <a:ext uri="{FF2B5EF4-FFF2-40B4-BE49-F238E27FC236}">
                <a16:creationId xmlns:a16="http://schemas.microsoft.com/office/drawing/2014/main" id="{57B43813-09AC-4A61-9EE4-1342B1662E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9302BF-E980-48A7-BA73-F008482585AE}" type="datetimeFigureOut">
              <a:rPr lang="uk-UA" smtClean="0"/>
              <a:t>28.03.2024</a:t>
            </a:fld>
            <a:endParaRPr lang="uk-UA"/>
          </a:p>
        </p:txBody>
      </p:sp>
      <p:sp>
        <p:nvSpPr>
          <p:cNvPr id="6" name="Місце для нижнього колонтитула 5">
            <a:extLst>
              <a:ext uri="{FF2B5EF4-FFF2-40B4-BE49-F238E27FC236}">
                <a16:creationId xmlns:a16="http://schemas.microsoft.com/office/drawing/2014/main" id="{778959AB-FE26-4520-93AE-7A3A5DD326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Місце для номера слайда 6">
            <a:extLst>
              <a:ext uri="{FF2B5EF4-FFF2-40B4-BE49-F238E27FC236}">
                <a16:creationId xmlns:a16="http://schemas.microsoft.com/office/drawing/2014/main" id="{85ADD9EC-D186-4D4B-AC86-6523BFD317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64790C-1DA9-418F-ADB3-E9B76F769C72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8809627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Порівнянн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CF86B54-DC94-41BC-BE82-FB93890404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Місце для тексту 2">
            <a:extLst>
              <a:ext uri="{FF2B5EF4-FFF2-40B4-BE49-F238E27FC236}">
                <a16:creationId xmlns:a16="http://schemas.microsoft.com/office/drawing/2014/main" id="{BC6717C9-D759-404B-9D86-C31FA34DE1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/>
              <a:t>Відредагуйте стиль зразка тексту</a:t>
            </a:r>
          </a:p>
        </p:txBody>
      </p:sp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16AE4B06-AC63-43A7-B242-C6B80F2287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uk-UA"/>
              <a:t>Відредагуйте стиль зразка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  <p:sp>
        <p:nvSpPr>
          <p:cNvPr id="5" name="Місце для тексту 4">
            <a:extLst>
              <a:ext uri="{FF2B5EF4-FFF2-40B4-BE49-F238E27FC236}">
                <a16:creationId xmlns:a16="http://schemas.microsoft.com/office/drawing/2014/main" id="{C55F810D-6630-43F1-9034-CC7D3FB7F29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/>
              <a:t>Відредагуйте стиль зразка тексту</a:t>
            </a:r>
          </a:p>
        </p:txBody>
      </p:sp>
      <p:sp>
        <p:nvSpPr>
          <p:cNvPr id="6" name="Місце для вмісту 5">
            <a:extLst>
              <a:ext uri="{FF2B5EF4-FFF2-40B4-BE49-F238E27FC236}">
                <a16:creationId xmlns:a16="http://schemas.microsoft.com/office/drawing/2014/main" id="{C3B691A7-2E8B-4D32-B379-3718111FB18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uk-UA"/>
              <a:t>Відредагуйте стиль зразка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  <p:sp>
        <p:nvSpPr>
          <p:cNvPr id="7" name="Місце для дати 6">
            <a:extLst>
              <a:ext uri="{FF2B5EF4-FFF2-40B4-BE49-F238E27FC236}">
                <a16:creationId xmlns:a16="http://schemas.microsoft.com/office/drawing/2014/main" id="{1A65A239-F4E6-4AC8-A6F9-0381CB0603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9302BF-E980-48A7-BA73-F008482585AE}" type="datetimeFigureOut">
              <a:rPr lang="uk-UA" smtClean="0"/>
              <a:t>28.03.2024</a:t>
            </a:fld>
            <a:endParaRPr lang="uk-UA"/>
          </a:p>
        </p:txBody>
      </p:sp>
      <p:sp>
        <p:nvSpPr>
          <p:cNvPr id="8" name="Місце для нижнього колонтитула 7">
            <a:extLst>
              <a:ext uri="{FF2B5EF4-FFF2-40B4-BE49-F238E27FC236}">
                <a16:creationId xmlns:a16="http://schemas.microsoft.com/office/drawing/2014/main" id="{1F1B2D41-C913-4CB5-8338-D7563E723D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9" name="Місце для номера слайда 8">
            <a:extLst>
              <a:ext uri="{FF2B5EF4-FFF2-40B4-BE49-F238E27FC236}">
                <a16:creationId xmlns:a16="http://schemas.microsoft.com/office/drawing/2014/main" id="{6E0F9DEA-49F0-48BF-BD8D-A0DFBF308D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64790C-1DA9-418F-ADB3-E9B76F769C72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1952690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Лише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1B2FF93-0F75-4AC2-9868-6F57D4AA21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Місце для дати 2">
            <a:extLst>
              <a:ext uri="{FF2B5EF4-FFF2-40B4-BE49-F238E27FC236}">
                <a16:creationId xmlns:a16="http://schemas.microsoft.com/office/drawing/2014/main" id="{F4915BA2-0C40-4761-A08A-B976DE783D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9302BF-E980-48A7-BA73-F008482585AE}" type="datetimeFigureOut">
              <a:rPr lang="uk-UA" smtClean="0"/>
              <a:t>28.03.2024</a:t>
            </a:fld>
            <a:endParaRPr lang="uk-UA"/>
          </a:p>
        </p:txBody>
      </p:sp>
      <p:sp>
        <p:nvSpPr>
          <p:cNvPr id="4" name="Місце для нижнього колонтитула 3">
            <a:extLst>
              <a:ext uri="{FF2B5EF4-FFF2-40B4-BE49-F238E27FC236}">
                <a16:creationId xmlns:a16="http://schemas.microsoft.com/office/drawing/2014/main" id="{E56E5918-CDC9-444A-8F86-A88FFA67A5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5" name="Місце для номера слайда 4">
            <a:extLst>
              <a:ext uri="{FF2B5EF4-FFF2-40B4-BE49-F238E27FC236}">
                <a16:creationId xmlns:a16="http://schemas.microsoft.com/office/drawing/2014/main" id="{40DFBEF8-B123-440C-A462-880E316F4E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64790C-1DA9-418F-ADB3-E9B76F769C72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4421748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дати 1">
            <a:extLst>
              <a:ext uri="{FF2B5EF4-FFF2-40B4-BE49-F238E27FC236}">
                <a16:creationId xmlns:a16="http://schemas.microsoft.com/office/drawing/2014/main" id="{D5783530-978A-4831-89F2-CAAE52BCE6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9302BF-E980-48A7-BA73-F008482585AE}" type="datetimeFigureOut">
              <a:rPr lang="uk-UA" smtClean="0"/>
              <a:t>28.03.2024</a:t>
            </a:fld>
            <a:endParaRPr lang="uk-UA"/>
          </a:p>
        </p:txBody>
      </p:sp>
      <p:sp>
        <p:nvSpPr>
          <p:cNvPr id="3" name="Місце для нижнього колонтитула 2">
            <a:extLst>
              <a:ext uri="{FF2B5EF4-FFF2-40B4-BE49-F238E27FC236}">
                <a16:creationId xmlns:a16="http://schemas.microsoft.com/office/drawing/2014/main" id="{55A4B1D1-49A9-4280-BFAF-5286ADC119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4" name="Місце для номера слайда 3">
            <a:extLst>
              <a:ext uri="{FF2B5EF4-FFF2-40B4-BE49-F238E27FC236}">
                <a16:creationId xmlns:a16="http://schemas.microsoft.com/office/drawing/2014/main" id="{8548C4F6-99F9-4ACB-9856-F62A172185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64790C-1DA9-418F-ADB3-E9B76F769C72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3608801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Вміст і пі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8B7EDA5-6E21-4067-844F-FD4A18A0BC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A7C1F82B-21F0-4A62-A476-7790B09C9D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uk-UA"/>
              <a:t>Відредагуйте стиль зразка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  <p:sp>
        <p:nvSpPr>
          <p:cNvPr id="4" name="Місце для тексту 3">
            <a:extLst>
              <a:ext uri="{FF2B5EF4-FFF2-40B4-BE49-F238E27FC236}">
                <a16:creationId xmlns:a16="http://schemas.microsoft.com/office/drawing/2014/main" id="{6F00ED24-5687-4B12-BE94-9E7F9E0A6EF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uk-UA"/>
              <a:t>Відредагуйте стиль зразка тексту</a:t>
            </a:r>
          </a:p>
        </p:txBody>
      </p:sp>
      <p:sp>
        <p:nvSpPr>
          <p:cNvPr id="5" name="Місце для дати 4">
            <a:extLst>
              <a:ext uri="{FF2B5EF4-FFF2-40B4-BE49-F238E27FC236}">
                <a16:creationId xmlns:a16="http://schemas.microsoft.com/office/drawing/2014/main" id="{C32E13CE-D20B-465F-B693-8E6FD99DD9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9302BF-E980-48A7-BA73-F008482585AE}" type="datetimeFigureOut">
              <a:rPr lang="uk-UA" smtClean="0"/>
              <a:t>28.03.2024</a:t>
            </a:fld>
            <a:endParaRPr lang="uk-UA"/>
          </a:p>
        </p:txBody>
      </p:sp>
      <p:sp>
        <p:nvSpPr>
          <p:cNvPr id="6" name="Місце для нижнього колонтитула 5">
            <a:extLst>
              <a:ext uri="{FF2B5EF4-FFF2-40B4-BE49-F238E27FC236}">
                <a16:creationId xmlns:a16="http://schemas.microsoft.com/office/drawing/2014/main" id="{F1B4371E-9AD0-43FA-9C42-6C7E2A1B80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Місце для номера слайда 6">
            <a:extLst>
              <a:ext uri="{FF2B5EF4-FFF2-40B4-BE49-F238E27FC236}">
                <a16:creationId xmlns:a16="http://schemas.microsoft.com/office/drawing/2014/main" id="{1BDA8976-02D9-431D-894E-9281201C01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64790C-1DA9-418F-ADB3-E9B76F769C72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0968765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і пі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3348324-FDE2-4AD4-B77E-E7911E6B39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Місце для зображення 2">
            <a:extLst>
              <a:ext uri="{FF2B5EF4-FFF2-40B4-BE49-F238E27FC236}">
                <a16:creationId xmlns:a16="http://schemas.microsoft.com/office/drawing/2014/main" id="{6981F827-DBAA-4705-AB3C-D9AD0893B08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uk-UA"/>
          </a:p>
        </p:txBody>
      </p:sp>
      <p:sp>
        <p:nvSpPr>
          <p:cNvPr id="4" name="Місце для тексту 3">
            <a:extLst>
              <a:ext uri="{FF2B5EF4-FFF2-40B4-BE49-F238E27FC236}">
                <a16:creationId xmlns:a16="http://schemas.microsoft.com/office/drawing/2014/main" id="{EC61323D-BEC3-4F18-898C-0D4E9FC97B2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uk-UA"/>
              <a:t>Відредагуйте стиль зразка тексту</a:t>
            </a:r>
          </a:p>
        </p:txBody>
      </p:sp>
      <p:sp>
        <p:nvSpPr>
          <p:cNvPr id="5" name="Місце для дати 4">
            <a:extLst>
              <a:ext uri="{FF2B5EF4-FFF2-40B4-BE49-F238E27FC236}">
                <a16:creationId xmlns:a16="http://schemas.microsoft.com/office/drawing/2014/main" id="{E387BAEA-2A81-48B5-B6F8-2F5D014DC4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9302BF-E980-48A7-BA73-F008482585AE}" type="datetimeFigureOut">
              <a:rPr lang="uk-UA" smtClean="0"/>
              <a:t>28.03.2024</a:t>
            </a:fld>
            <a:endParaRPr lang="uk-UA"/>
          </a:p>
        </p:txBody>
      </p:sp>
      <p:sp>
        <p:nvSpPr>
          <p:cNvPr id="6" name="Місце для нижнього колонтитула 5">
            <a:extLst>
              <a:ext uri="{FF2B5EF4-FFF2-40B4-BE49-F238E27FC236}">
                <a16:creationId xmlns:a16="http://schemas.microsoft.com/office/drawing/2014/main" id="{B99EDA3B-529D-4BA7-875E-10C15D72E1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Місце для номера слайда 6">
            <a:extLst>
              <a:ext uri="{FF2B5EF4-FFF2-40B4-BE49-F238E27FC236}">
                <a16:creationId xmlns:a16="http://schemas.microsoft.com/office/drawing/2014/main" id="{9811A284-A1AF-4993-9A6B-D16AF8DD72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64790C-1DA9-418F-ADB3-E9B76F769C72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7384125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і вертикальни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310DAC2-032B-4928-ABC8-1751133EF3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Місце для вертикального тексту 2">
            <a:extLst>
              <a:ext uri="{FF2B5EF4-FFF2-40B4-BE49-F238E27FC236}">
                <a16:creationId xmlns:a16="http://schemas.microsoft.com/office/drawing/2014/main" id="{62F6F392-4483-4752-9439-5957133B7E8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uk-UA"/>
              <a:t>Відредагуйте стиль зразка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6D5399DF-0F9C-4F3F-BA00-E92D86B5F8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9302BF-E980-48A7-BA73-F008482585AE}" type="datetimeFigureOut">
              <a:rPr lang="uk-UA" smtClean="0"/>
              <a:t>28.03.2024</a:t>
            </a:fld>
            <a:endParaRPr lang="uk-UA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BDC6E811-45BA-4B10-A5CD-353CB6BCCA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E2FC7048-B01A-4325-B3A2-84E02AFB1C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64790C-1DA9-418F-ADB3-E9B76F769C72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9559374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ий заголовок і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ий заголовок 1">
            <a:extLst>
              <a:ext uri="{FF2B5EF4-FFF2-40B4-BE49-F238E27FC236}">
                <a16:creationId xmlns:a16="http://schemas.microsoft.com/office/drawing/2014/main" id="{6899A258-7907-4CAF-A31F-1016016502A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Місце для вертикального тексту 2">
            <a:extLst>
              <a:ext uri="{FF2B5EF4-FFF2-40B4-BE49-F238E27FC236}">
                <a16:creationId xmlns:a16="http://schemas.microsoft.com/office/drawing/2014/main" id="{8F72889F-4E4A-4FBD-9D35-6EEF008AE80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uk-UA"/>
              <a:t>Відредагуйте стиль зразка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7075B61F-2490-4C62-9981-21CB8489E9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9302BF-E980-48A7-BA73-F008482585AE}" type="datetimeFigureOut">
              <a:rPr lang="uk-UA" smtClean="0"/>
              <a:t>28.03.2024</a:t>
            </a:fld>
            <a:endParaRPr lang="uk-UA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F4164381-A1AC-4425-A9FD-A486427F55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5579CA3B-F97E-46A1-8F74-0CC5EAC4C9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64790C-1DA9-418F-ADB3-E9B76F769C72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43681925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_AND_BODY_1">
  <p:cSld name="TITLE_AND_BODY_1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5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50" tIns="34250" rIns="34250" bIns="3425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  <a:defRPr/>
            </a:lvl1pPr>
            <a:lvl2pPr lvl="1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2pPr>
            <a:lvl3pPr lvl="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3pPr>
            <a:lvl4pPr lvl="3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4pPr>
            <a:lvl5pPr lvl="4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5pPr>
            <a:lvl6pPr lvl="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6pPr>
            <a:lvl7pPr lvl="6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7pPr>
            <a:lvl8pPr lvl="7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8pPr>
            <a:lvl9pPr lvl="8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5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50" tIns="34250" rIns="34250" bIns="34250" anchor="t" anchorCtr="0">
            <a:normAutofit/>
          </a:bodyPr>
          <a:lstStyle>
            <a:lvl1pPr marL="609585" lvl="0" indent="-482588" algn="l" rtl="0">
              <a:lnSpc>
                <a:spcPct val="90000"/>
              </a:lnSpc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/>
            </a:lvl1pPr>
            <a:lvl2pPr marL="1219170" lvl="1" indent="-482588" algn="l" rtl="0">
              <a:lnSpc>
                <a:spcPct val="90000"/>
              </a:lnSpc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/>
            </a:lvl2pPr>
            <a:lvl3pPr marL="1828754" lvl="2" indent="-482588" algn="l" rtl="0">
              <a:lnSpc>
                <a:spcPct val="90000"/>
              </a:lnSpc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/>
            </a:lvl3pPr>
            <a:lvl4pPr marL="2438339" lvl="3" indent="-482588" algn="l" rtl="0">
              <a:lnSpc>
                <a:spcPct val="90000"/>
              </a:lnSpc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/>
            </a:lvl4pPr>
            <a:lvl5pPr marL="3047924" lvl="4" indent="-482588" algn="l" rtl="0">
              <a:lnSpc>
                <a:spcPct val="90000"/>
              </a:lnSpc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/>
            </a:lvl5pPr>
            <a:lvl6pPr marL="3657509" lvl="5" indent="-482588" algn="l" rtl="0">
              <a:lnSpc>
                <a:spcPct val="90000"/>
              </a:lnSpc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/>
            </a:lvl6pPr>
            <a:lvl7pPr marL="4267093" lvl="6" indent="-482588" algn="l" rtl="0">
              <a:lnSpc>
                <a:spcPct val="90000"/>
              </a:lnSpc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/>
            </a:lvl7pPr>
            <a:lvl8pPr marL="4876678" lvl="7" indent="-482588" algn="l" rtl="0">
              <a:lnSpc>
                <a:spcPct val="90000"/>
              </a:lnSpc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/>
            </a:lvl8pPr>
            <a:lvl9pPr marL="5486263" lvl="8" indent="-482588" algn="l" rtl="0">
              <a:lnSpc>
                <a:spcPct val="90000"/>
              </a:lnSpc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/>
            </a:lvl9pPr>
          </a:lstStyle>
          <a:p>
            <a:endParaRPr/>
          </a:p>
        </p:txBody>
      </p:sp>
      <p:sp>
        <p:nvSpPr>
          <p:cNvPr id="60" name="Google Shape;60;p15"/>
          <p:cNvSpPr txBox="1">
            <a:spLocks noGrp="1"/>
          </p:cNvSpPr>
          <p:nvPr>
            <p:ph type="sldNum" idx="12"/>
          </p:nvPr>
        </p:nvSpPr>
        <p:spPr>
          <a:xfrm>
            <a:off x="11754693" y="6174682"/>
            <a:ext cx="273600" cy="6231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50" tIns="34250" rIns="34250" bIns="34250" anchor="ctr" anchorCtr="0">
            <a:sp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" smtClean="0"/>
              <a:pPr/>
              <a:t>‹№›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0034749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аголовка 1">
            <a:extLst>
              <a:ext uri="{FF2B5EF4-FFF2-40B4-BE49-F238E27FC236}">
                <a16:creationId xmlns:a16="http://schemas.microsoft.com/office/drawing/2014/main" id="{A8C2E5E8-A8F3-4C7C-8F87-6758DC18A4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Місце для тексту 2">
            <a:extLst>
              <a:ext uri="{FF2B5EF4-FFF2-40B4-BE49-F238E27FC236}">
                <a16:creationId xmlns:a16="http://schemas.microsoft.com/office/drawing/2014/main" id="{8F3DAD75-5F18-4C1C-B1F5-522A858BF5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uk-UA"/>
              <a:t>Відредагуйте стиль зразка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552794FA-4F8F-43A7-9362-970192FD337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09302BF-E980-48A7-BA73-F008482585AE}" type="datetimeFigureOut">
              <a:rPr lang="uk-UA" smtClean="0"/>
              <a:t>28.03.2024</a:t>
            </a:fld>
            <a:endParaRPr lang="uk-UA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57A07E12-4309-4521-AD94-B09ED0C5402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uk-UA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3D57B892-ABA5-44E9-BFBA-6C8D23E30DD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164790C-1DA9-418F-ADB3-E9B76F769C72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1435473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uk-UA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4" Type="http://schemas.openxmlformats.org/officeDocument/2006/relationships/chart" Target="../charts/char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chart" Target="../charts/chart8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9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0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2.xml"/><Relationship Id="rId2" Type="http://schemas.openxmlformats.org/officeDocument/2006/relationships/chart" Target="../charts/chart11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3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4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5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16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8.xml"/><Relationship Id="rId2" Type="http://schemas.openxmlformats.org/officeDocument/2006/relationships/chart" Target="../charts/chart17.xml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19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1.xml"/><Relationship Id="rId2" Type="http://schemas.openxmlformats.org/officeDocument/2006/relationships/chart" Target="../charts/chart20.xml"/><Relationship Id="rId1" Type="http://schemas.openxmlformats.org/officeDocument/2006/relationships/slideLayout" Target="../slideLayouts/slideLayout1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2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кутник 3">
            <a:extLst>
              <a:ext uri="{FF2B5EF4-FFF2-40B4-BE49-F238E27FC236}">
                <a16:creationId xmlns:a16="http://schemas.microsoft.com/office/drawing/2014/main" id="{E0F49373-EB7E-40D8-A74B-252EDD7AE2D8}"/>
              </a:ext>
            </a:extLst>
          </p:cNvPr>
          <p:cNvSpPr/>
          <p:nvPr/>
        </p:nvSpPr>
        <p:spPr>
          <a:xfrm>
            <a:off x="574435" y="1928049"/>
            <a:ext cx="10970559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5400" b="1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  <a:sym typeface="Calibri"/>
              </a:rPr>
              <a:t>Надання</a:t>
            </a:r>
            <a:r>
              <a:rPr lang="ru-RU" sz="5400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  <a:sym typeface="Calibri"/>
              </a:rPr>
              <a:t> </a:t>
            </a:r>
            <a:r>
              <a:rPr lang="ru-RU" sz="5400" b="1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  <a:sym typeface="Calibri"/>
              </a:rPr>
              <a:t>медичної</a:t>
            </a:r>
            <a:r>
              <a:rPr lang="ru-RU" sz="5400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  <a:sym typeface="Calibri"/>
              </a:rPr>
              <a:t> </a:t>
            </a:r>
            <a:r>
              <a:rPr lang="ru-RU" sz="5400" b="1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  <a:sym typeface="Calibri"/>
              </a:rPr>
              <a:t>допомоги</a:t>
            </a:r>
            <a:r>
              <a:rPr lang="ru-RU" sz="5400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  <a:sym typeface="Calibri"/>
              </a:rPr>
              <a:t> </a:t>
            </a:r>
            <a:r>
              <a:rPr lang="ru-RU" sz="5400" b="1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  <a:sym typeface="Calibri"/>
              </a:rPr>
              <a:t>пацієнтам</a:t>
            </a:r>
            <a:r>
              <a:rPr lang="ru-RU" sz="5400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  <a:sym typeface="Calibri"/>
              </a:rPr>
              <a:t> з </a:t>
            </a:r>
            <a:r>
              <a:rPr lang="ru-RU" sz="5400" b="1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  <a:sym typeface="Calibri"/>
              </a:rPr>
              <a:t>гострим</a:t>
            </a:r>
            <a:r>
              <a:rPr lang="ru-RU" sz="5400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  <a:sym typeface="Calibri"/>
              </a:rPr>
              <a:t> </a:t>
            </a:r>
            <a:r>
              <a:rPr lang="ru-RU" sz="5400" b="1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  <a:sym typeface="Calibri"/>
              </a:rPr>
              <a:t>мозковим</a:t>
            </a:r>
            <a:r>
              <a:rPr lang="ru-RU" sz="5400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  <a:sym typeface="Calibri"/>
              </a:rPr>
              <a:t> </a:t>
            </a:r>
            <a:r>
              <a:rPr lang="ru-RU" sz="5400" b="1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  <a:sym typeface="Calibri"/>
              </a:rPr>
              <a:t>інсультом</a:t>
            </a:r>
            <a:r>
              <a:rPr lang="ru-RU" sz="5400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  <a:sym typeface="Calibri"/>
              </a:rPr>
              <a:t> у </a:t>
            </a:r>
            <a:r>
              <a:rPr lang="ru-RU" sz="5400" b="1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  <a:sym typeface="Calibri"/>
              </a:rPr>
              <a:t>Львівській</a:t>
            </a:r>
            <a:r>
              <a:rPr lang="ru-RU" sz="5400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  <a:sym typeface="Calibri"/>
              </a:rPr>
              <a:t> </a:t>
            </a:r>
            <a:r>
              <a:rPr lang="ru-RU" sz="5400" b="1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  <a:sym typeface="Calibri"/>
              </a:rPr>
              <a:t>області</a:t>
            </a:r>
            <a:endParaRPr lang="ru-RU" sz="5400" b="1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  <a:sym typeface="Calibri"/>
            </a:endParaRPr>
          </a:p>
        </p:txBody>
      </p:sp>
      <p:sp>
        <p:nvSpPr>
          <p:cNvPr id="9" name="Прямокутник 8">
            <a:extLst>
              <a:ext uri="{FF2B5EF4-FFF2-40B4-BE49-F238E27FC236}">
                <a16:creationId xmlns:a16="http://schemas.microsoft.com/office/drawing/2014/main" id="{98FA1777-F268-4A17-AE85-F6AC0B284B2C}"/>
              </a:ext>
            </a:extLst>
          </p:cNvPr>
          <p:cNvSpPr/>
          <p:nvPr/>
        </p:nvSpPr>
        <p:spPr>
          <a:xfrm>
            <a:off x="3439645" y="5762706"/>
            <a:ext cx="825387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/>
            <a:r>
              <a:rPr lang="uk-UA" sz="2400" b="1" i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Директор департаменту  Наталія ЛІТВІНСЬКА</a:t>
            </a:r>
          </a:p>
        </p:txBody>
      </p:sp>
      <p:pic>
        <p:nvPicPr>
          <p:cNvPr id="5" name="Picture 4" descr="A yellow and black logo&#10;&#10;Description automatically generated">
            <a:extLst>
              <a:ext uri="{FF2B5EF4-FFF2-40B4-BE49-F238E27FC236}">
                <a16:creationId xmlns:a16="http://schemas.microsoft.com/office/drawing/2014/main" id="{340AF780-E709-4D6D-0699-48469FAECBF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239" t="13294" r="15366" b="21918"/>
          <a:stretch/>
        </p:blipFill>
        <p:spPr>
          <a:xfrm>
            <a:off x="9998078" y="39913"/>
            <a:ext cx="2099580" cy="1458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67039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0CB1D96-C052-7509-D1A2-56B2E81E78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9189" y="93463"/>
            <a:ext cx="10515600" cy="662526"/>
          </a:xfrm>
        </p:spPr>
        <p:txBody>
          <a:bodyPr>
            <a:normAutofit fontScale="90000"/>
          </a:bodyPr>
          <a:lstStyle/>
          <a:p>
            <a:pPr algn="ctr"/>
            <a:r>
              <a:rPr kumimoji="0" lang="uk-UA" sz="28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Мережа </a:t>
            </a:r>
            <a:r>
              <a:rPr kumimoji="0" lang="uk-UA" sz="2800" b="1" i="0" u="none" strike="noStrike" kern="1200" cap="none" spc="0" normalizeH="0" baseline="0" noProof="0" dirty="0" err="1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ЗОЗ</a:t>
            </a:r>
            <a:r>
              <a:rPr kumimoji="0" lang="uk-UA" sz="28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, які уклали договір з </a:t>
            </a:r>
            <a:r>
              <a:rPr kumimoji="0" lang="uk-UA" sz="2800" b="1" i="0" u="none" strike="noStrike" kern="1200" cap="none" spc="0" normalizeH="0" baseline="0" noProof="0" dirty="0" err="1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НСЗУ</a:t>
            </a:r>
            <a:r>
              <a:rPr kumimoji="0" lang="uk-UA" sz="28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br>
              <a:rPr kumimoji="0" lang="uk-UA" sz="28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uk-UA" sz="28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та включені до маршруту затвердженого наказом ДОЗ</a:t>
            </a:r>
            <a:endParaRPr lang="uk-UA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Google Shape;196;g1fdfb0d65f9_0_0" descr="Изображение выглядит как карта&#10;&#10;Автоматически созданное описание">
            <a:extLst>
              <a:ext uri="{FF2B5EF4-FFF2-40B4-BE49-F238E27FC236}">
                <a16:creationId xmlns:a16="http://schemas.microsoft.com/office/drawing/2014/main" id="{E171424E-165F-7771-8EA5-936DA724516D}"/>
              </a:ext>
            </a:extLst>
          </p:cNvPr>
          <p:cNvPicPr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213575" y="1132239"/>
            <a:ext cx="7314537" cy="5736658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Прямокутник 3">
            <a:extLst>
              <a:ext uri="{FF2B5EF4-FFF2-40B4-BE49-F238E27FC236}">
                <a16:creationId xmlns:a16="http://schemas.microsoft.com/office/drawing/2014/main" id="{5CD39874-DED0-928E-6CE3-CB61DA800244}"/>
              </a:ext>
            </a:extLst>
          </p:cNvPr>
          <p:cNvSpPr/>
          <p:nvPr/>
        </p:nvSpPr>
        <p:spPr>
          <a:xfrm>
            <a:off x="7849617" y="5416642"/>
            <a:ext cx="2861790" cy="583310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fontAlgn="ctr"/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4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КНП</a:t>
            </a:r>
            <a:r>
              <a:rPr lang="ru-RU" sz="1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ЛОР </a:t>
            </a:r>
            <a:r>
              <a:rPr lang="ru-RU" sz="1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«</a:t>
            </a:r>
            <a:r>
              <a:rPr lang="ru-RU" sz="14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Львівська</a:t>
            </a:r>
            <a:r>
              <a:rPr lang="ru-RU" sz="1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4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обласна</a:t>
            </a:r>
            <a:r>
              <a:rPr lang="ru-RU" sz="1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4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клінічна</a:t>
            </a:r>
            <a:r>
              <a:rPr lang="ru-RU" sz="1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4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лікарня</a:t>
            </a:r>
            <a:r>
              <a:rPr lang="ru-RU" sz="1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»</a:t>
            </a:r>
          </a:p>
        </p:txBody>
      </p:sp>
      <p:sp>
        <p:nvSpPr>
          <p:cNvPr id="7" name="Прямокутник 6">
            <a:extLst>
              <a:ext uri="{FF2B5EF4-FFF2-40B4-BE49-F238E27FC236}">
                <a16:creationId xmlns:a16="http://schemas.microsoft.com/office/drawing/2014/main" id="{813F1F7A-FF1E-3CF6-C544-EB1071626DA9}"/>
              </a:ext>
            </a:extLst>
          </p:cNvPr>
          <p:cNvSpPr/>
          <p:nvPr/>
        </p:nvSpPr>
        <p:spPr>
          <a:xfrm>
            <a:off x="461394" y="1402570"/>
            <a:ext cx="2682509" cy="829712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uk-UA" sz="1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КНП </a:t>
            </a:r>
            <a:r>
              <a:rPr lang="uk-UA" sz="1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«</a:t>
            </a:r>
            <a:r>
              <a:rPr lang="uk-UA" sz="14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Новояворівська</a:t>
            </a:r>
            <a:r>
              <a:rPr lang="uk-UA" sz="1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лікарня ім. Ю</a:t>
            </a:r>
            <a:r>
              <a:rPr lang="uk-UA" sz="14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Липи</a:t>
            </a:r>
            <a:r>
              <a:rPr lang="uk-UA" sz="1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» </a:t>
            </a:r>
            <a:r>
              <a:rPr lang="uk-UA" sz="14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Новояворівської</a:t>
            </a:r>
            <a:r>
              <a:rPr lang="uk-UA" sz="1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міської ради</a:t>
            </a:r>
            <a:endParaRPr lang="uk-UA" sz="1400" dirty="0">
              <a:solidFill>
                <a:srgbClr val="002060"/>
              </a:solidFill>
              <a:effectLst/>
              <a:latin typeface="Arial" panose="020B0604020202020204" pitchFamily="34" charset="0"/>
              <a:ea typeface="Gill Sans MT" panose="020B0502020104020203" pitchFamily="34" charset="0"/>
              <a:cs typeface="Arial" panose="020B0604020202020204" pitchFamily="34" charset="0"/>
            </a:endParaRPr>
          </a:p>
        </p:txBody>
      </p:sp>
      <p:sp>
        <p:nvSpPr>
          <p:cNvPr id="8" name="Прямокутник 7">
            <a:extLst>
              <a:ext uri="{FF2B5EF4-FFF2-40B4-BE49-F238E27FC236}">
                <a16:creationId xmlns:a16="http://schemas.microsoft.com/office/drawing/2014/main" id="{870CD294-12FB-760E-A863-D4997A119393}"/>
              </a:ext>
            </a:extLst>
          </p:cNvPr>
          <p:cNvSpPr/>
          <p:nvPr/>
        </p:nvSpPr>
        <p:spPr>
          <a:xfrm>
            <a:off x="170425" y="5817878"/>
            <a:ext cx="3180066" cy="853860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fontAlgn="ctr"/>
            <a:r>
              <a:rPr lang="ru-RU" sz="1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КНП </a:t>
            </a:r>
            <a:r>
              <a:rPr lang="ru-RU" sz="14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Стрийської</a:t>
            </a:r>
            <a:r>
              <a:rPr lang="ru-RU" sz="1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4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міської</a:t>
            </a:r>
            <a:r>
              <a:rPr lang="ru-RU" sz="1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ради ТМО </a:t>
            </a:r>
            <a:r>
              <a:rPr lang="uk-UA" sz="1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«</a:t>
            </a:r>
            <a:r>
              <a:rPr lang="ru-RU" sz="14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Стрийська</a:t>
            </a:r>
            <a:r>
              <a:rPr lang="ru-RU" sz="1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4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міська</a:t>
            </a:r>
            <a:r>
              <a:rPr lang="ru-RU" sz="1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4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об'єднана</a:t>
            </a:r>
            <a:r>
              <a:rPr lang="ru-RU" sz="1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4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лікарня</a:t>
            </a:r>
            <a:r>
              <a:rPr lang="uk-UA" sz="1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»</a:t>
            </a:r>
            <a:r>
              <a:rPr lang="ru-RU" sz="1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1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ВП</a:t>
            </a:r>
            <a:r>
              <a:rPr lang="ru-RU" sz="1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uk-UA" sz="1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«</a:t>
            </a:r>
            <a:r>
              <a:rPr lang="ru-RU" sz="14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Лікарня</a:t>
            </a:r>
            <a:r>
              <a:rPr lang="ru-RU" sz="1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4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інтенсивного</a:t>
            </a:r>
            <a:r>
              <a:rPr lang="ru-RU" sz="1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4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лікування</a:t>
            </a:r>
            <a:r>
              <a:rPr lang="uk-UA" sz="1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»</a:t>
            </a:r>
            <a:endParaRPr lang="ru-RU" sz="14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Прямокутник 8">
            <a:extLst>
              <a:ext uri="{FF2B5EF4-FFF2-40B4-BE49-F238E27FC236}">
                <a16:creationId xmlns:a16="http://schemas.microsoft.com/office/drawing/2014/main" id="{BA7C5C63-1BB5-9437-6267-2256630B27A2}"/>
              </a:ext>
            </a:extLst>
          </p:cNvPr>
          <p:cNvSpPr/>
          <p:nvPr/>
        </p:nvSpPr>
        <p:spPr>
          <a:xfrm>
            <a:off x="235711" y="2963354"/>
            <a:ext cx="2619895" cy="826149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ru-RU" sz="14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КНП</a:t>
            </a:r>
            <a:r>
              <a:rPr lang="ru-RU" sz="1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4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Самбірської</a:t>
            </a:r>
            <a:r>
              <a:rPr lang="ru-RU" sz="1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4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міської</a:t>
            </a:r>
            <a:r>
              <a:rPr lang="ru-RU" sz="1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ради </a:t>
            </a:r>
            <a:r>
              <a:rPr lang="ru-RU" sz="1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«</a:t>
            </a:r>
            <a:r>
              <a:rPr lang="ru-RU" sz="14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Самбірська</a:t>
            </a:r>
            <a:r>
              <a:rPr lang="ru-RU" sz="1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центральна </a:t>
            </a:r>
            <a:r>
              <a:rPr lang="ru-RU" sz="14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лікарня</a:t>
            </a:r>
            <a:r>
              <a:rPr lang="ru-RU" sz="1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»</a:t>
            </a:r>
            <a:endParaRPr lang="uk-UA" sz="1400" b="1" dirty="0">
              <a:solidFill>
                <a:srgbClr val="002060"/>
              </a:solidFill>
              <a:effectLst/>
              <a:latin typeface="Arial" panose="020B0604020202020204" pitchFamily="34" charset="0"/>
              <a:ea typeface="Gill Sans MT" panose="020B0502020104020203" pitchFamily="34" charset="0"/>
              <a:cs typeface="Arial" panose="020B0604020202020204" pitchFamily="34" charset="0"/>
            </a:endParaRPr>
          </a:p>
        </p:txBody>
      </p:sp>
      <p:sp>
        <p:nvSpPr>
          <p:cNvPr id="10" name="Прямокутник 9">
            <a:extLst>
              <a:ext uri="{FF2B5EF4-FFF2-40B4-BE49-F238E27FC236}">
                <a16:creationId xmlns:a16="http://schemas.microsoft.com/office/drawing/2014/main" id="{C6AE3963-04C0-2281-A17B-0092A777A203}"/>
              </a:ext>
            </a:extLst>
          </p:cNvPr>
          <p:cNvSpPr/>
          <p:nvPr/>
        </p:nvSpPr>
        <p:spPr>
          <a:xfrm>
            <a:off x="61148" y="4481146"/>
            <a:ext cx="2415396" cy="595775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fontAlgn="ctr"/>
            <a:r>
              <a:rPr lang="uk-UA" sz="1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КНП </a:t>
            </a:r>
            <a:r>
              <a:rPr lang="uk-UA" sz="1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«Дрогобицька міська лікарня № 1» </a:t>
            </a:r>
            <a:r>
              <a:rPr lang="uk-UA" sz="1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Дрогобицької міської ради</a:t>
            </a:r>
          </a:p>
        </p:txBody>
      </p:sp>
      <p:sp>
        <p:nvSpPr>
          <p:cNvPr id="11" name="Прямокутник 10">
            <a:extLst>
              <a:ext uri="{FF2B5EF4-FFF2-40B4-BE49-F238E27FC236}">
                <a16:creationId xmlns:a16="http://schemas.microsoft.com/office/drawing/2014/main" id="{B9520AA3-3F8A-4D04-AC41-A56385D2268B}"/>
              </a:ext>
            </a:extLst>
          </p:cNvPr>
          <p:cNvSpPr/>
          <p:nvPr/>
        </p:nvSpPr>
        <p:spPr>
          <a:xfrm>
            <a:off x="5943602" y="6107784"/>
            <a:ext cx="3060478" cy="583310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fontAlgn="ctr"/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4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КНП</a:t>
            </a:r>
            <a:r>
              <a:rPr lang="ru-RU" sz="1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ЛОР </a:t>
            </a:r>
            <a:r>
              <a:rPr lang="ru-RU" sz="1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«</a:t>
            </a:r>
            <a:r>
              <a:rPr lang="ru-RU" sz="14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Львівський</a:t>
            </a:r>
            <a:r>
              <a:rPr lang="ru-RU" sz="1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4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обласний</a:t>
            </a:r>
            <a:r>
              <a:rPr lang="ru-RU" sz="1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4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госпіталь</a:t>
            </a:r>
            <a:r>
              <a:rPr lang="ru-RU" sz="1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4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ВВтаР</a:t>
            </a:r>
            <a:r>
              <a:rPr lang="ru-RU" sz="1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4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ім</a:t>
            </a:r>
            <a:r>
              <a:rPr lang="ru-RU" sz="1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Ю. </a:t>
            </a:r>
            <a:r>
              <a:rPr lang="ru-RU" sz="14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Липи</a:t>
            </a:r>
            <a:r>
              <a:rPr lang="ru-RU" sz="1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»</a:t>
            </a:r>
          </a:p>
        </p:txBody>
      </p:sp>
      <p:sp>
        <p:nvSpPr>
          <p:cNvPr id="13" name="Прямокутник 12">
            <a:extLst>
              <a:ext uri="{FF2B5EF4-FFF2-40B4-BE49-F238E27FC236}">
                <a16:creationId xmlns:a16="http://schemas.microsoft.com/office/drawing/2014/main" id="{1DECEE54-93E1-4E68-8839-045DC3549925}"/>
              </a:ext>
            </a:extLst>
          </p:cNvPr>
          <p:cNvSpPr/>
          <p:nvPr/>
        </p:nvSpPr>
        <p:spPr>
          <a:xfrm>
            <a:off x="8198642" y="792025"/>
            <a:ext cx="2606838" cy="905802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fontAlgn="ctr"/>
            <a:r>
              <a:rPr lang="ru-RU" sz="16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КНП</a:t>
            </a:r>
            <a:r>
              <a:rPr lang="ru-RU" sz="16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6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Буської</a:t>
            </a:r>
            <a:r>
              <a:rPr lang="ru-RU" sz="16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6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міської</a:t>
            </a:r>
            <a:r>
              <a:rPr lang="ru-RU" sz="16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ради «</a:t>
            </a:r>
            <a:r>
              <a:rPr lang="ru-RU" sz="16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Буська</a:t>
            </a:r>
            <a:r>
              <a:rPr lang="ru-RU" sz="16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центральна </a:t>
            </a:r>
            <a:r>
              <a:rPr lang="ru-RU" sz="16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районна</a:t>
            </a:r>
            <a:r>
              <a:rPr lang="ru-RU" sz="16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6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лiкарня</a:t>
            </a:r>
            <a:r>
              <a:rPr lang="ru-RU" sz="16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»</a:t>
            </a:r>
          </a:p>
        </p:txBody>
      </p:sp>
      <p:sp>
        <p:nvSpPr>
          <p:cNvPr id="14" name="Прямокутник 13">
            <a:extLst>
              <a:ext uri="{FF2B5EF4-FFF2-40B4-BE49-F238E27FC236}">
                <a16:creationId xmlns:a16="http://schemas.microsoft.com/office/drawing/2014/main" id="{80C62E5B-3A95-40AC-A30D-6E251E9BF01F}"/>
              </a:ext>
            </a:extLst>
          </p:cNvPr>
          <p:cNvSpPr/>
          <p:nvPr/>
        </p:nvSpPr>
        <p:spPr>
          <a:xfrm>
            <a:off x="9762843" y="1768426"/>
            <a:ext cx="2319410" cy="1698229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fontAlgn="ctr"/>
            <a:r>
              <a:rPr lang="uk-UA" sz="1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КНП  </a:t>
            </a:r>
            <a:r>
              <a:rPr lang="uk-UA" sz="1400" dirty="0">
                <a:solidFill>
                  <a:srgbClr val="00206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«</a:t>
            </a:r>
            <a:r>
              <a:rPr lang="uk-UA" sz="1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Львівське ТМО </a:t>
            </a:r>
            <a:r>
              <a:rPr lang="uk-UA" sz="1400" b="1" dirty="0">
                <a:solidFill>
                  <a:srgbClr val="00206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«</a:t>
            </a:r>
            <a:r>
              <a:rPr lang="uk-UA" sz="1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Багатопрофільна клінічна лікарня інтенсивних методів лікування та швидкої медичної допомоги</a:t>
            </a:r>
            <a:r>
              <a:rPr lang="uk-UA" sz="1400" b="1" dirty="0">
                <a:solidFill>
                  <a:srgbClr val="00206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», </a:t>
            </a:r>
            <a:r>
              <a:rPr lang="uk-UA" sz="14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 </a:t>
            </a:r>
            <a:r>
              <a:rPr lang="uk-UA" sz="14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ВП </a:t>
            </a:r>
            <a:r>
              <a:rPr lang="ru-RU" sz="14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«</a:t>
            </a:r>
            <a:r>
              <a:rPr lang="uk-UA" sz="14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Лікарня </a:t>
            </a:r>
            <a:r>
              <a:rPr lang="uk-UA" sz="1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Святого Луки</a:t>
            </a:r>
            <a:r>
              <a:rPr lang="ru-RU" sz="1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»</a:t>
            </a:r>
            <a:r>
              <a:rPr lang="uk-UA" sz="1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16" name="Прямокутник 15">
            <a:extLst>
              <a:ext uri="{FF2B5EF4-FFF2-40B4-BE49-F238E27FC236}">
                <a16:creationId xmlns:a16="http://schemas.microsoft.com/office/drawing/2014/main" id="{378E831E-A9C4-4F9D-B74F-D2A273D25E08}"/>
              </a:ext>
            </a:extLst>
          </p:cNvPr>
          <p:cNvSpPr/>
          <p:nvPr/>
        </p:nvSpPr>
        <p:spPr>
          <a:xfrm>
            <a:off x="3390193" y="955180"/>
            <a:ext cx="2844391" cy="726114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fontAlgn="ctr"/>
            <a:r>
              <a:rPr lang="ru-RU" sz="1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КП </a:t>
            </a:r>
            <a:r>
              <a:rPr lang="ru-RU" sz="1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«Центральна </a:t>
            </a:r>
            <a:r>
              <a:rPr lang="ru-RU" sz="14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міська</a:t>
            </a:r>
            <a:r>
              <a:rPr lang="ru-RU" sz="1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4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лікарня</a:t>
            </a:r>
            <a:r>
              <a:rPr lang="ru-RU" sz="1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4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Червоноградської</a:t>
            </a:r>
            <a:r>
              <a:rPr lang="ru-RU" sz="1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4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міської</a:t>
            </a:r>
            <a:r>
              <a:rPr lang="ru-RU" sz="1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ради»</a:t>
            </a:r>
          </a:p>
        </p:txBody>
      </p:sp>
      <p:cxnSp>
        <p:nvCxnSpPr>
          <p:cNvPr id="19" name="Пряма сполучна лінія 18">
            <a:extLst>
              <a:ext uri="{FF2B5EF4-FFF2-40B4-BE49-F238E27FC236}">
                <a16:creationId xmlns:a16="http://schemas.microsoft.com/office/drawing/2014/main" id="{FFAE5D60-66E6-4C14-A340-60AD4C93124A}"/>
              </a:ext>
            </a:extLst>
          </p:cNvPr>
          <p:cNvCxnSpPr>
            <a:cxnSpLocks/>
            <a:stCxn id="9" idx="0"/>
            <a:endCxn id="9" idx="0"/>
          </p:cNvCxnSpPr>
          <p:nvPr/>
        </p:nvCxnSpPr>
        <p:spPr>
          <a:xfrm>
            <a:off x="1545659" y="2963354"/>
            <a:ext cx="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Пряма зі стрілкою 25">
            <a:extLst>
              <a:ext uri="{FF2B5EF4-FFF2-40B4-BE49-F238E27FC236}">
                <a16:creationId xmlns:a16="http://schemas.microsoft.com/office/drawing/2014/main" id="{D120A497-E46E-44FC-87A9-D260300F7170}"/>
              </a:ext>
            </a:extLst>
          </p:cNvPr>
          <p:cNvCxnSpPr>
            <a:cxnSpLocks/>
          </p:cNvCxnSpPr>
          <p:nvPr/>
        </p:nvCxnSpPr>
        <p:spPr>
          <a:xfrm>
            <a:off x="3154555" y="1879642"/>
            <a:ext cx="1885884" cy="129897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Пряма зі стрілкою 28">
            <a:extLst>
              <a:ext uri="{FF2B5EF4-FFF2-40B4-BE49-F238E27FC236}">
                <a16:creationId xmlns:a16="http://schemas.microsoft.com/office/drawing/2014/main" id="{FAA007BB-59BF-4A42-A49A-C4B7FAA46DB1}"/>
              </a:ext>
            </a:extLst>
          </p:cNvPr>
          <p:cNvCxnSpPr>
            <a:cxnSpLocks/>
          </p:cNvCxnSpPr>
          <p:nvPr/>
        </p:nvCxnSpPr>
        <p:spPr>
          <a:xfrm>
            <a:off x="2855606" y="3492927"/>
            <a:ext cx="1247263" cy="76978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Пряма зі стрілкою 34">
            <a:extLst>
              <a:ext uri="{FF2B5EF4-FFF2-40B4-BE49-F238E27FC236}">
                <a16:creationId xmlns:a16="http://schemas.microsoft.com/office/drawing/2014/main" id="{23A17B8B-756F-4B18-8666-2098506AB8B3}"/>
              </a:ext>
            </a:extLst>
          </p:cNvPr>
          <p:cNvCxnSpPr>
            <a:cxnSpLocks/>
          </p:cNvCxnSpPr>
          <p:nvPr/>
        </p:nvCxnSpPr>
        <p:spPr>
          <a:xfrm flipV="1">
            <a:off x="2452141" y="4779034"/>
            <a:ext cx="2176830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Пряма зі стрілкою 36">
            <a:extLst>
              <a:ext uri="{FF2B5EF4-FFF2-40B4-BE49-F238E27FC236}">
                <a16:creationId xmlns:a16="http://schemas.microsoft.com/office/drawing/2014/main" id="{918AC194-2B85-4C8C-A51E-C27A5910027B}"/>
              </a:ext>
            </a:extLst>
          </p:cNvPr>
          <p:cNvCxnSpPr>
            <a:cxnSpLocks/>
            <a:stCxn id="13" idx="2"/>
          </p:cNvCxnSpPr>
          <p:nvPr/>
        </p:nvCxnSpPr>
        <p:spPr>
          <a:xfrm flipH="1">
            <a:off x="7566221" y="1697827"/>
            <a:ext cx="1935840" cy="154271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FBDD66B9-A9E5-4C12-8CA4-FA7E500FE758}"/>
              </a:ext>
            </a:extLst>
          </p:cNvPr>
          <p:cNvCxnSpPr>
            <a:cxnSpLocks/>
            <a:stCxn id="8" idx="0"/>
          </p:cNvCxnSpPr>
          <p:nvPr/>
        </p:nvCxnSpPr>
        <p:spPr>
          <a:xfrm flipV="1">
            <a:off x="1760458" y="5377154"/>
            <a:ext cx="3633183" cy="44072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22B67D20-26A0-432B-B2A0-CF583F41F347}"/>
              </a:ext>
            </a:extLst>
          </p:cNvPr>
          <p:cNvCxnSpPr>
            <a:cxnSpLocks/>
          </p:cNvCxnSpPr>
          <p:nvPr/>
        </p:nvCxnSpPr>
        <p:spPr>
          <a:xfrm flipH="1" flipV="1">
            <a:off x="6191523" y="3694752"/>
            <a:ext cx="1200435" cy="239965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5645AD80-9CF5-4D48-BA84-C4D01DF73D94}"/>
              </a:ext>
            </a:extLst>
          </p:cNvPr>
          <p:cNvCxnSpPr>
            <a:cxnSpLocks/>
          </p:cNvCxnSpPr>
          <p:nvPr/>
        </p:nvCxnSpPr>
        <p:spPr>
          <a:xfrm flipH="1" flipV="1">
            <a:off x="5943602" y="3429001"/>
            <a:ext cx="1906015" cy="19580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E1DB48A0-E81A-4DBC-BB33-9BD61BA1CE6A}"/>
              </a:ext>
            </a:extLst>
          </p:cNvPr>
          <p:cNvCxnSpPr>
            <a:cxnSpLocks/>
          </p:cNvCxnSpPr>
          <p:nvPr/>
        </p:nvCxnSpPr>
        <p:spPr>
          <a:xfrm flipH="1">
            <a:off x="6322664" y="2813381"/>
            <a:ext cx="3432042" cy="80408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74316B9C-31F0-47B1-A678-C9A62AF4FF4F}"/>
              </a:ext>
            </a:extLst>
          </p:cNvPr>
          <p:cNvCxnSpPr>
            <a:cxnSpLocks/>
          </p:cNvCxnSpPr>
          <p:nvPr/>
        </p:nvCxnSpPr>
        <p:spPr>
          <a:xfrm flipH="1" flipV="1">
            <a:off x="6228267" y="3604778"/>
            <a:ext cx="3771177" cy="10776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7B0D963F-241D-4B4A-98A0-71ADFF17BC58}"/>
              </a:ext>
            </a:extLst>
          </p:cNvPr>
          <p:cNvCxnSpPr>
            <a:cxnSpLocks/>
          </p:cNvCxnSpPr>
          <p:nvPr/>
        </p:nvCxnSpPr>
        <p:spPr>
          <a:xfrm>
            <a:off x="6242721" y="1694668"/>
            <a:ext cx="549019" cy="27078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Прямокутник 42">
            <a:extLst>
              <a:ext uri="{FF2B5EF4-FFF2-40B4-BE49-F238E27FC236}">
                <a16:creationId xmlns:a16="http://schemas.microsoft.com/office/drawing/2014/main" id="{61E1E274-5F69-4DC0-864E-BF54951B6186}"/>
              </a:ext>
            </a:extLst>
          </p:cNvPr>
          <p:cNvSpPr/>
          <p:nvPr/>
        </p:nvSpPr>
        <p:spPr>
          <a:xfrm>
            <a:off x="9776033" y="3590555"/>
            <a:ext cx="2319410" cy="1698229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fontAlgn="ctr"/>
            <a:r>
              <a:rPr lang="uk-UA" sz="1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КНП  </a:t>
            </a:r>
            <a:r>
              <a:rPr lang="uk-UA" sz="1400" dirty="0">
                <a:solidFill>
                  <a:srgbClr val="00206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«</a:t>
            </a:r>
            <a:r>
              <a:rPr lang="uk-UA" sz="1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Львівське ТМО </a:t>
            </a:r>
            <a:r>
              <a:rPr lang="uk-UA" sz="1400" b="1" dirty="0">
                <a:solidFill>
                  <a:srgbClr val="00206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«</a:t>
            </a:r>
            <a:r>
              <a:rPr lang="uk-UA" sz="1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Багатопрофільна клінічна лікарня інтенсивних методів лікування та швидкої медичної допомоги</a:t>
            </a:r>
            <a:r>
              <a:rPr lang="uk-UA" sz="14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»,                 </a:t>
            </a:r>
            <a:r>
              <a:rPr lang="uk-UA" sz="1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ВП </a:t>
            </a:r>
            <a:r>
              <a:rPr lang="ru-RU" sz="14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«</a:t>
            </a:r>
            <a:r>
              <a:rPr lang="uk-UA" sz="14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Лікарня </a:t>
            </a:r>
            <a:r>
              <a:rPr lang="uk-UA" sz="1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Святого Пантелеймона</a:t>
            </a:r>
            <a:r>
              <a:rPr lang="ru-RU" sz="1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»</a:t>
            </a:r>
            <a:r>
              <a:rPr lang="uk-UA" sz="1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6972945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кутник: округлені кути 8">
            <a:extLst>
              <a:ext uri="{FF2B5EF4-FFF2-40B4-BE49-F238E27FC236}">
                <a16:creationId xmlns:a16="http://schemas.microsoft.com/office/drawing/2014/main" id="{692D75E0-A960-4775-91F5-8DB58143ED5E}"/>
              </a:ext>
            </a:extLst>
          </p:cNvPr>
          <p:cNvSpPr/>
          <p:nvPr/>
        </p:nvSpPr>
        <p:spPr>
          <a:xfrm>
            <a:off x="361951" y="3071348"/>
            <a:ext cx="11468098" cy="3364303"/>
          </a:xfrm>
          <a:prstGeom prst="roundRect">
            <a:avLst/>
          </a:prstGeom>
          <a:gradFill>
            <a:gsLst>
              <a:gs pos="0">
                <a:schemeClr val="accent3">
                  <a:lumMod val="5000"/>
                  <a:lumOff val="95000"/>
                </a:schemeClr>
              </a:gs>
              <a:gs pos="74000">
                <a:schemeClr val="accent3">
                  <a:lumMod val="45000"/>
                  <a:lumOff val="55000"/>
                </a:schemeClr>
              </a:gs>
              <a:gs pos="83000">
                <a:schemeClr val="accent3">
                  <a:lumMod val="45000"/>
                  <a:lumOff val="55000"/>
                </a:schemeClr>
              </a:gs>
              <a:gs pos="100000">
                <a:schemeClr val="accent3">
                  <a:lumMod val="30000"/>
                  <a:lumOff val="70000"/>
                </a:schemeClr>
              </a:gs>
            </a:gsLst>
            <a:lin ang="5400000" scaled="1"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6" name="Прямокутник: округлені кути 5">
            <a:extLst>
              <a:ext uri="{FF2B5EF4-FFF2-40B4-BE49-F238E27FC236}">
                <a16:creationId xmlns:a16="http://schemas.microsoft.com/office/drawing/2014/main" id="{619E023E-5EDA-4F26-B616-5DC1F7899DB2}"/>
              </a:ext>
            </a:extLst>
          </p:cNvPr>
          <p:cNvSpPr/>
          <p:nvPr/>
        </p:nvSpPr>
        <p:spPr>
          <a:xfrm>
            <a:off x="361951" y="1552786"/>
            <a:ext cx="11468098" cy="1052392"/>
          </a:xfrm>
          <a:prstGeom prst="roundRect">
            <a:avLst/>
          </a:prstGeom>
          <a:gradFill>
            <a:gsLst>
              <a:gs pos="0">
                <a:schemeClr val="accent3">
                  <a:lumMod val="5000"/>
                  <a:lumOff val="95000"/>
                </a:schemeClr>
              </a:gs>
              <a:gs pos="74000">
                <a:schemeClr val="accent3">
                  <a:lumMod val="45000"/>
                  <a:lumOff val="55000"/>
                </a:schemeClr>
              </a:gs>
              <a:gs pos="83000">
                <a:schemeClr val="accent3">
                  <a:lumMod val="45000"/>
                  <a:lumOff val="55000"/>
                </a:schemeClr>
              </a:gs>
              <a:gs pos="100000">
                <a:schemeClr val="accent3">
                  <a:lumMod val="30000"/>
                  <a:lumOff val="70000"/>
                </a:schemeClr>
              </a:gs>
            </a:gsLst>
            <a:lin ang="5400000" scaled="1"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A827C1F-B24A-4307-8B32-998DD2B299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100" y="174301"/>
            <a:ext cx="11746922" cy="763600"/>
          </a:xfrm>
        </p:spPr>
        <p:txBody>
          <a:bodyPr>
            <a:noAutofit/>
          </a:bodyPr>
          <a:lstStyle/>
          <a:p>
            <a:pPr algn="ctr"/>
            <a:r>
              <a:rPr lang="en-US" sz="3000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3000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uk-UA" sz="2800" b="1" dirty="0" err="1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ЗОЗ</a:t>
            </a:r>
            <a:r>
              <a:rPr lang="uk-UA" sz="2800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які визначені для надання медичної допомоги хворим на </a:t>
            </a:r>
            <a:r>
              <a:rPr lang="uk-UA" sz="2800" b="1" dirty="0" err="1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ГМІ</a:t>
            </a:r>
            <a:r>
              <a:rPr lang="uk-UA" sz="2800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uk-UA" sz="2800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uk-UA" sz="2800" b="1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Прямокутник 4">
            <a:extLst>
              <a:ext uri="{FF2B5EF4-FFF2-40B4-BE49-F238E27FC236}">
                <a16:creationId xmlns:a16="http://schemas.microsoft.com/office/drawing/2014/main" id="{9489AE37-518F-4AFA-8B27-C99A9F22D3D1}"/>
              </a:ext>
            </a:extLst>
          </p:cNvPr>
          <p:cNvSpPr/>
          <p:nvPr/>
        </p:nvSpPr>
        <p:spPr>
          <a:xfrm>
            <a:off x="635001" y="888090"/>
            <a:ext cx="11195048" cy="6155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/>
            <a:r>
              <a:rPr lang="uk-UA" sz="1600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Наказ ДОЗ </a:t>
            </a:r>
            <a:r>
              <a:rPr lang="uk-UA" sz="1600" b="1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ЛОДА</a:t>
            </a:r>
            <a:r>
              <a:rPr lang="uk-UA" sz="1600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від 09.10.2023 № 722 «Порядок організації надання медичної допомоги пацієнтам із гострим мозковим інсультом (далі </a:t>
            </a:r>
            <a:r>
              <a:rPr lang="uk-UA" sz="1600" b="1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ГМІ</a:t>
            </a:r>
            <a:r>
              <a:rPr lang="uk-UA" sz="1600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)  у Львівській </a:t>
            </a:r>
            <a:r>
              <a:rPr lang="uk-UA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області»</a:t>
            </a:r>
            <a:r>
              <a:rPr lang="en-US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(</a:t>
            </a:r>
            <a:r>
              <a:rPr lang="uk-UA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зі змінами)</a:t>
            </a:r>
          </a:p>
        </p:txBody>
      </p:sp>
      <p:sp>
        <p:nvSpPr>
          <p:cNvPr id="3" name="Прямокутник 2">
            <a:extLst>
              <a:ext uri="{FF2B5EF4-FFF2-40B4-BE49-F238E27FC236}">
                <a16:creationId xmlns:a16="http://schemas.microsoft.com/office/drawing/2014/main" id="{4A4CF981-B119-4A91-8AA9-5AC3CC174EAE}"/>
              </a:ext>
            </a:extLst>
          </p:cNvPr>
          <p:cNvSpPr/>
          <p:nvPr/>
        </p:nvSpPr>
        <p:spPr>
          <a:xfrm>
            <a:off x="422694" y="1651071"/>
            <a:ext cx="11407355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 fontAlgn="ctr"/>
            <a:r>
              <a:rPr lang="uk-UA" sz="1400" b="1" dirty="0">
                <a:solidFill>
                  <a:srgbClr val="002060"/>
                </a:solidFill>
                <a:latin typeface="Times New Roman" panose="02020603050405020304" pitchFamily="18" charset="0"/>
              </a:rPr>
              <a:t>Перелік закладів охорони здоров'я з якими укладено договори про медичне обслуговування населення </a:t>
            </a:r>
            <a:r>
              <a:rPr lang="uk-UA" sz="1400" dirty="0">
                <a:solidFill>
                  <a:srgbClr val="002060"/>
                </a:solidFill>
                <a:latin typeface="Times New Roman" panose="02020603050405020304" pitchFamily="18" charset="0"/>
              </a:rPr>
              <a:t>за програмою медичних гарантій з </a:t>
            </a:r>
            <a:r>
              <a:rPr lang="uk-UA" sz="1400" dirty="0" err="1">
                <a:solidFill>
                  <a:srgbClr val="002060"/>
                </a:solidFill>
                <a:latin typeface="Times New Roman" panose="02020603050405020304" pitchFamily="18" charset="0"/>
              </a:rPr>
              <a:t>НСЗУ</a:t>
            </a:r>
            <a:r>
              <a:rPr lang="uk-UA" sz="1400" dirty="0">
                <a:solidFill>
                  <a:srgbClr val="002060"/>
                </a:solidFill>
                <a:latin typeface="Times New Roman" panose="02020603050405020304" pitchFamily="18" charset="0"/>
              </a:rPr>
              <a:t> до яких транспортуватимуться пацієнти із </a:t>
            </a:r>
            <a:r>
              <a:rPr lang="uk-UA" sz="1400" dirty="0" err="1">
                <a:solidFill>
                  <a:srgbClr val="002060"/>
                </a:solidFill>
                <a:latin typeface="Times New Roman" panose="02020603050405020304" pitchFamily="18" charset="0"/>
              </a:rPr>
              <a:t>ГМІ</a:t>
            </a:r>
            <a:r>
              <a:rPr lang="uk-UA" sz="1400" dirty="0">
                <a:solidFill>
                  <a:srgbClr val="002060"/>
                </a:solidFill>
                <a:latin typeface="Times New Roman" panose="02020603050405020304" pitchFamily="18" charset="0"/>
              </a:rPr>
              <a:t>, і в яких наявне спеціалізоване </a:t>
            </a:r>
            <a:r>
              <a:rPr lang="uk-UA" sz="1400" dirty="0" err="1">
                <a:solidFill>
                  <a:srgbClr val="002060"/>
                </a:solidFill>
                <a:latin typeface="Times New Roman" panose="02020603050405020304" pitchFamily="18" charset="0"/>
              </a:rPr>
              <a:t>інсультне</a:t>
            </a:r>
            <a:r>
              <a:rPr lang="uk-UA" sz="1400" dirty="0">
                <a:solidFill>
                  <a:srgbClr val="002060"/>
                </a:solidFill>
                <a:latin typeface="Times New Roman" panose="02020603050405020304" pitchFamily="18" charset="0"/>
              </a:rPr>
              <a:t> відділення, в цілодобовому режимі здійснюється </a:t>
            </a:r>
            <a:r>
              <a:rPr lang="uk-UA" sz="1400" dirty="0" err="1">
                <a:solidFill>
                  <a:srgbClr val="002060"/>
                </a:solidFill>
                <a:latin typeface="Times New Roman" panose="02020603050405020304" pitchFamily="18" charset="0"/>
              </a:rPr>
              <a:t>нейровізуалізація</a:t>
            </a:r>
            <a:r>
              <a:rPr lang="uk-UA" sz="1400" dirty="0">
                <a:solidFill>
                  <a:srgbClr val="002060"/>
                </a:solidFill>
                <a:latin typeface="Times New Roman" panose="02020603050405020304" pitchFamily="18" charset="0"/>
              </a:rPr>
              <a:t> головного мозку, проводиться лабораторна діагностика, виконується моніторинг вітальних функцій, </a:t>
            </a:r>
            <a:r>
              <a:rPr lang="uk-UA" sz="1400" dirty="0" err="1">
                <a:solidFill>
                  <a:srgbClr val="002060"/>
                </a:solidFill>
                <a:latin typeface="Times New Roman" panose="02020603050405020304" pitchFamily="18" charset="0"/>
              </a:rPr>
              <a:t>реваскулярізаційні</a:t>
            </a:r>
            <a:r>
              <a:rPr lang="uk-UA" sz="1400" dirty="0">
                <a:solidFill>
                  <a:srgbClr val="002060"/>
                </a:solidFill>
                <a:latin typeface="Times New Roman" panose="02020603050405020304" pitchFamily="18" charset="0"/>
              </a:rPr>
              <a:t> втручання шляхом внутрішньовенної </a:t>
            </a:r>
            <a:r>
              <a:rPr lang="uk-UA" sz="1400" b="1" dirty="0" err="1">
                <a:solidFill>
                  <a:srgbClr val="002060"/>
                </a:solidFill>
                <a:latin typeface="Times New Roman" panose="02020603050405020304" pitchFamily="18" charset="0"/>
              </a:rPr>
              <a:t>тромболітичної</a:t>
            </a:r>
            <a:r>
              <a:rPr lang="uk-UA" sz="1400" b="1" dirty="0">
                <a:solidFill>
                  <a:srgbClr val="002060"/>
                </a:solidFill>
                <a:latin typeface="Times New Roman" panose="02020603050405020304" pitchFamily="18" charset="0"/>
              </a:rPr>
              <a:t> терапії </a:t>
            </a:r>
          </a:p>
        </p:txBody>
      </p:sp>
      <p:sp>
        <p:nvSpPr>
          <p:cNvPr id="14" name="Стрілка: униз 13">
            <a:extLst>
              <a:ext uri="{FF2B5EF4-FFF2-40B4-BE49-F238E27FC236}">
                <a16:creationId xmlns:a16="http://schemas.microsoft.com/office/drawing/2014/main" id="{4EF98743-DA5A-47A2-A847-FF09730E212D}"/>
              </a:ext>
            </a:extLst>
          </p:cNvPr>
          <p:cNvSpPr/>
          <p:nvPr/>
        </p:nvSpPr>
        <p:spPr>
          <a:xfrm>
            <a:off x="5988561" y="2605179"/>
            <a:ext cx="275617" cy="466170"/>
          </a:xfrm>
          <a:prstGeom prst="downArrow">
            <a:avLst/>
          </a:prstGeom>
          <a:gradFill flip="none" rotWithShape="1">
            <a:gsLst>
              <a:gs pos="0">
                <a:schemeClr val="accent3">
                  <a:lumMod val="0"/>
                  <a:lumOff val="100000"/>
                </a:schemeClr>
              </a:gs>
              <a:gs pos="35000">
                <a:schemeClr val="accent3">
                  <a:lumMod val="0"/>
                  <a:lumOff val="100000"/>
                </a:schemeClr>
              </a:gs>
              <a:gs pos="100000">
                <a:schemeClr val="accent3">
                  <a:lumMod val="100000"/>
                </a:schemeClr>
              </a:gs>
            </a:gsLst>
            <a:path path="circle">
              <a:fillToRect l="50000" t="-80000" r="50000" b="180000"/>
            </a:path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graphicFrame>
        <p:nvGraphicFramePr>
          <p:cNvPr id="4" name="Таблиця 3">
            <a:extLst>
              <a:ext uri="{FF2B5EF4-FFF2-40B4-BE49-F238E27FC236}">
                <a16:creationId xmlns:a16="http://schemas.microsoft.com/office/drawing/2014/main" id="{35FD4592-C1D2-41DA-BAE0-D4138BAE028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27433089"/>
              </p:ext>
            </p:extLst>
          </p:nvPr>
        </p:nvGraphicFramePr>
        <p:xfrm>
          <a:off x="816138" y="3223071"/>
          <a:ext cx="10620462" cy="2877412"/>
        </p:xfrm>
        <a:graphic>
          <a:graphicData uri="http://schemas.openxmlformats.org/drawingml/2006/table">
            <a:tbl>
              <a:tblPr/>
              <a:tblGrid>
                <a:gridCol w="10620462">
                  <a:extLst>
                    <a:ext uri="{9D8B030D-6E8A-4147-A177-3AD203B41FA5}">
                      <a16:colId xmlns:a16="http://schemas.microsoft.com/office/drawing/2014/main" val="245029091"/>
                    </a:ext>
                  </a:extLst>
                </a:gridCol>
              </a:tblGrid>
              <a:tr h="127863">
                <a:tc>
                  <a:txBody>
                    <a:bodyPr/>
                    <a:lstStyle/>
                    <a:p>
                      <a:pPr algn="l" rtl="0" fontAlgn="ctr"/>
                      <a:r>
                        <a:rPr lang="ru-RU" sz="12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КНП ЛОР «Львівська обласна клінічна лікарня»</a:t>
                      </a:r>
                    </a:p>
                  </a:txBody>
                  <a:tcPr marL="9418" marR="9418" marT="941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24925997"/>
                  </a:ext>
                </a:extLst>
              </a:tr>
              <a:tr h="383588">
                <a:tc>
                  <a:txBody>
                    <a:bodyPr/>
                    <a:lstStyle/>
                    <a:p>
                      <a:pPr algn="l" rtl="0" fontAlgn="ctr"/>
                      <a:r>
                        <a:rPr lang="ru-RU" sz="12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КНП  «Львівське територіальне медичне об'єднання «Багатопрофільна клінічна лікарня інтенсивних методів лікування та швидкої медичної допомоги»,  відокремлений підрозділ «Лікарня святого Пантелеймона», ( м.Львів, вул. І.Миколайчука, 9)</a:t>
                      </a:r>
                    </a:p>
                  </a:txBody>
                  <a:tcPr marL="9418" marR="9418" marT="941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15102576"/>
                  </a:ext>
                </a:extLst>
              </a:tr>
              <a:tr h="383588">
                <a:tc>
                  <a:txBody>
                    <a:bodyPr/>
                    <a:lstStyle/>
                    <a:p>
                      <a:pPr algn="l" rtl="0" fontAlgn="ctr"/>
                      <a:r>
                        <a:rPr lang="ru-RU" sz="12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КНП  «</a:t>
                      </a:r>
                      <a:r>
                        <a:rPr lang="ru-RU" sz="1200" b="0" i="0" u="none" strike="noStrike" dirty="0" err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Львівське</a:t>
                      </a:r>
                      <a:r>
                        <a:rPr lang="ru-RU" sz="12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lang="ru-RU" sz="1200" b="0" i="0" u="none" strike="noStrike" dirty="0" err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територіальне</a:t>
                      </a:r>
                      <a:r>
                        <a:rPr lang="ru-RU" sz="12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lang="ru-RU" sz="1200" b="0" i="0" u="none" strike="noStrike" dirty="0" err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медичне</a:t>
                      </a:r>
                      <a:r>
                        <a:rPr lang="ru-RU" sz="12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lang="ru-RU" sz="1200" b="0" i="0" u="none" strike="noStrike" dirty="0" err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об'єднання</a:t>
                      </a:r>
                      <a:r>
                        <a:rPr lang="ru-RU" sz="12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 «</a:t>
                      </a:r>
                      <a:r>
                        <a:rPr lang="ru-RU" sz="1200" b="0" i="0" u="none" strike="noStrike" dirty="0" err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Багатопрофільна</a:t>
                      </a:r>
                      <a:r>
                        <a:rPr lang="ru-RU" sz="12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lang="ru-RU" sz="1200" b="0" i="0" u="none" strike="noStrike" dirty="0" err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клінічна</a:t>
                      </a:r>
                      <a:r>
                        <a:rPr lang="ru-RU" sz="12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lang="ru-RU" sz="1200" b="0" i="0" u="none" strike="noStrike" dirty="0" err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лікарня</a:t>
                      </a:r>
                      <a:r>
                        <a:rPr lang="ru-RU" sz="12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lang="ru-RU" sz="1200" b="0" i="0" u="none" strike="noStrike" dirty="0" err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інтенсивних</a:t>
                      </a:r>
                      <a:r>
                        <a:rPr lang="ru-RU" sz="12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lang="ru-RU" sz="1200" b="0" i="0" u="none" strike="noStrike" dirty="0" err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методів</a:t>
                      </a:r>
                      <a:r>
                        <a:rPr lang="ru-RU" sz="12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lang="ru-RU" sz="1200" b="0" i="0" u="none" strike="noStrike" dirty="0" err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лікування</a:t>
                      </a:r>
                      <a:r>
                        <a:rPr lang="ru-RU" sz="12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 та </a:t>
                      </a:r>
                      <a:r>
                        <a:rPr lang="ru-RU" sz="1200" b="0" i="0" u="none" strike="noStrike" dirty="0" err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швидкої</a:t>
                      </a:r>
                      <a:r>
                        <a:rPr lang="ru-RU" sz="12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lang="ru-RU" sz="1200" b="0" i="0" u="none" strike="noStrike" dirty="0" err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медичної</a:t>
                      </a:r>
                      <a:r>
                        <a:rPr lang="ru-RU" sz="12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lang="ru-RU" sz="1200" b="0" i="0" u="none" strike="noStrike" dirty="0" err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допомоги</a:t>
                      </a:r>
                      <a:r>
                        <a:rPr lang="ru-RU" sz="12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», </a:t>
                      </a:r>
                      <a:r>
                        <a:rPr lang="ru-RU" sz="1200" b="0" i="0" u="none" strike="noStrike" dirty="0" err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відокремлений</a:t>
                      </a:r>
                      <a:r>
                        <a:rPr lang="ru-RU" sz="12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lang="ru-RU" sz="1200" b="0" i="0" u="none" strike="noStrike" dirty="0" err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підрозділ</a:t>
                      </a:r>
                      <a:r>
                        <a:rPr lang="ru-RU" sz="12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 «</a:t>
                      </a:r>
                      <a:r>
                        <a:rPr lang="ru-RU" sz="1200" b="0" i="0" u="none" strike="noStrike" dirty="0" err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Лікарня</a:t>
                      </a:r>
                      <a:r>
                        <a:rPr lang="ru-RU" sz="12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 святого Луки», (</a:t>
                      </a:r>
                      <a:r>
                        <a:rPr lang="ru-RU" sz="1200" b="0" i="0" u="none" strike="noStrike" dirty="0" err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м.Львів</a:t>
                      </a:r>
                      <a:r>
                        <a:rPr lang="ru-RU" sz="12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, </a:t>
                      </a:r>
                      <a:r>
                        <a:rPr lang="ru-RU" sz="1200" b="0" i="0" u="none" strike="noStrike" dirty="0" err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вул</a:t>
                      </a:r>
                      <a:r>
                        <a:rPr lang="ru-RU" sz="12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. </a:t>
                      </a:r>
                      <a:r>
                        <a:rPr lang="ru-RU" sz="1200" b="0" i="0" u="none" strike="noStrike" dirty="0" err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Навроцького</a:t>
                      </a:r>
                      <a:r>
                        <a:rPr lang="ru-RU" sz="12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, 23)</a:t>
                      </a:r>
                    </a:p>
                  </a:txBody>
                  <a:tcPr marL="9418" marR="9418" marT="941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15296206"/>
                  </a:ext>
                </a:extLst>
              </a:tr>
              <a:tr h="255725">
                <a:tc>
                  <a:txBody>
                    <a:bodyPr/>
                    <a:lstStyle/>
                    <a:p>
                      <a:pPr algn="l" rtl="0" fontAlgn="ctr"/>
                      <a:r>
                        <a:rPr lang="ru-RU" sz="12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КНП ЛОР «Львівський обласний госпіталь ветеранів війни та репресованих ім.Ю Липи»,  (м.Львів-Винники, вул. Івасюка, 31)</a:t>
                      </a:r>
                    </a:p>
                  </a:txBody>
                  <a:tcPr marL="9418" marR="9418" marT="941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35656716"/>
                  </a:ext>
                </a:extLst>
              </a:tr>
              <a:tr h="255725">
                <a:tc>
                  <a:txBody>
                    <a:bodyPr/>
                    <a:lstStyle/>
                    <a:p>
                      <a:pPr algn="l" rtl="0" fontAlgn="ctr"/>
                      <a:r>
                        <a:rPr lang="ru-RU" sz="12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КНП Буської міської ради «Буська центральна районна лікарня»,  (м.Буськ, вул. Львівська, 77)</a:t>
                      </a:r>
                    </a:p>
                  </a:txBody>
                  <a:tcPr marL="9418" marR="9418" marT="941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27001054"/>
                  </a:ext>
                </a:extLst>
              </a:tr>
              <a:tr h="255725">
                <a:tc>
                  <a:txBody>
                    <a:bodyPr/>
                    <a:lstStyle/>
                    <a:p>
                      <a:pPr algn="l" rtl="0" fontAlgn="ctr"/>
                      <a:r>
                        <a:rPr lang="ru-RU" sz="12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КНП «Дрогобицька міська лікарня №1» Дрогобицької міської ради,  (м.Дрогобич, вул. Шептицького,9)</a:t>
                      </a:r>
                    </a:p>
                  </a:txBody>
                  <a:tcPr marL="9418" marR="9418" marT="941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60766674"/>
                  </a:ext>
                </a:extLst>
              </a:tr>
              <a:tr h="255725">
                <a:tc>
                  <a:txBody>
                    <a:bodyPr/>
                    <a:lstStyle/>
                    <a:p>
                      <a:pPr algn="l" rtl="0" fontAlgn="ctr"/>
                      <a:r>
                        <a:rPr lang="ru-RU" sz="12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КНП «Новояворівська лікарня ім. Юрія Липи» Новояворівської міської ради,  (м.Новояворівськ, вул. Шевченка, 18)</a:t>
                      </a:r>
                    </a:p>
                  </a:txBody>
                  <a:tcPr marL="9418" marR="9418" marT="941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40671066"/>
                  </a:ext>
                </a:extLst>
              </a:tr>
              <a:tr h="255725">
                <a:tc>
                  <a:txBody>
                    <a:bodyPr/>
                    <a:lstStyle/>
                    <a:p>
                      <a:pPr algn="l" rtl="0" fontAlgn="ctr"/>
                      <a:r>
                        <a:rPr lang="ru-RU" sz="12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КНП Самбірської міської ради «Самбірська центральна лікарня»,  (м.Самбір, вул. Шпитальна, 14)</a:t>
                      </a:r>
                    </a:p>
                  </a:txBody>
                  <a:tcPr marL="9418" marR="9418" marT="941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1800258"/>
                  </a:ext>
                </a:extLst>
              </a:tr>
              <a:tr h="383588">
                <a:tc>
                  <a:txBody>
                    <a:bodyPr/>
                    <a:lstStyle/>
                    <a:p>
                      <a:pPr algn="l" rtl="0" fontAlgn="ctr"/>
                      <a:r>
                        <a:rPr lang="ru-RU" sz="12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КНП Стрийської міської ради ТМО «Стрийська міська об'єднана лікарня», відокремлений підрозділ «Лікарня інтенсивного лікування»,  (м.Стрий, вул. Ольги Басараб, 15)</a:t>
                      </a:r>
                    </a:p>
                  </a:txBody>
                  <a:tcPr marL="9418" marR="9418" marT="941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42724076"/>
                  </a:ext>
                </a:extLst>
              </a:tr>
              <a:tr h="255725">
                <a:tc>
                  <a:txBody>
                    <a:bodyPr/>
                    <a:lstStyle/>
                    <a:p>
                      <a:pPr algn="l" rtl="0" fontAlgn="ctr"/>
                      <a:r>
                        <a:rPr lang="ru-RU" sz="12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КП «Центральна </a:t>
                      </a:r>
                      <a:r>
                        <a:rPr lang="ru-RU" sz="1200" b="0" i="0" u="none" strike="noStrike" dirty="0" err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міська</a:t>
                      </a:r>
                      <a:r>
                        <a:rPr lang="ru-RU" sz="12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lang="ru-RU" sz="1200" b="0" i="0" u="none" strike="noStrike" dirty="0" err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лікарня</a:t>
                      </a:r>
                      <a:r>
                        <a:rPr lang="ru-RU" sz="12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lang="ru-RU" sz="1200" b="0" i="0" u="none" strike="noStrike" dirty="0" err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Червоноградської</a:t>
                      </a:r>
                      <a:r>
                        <a:rPr lang="ru-RU" sz="12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lang="ru-RU" sz="1200" b="0" i="0" u="none" strike="noStrike" dirty="0" err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міської</a:t>
                      </a:r>
                      <a:r>
                        <a:rPr lang="ru-RU" sz="12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 ради»,  (</a:t>
                      </a:r>
                      <a:r>
                        <a:rPr lang="ru-RU" sz="1200" b="0" i="0" u="none" strike="noStrike" dirty="0" err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м.Червоноград</a:t>
                      </a:r>
                      <a:r>
                        <a:rPr lang="ru-RU" sz="12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, </a:t>
                      </a:r>
                      <a:r>
                        <a:rPr lang="ru-RU" sz="1200" b="0" i="0" u="none" strike="noStrike" dirty="0" err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вул</a:t>
                      </a:r>
                      <a:r>
                        <a:rPr lang="ru-RU" sz="12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. </a:t>
                      </a:r>
                      <a:r>
                        <a:rPr lang="ru-RU" sz="1200" b="0" i="0" u="none" strike="noStrike" dirty="0" err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Івасюка</a:t>
                      </a:r>
                      <a:r>
                        <a:rPr lang="ru-RU" sz="12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, 2)</a:t>
                      </a:r>
                    </a:p>
                  </a:txBody>
                  <a:tcPr marL="9418" marR="9418" marT="941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8741359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243458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кутник 6">
            <a:extLst>
              <a:ext uri="{FF2B5EF4-FFF2-40B4-BE49-F238E27FC236}">
                <a16:creationId xmlns:a16="http://schemas.microsoft.com/office/drawing/2014/main" id="{E674C6C3-DA98-475B-A32C-C6DF212C140E}"/>
              </a:ext>
            </a:extLst>
          </p:cNvPr>
          <p:cNvSpPr/>
          <p:nvPr/>
        </p:nvSpPr>
        <p:spPr>
          <a:xfrm>
            <a:off x="636284" y="902519"/>
            <a:ext cx="11195048" cy="6155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/>
            <a:r>
              <a:rPr lang="uk-UA" sz="1600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Наказ ДОЗ </a:t>
            </a:r>
            <a:r>
              <a:rPr lang="uk-UA" sz="1600" b="1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ЛОДА</a:t>
            </a:r>
            <a:r>
              <a:rPr lang="uk-UA" sz="1600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від 09.10.2023 № 722 «Порядок організації надання медичної допомоги пацієнтам із гострим мозковим інсультом (далі </a:t>
            </a:r>
            <a:r>
              <a:rPr lang="uk-UA" sz="1600" b="1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ГМІ</a:t>
            </a:r>
            <a:r>
              <a:rPr lang="uk-UA" sz="1600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)  у Львівській </a:t>
            </a:r>
            <a:r>
              <a:rPr lang="uk-UA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області»</a:t>
            </a:r>
            <a:r>
              <a:rPr lang="en-US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(</a:t>
            </a:r>
            <a:r>
              <a:rPr lang="uk-UA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зі змінами)</a:t>
            </a:r>
            <a:endParaRPr lang="uk-UA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Прямокутник: округлені кути 3">
            <a:extLst>
              <a:ext uri="{FF2B5EF4-FFF2-40B4-BE49-F238E27FC236}">
                <a16:creationId xmlns:a16="http://schemas.microsoft.com/office/drawing/2014/main" id="{32A5EEDF-5BE8-4E2D-9076-3CFE08653923}"/>
              </a:ext>
            </a:extLst>
          </p:cNvPr>
          <p:cNvSpPr/>
          <p:nvPr/>
        </p:nvSpPr>
        <p:spPr>
          <a:xfrm>
            <a:off x="835647" y="1743028"/>
            <a:ext cx="10520706" cy="1607249"/>
          </a:xfrm>
          <a:prstGeom prst="roundRect">
            <a:avLst/>
          </a:prstGeom>
          <a:gradFill flip="none" rotWithShape="1">
            <a:gsLst>
              <a:gs pos="0">
                <a:schemeClr val="accent3">
                  <a:lumMod val="5000"/>
                  <a:lumOff val="95000"/>
                </a:schemeClr>
              </a:gs>
              <a:gs pos="74000">
                <a:schemeClr val="accent3">
                  <a:lumMod val="45000"/>
                  <a:lumOff val="55000"/>
                </a:schemeClr>
              </a:gs>
              <a:gs pos="83000">
                <a:schemeClr val="accent3">
                  <a:lumMod val="45000"/>
                  <a:lumOff val="55000"/>
                </a:schemeClr>
              </a:gs>
              <a:gs pos="100000">
                <a:schemeClr val="accent3">
                  <a:lumMod val="30000"/>
                  <a:lumOff val="70000"/>
                </a:schemeClr>
              </a:gs>
            </a:gsLst>
            <a:lin ang="5400000" scaled="1"/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9" name="Прямокутник 8">
            <a:extLst>
              <a:ext uri="{FF2B5EF4-FFF2-40B4-BE49-F238E27FC236}">
                <a16:creationId xmlns:a16="http://schemas.microsoft.com/office/drawing/2014/main" id="{40236D39-C48D-426E-811C-632604ABB039}"/>
              </a:ext>
            </a:extLst>
          </p:cNvPr>
          <p:cNvSpPr/>
          <p:nvPr/>
        </p:nvSpPr>
        <p:spPr>
          <a:xfrm>
            <a:off x="719555" y="1884934"/>
            <a:ext cx="10205693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 fontAlgn="ctr"/>
            <a:r>
              <a:rPr lang="uk-UA" sz="1600" b="1" dirty="0">
                <a:solidFill>
                  <a:srgbClr val="002060"/>
                </a:solidFill>
                <a:latin typeface="Times New Roman" panose="02020603050405020304" pitchFamily="18" charset="0"/>
              </a:rPr>
              <a:t>Перелік закладів охорони здоров'я з якими укладено договори про медичне обслуговування населення </a:t>
            </a:r>
            <a:r>
              <a:rPr lang="uk-UA" sz="1600" dirty="0">
                <a:solidFill>
                  <a:srgbClr val="002060"/>
                </a:solidFill>
                <a:latin typeface="Times New Roman" panose="02020603050405020304" pitchFamily="18" charset="0"/>
              </a:rPr>
              <a:t>за програмою медичних гарантій з </a:t>
            </a:r>
            <a:r>
              <a:rPr lang="uk-UA" sz="1600" dirty="0" err="1">
                <a:solidFill>
                  <a:srgbClr val="002060"/>
                </a:solidFill>
                <a:latin typeface="Times New Roman" panose="02020603050405020304" pitchFamily="18" charset="0"/>
              </a:rPr>
              <a:t>НСЗУ</a:t>
            </a:r>
            <a:r>
              <a:rPr lang="uk-UA" sz="1600" dirty="0">
                <a:solidFill>
                  <a:srgbClr val="002060"/>
                </a:solidFill>
                <a:latin typeface="Times New Roman" panose="02020603050405020304" pitchFamily="18" charset="0"/>
              </a:rPr>
              <a:t> до яких транспортуватимуться пацієнти із </a:t>
            </a:r>
            <a:r>
              <a:rPr lang="uk-UA" sz="1600" dirty="0" err="1">
                <a:solidFill>
                  <a:srgbClr val="002060"/>
                </a:solidFill>
                <a:latin typeface="Times New Roman" panose="02020603050405020304" pitchFamily="18" charset="0"/>
              </a:rPr>
              <a:t>ГМІ</a:t>
            </a:r>
            <a:r>
              <a:rPr lang="uk-UA" sz="1600" dirty="0">
                <a:solidFill>
                  <a:srgbClr val="002060"/>
                </a:solidFill>
                <a:latin typeface="Times New Roman" panose="02020603050405020304" pitchFamily="18" charset="0"/>
              </a:rPr>
              <a:t>, і в яких наявне спеціалізоване </a:t>
            </a:r>
            <a:r>
              <a:rPr lang="uk-UA" sz="1600" dirty="0" err="1">
                <a:solidFill>
                  <a:srgbClr val="002060"/>
                </a:solidFill>
                <a:latin typeface="Times New Roman" panose="02020603050405020304" pitchFamily="18" charset="0"/>
              </a:rPr>
              <a:t>інсультне</a:t>
            </a:r>
            <a:r>
              <a:rPr lang="uk-UA" sz="1600" dirty="0">
                <a:solidFill>
                  <a:srgbClr val="002060"/>
                </a:solidFill>
                <a:latin typeface="Times New Roman" panose="02020603050405020304" pitchFamily="18" charset="0"/>
              </a:rPr>
              <a:t> відділення, в цілодобовому режимі здійснюється </a:t>
            </a:r>
            <a:r>
              <a:rPr lang="uk-UA" sz="1600" dirty="0" err="1">
                <a:solidFill>
                  <a:srgbClr val="002060"/>
                </a:solidFill>
                <a:latin typeface="Times New Roman" panose="02020603050405020304" pitchFamily="18" charset="0"/>
              </a:rPr>
              <a:t>нейровізуалізація</a:t>
            </a:r>
            <a:r>
              <a:rPr lang="uk-UA" sz="1600" dirty="0">
                <a:solidFill>
                  <a:srgbClr val="002060"/>
                </a:solidFill>
                <a:latin typeface="Times New Roman" panose="02020603050405020304" pitchFamily="18" charset="0"/>
              </a:rPr>
              <a:t> головного мозку, проводиться лабораторна діагностика, виконується моніторинг вітальних функцій, </a:t>
            </a:r>
            <a:r>
              <a:rPr lang="uk-UA" sz="1600" dirty="0" err="1">
                <a:solidFill>
                  <a:srgbClr val="002060"/>
                </a:solidFill>
                <a:latin typeface="Times New Roman" panose="02020603050405020304" pitchFamily="18" charset="0"/>
              </a:rPr>
              <a:t>реваскулярізаційні</a:t>
            </a:r>
            <a:r>
              <a:rPr lang="uk-UA" sz="1600" dirty="0">
                <a:solidFill>
                  <a:srgbClr val="002060"/>
                </a:solidFill>
                <a:latin typeface="Times New Roman" panose="02020603050405020304" pitchFamily="18" charset="0"/>
              </a:rPr>
              <a:t> втручання шляхом внутрішньовенної </a:t>
            </a:r>
            <a:r>
              <a:rPr lang="uk-UA" sz="1600" b="1" dirty="0" err="1">
                <a:solidFill>
                  <a:srgbClr val="002060"/>
                </a:solidFill>
                <a:latin typeface="Times New Roman" panose="02020603050405020304" pitchFamily="18" charset="0"/>
              </a:rPr>
              <a:t>тромболітичної</a:t>
            </a:r>
            <a:r>
              <a:rPr lang="uk-UA" sz="1600" b="1" dirty="0">
                <a:solidFill>
                  <a:srgbClr val="002060"/>
                </a:solidFill>
                <a:latin typeface="Times New Roman" panose="02020603050405020304" pitchFamily="18" charset="0"/>
              </a:rPr>
              <a:t> терапії та </a:t>
            </a:r>
            <a:r>
              <a:rPr lang="uk-UA" sz="16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відкриті нейрохірургічні операції при </a:t>
            </a:r>
            <a:r>
              <a:rPr lang="uk-UA" sz="1600" b="1" dirty="0" err="1">
                <a:solidFill>
                  <a:srgbClr val="FF0000"/>
                </a:solidFill>
                <a:latin typeface="Times New Roman" panose="02020603050405020304" pitchFamily="18" charset="0"/>
              </a:rPr>
              <a:t>ГМІ</a:t>
            </a:r>
            <a:endParaRPr lang="uk-UA" sz="1600" b="1" dirty="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0" name="Прямокутник: округлені кути 9">
            <a:extLst>
              <a:ext uri="{FF2B5EF4-FFF2-40B4-BE49-F238E27FC236}">
                <a16:creationId xmlns:a16="http://schemas.microsoft.com/office/drawing/2014/main" id="{63F7B79B-8C9B-4492-A85D-EA87BF7F1F3F}"/>
              </a:ext>
            </a:extLst>
          </p:cNvPr>
          <p:cNvSpPr/>
          <p:nvPr/>
        </p:nvSpPr>
        <p:spPr>
          <a:xfrm>
            <a:off x="835647" y="3793674"/>
            <a:ext cx="4302354" cy="1607249"/>
          </a:xfrm>
          <a:prstGeom prst="roundRect">
            <a:avLst/>
          </a:prstGeom>
          <a:gradFill flip="none" rotWithShape="1">
            <a:gsLst>
              <a:gs pos="0">
                <a:schemeClr val="accent3">
                  <a:lumMod val="5000"/>
                  <a:lumOff val="95000"/>
                </a:schemeClr>
              </a:gs>
              <a:gs pos="74000">
                <a:schemeClr val="accent3">
                  <a:lumMod val="45000"/>
                  <a:lumOff val="55000"/>
                </a:schemeClr>
              </a:gs>
              <a:gs pos="83000">
                <a:schemeClr val="accent3">
                  <a:lumMod val="45000"/>
                  <a:lumOff val="55000"/>
                </a:schemeClr>
              </a:gs>
              <a:gs pos="100000">
                <a:schemeClr val="accent3">
                  <a:lumMod val="30000"/>
                  <a:lumOff val="70000"/>
                </a:schemeClr>
              </a:gs>
            </a:gsLst>
            <a:lin ang="5400000" scaled="1"/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fontAlgn="ctr"/>
            <a:r>
              <a:rPr lang="uk-UA" sz="1400" dirty="0">
                <a:solidFill>
                  <a:srgbClr val="002060"/>
                </a:solidFill>
                <a:latin typeface="Times New Roman" panose="02020603050405020304" pitchFamily="18" charset="0"/>
              </a:rPr>
              <a:t>Відокремлений підрозділ «Лікарня Святого Пантелеймона «КНП «Львівське територіальне медичне об'єднання» Багатопрофільна клінічна лікарня інтенсивних методів лікування та швидкої медичної допомоги»</a:t>
            </a:r>
          </a:p>
          <a:p>
            <a:pPr lvl="0" algn="ctr" fontAlgn="ctr"/>
            <a:r>
              <a:rPr lang="uk-UA" sz="1400" dirty="0">
                <a:solidFill>
                  <a:srgbClr val="002060"/>
                </a:solidFill>
                <a:latin typeface="Times New Roman" panose="02020603050405020304" pitchFamily="18" charset="0"/>
              </a:rPr>
              <a:t> (</a:t>
            </a:r>
            <a:r>
              <a:rPr lang="uk-UA" sz="1400" dirty="0" err="1">
                <a:solidFill>
                  <a:srgbClr val="002060"/>
                </a:solidFill>
                <a:latin typeface="Times New Roman" panose="02020603050405020304" pitchFamily="18" charset="0"/>
              </a:rPr>
              <a:t>м.Львів</a:t>
            </a:r>
            <a:r>
              <a:rPr lang="uk-UA" sz="1400" dirty="0">
                <a:solidFill>
                  <a:srgbClr val="002060"/>
                </a:solidFill>
                <a:latin typeface="Times New Roman" panose="02020603050405020304" pitchFamily="18" charset="0"/>
              </a:rPr>
              <a:t>, </a:t>
            </a:r>
            <a:r>
              <a:rPr lang="uk-UA" sz="1400" dirty="0" err="1">
                <a:solidFill>
                  <a:srgbClr val="002060"/>
                </a:solidFill>
                <a:latin typeface="Times New Roman" panose="02020603050405020304" pitchFamily="18" charset="0"/>
              </a:rPr>
              <a:t>вул.І.Миколайчука</a:t>
            </a:r>
            <a:r>
              <a:rPr lang="uk-UA" sz="1400" dirty="0">
                <a:solidFill>
                  <a:srgbClr val="002060"/>
                </a:solidFill>
                <a:latin typeface="Times New Roman" panose="02020603050405020304" pitchFamily="18" charset="0"/>
              </a:rPr>
              <a:t>, 9)</a:t>
            </a:r>
          </a:p>
        </p:txBody>
      </p:sp>
      <p:sp>
        <p:nvSpPr>
          <p:cNvPr id="11" name="Прямокутник: округлені кути 10">
            <a:extLst>
              <a:ext uri="{FF2B5EF4-FFF2-40B4-BE49-F238E27FC236}">
                <a16:creationId xmlns:a16="http://schemas.microsoft.com/office/drawing/2014/main" id="{DED8259F-032E-4635-984F-DC46047E6AB8}"/>
              </a:ext>
            </a:extLst>
          </p:cNvPr>
          <p:cNvSpPr/>
          <p:nvPr/>
        </p:nvSpPr>
        <p:spPr>
          <a:xfrm>
            <a:off x="7053999" y="3793674"/>
            <a:ext cx="4302354" cy="1607249"/>
          </a:xfrm>
          <a:prstGeom prst="roundRect">
            <a:avLst/>
          </a:prstGeom>
          <a:gradFill flip="none" rotWithShape="1">
            <a:gsLst>
              <a:gs pos="0">
                <a:schemeClr val="accent3">
                  <a:lumMod val="5000"/>
                  <a:lumOff val="95000"/>
                </a:schemeClr>
              </a:gs>
              <a:gs pos="74000">
                <a:schemeClr val="accent3">
                  <a:lumMod val="45000"/>
                  <a:lumOff val="55000"/>
                </a:schemeClr>
              </a:gs>
              <a:gs pos="83000">
                <a:schemeClr val="accent3">
                  <a:lumMod val="45000"/>
                  <a:lumOff val="55000"/>
                </a:schemeClr>
              </a:gs>
              <a:gs pos="100000">
                <a:schemeClr val="accent3">
                  <a:lumMod val="30000"/>
                  <a:lumOff val="70000"/>
                </a:schemeClr>
              </a:gs>
            </a:gsLst>
            <a:lin ang="5400000" scaled="1"/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fontAlgn="ctr"/>
            <a:r>
              <a:rPr lang="uk-UA" sz="1400" dirty="0">
                <a:solidFill>
                  <a:srgbClr val="002060"/>
                </a:solidFill>
                <a:latin typeface="Times New Roman" panose="02020603050405020304" pitchFamily="18" charset="0"/>
              </a:rPr>
              <a:t>Відокремлений підрозділ «Лікарня Святого Луки </a:t>
            </a:r>
          </a:p>
          <a:p>
            <a:pPr lvl="0" algn="ctr" fontAlgn="ctr"/>
            <a:r>
              <a:rPr lang="uk-UA" sz="1400" dirty="0">
                <a:solidFill>
                  <a:srgbClr val="002060"/>
                </a:solidFill>
                <a:latin typeface="Times New Roman" panose="02020603050405020304" pitchFamily="18" charset="0"/>
              </a:rPr>
              <a:t>«КНП «Львівське територіальне медичне об'єднання» Багатопрофільна клінічна лікарня інтенсивних методів лікування та швидкої медичної допомоги»</a:t>
            </a:r>
          </a:p>
          <a:p>
            <a:pPr lvl="0" algn="ctr" fontAlgn="ctr"/>
            <a:r>
              <a:rPr lang="uk-UA" sz="1400" dirty="0">
                <a:solidFill>
                  <a:srgbClr val="002060"/>
                </a:solidFill>
                <a:latin typeface="Times New Roman" panose="02020603050405020304" pitchFamily="18" charset="0"/>
              </a:rPr>
              <a:t> (</a:t>
            </a:r>
            <a:r>
              <a:rPr lang="uk-UA" sz="1400" dirty="0" err="1">
                <a:solidFill>
                  <a:srgbClr val="002060"/>
                </a:solidFill>
                <a:latin typeface="Times New Roman" panose="02020603050405020304" pitchFamily="18" charset="0"/>
              </a:rPr>
              <a:t>м.Львів</a:t>
            </a:r>
            <a:r>
              <a:rPr lang="uk-UA" sz="1400" dirty="0">
                <a:solidFill>
                  <a:srgbClr val="002060"/>
                </a:solidFill>
                <a:latin typeface="Times New Roman" panose="02020603050405020304" pitchFamily="18" charset="0"/>
              </a:rPr>
              <a:t>, </a:t>
            </a:r>
            <a:r>
              <a:rPr lang="uk-UA" sz="1400" dirty="0" err="1">
                <a:solidFill>
                  <a:srgbClr val="002060"/>
                </a:solidFill>
                <a:latin typeface="Times New Roman" panose="02020603050405020304" pitchFamily="18" charset="0"/>
              </a:rPr>
              <a:t>вул.Навроцького</a:t>
            </a:r>
            <a:r>
              <a:rPr lang="uk-UA" sz="1400" dirty="0">
                <a:solidFill>
                  <a:srgbClr val="002060"/>
                </a:solidFill>
                <a:latin typeface="Times New Roman" panose="02020603050405020304" pitchFamily="18" charset="0"/>
              </a:rPr>
              <a:t>, 23)</a:t>
            </a:r>
          </a:p>
        </p:txBody>
      </p:sp>
      <p:sp>
        <p:nvSpPr>
          <p:cNvPr id="14" name="Прямокутник: округлені кути 13">
            <a:extLst>
              <a:ext uri="{FF2B5EF4-FFF2-40B4-BE49-F238E27FC236}">
                <a16:creationId xmlns:a16="http://schemas.microsoft.com/office/drawing/2014/main" id="{4812EE3A-FCA8-4990-9287-022D3C7FA446}"/>
              </a:ext>
            </a:extLst>
          </p:cNvPr>
          <p:cNvSpPr/>
          <p:nvPr/>
        </p:nvSpPr>
        <p:spPr>
          <a:xfrm>
            <a:off x="3944823" y="5688204"/>
            <a:ext cx="4302354" cy="762017"/>
          </a:xfrm>
          <a:prstGeom prst="roundRect">
            <a:avLst/>
          </a:prstGeom>
          <a:gradFill flip="none" rotWithShape="1">
            <a:gsLst>
              <a:gs pos="0">
                <a:schemeClr val="accent3">
                  <a:lumMod val="5000"/>
                  <a:lumOff val="95000"/>
                </a:schemeClr>
              </a:gs>
              <a:gs pos="74000">
                <a:schemeClr val="accent3">
                  <a:lumMod val="45000"/>
                  <a:lumOff val="55000"/>
                </a:schemeClr>
              </a:gs>
              <a:gs pos="83000">
                <a:schemeClr val="accent3">
                  <a:lumMod val="45000"/>
                  <a:lumOff val="55000"/>
                </a:schemeClr>
              </a:gs>
              <a:gs pos="100000">
                <a:schemeClr val="accent3">
                  <a:lumMod val="30000"/>
                  <a:lumOff val="70000"/>
                </a:schemeClr>
              </a:gs>
            </a:gsLst>
            <a:lin ang="5400000" scaled="1"/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fontAlgn="ctr"/>
            <a:r>
              <a:rPr lang="uk-UA" sz="1400" dirty="0">
                <a:solidFill>
                  <a:srgbClr val="002060"/>
                </a:solidFill>
                <a:latin typeface="Times New Roman" panose="02020603050405020304" pitchFamily="18" charset="0"/>
              </a:rPr>
              <a:t>КНП  ЛОР  «Львівський обласний госпіталь ветеранів війн та репресованих імені Юрія Липи» (мю Львів-Винники, вул. Івасюка, 31)</a:t>
            </a:r>
          </a:p>
        </p:txBody>
      </p:sp>
      <p:sp>
        <p:nvSpPr>
          <p:cNvPr id="15" name="Стрілка: униз 14">
            <a:extLst>
              <a:ext uri="{FF2B5EF4-FFF2-40B4-BE49-F238E27FC236}">
                <a16:creationId xmlns:a16="http://schemas.microsoft.com/office/drawing/2014/main" id="{564AFABA-863C-47EB-87EF-7995DE923AB2}"/>
              </a:ext>
            </a:extLst>
          </p:cNvPr>
          <p:cNvSpPr/>
          <p:nvPr/>
        </p:nvSpPr>
        <p:spPr>
          <a:xfrm>
            <a:off x="2927698" y="3350277"/>
            <a:ext cx="275617" cy="423290"/>
          </a:xfrm>
          <a:prstGeom prst="downArrow">
            <a:avLst/>
          </a:prstGeom>
          <a:gradFill flip="none" rotWithShape="1">
            <a:gsLst>
              <a:gs pos="0">
                <a:schemeClr val="accent3">
                  <a:lumMod val="0"/>
                  <a:lumOff val="100000"/>
                </a:schemeClr>
              </a:gs>
              <a:gs pos="35000">
                <a:schemeClr val="accent3">
                  <a:lumMod val="0"/>
                  <a:lumOff val="100000"/>
                </a:schemeClr>
              </a:gs>
              <a:gs pos="100000">
                <a:schemeClr val="accent3">
                  <a:lumMod val="100000"/>
                </a:schemeClr>
              </a:gs>
            </a:gsLst>
            <a:path path="circle">
              <a:fillToRect l="50000" t="-80000" r="50000" b="180000"/>
            </a:path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12" name="Стрілка: униз 11">
            <a:extLst>
              <a:ext uri="{FF2B5EF4-FFF2-40B4-BE49-F238E27FC236}">
                <a16:creationId xmlns:a16="http://schemas.microsoft.com/office/drawing/2014/main" id="{A210BD4E-037F-4496-9BF9-90EEB5D31EB9}"/>
              </a:ext>
            </a:extLst>
          </p:cNvPr>
          <p:cNvSpPr/>
          <p:nvPr/>
        </p:nvSpPr>
        <p:spPr>
          <a:xfrm>
            <a:off x="8959933" y="3350276"/>
            <a:ext cx="275617" cy="423291"/>
          </a:xfrm>
          <a:prstGeom prst="downArrow">
            <a:avLst/>
          </a:prstGeom>
          <a:gradFill flip="none" rotWithShape="1">
            <a:gsLst>
              <a:gs pos="0">
                <a:schemeClr val="accent3">
                  <a:lumMod val="0"/>
                  <a:lumOff val="100000"/>
                </a:schemeClr>
              </a:gs>
              <a:gs pos="35000">
                <a:schemeClr val="accent3">
                  <a:lumMod val="0"/>
                  <a:lumOff val="100000"/>
                </a:schemeClr>
              </a:gs>
              <a:gs pos="100000">
                <a:schemeClr val="accent3">
                  <a:lumMod val="100000"/>
                </a:schemeClr>
              </a:gs>
            </a:gsLst>
            <a:path path="circle">
              <a:fillToRect l="50000" t="-80000" r="50000" b="180000"/>
            </a:path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13" name="Стрілка: униз 12">
            <a:extLst>
              <a:ext uri="{FF2B5EF4-FFF2-40B4-BE49-F238E27FC236}">
                <a16:creationId xmlns:a16="http://schemas.microsoft.com/office/drawing/2014/main" id="{2BD45019-B753-4B23-BBA4-4D93CCDF60BB}"/>
              </a:ext>
            </a:extLst>
          </p:cNvPr>
          <p:cNvSpPr/>
          <p:nvPr/>
        </p:nvSpPr>
        <p:spPr>
          <a:xfrm>
            <a:off x="5958191" y="3346554"/>
            <a:ext cx="275617" cy="2341650"/>
          </a:xfrm>
          <a:prstGeom prst="downArrow">
            <a:avLst/>
          </a:prstGeom>
          <a:gradFill flip="none" rotWithShape="1">
            <a:gsLst>
              <a:gs pos="0">
                <a:schemeClr val="accent3">
                  <a:lumMod val="0"/>
                  <a:lumOff val="100000"/>
                </a:schemeClr>
              </a:gs>
              <a:gs pos="35000">
                <a:schemeClr val="accent3">
                  <a:lumMod val="0"/>
                  <a:lumOff val="100000"/>
                </a:schemeClr>
              </a:gs>
              <a:gs pos="100000">
                <a:schemeClr val="accent3">
                  <a:lumMod val="100000"/>
                </a:schemeClr>
              </a:gs>
            </a:gsLst>
            <a:path path="circle">
              <a:fillToRect l="50000" t="-80000" r="50000" b="180000"/>
            </a:path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16" name="Прямокутник 15">
            <a:extLst>
              <a:ext uri="{FF2B5EF4-FFF2-40B4-BE49-F238E27FC236}">
                <a16:creationId xmlns:a16="http://schemas.microsoft.com/office/drawing/2014/main" id="{1AAB7B8A-7A25-414B-B743-42B63A69D42D}"/>
              </a:ext>
            </a:extLst>
          </p:cNvPr>
          <p:cNvSpPr/>
          <p:nvPr/>
        </p:nvSpPr>
        <p:spPr>
          <a:xfrm>
            <a:off x="719555" y="6450221"/>
            <a:ext cx="11195048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uk-UA" sz="1600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* </a:t>
            </a:r>
            <a:r>
              <a:rPr lang="uk-UA" sz="1200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З грудня 2023р. проводяться втручання в </a:t>
            </a:r>
            <a:r>
              <a:rPr lang="uk-UA" sz="1200" dirty="0">
                <a:solidFill>
                  <a:srgbClr val="002060"/>
                </a:solidFill>
                <a:latin typeface="Times New Roman" panose="02020603050405020304" pitchFamily="18" charset="0"/>
              </a:rPr>
              <a:t>КП «Центральна міська лікарня Червоноградської міської ради»</a:t>
            </a:r>
            <a:endParaRPr lang="uk-UA" sz="1200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7" name="Заголовок 1">
            <a:extLst>
              <a:ext uri="{FF2B5EF4-FFF2-40B4-BE49-F238E27FC236}">
                <a16:creationId xmlns:a16="http://schemas.microsoft.com/office/drawing/2014/main" id="{3345D52A-519D-4505-AEAC-F2A3CE5B5E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681" y="128866"/>
            <a:ext cx="11746922" cy="763600"/>
          </a:xfrm>
        </p:spPr>
        <p:txBody>
          <a:bodyPr>
            <a:noAutofit/>
          </a:bodyPr>
          <a:lstStyle/>
          <a:p>
            <a:pPr algn="ctr"/>
            <a:r>
              <a:rPr lang="en-US" sz="3000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3000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uk-UA" sz="2800" b="1" dirty="0" err="1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ЗОЗ</a:t>
            </a:r>
            <a:r>
              <a:rPr lang="uk-UA" sz="2800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які визначені для надання медичної допомоги хворим на </a:t>
            </a:r>
            <a:r>
              <a:rPr lang="uk-UA" sz="2800" b="1" dirty="0" err="1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ГМІ</a:t>
            </a:r>
            <a:r>
              <a:rPr lang="uk-UA" sz="2800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uk-UA" sz="2800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uk-UA" sz="2800" b="1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373434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Стрілка: униз 9">
            <a:extLst>
              <a:ext uri="{FF2B5EF4-FFF2-40B4-BE49-F238E27FC236}">
                <a16:creationId xmlns:a16="http://schemas.microsoft.com/office/drawing/2014/main" id="{BA3A8494-6EB4-4475-8D26-D7315ED5756B}"/>
              </a:ext>
            </a:extLst>
          </p:cNvPr>
          <p:cNvSpPr/>
          <p:nvPr/>
        </p:nvSpPr>
        <p:spPr>
          <a:xfrm>
            <a:off x="8700941" y="3523269"/>
            <a:ext cx="275617" cy="771187"/>
          </a:xfrm>
          <a:prstGeom prst="downArrow">
            <a:avLst/>
          </a:prstGeom>
          <a:gradFill flip="none" rotWithShape="1">
            <a:gsLst>
              <a:gs pos="0">
                <a:schemeClr val="accent3">
                  <a:lumMod val="0"/>
                  <a:lumOff val="100000"/>
                </a:schemeClr>
              </a:gs>
              <a:gs pos="35000">
                <a:schemeClr val="accent3">
                  <a:lumMod val="0"/>
                  <a:lumOff val="100000"/>
                </a:schemeClr>
              </a:gs>
              <a:gs pos="100000">
                <a:schemeClr val="accent3">
                  <a:lumMod val="100000"/>
                </a:schemeClr>
              </a:gs>
            </a:gsLst>
            <a:path path="circle">
              <a:fillToRect l="50000" t="-80000" r="50000" b="180000"/>
            </a:path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20" name="Стрілка: униз 19">
            <a:extLst>
              <a:ext uri="{FF2B5EF4-FFF2-40B4-BE49-F238E27FC236}">
                <a16:creationId xmlns:a16="http://schemas.microsoft.com/office/drawing/2014/main" id="{1C4859AC-6EBE-4A82-A5B8-4E962A1A0DD4}"/>
              </a:ext>
            </a:extLst>
          </p:cNvPr>
          <p:cNvSpPr/>
          <p:nvPr/>
        </p:nvSpPr>
        <p:spPr>
          <a:xfrm>
            <a:off x="3162603" y="3512775"/>
            <a:ext cx="275617" cy="745850"/>
          </a:xfrm>
          <a:prstGeom prst="downArrow">
            <a:avLst/>
          </a:prstGeom>
          <a:gradFill flip="none" rotWithShape="1">
            <a:gsLst>
              <a:gs pos="0">
                <a:schemeClr val="accent3">
                  <a:lumMod val="0"/>
                  <a:lumOff val="100000"/>
                </a:schemeClr>
              </a:gs>
              <a:gs pos="35000">
                <a:schemeClr val="accent3">
                  <a:lumMod val="0"/>
                  <a:lumOff val="100000"/>
                </a:schemeClr>
              </a:gs>
              <a:gs pos="100000">
                <a:schemeClr val="accent3">
                  <a:lumMod val="100000"/>
                </a:schemeClr>
              </a:gs>
            </a:gsLst>
            <a:path path="circle">
              <a:fillToRect l="50000" t="-80000" r="50000" b="180000"/>
            </a:path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7" name="Прямокутник 6">
            <a:extLst>
              <a:ext uri="{FF2B5EF4-FFF2-40B4-BE49-F238E27FC236}">
                <a16:creationId xmlns:a16="http://schemas.microsoft.com/office/drawing/2014/main" id="{E674C6C3-DA98-475B-A32C-C6DF212C140E}"/>
              </a:ext>
            </a:extLst>
          </p:cNvPr>
          <p:cNvSpPr/>
          <p:nvPr/>
        </p:nvSpPr>
        <p:spPr>
          <a:xfrm>
            <a:off x="635001" y="978789"/>
            <a:ext cx="11195048" cy="6155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/>
            <a:r>
              <a:rPr lang="uk-UA" sz="1600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Наказ ДОЗ </a:t>
            </a:r>
            <a:r>
              <a:rPr lang="uk-UA" sz="1600" b="1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ЛОДА</a:t>
            </a:r>
            <a:r>
              <a:rPr lang="uk-UA" sz="1600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від 09.10.2023 № 722 «Порядок організації надання медичної допомоги пацієнтам із гострим мозковим інсультом (далі </a:t>
            </a:r>
            <a:r>
              <a:rPr lang="uk-UA" sz="1600" b="1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ГМІ</a:t>
            </a:r>
            <a:r>
              <a:rPr lang="uk-UA" sz="1600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)  у Львівській </a:t>
            </a:r>
            <a:r>
              <a:rPr lang="uk-UA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області»</a:t>
            </a:r>
            <a:r>
              <a:rPr lang="en-US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(</a:t>
            </a:r>
            <a:r>
              <a:rPr lang="uk-UA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зі змінами)</a:t>
            </a:r>
            <a:endParaRPr lang="uk-UA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" name="Прямокутник 8">
            <a:extLst>
              <a:ext uri="{FF2B5EF4-FFF2-40B4-BE49-F238E27FC236}">
                <a16:creationId xmlns:a16="http://schemas.microsoft.com/office/drawing/2014/main" id="{40236D39-C48D-426E-811C-632604ABB039}"/>
              </a:ext>
            </a:extLst>
          </p:cNvPr>
          <p:cNvSpPr/>
          <p:nvPr/>
        </p:nvSpPr>
        <p:spPr>
          <a:xfrm>
            <a:off x="719555" y="1884934"/>
            <a:ext cx="10205693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 fontAlgn="ctr"/>
            <a:r>
              <a:rPr lang="uk-UA" sz="1600" b="1" dirty="0">
                <a:solidFill>
                  <a:srgbClr val="002060"/>
                </a:solidFill>
                <a:latin typeface="Times New Roman" panose="02020603050405020304" pitchFamily="18" charset="0"/>
              </a:rPr>
              <a:t>Перелік закладів охорони здоров'я з якими укладено договори про медичне обслуговування населення </a:t>
            </a:r>
            <a:r>
              <a:rPr lang="uk-UA" sz="1600" dirty="0">
                <a:solidFill>
                  <a:srgbClr val="002060"/>
                </a:solidFill>
                <a:latin typeface="Times New Roman" panose="02020603050405020304" pitchFamily="18" charset="0"/>
              </a:rPr>
              <a:t>за програмою медичних </a:t>
            </a:r>
            <a:r>
              <a:rPr lang="uk-UA" sz="1600" dirty="0" err="1">
                <a:solidFill>
                  <a:srgbClr val="002060"/>
                </a:solidFill>
                <a:latin typeface="Times New Roman" panose="02020603050405020304" pitchFamily="18" charset="0"/>
              </a:rPr>
              <a:t>гарантійз</a:t>
            </a:r>
            <a:r>
              <a:rPr lang="uk-UA" sz="1600" dirty="0">
                <a:solidFill>
                  <a:srgbClr val="002060"/>
                </a:solidFill>
                <a:latin typeface="Times New Roman" panose="02020603050405020304" pitchFamily="18" charset="0"/>
              </a:rPr>
              <a:t> з </a:t>
            </a:r>
            <a:r>
              <a:rPr lang="uk-UA" sz="1600" dirty="0" err="1">
                <a:solidFill>
                  <a:srgbClr val="002060"/>
                </a:solidFill>
                <a:latin typeface="Times New Roman" panose="02020603050405020304" pitchFamily="18" charset="0"/>
              </a:rPr>
              <a:t>НСЗУ</a:t>
            </a:r>
            <a:r>
              <a:rPr lang="uk-UA" sz="1600" dirty="0">
                <a:solidFill>
                  <a:srgbClr val="002060"/>
                </a:solidFill>
                <a:latin typeface="Times New Roman" panose="02020603050405020304" pitchFamily="18" charset="0"/>
              </a:rPr>
              <a:t> до яких транспортуватимуться пацієнти із </a:t>
            </a:r>
            <a:r>
              <a:rPr lang="uk-UA" sz="1600" dirty="0" err="1">
                <a:solidFill>
                  <a:srgbClr val="002060"/>
                </a:solidFill>
                <a:latin typeface="Times New Roman" panose="02020603050405020304" pitchFamily="18" charset="0"/>
              </a:rPr>
              <a:t>ГМІ</a:t>
            </a:r>
            <a:r>
              <a:rPr lang="uk-UA" sz="1600" dirty="0">
                <a:solidFill>
                  <a:srgbClr val="002060"/>
                </a:solidFill>
                <a:latin typeface="Times New Roman" panose="02020603050405020304" pitchFamily="18" charset="0"/>
              </a:rPr>
              <a:t>, і в яких наявне спеціалізоване </a:t>
            </a:r>
            <a:r>
              <a:rPr lang="uk-UA" sz="1600" dirty="0" err="1">
                <a:solidFill>
                  <a:srgbClr val="002060"/>
                </a:solidFill>
                <a:latin typeface="Times New Roman" panose="02020603050405020304" pitchFamily="18" charset="0"/>
              </a:rPr>
              <a:t>інсультне</a:t>
            </a:r>
            <a:r>
              <a:rPr lang="uk-UA" sz="1600" dirty="0">
                <a:solidFill>
                  <a:srgbClr val="002060"/>
                </a:solidFill>
                <a:latin typeface="Times New Roman" panose="02020603050405020304" pitchFamily="18" charset="0"/>
              </a:rPr>
              <a:t> відділення, в цілодобовому режимі здійснюється </a:t>
            </a:r>
            <a:r>
              <a:rPr lang="uk-UA" sz="1600" dirty="0" err="1">
                <a:solidFill>
                  <a:srgbClr val="002060"/>
                </a:solidFill>
                <a:latin typeface="Times New Roman" panose="02020603050405020304" pitchFamily="18" charset="0"/>
              </a:rPr>
              <a:t>нейровізуалізація</a:t>
            </a:r>
            <a:r>
              <a:rPr lang="uk-UA" sz="1600" dirty="0">
                <a:solidFill>
                  <a:srgbClr val="002060"/>
                </a:solidFill>
                <a:latin typeface="Times New Roman" panose="02020603050405020304" pitchFamily="18" charset="0"/>
              </a:rPr>
              <a:t> головного мозку, проводиться лабораторна діагностика, виконується моніторинг вітальних функцій, </a:t>
            </a:r>
            <a:r>
              <a:rPr lang="uk-UA" sz="1600" dirty="0" err="1">
                <a:solidFill>
                  <a:srgbClr val="002060"/>
                </a:solidFill>
                <a:latin typeface="Times New Roman" panose="02020603050405020304" pitchFamily="18" charset="0"/>
              </a:rPr>
              <a:t>реваскулярізаційні</a:t>
            </a:r>
            <a:r>
              <a:rPr lang="uk-UA" sz="1600" dirty="0">
                <a:solidFill>
                  <a:srgbClr val="002060"/>
                </a:solidFill>
                <a:latin typeface="Times New Roman" panose="02020603050405020304" pitchFamily="18" charset="0"/>
              </a:rPr>
              <a:t> втручання шляхом внутрішньовенної </a:t>
            </a:r>
            <a:r>
              <a:rPr lang="uk-UA" sz="1600" dirty="0" err="1">
                <a:solidFill>
                  <a:srgbClr val="002060"/>
                </a:solidFill>
                <a:latin typeface="Times New Roman" panose="02020603050405020304" pitchFamily="18" charset="0"/>
              </a:rPr>
              <a:t>тромболітичної</a:t>
            </a:r>
            <a:r>
              <a:rPr lang="uk-UA" sz="1600" dirty="0">
                <a:solidFill>
                  <a:srgbClr val="002060"/>
                </a:solidFill>
                <a:latin typeface="Times New Roman" panose="02020603050405020304" pitchFamily="18" charset="0"/>
              </a:rPr>
              <a:t> терапії та </a:t>
            </a:r>
            <a:r>
              <a:rPr lang="uk-UA" sz="1600" dirty="0" err="1">
                <a:solidFill>
                  <a:srgbClr val="002060"/>
                </a:solidFill>
                <a:latin typeface="Times New Roman" panose="02020603050405020304" pitchFamily="18" charset="0"/>
              </a:rPr>
              <a:t>ендоваскулярних</a:t>
            </a:r>
            <a:r>
              <a:rPr lang="uk-UA" sz="1600" dirty="0">
                <a:solidFill>
                  <a:srgbClr val="002060"/>
                </a:solidFill>
                <a:latin typeface="Times New Roman" panose="02020603050405020304" pitchFamily="18" charset="0"/>
              </a:rPr>
              <a:t> </a:t>
            </a:r>
            <a:r>
              <a:rPr lang="uk-UA" sz="1600" dirty="0" err="1">
                <a:solidFill>
                  <a:srgbClr val="002060"/>
                </a:solidFill>
                <a:latin typeface="Times New Roman" panose="02020603050405020304" pitchFamily="18" charset="0"/>
              </a:rPr>
              <a:t>нейроінтервенційних</a:t>
            </a:r>
            <a:r>
              <a:rPr lang="uk-UA" sz="1600" dirty="0">
                <a:solidFill>
                  <a:srgbClr val="002060"/>
                </a:solidFill>
                <a:latin typeface="Times New Roman" panose="02020603050405020304" pitchFamily="18" charset="0"/>
              </a:rPr>
              <a:t> оперативних </a:t>
            </a:r>
            <a:r>
              <a:rPr lang="uk-UA" sz="1600" dirty="0" err="1">
                <a:solidFill>
                  <a:srgbClr val="002060"/>
                </a:solidFill>
                <a:latin typeface="Times New Roman" panose="02020603050405020304" pitchFamily="18" charset="0"/>
              </a:rPr>
              <a:t>втручань</a:t>
            </a:r>
            <a:r>
              <a:rPr lang="uk-UA" sz="1600" dirty="0">
                <a:solidFill>
                  <a:srgbClr val="002060"/>
                </a:solidFill>
                <a:latin typeface="Times New Roman" panose="02020603050405020304" pitchFamily="18" charset="0"/>
              </a:rPr>
              <a:t> при </a:t>
            </a:r>
            <a:r>
              <a:rPr lang="uk-UA" sz="1600" dirty="0" err="1">
                <a:solidFill>
                  <a:srgbClr val="002060"/>
                </a:solidFill>
                <a:latin typeface="Times New Roman" panose="02020603050405020304" pitchFamily="18" charset="0"/>
              </a:rPr>
              <a:t>ГМІ</a:t>
            </a:r>
            <a:endParaRPr lang="uk-UA" sz="1600" dirty="0">
              <a:solidFill>
                <a:srgbClr val="00206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6" name="Прямокутник: округлені кути 15">
            <a:extLst>
              <a:ext uri="{FF2B5EF4-FFF2-40B4-BE49-F238E27FC236}">
                <a16:creationId xmlns:a16="http://schemas.microsoft.com/office/drawing/2014/main" id="{99D3075A-B273-4650-853C-722B9177CE91}"/>
              </a:ext>
            </a:extLst>
          </p:cNvPr>
          <p:cNvSpPr/>
          <p:nvPr/>
        </p:nvSpPr>
        <p:spPr>
          <a:xfrm>
            <a:off x="777600" y="1926030"/>
            <a:ext cx="10520706" cy="1607249"/>
          </a:xfrm>
          <a:prstGeom prst="roundRect">
            <a:avLst/>
          </a:prstGeom>
          <a:gradFill>
            <a:gsLst>
              <a:gs pos="0">
                <a:schemeClr val="accent3">
                  <a:lumMod val="5000"/>
                  <a:lumOff val="95000"/>
                </a:schemeClr>
              </a:gs>
              <a:gs pos="74000">
                <a:schemeClr val="accent3">
                  <a:lumMod val="45000"/>
                  <a:lumOff val="55000"/>
                </a:schemeClr>
              </a:gs>
              <a:gs pos="83000">
                <a:schemeClr val="accent3">
                  <a:lumMod val="45000"/>
                  <a:lumOff val="55000"/>
                </a:schemeClr>
              </a:gs>
              <a:gs pos="100000">
                <a:schemeClr val="accent3">
                  <a:lumMod val="30000"/>
                  <a:lumOff val="70000"/>
                </a:schemeClr>
              </a:gs>
            </a:gsLst>
            <a:lin ang="5400000" scaled="1"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17" name="Прямокутник 16">
            <a:extLst>
              <a:ext uri="{FF2B5EF4-FFF2-40B4-BE49-F238E27FC236}">
                <a16:creationId xmlns:a16="http://schemas.microsoft.com/office/drawing/2014/main" id="{C796A84E-3446-4E6A-90DE-83BA7A3DF9C8}"/>
              </a:ext>
            </a:extLst>
          </p:cNvPr>
          <p:cNvSpPr/>
          <p:nvPr/>
        </p:nvSpPr>
        <p:spPr>
          <a:xfrm>
            <a:off x="935107" y="2023875"/>
            <a:ext cx="10205693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 fontAlgn="ctr"/>
            <a:r>
              <a:rPr lang="uk-UA" sz="1600" b="1" dirty="0">
                <a:solidFill>
                  <a:srgbClr val="002060"/>
                </a:solidFill>
                <a:latin typeface="Times New Roman" panose="02020603050405020304" pitchFamily="18" charset="0"/>
              </a:rPr>
              <a:t>Перелік закладів охорони здоров'я з якими укладено договори про медичне обслуговування населення </a:t>
            </a:r>
            <a:r>
              <a:rPr lang="uk-UA" sz="1600" dirty="0">
                <a:solidFill>
                  <a:srgbClr val="002060"/>
                </a:solidFill>
                <a:latin typeface="Times New Roman" panose="02020603050405020304" pitchFamily="18" charset="0"/>
              </a:rPr>
              <a:t>за програмою медичних гарантій з </a:t>
            </a:r>
            <a:r>
              <a:rPr lang="uk-UA" sz="1600" dirty="0" err="1">
                <a:solidFill>
                  <a:srgbClr val="002060"/>
                </a:solidFill>
                <a:latin typeface="Times New Roman" panose="02020603050405020304" pitchFamily="18" charset="0"/>
              </a:rPr>
              <a:t>НСЗУ</a:t>
            </a:r>
            <a:r>
              <a:rPr lang="uk-UA" sz="1600" dirty="0">
                <a:solidFill>
                  <a:srgbClr val="002060"/>
                </a:solidFill>
                <a:latin typeface="Times New Roman" panose="02020603050405020304" pitchFamily="18" charset="0"/>
              </a:rPr>
              <a:t> до яких транспортуватимуться пацієнти із </a:t>
            </a:r>
            <a:r>
              <a:rPr lang="uk-UA" sz="1600" dirty="0" err="1">
                <a:solidFill>
                  <a:srgbClr val="002060"/>
                </a:solidFill>
                <a:latin typeface="Times New Roman" panose="02020603050405020304" pitchFamily="18" charset="0"/>
              </a:rPr>
              <a:t>ГМІ</a:t>
            </a:r>
            <a:r>
              <a:rPr lang="uk-UA" sz="1600" dirty="0">
                <a:solidFill>
                  <a:srgbClr val="002060"/>
                </a:solidFill>
                <a:latin typeface="Times New Roman" panose="02020603050405020304" pitchFamily="18" charset="0"/>
              </a:rPr>
              <a:t>, і в яких наявне спеціалізоване </a:t>
            </a:r>
            <a:r>
              <a:rPr lang="uk-UA" sz="1600" dirty="0" err="1">
                <a:solidFill>
                  <a:srgbClr val="002060"/>
                </a:solidFill>
                <a:latin typeface="Times New Roman" panose="02020603050405020304" pitchFamily="18" charset="0"/>
              </a:rPr>
              <a:t>інсультне</a:t>
            </a:r>
            <a:r>
              <a:rPr lang="uk-UA" sz="1600" dirty="0">
                <a:solidFill>
                  <a:srgbClr val="002060"/>
                </a:solidFill>
                <a:latin typeface="Times New Roman" panose="02020603050405020304" pitchFamily="18" charset="0"/>
              </a:rPr>
              <a:t> відділення, в цілодобовому режимі здійснюється </a:t>
            </a:r>
            <a:r>
              <a:rPr lang="uk-UA" sz="1600" dirty="0" err="1">
                <a:solidFill>
                  <a:srgbClr val="002060"/>
                </a:solidFill>
                <a:latin typeface="Times New Roman" panose="02020603050405020304" pitchFamily="18" charset="0"/>
              </a:rPr>
              <a:t>нейровізуалізація</a:t>
            </a:r>
            <a:r>
              <a:rPr lang="uk-UA" sz="1600" dirty="0">
                <a:solidFill>
                  <a:srgbClr val="002060"/>
                </a:solidFill>
                <a:latin typeface="Times New Roman" panose="02020603050405020304" pitchFamily="18" charset="0"/>
              </a:rPr>
              <a:t> головного мозку, проводиться лабораторна діагностика, виконується моніторинг вітальних функцій, </a:t>
            </a:r>
            <a:r>
              <a:rPr lang="uk-UA" sz="1600" dirty="0" err="1">
                <a:solidFill>
                  <a:srgbClr val="002060"/>
                </a:solidFill>
                <a:latin typeface="Times New Roman" panose="02020603050405020304" pitchFamily="18" charset="0"/>
              </a:rPr>
              <a:t>реваскулярізаційні</a:t>
            </a:r>
            <a:r>
              <a:rPr lang="uk-UA" sz="1600" dirty="0">
                <a:solidFill>
                  <a:srgbClr val="002060"/>
                </a:solidFill>
                <a:latin typeface="Times New Roman" panose="02020603050405020304" pitchFamily="18" charset="0"/>
              </a:rPr>
              <a:t> втручання шляхом внутрішньовенної </a:t>
            </a:r>
            <a:r>
              <a:rPr lang="uk-UA" sz="1600" b="1" dirty="0" err="1">
                <a:solidFill>
                  <a:srgbClr val="002060"/>
                </a:solidFill>
                <a:latin typeface="Times New Roman" panose="02020603050405020304" pitchFamily="18" charset="0"/>
              </a:rPr>
              <a:t>тромболітичної</a:t>
            </a:r>
            <a:r>
              <a:rPr lang="uk-UA" sz="1600" b="1" dirty="0">
                <a:solidFill>
                  <a:srgbClr val="002060"/>
                </a:solidFill>
                <a:latin typeface="Times New Roman" panose="02020603050405020304" pitchFamily="18" charset="0"/>
              </a:rPr>
              <a:t> терапії </a:t>
            </a:r>
          </a:p>
          <a:p>
            <a:pPr lvl="0" algn="ctr" fontAlgn="ctr"/>
            <a:r>
              <a:rPr lang="uk-UA" sz="1600" dirty="0">
                <a:solidFill>
                  <a:srgbClr val="FF0000"/>
                </a:solidFill>
                <a:latin typeface="Times New Roman" panose="02020603050405020304" pitchFamily="18" charset="0"/>
              </a:rPr>
              <a:t>та </a:t>
            </a:r>
            <a:r>
              <a:rPr lang="uk-UA" sz="1600" b="1" dirty="0" err="1">
                <a:solidFill>
                  <a:srgbClr val="FF0000"/>
                </a:solidFill>
                <a:latin typeface="Times New Roman" panose="02020603050405020304" pitchFamily="18" charset="0"/>
              </a:rPr>
              <a:t>ендоваскулярних</a:t>
            </a:r>
            <a:r>
              <a:rPr lang="uk-UA" sz="16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 </a:t>
            </a:r>
            <a:r>
              <a:rPr lang="uk-UA" sz="1600" b="1" dirty="0" err="1">
                <a:solidFill>
                  <a:srgbClr val="FF0000"/>
                </a:solidFill>
                <a:latin typeface="Times New Roman" panose="02020603050405020304" pitchFamily="18" charset="0"/>
              </a:rPr>
              <a:t>нейроінтервенційних</a:t>
            </a:r>
            <a:r>
              <a:rPr lang="uk-UA" sz="16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 оперативних </a:t>
            </a:r>
            <a:r>
              <a:rPr lang="uk-UA" sz="1600" b="1" dirty="0" err="1">
                <a:solidFill>
                  <a:srgbClr val="FF0000"/>
                </a:solidFill>
                <a:latin typeface="Times New Roman" panose="02020603050405020304" pitchFamily="18" charset="0"/>
              </a:rPr>
              <a:t>втручань</a:t>
            </a:r>
            <a:r>
              <a:rPr lang="uk-UA" sz="16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 при </a:t>
            </a:r>
            <a:r>
              <a:rPr lang="uk-UA" sz="1600" b="1" dirty="0" err="1">
                <a:solidFill>
                  <a:srgbClr val="FF0000"/>
                </a:solidFill>
                <a:latin typeface="Times New Roman" panose="02020603050405020304" pitchFamily="18" charset="0"/>
              </a:rPr>
              <a:t>ГМІ</a:t>
            </a:r>
            <a:endParaRPr lang="uk-UA" sz="1600" b="1" dirty="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8" name="Прямокутник: округлені кути 17">
            <a:extLst>
              <a:ext uri="{FF2B5EF4-FFF2-40B4-BE49-F238E27FC236}">
                <a16:creationId xmlns:a16="http://schemas.microsoft.com/office/drawing/2014/main" id="{3EF89AA4-1A18-4A04-B146-BB1CC16F7155}"/>
              </a:ext>
            </a:extLst>
          </p:cNvPr>
          <p:cNvSpPr/>
          <p:nvPr/>
        </p:nvSpPr>
        <p:spPr>
          <a:xfrm>
            <a:off x="835646" y="4281096"/>
            <a:ext cx="4929533" cy="1569659"/>
          </a:xfrm>
          <a:prstGeom prst="roundRect">
            <a:avLst/>
          </a:prstGeom>
          <a:gradFill>
            <a:gsLst>
              <a:gs pos="0">
                <a:schemeClr val="accent3">
                  <a:lumMod val="5000"/>
                  <a:lumOff val="95000"/>
                </a:schemeClr>
              </a:gs>
              <a:gs pos="74000">
                <a:schemeClr val="accent3">
                  <a:lumMod val="45000"/>
                  <a:lumOff val="55000"/>
                </a:schemeClr>
              </a:gs>
              <a:gs pos="83000">
                <a:schemeClr val="accent3">
                  <a:lumMod val="45000"/>
                  <a:lumOff val="55000"/>
                </a:schemeClr>
              </a:gs>
              <a:gs pos="100000">
                <a:schemeClr val="accent3">
                  <a:lumMod val="30000"/>
                  <a:lumOff val="70000"/>
                </a:schemeClr>
              </a:gs>
            </a:gsLst>
            <a:lin ang="5400000" scaled="1"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fontAlgn="ctr"/>
            <a:r>
              <a:rPr lang="uk-UA" sz="1400" dirty="0">
                <a:solidFill>
                  <a:srgbClr val="002060"/>
                </a:solidFill>
                <a:latin typeface="Times New Roman" panose="02020603050405020304" pitchFamily="18" charset="0"/>
              </a:rPr>
              <a:t>Відокремлений підрозділ «Лікарня Святого Пантелеймона «КНП «Львівське територіальне медичне об'єднання» Багатопрофільна клінічна лікарня інтенсивних методів лікування та швидкої медичної допомоги»</a:t>
            </a:r>
          </a:p>
          <a:p>
            <a:pPr lvl="0" algn="ctr" fontAlgn="ctr"/>
            <a:r>
              <a:rPr lang="uk-UA" sz="1400" dirty="0">
                <a:solidFill>
                  <a:srgbClr val="002060"/>
                </a:solidFill>
                <a:latin typeface="Times New Roman" panose="02020603050405020304" pitchFamily="18" charset="0"/>
              </a:rPr>
              <a:t> (</a:t>
            </a:r>
            <a:r>
              <a:rPr lang="uk-UA" sz="1400" dirty="0" err="1">
                <a:solidFill>
                  <a:srgbClr val="002060"/>
                </a:solidFill>
                <a:latin typeface="Times New Roman" panose="02020603050405020304" pitchFamily="18" charset="0"/>
              </a:rPr>
              <a:t>м.Львів</a:t>
            </a:r>
            <a:r>
              <a:rPr lang="uk-UA" sz="1400" dirty="0">
                <a:solidFill>
                  <a:srgbClr val="002060"/>
                </a:solidFill>
                <a:latin typeface="Times New Roman" panose="02020603050405020304" pitchFamily="18" charset="0"/>
              </a:rPr>
              <a:t>, </a:t>
            </a:r>
            <a:r>
              <a:rPr lang="uk-UA" sz="1400" dirty="0" err="1">
                <a:solidFill>
                  <a:srgbClr val="002060"/>
                </a:solidFill>
                <a:latin typeface="Times New Roman" panose="02020603050405020304" pitchFamily="18" charset="0"/>
              </a:rPr>
              <a:t>вул.І.Миколайчука</a:t>
            </a:r>
            <a:r>
              <a:rPr lang="uk-UA" sz="1400" dirty="0">
                <a:solidFill>
                  <a:srgbClr val="002060"/>
                </a:solidFill>
                <a:latin typeface="Times New Roman" panose="02020603050405020304" pitchFamily="18" charset="0"/>
              </a:rPr>
              <a:t>, 9)</a:t>
            </a:r>
          </a:p>
        </p:txBody>
      </p:sp>
      <p:sp>
        <p:nvSpPr>
          <p:cNvPr id="19" name="Прямокутник: округлені кути 18">
            <a:extLst>
              <a:ext uri="{FF2B5EF4-FFF2-40B4-BE49-F238E27FC236}">
                <a16:creationId xmlns:a16="http://schemas.microsoft.com/office/drawing/2014/main" id="{09B68B0A-4DBE-476A-875B-0EF76EAC90C2}"/>
              </a:ext>
            </a:extLst>
          </p:cNvPr>
          <p:cNvSpPr/>
          <p:nvPr/>
        </p:nvSpPr>
        <p:spPr>
          <a:xfrm>
            <a:off x="6426823" y="4308400"/>
            <a:ext cx="4823855" cy="1542355"/>
          </a:xfrm>
          <a:prstGeom prst="roundRect">
            <a:avLst/>
          </a:prstGeom>
          <a:gradFill>
            <a:gsLst>
              <a:gs pos="0">
                <a:schemeClr val="accent3">
                  <a:lumMod val="5000"/>
                  <a:lumOff val="95000"/>
                </a:schemeClr>
              </a:gs>
              <a:gs pos="74000">
                <a:schemeClr val="accent3">
                  <a:lumMod val="45000"/>
                  <a:lumOff val="55000"/>
                </a:schemeClr>
              </a:gs>
              <a:gs pos="83000">
                <a:schemeClr val="accent3">
                  <a:lumMod val="45000"/>
                  <a:lumOff val="55000"/>
                </a:schemeClr>
              </a:gs>
              <a:gs pos="100000">
                <a:schemeClr val="accent3">
                  <a:lumMod val="30000"/>
                  <a:lumOff val="70000"/>
                </a:schemeClr>
              </a:gs>
            </a:gsLst>
            <a:lin ang="5400000" scaled="1"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fontAlgn="ctr"/>
            <a:r>
              <a:rPr lang="uk-UA" sz="1400" dirty="0">
                <a:solidFill>
                  <a:srgbClr val="002060"/>
                </a:solidFill>
                <a:latin typeface="Times New Roman" panose="02020603050405020304" pitchFamily="18" charset="0"/>
              </a:rPr>
              <a:t>Відокремлений підрозділ «Лікарня Святого Луки «КНП  «Львівське територіальне медичне об'єднання» Багатопрофільна клінічна лікарня інтенсивних методів лікування та швидкої медичної допомоги»</a:t>
            </a:r>
          </a:p>
          <a:p>
            <a:pPr lvl="0" algn="ctr" fontAlgn="ctr"/>
            <a:r>
              <a:rPr lang="uk-UA" sz="1400" dirty="0">
                <a:solidFill>
                  <a:srgbClr val="002060"/>
                </a:solidFill>
                <a:latin typeface="Times New Roman" panose="02020603050405020304" pitchFamily="18" charset="0"/>
              </a:rPr>
              <a:t> (</a:t>
            </a:r>
            <a:r>
              <a:rPr lang="uk-UA" sz="1400" dirty="0" err="1">
                <a:solidFill>
                  <a:srgbClr val="002060"/>
                </a:solidFill>
                <a:latin typeface="Times New Roman" panose="02020603050405020304" pitchFamily="18" charset="0"/>
              </a:rPr>
              <a:t>м.Львів</a:t>
            </a:r>
            <a:r>
              <a:rPr lang="uk-UA" sz="1400" dirty="0">
                <a:solidFill>
                  <a:srgbClr val="002060"/>
                </a:solidFill>
                <a:latin typeface="Times New Roman" panose="02020603050405020304" pitchFamily="18" charset="0"/>
              </a:rPr>
              <a:t>, </a:t>
            </a:r>
            <a:r>
              <a:rPr lang="uk-UA" sz="1400" dirty="0" err="1">
                <a:solidFill>
                  <a:srgbClr val="002060"/>
                </a:solidFill>
                <a:latin typeface="Times New Roman" panose="02020603050405020304" pitchFamily="18" charset="0"/>
              </a:rPr>
              <a:t>вул.Навроцького</a:t>
            </a:r>
            <a:r>
              <a:rPr lang="uk-UA" sz="1400" dirty="0">
                <a:solidFill>
                  <a:srgbClr val="002060"/>
                </a:solidFill>
                <a:latin typeface="Times New Roman" panose="02020603050405020304" pitchFamily="18" charset="0"/>
              </a:rPr>
              <a:t>, 23)</a:t>
            </a:r>
          </a:p>
        </p:txBody>
      </p:sp>
      <p:sp>
        <p:nvSpPr>
          <p:cNvPr id="13" name="Заголовок 1">
            <a:extLst>
              <a:ext uri="{FF2B5EF4-FFF2-40B4-BE49-F238E27FC236}">
                <a16:creationId xmlns:a16="http://schemas.microsoft.com/office/drawing/2014/main" id="{340F397F-19E6-4F55-AB6E-6F342C1EF1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0053" y="150745"/>
            <a:ext cx="11746922" cy="763600"/>
          </a:xfrm>
        </p:spPr>
        <p:txBody>
          <a:bodyPr>
            <a:noAutofit/>
          </a:bodyPr>
          <a:lstStyle/>
          <a:p>
            <a:pPr algn="ctr"/>
            <a:r>
              <a:rPr lang="en-US" sz="3000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3000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uk-UA" sz="2800" b="1" dirty="0" err="1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ЗОЗ</a:t>
            </a:r>
            <a:r>
              <a:rPr lang="uk-UA" sz="2800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які визначені для надання медичної допомоги хворим на </a:t>
            </a:r>
            <a:r>
              <a:rPr lang="uk-UA" sz="2800" b="1" dirty="0" err="1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ГМІ</a:t>
            </a:r>
            <a:r>
              <a:rPr lang="uk-UA" sz="2800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uk-UA" sz="2800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uk-UA" sz="2800" b="1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301472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91361" y="48375"/>
            <a:ext cx="10754686" cy="914991"/>
          </a:xfrm>
        </p:spPr>
        <p:txBody>
          <a:bodyPr>
            <a:normAutofit/>
          </a:bodyPr>
          <a:lstStyle/>
          <a:p>
            <a:pPr algn="ctr"/>
            <a:r>
              <a:rPr lang="uk-UA" sz="3000" b="1" dirty="0" smtClean="0">
                <a:solidFill>
                  <a:srgbClr val="002060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Клінічні </a:t>
            </a:r>
            <a:r>
              <a:rPr lang="uk-UA" sz="3000" b="1" dirty="0">
                <a:solidFill>
                  <a:srgbClr val="002060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маршрутів у </a:t>
            </a:r>
            <a:r>
              <a:rPr lang="uk-UA" sz="3000" b="1" dirty="0" smtClean="0">
                <a:solidFill>
                  <a:srgbClr val="002060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ЗОЗ</a:t>
            </a:r>
            <a:endParaRPr lang="uk-UA" sz="3000" b="1" dirty="0">
              <a:solidFill>
                <a:srgbClr val="002060"/>
              </a:solidFill>
              <a:latin typeface="Times New Roman" pitchFamily="18" charset="0"/>
              <a:ea typeface="+mn-ea"/>
              <a:cs typeface="Times New Roman" pitchFamily="18" charset="0"/>
            </a:endParaRPr>
          </a:p>
        </p:txBody>
      </p:sp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A1488F24-D459-4BD3-84E5-73A66B178EE0}"/>
              </a:ext>
            </a:extLst>
          </p:cNvPr>
          <p:cNvSpPr txBox="1">
            <a:spLocks/>
          </p:cNvSpPr>
          <p:nvPr/>
        </p:nvSpPr>
        <p:spPr>
          <a:xfrm>
            <a:off x="0" y="839804"/>
            <a:ext cx="10754686" cy="91499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endParaRPr lang="uk-UA" sz="1800" i="1" dirty="0">
              <a:solidFill>
                <a:srgbClr val="FF0000"/>
              </a:solidFill>
              <a:latin typeface="Times New Roman" pitchFamily="18" charset="0"/>
              <a:ea typeface="+mn-ea"/>
              <a:cs typeface="Times New Roman" pitchFamily="18" charset="0"/>
            </a:endParaRPr>
          </a:p>
        </p:txBody>
      </p:sp>
      <p:graphicFrame>
        <p:nvGraphicFramePr>
          <p:cNvPr id="3" name="Таблиця 2">
            <a:extLst>
              <a:ext uri="{FF2B5EF4-FFF2-40B4-BE49-F238E27FC236}">
                <a16:creationId xmlns:a16="http://schemas.microsoft.com/office/drawing/2014/main" id="{AE8DC59B-C65E-4A4F-98E7-08F295DEBE2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45738066"/>
              </p:ext>
            </p:extLst>
          </p:nvPr>
        </p:nvGraphicFramePr>
        <p:xfrm>
          <a:off x="931653" y="1086929"/>
          <a:ext cx="10614394" cy="5524941"/>
        </p:xfrm>
        <a:graphic>
          <a:graphicData uri="http://schemas.openxmlformats.org/drawingml/2006/table">
            <a:tbl>
              <a:tblPr/>
              <a:tblGrid>
                <a:gridCol w="508857">
                  <a:extLst>
                    <a:ext uri="{9D8B030D-6E8A-4147-A177-3AD203B41FA5}">
                      <a16:colId xmlns:a16="http://schemas.microsoft.com/office/drawing/2014/main" val="3012571086"/>
                    </a:ext>
                  </a:extLst>
                </a:gridCol>
                <a:gridCol w="4826172">
                  <a:extLst>
                    <a:ext uri="{9D8B030D-6E8A-4147-A177-3AD203B41FA5}">
                      <a16:colId xmlns:a16="http://schemas.microsoft.com/office/drawing/2014/main" val="2438751312"/>
                    </a:ext>
                  </a:extLst>
                </a:gridCol>
                <a:gridCol w="1526566">
                  <a:extLst>
                    <a:ext uri="{9D8B030D-6E8A-4147-A177-3AD203B41FA5}">
                      <a16:colId xmlns:a16="http://schemas.microsoft.com/office/drawing/2014/main" val="1051738106"/>
                    </a:ext>
                  </a:extLst>
                </a:gridCol>
                <a:gridCol w="1250933">
                  <a:extLst>
                    <a:ext uri="{9D8B030D-6E8A-4147-A177-3AD203B41FA5}">
                      <a16:colId xmlns:a16="http://schemas.microsoft.com/office/drawing/2014/main" val="1463352693"/>
                    </a:ext>
                  </a:extLst>
                </a:gridCol>
                <a:gridCol w="1250933">
                  <a:extLst>
                    <a:ext uri="{9D8B030D-6E8A-4147-A177-3AD203B41FA5}">
                      <a16:colId xmlns:a16="http://schemas.microsoft.com/office/drawing/2014/main" val="1315436200"/>
                    </a:ext>
                  </a:extLst>
                </a:gridCol>
                <a:gridCol w="1250933">
                  <a:extLst>
                    <a:ext uri="{9D8B030D-6E8A-4147-A177-3AD203B41FA5}">
                      <a16:colId xmlns:a16="http://schemas.microsoft.com/office/drawing/2014/main" val="1217990845"/>
                    </a:ext>
                  </a:extLst>
                </a:gridCol>
              </a:tblGrid>
              <a:tr h="496740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№ з/п</a:t>
                      </a:r>
                    </a:p>
                  </a:txBody>
                  <a:tcPr marL="6603" marR="6603" marT="660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err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Назва</a:t>
                      </a:r>
                      <a:r>
                        <a:rPr lang="ru-RU" sz="1100" b="1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 установи</a:t>
                      </a:r>
                    </a:p>
                  </a:txBody>
                  <a:tcPr marL="6603" marR="6603" marT="660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100" b="1" i="0" u="none" strike="noStrike" dirty="0" err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Ішемічний</a:t>
                      </a:r>
                      <a:r>
                        <a:rPr lang="ru-RU" sz="1100" b="1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lang="ru-RU" sz="1100" b="1" i="0" u="none" strike="noStrike" dirty="0" err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інсульт</a:t>
                      </a:r>
                      <a:endParaRPr lang="ru-RU" sz="1100" b="1" i="0" u="none" strike="noStrike" dirty="0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603" marR="6603" marT="660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100" b="1" i="0" u="none" strike="noStrike" dirty="0" err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Геморагічний</a:t>
                      </a:r>
                      <a:r>
                        <a:rPr lang="ru-RU" sz="1100" b="1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lang="ru-RU" sz="1100" b="1" i="0" u="none" strike="noStrike" dirty="0" err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інсульт</a:t>
                      </a:r>
                      <a:endParaRPr lang="ru-RU" sz="1100" b="1" i="0" u="none" strike="noStrike" dirty="0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603" marR="6603" marT="660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100" b="1" i="0" u="none" strike="noStrike" dirty="0" err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Тромболітична</a:t>
                      </a:r>
                      <a:r>
                        <a:rPr lang="ru-RU" sz="1100" b="1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lang="ru-RU" sz="1100" b="1" i="0" u="none" strike="noStrike" dirty="0" err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терапія</a:t>
                      </a:r>
                      <a:endParaRPr lang="ru-RU" sz="1100" b="1" i="0" u="none" strike="noStrike" dirty="0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603" marR="6603" marT="660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100" b="1" i="0" u="none" strike="noStrike" dirty="0" err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Ендоваскулярні</a:t>
                      </a:r>
                      <a:r>
                        <a:rPr lang="ru-RU" sz="1100" b="1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lang="ru-RU" sz="1100" b="1" i="0" u="none" strike="noStrike" dirty="0" err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втручання</a:t>
                      </a:r>
                      <a:endParaRPr lang="ru-RU" sz="1100" b="1" i="0" u="none" strike="noStrike" dirty="0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603" marR="6603" marT="660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3032688"/>
                  </a:ext>
                </a:extLst>
              </a:tr>
              <a:tr h="303590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1</a:t>
                      </a:r>
                    </a:p>
                  </a:txBody>
                  <a:tcPr marL="6603" marR="6603" marT="660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ru-RU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 КНП ЛОР «</a:t>
                      </a:r>
                      <a:r>
                        <a:rPr lang="ru-RU" sz="1000" b="0" i="0" u="none" strike="noStrike" dirty="0" err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Львівська</a:t>
                      </a:r>
                      <a:r>
                        <a:rPr lang="ru-RU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lang="ru-RU" sz="1000" b="0" i="0" u="none" strike="noStrike" dirty="0" err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обласна</a:t>
                      </a:r>
                      <a:r>
                        <a:rPr lang="ru-RU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lang="ru-RU" sz="1000" b="0" i="0" u="none" strike="noStrike" dirty="0" err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клінічна</a:t>
                      </a:r>
                      <a:r>
                        <a:rPr lang="ru-RU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lang="ru-RU" sz="1000" b="0" i="0" u="none" strike="noStrike" dirty="0" err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лікарня</a:t>
                      </a:r>
                      <a:r>
                        <a:rPr lang="ru-RU" sz="1000" b="0" i="0" u="none" strike="noStrike" dirty="0" smtClean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»</a:t>
                      </a:r>
                      <a:endParaRPr lang="ru-RU" sz="1000" b="0" i="0" u="none" strike="noStrike" dirty="0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603" marR="6603" marT="660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 27.03.2020, </a:t>
                      </a:r>
                      <a:br>
                        <a:rPr lang="ru-RU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</a:br>
                      <a:r>
                        <a:rPr lang="ru-RU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17.12.2021</a:t>
                      </a:r>
                    </a:p>
                  </a:txBody>
                  <a:tcPr marL="6603" marR="6603" marT="660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27.03.2020, </a:t>
                      </a:r>
                      <a:br>
                        <a:rPr lang="ru-RU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</a:br>
                      <a:r>
                        <a:rPr lang="ru-RU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23.09.2022</a:t>
                      </a:r>
                    </a:p>
                  </a:txBody>
                  <a:tcPr marL="6603" marR="6603" marT="660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27.03.2020, </a:t>
                      </a:r>
                      <a:br>
                        <a:rPr lang="ru-RU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</a:br>
                      <a:r>
                        <a:rPr lang="ru-RU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17.12.2021</a:t>
                      </a:r>
                    </a:p>
                  </a:txBody>
                  <a:tcPr marL="6603" marR="6603" marT="660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17.12.2021</a:t>
                      </a:r>
                    </a:p>
                  </a:txBody>
                  <a:tcPr marL="6603" marR="6603" marT="660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47307820"/>
                  </a:ext>
                </a:extLst>
              </a:tr>
              <a:tr h="580709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2</a:t>
                      </a:r>
                    </a:p>
                  </a:txBody>
                  <a:tcPr marL="6603" marR="6603" marT="660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ru-RU" sz="10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Відокремлений підрозділ «Лікарня Святого Пантелеймона «КНП  «Львівське територіальне медичне об'єднання» Багатопрофільна клінічна лікарня інтенсивних методів лікування та швидкої медичної допомоги»</a:t>
                      </a:r>
                    </a:p>
                  </a:txBody>
                  <a:tcPr marL="6603" marR="6603" marT="660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08.07.2022 </a:t>
                      </a:r>
                    </a:p>
                  </a:txBody>
                  <a:tcPr marL="6603" marR="6603" marT="660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08.07.2022 </a:t>
                      </a:r>
                    </a:p>
                  </a:txBody>
                  <a:tcPr marL="6603" marR="6603" marT="660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 08.07.2022</a:t>
                      </a:r>
                    </a:p>
                  </a:txBody>
                  <a:tcPr marL="6603" marR="6603" marT="660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08.07.2022 </a:t>
                      </a:r>
                    </a:p>
                  </a:txBody>
                  <a:tcPr marL="6603" marR="6603" marT="660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51016751"/>
                  </a:ext>
                </a:extLst>
              </a:tr>
              <a:tr h="600743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3</a:t>
                      </a:r>
                    </a:p>
                  </a:txBody>
                  <a:tcPr marL="6603" marR="6603" marT="660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ru-RU" sz="10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Відокремлений підрозділ «Лікарня Святого Луки» КНП  «Львівське територіальне медичне об'єднання» Багатопрофільна клінічна лікарня інтенсивних методів лікування та швидкої медичної допомоги»</a:t>
                      </a:r>
                    </a:p>
                  </a:txBody>
                  <a:tcPr marL="6603" marR="6603" marT="660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16.02. 2023</a:t>
                      </a:r>
                    </a:p>
                  </a:txBody>
                  <a:tcPr marL="6603" marR="6603" marT="660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16.02. 2023</a:t>
                      </a:r>
                    </a:p>
                  </a:txBody>
                  <a:tcPr marL="6603" marR="6603" marT="660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16.02. 2023</a:t>
                      </a:r>
                    </a:p>
                  </a:txBody>
                  <a:tcPr marL="6603" marR="6603" marT="660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16.02. 2023</a:t>
                      </a:r>
                    </a:p>
                  </a:txBody>
                  <a:tcPr marL="6603" marR="6603" marT="660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69539524"/>
                  </a:ext>
                </a:extLst>
              </a:tr>
              <a:tr h="303772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4</a:t>
                      </a:r>
                    </a:p>
                  </a:txBody>
                  <a:tcPr marL="6603" marR="6603" marT="660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ru-RU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 КНП ЛОР «</a:t>
                      </a:r>
                      <a:r>
                        <a:rPr lang="ru-RU" sz="1000" b="0" i="0" u="none" strike="noStrike" dirty="0" err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Львівський</a:t>
                      </a:r>
                      <a:r>
                        <a:rPr lang="ru-RU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lang="ru-RU" sz="1000" b="0" i="0" u="none" strike="noStrike" dirty="0" err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обласний</a:t>
                      </a:r>
                      <a:r>
                        <a:rPr lang="ru-RU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lang="ru-RU" sz="1000" b="0" i="0" u="none" strike="noStrike" dirty="0" err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госпіталь</a:t>
                      </a:r>
                      <a:r>
                        <a:rPr lang="ru-RU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lang="ru-RU" sz="1000" b="0" i="0" u="none" strike="noStrike" dirty="0" err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ветеранів</a:t>
                      </a:r>
                      <a:r>
                        <a:rPr lang="ru-RU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lang="ru-RU" sz="1000" b="0" i="0" u="none" strike="noStrike" dirty="0" err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війн</a:t>
                      </a:r>
                      <a:r>
                        <a:rPr lang="ru-RU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 та </a:t>
                      </a:r>
                      <a:r>
                        <a:rPr lang="ru-RU" sz="1000" b="0" i="0" u="none" strike="noStrike" dirty="0" err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репресованих</a:t>
                      </a:r>
                      <a:r>
                        <a:rPr lang="ru-RU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lang="ru-RU" sz="1000" b="0" i="0" u="none" strike="noStrike" dirty="0" smtClean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            </a:t>
                      </a:r>
                      <a:r>
                        <a:rPr lang="ru-RU" sz="1000" b="0" i="0" u="none" strike="noStrike" dirty="0" err="1" smtClean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ім</a:t>
                      </a:r>
                      <a:r>
                        <a:rPr lang="ru-RU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. Ю. </a:t>
                      </a:r>
                      <a:r>
                        <a:rPr lang="ru-RU" sz="1000" b="0" i="0" u="none" strike="noStrike" dirty="0" err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Липи</a:t>
                      </a:r>
                      <a:r>
                        <a:rPr lang="ru-RU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»</a:t>
                      </a:r>
                    </a:p>
                  </a:txBody>
                  <a:tcPr marL="6603" marR="6603" marT="660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01.01.2024 </a:t>
                      </a:r>
                    </a:p>
                  </a:txBody>
                  <a:tcPr marL="6603" marR="6603" marT="660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01.01.2024 </a:t>
                      </a:r>
                    </a:p>
                  </a:txBody>
                  <a:tcPr marL="6603" marR="6603" marT="660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01.01.2024</a:t>
                      </a:r>
                    </a:p>
                  </a:txBody>
                  <a:tcPr marL="6603" marR="6603" marT="660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- </a:t>
                      </a:r>
                    </a:p>
                  </a:txBody>
                  <a:tcPr marL="6603" marR="6603" marT="660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99907588"/>
                  </a:ext>
                </a:extLst>
              </a:tr>
              <a:tr h="452167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5</a:t>
                      </a:r>
                    </a:p>
                  </a:txBody>
                  <a:tcPr marL="6603" marR="6603" marT="660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ru-RU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КНП Буської </a:t>
                      </a:r>
                      <a:r>
                        <a:rPr lang="ru-RU" sz="1000" b="0" i="0" u="none" strike="noStrike" dirty="0" err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міської</a:t>
                      </a:r>
                      <a:r>
                        <a:rPr lang="ru-RU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 ради «</a:t>
                      </a:r>
                      <a:r>
                        <a:rPr lang="ru-RU" sz="1000" b="0" i="0" u="none" strike="noStrike" dirty="0" err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Буська</a:t>
                      </a:r>
                      <a:r>
                        <a:rPr lang="ru-RU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 центральна </a:t>
                      </a:r>
                      <a:r>
                        <a:rPr lang="ru-RU" sz="1000" b="0" i="0" u="none" strike="noStrike" dirty="0" err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районна</a:t>
                      </a:r>
                      <a:r>
                        <a:rPr lang="ru-RU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lang="ru-RU" sz="1000" b="0" i="0" u="none" strike="noStrike" dirty="0" err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лiкарня</a:t>
                      </a:r>
                      <a:r>
                        <a:rPr lang="ru-RU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» </a:t>
                      </a:r>
                      <a:br>
                        <a:rPr lang="ru-RU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</a:br>
                      <a:endParaRPr lang="ru-RU" sz="1000" b="0" i="0" u="none" strike="noStrike" dirty="0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603" marR="6603" marT="660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15.08.2022</a:t>
                      </a:r>
                      <a:br>
                        <a:rPr lang="ru-RU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</a:br>
                      <a:r>
                        <a:rPr lang="ru-RU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  15.02.2023  </a:t>
                      </a:r>
                    </a:p>
                  </a:txBody>
                  <a:tcPr marL="6603" marR="6603" marT="660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15.08.2022</a:t>
                      </a:r>
                      <a:br>
                        <a:rPr lang="ru-RU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</a:br>
                      <a:r>
                        <a:rPr lang="ru-RU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  15.02.2023  </a:t>
                      </a:r>
                    </a:p>
                  </a:txBody>
                  <a:tcPr marL="6603" marR="6603" marT="660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15.02.2023 </a:t>
                      </a:r>
                    </a:p>
                  </a:txBody>
                  <a:tcPr marL="6603" marR="6603" marT="660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-</a:t>
                      </a:r>
                    </a:p>
                  </a:txBody>
                  <a:tcPr marL="6603" marR="6603" marT="660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00464257"/>
                  </a:ext>
                </a:extLst>
              </a:tr>
              <a:tr h="329285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6</a:t>
                      </a:r>
                    </a:p>
                  </a:txBody>
                  <a:tcPr marL="6603" marR="6603" marT="660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ru-RU" sz="10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КНП «Дрогобицька міська лікарня № 1» Дрогобицької міської ради</a:t>
                      </a:r>
                    </a:p>
                  </a:txBody>
                  <a:tcPr marL="6603" marR="6603" marT="660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  17.07.2023</a:t>
                      </a:r>
                    </a:p>
                  </a:txBody>
                  <a:tcPr marL="6603" marR="6603" marT="660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17.07.2023</a:t>
                      </a:r>
                    </a:p>
                  </a:txBody>
                  <a:tcPr marL="6603" marR="6603" marT="660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17.07.2023</a:t>
                      </a:r>
                    </a:p>
                  </a:txBody>
                  <a:tcPr marL="6603" marR="6603" marT="660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  17.07.2023</a:t>
                      </a:r>
                    </a:p>
                  </a:txBody>
                  <a:tcPr marL="6603" marR="6603" marT="660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26684002"/>
                  </a:ext>
                </a:extLst>
              </a:tr>
              <a:tr h="474545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7</a:t>
                      </a:r>
                    </a:p>
                  </a:txBody>
                  <a:tcPr marL="6603" marR="6603" marT="660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ru-RU" sz="10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 КНП «Новояворівська лікарня імені Юрія Липи» Новояворівської міської ради</a:t>
                      </a:r>
                    </a:p>
                  </a:txBody>
                  <a:tcPr marL="6603" marR="6603" marT="660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 05.01.2024</a:t>
                      </a:r>
                    </a:p>
                  </a:txBody>
                  <a:tcPr marL="6603" marR="6603" marT="660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 05.01.2024</a:t>
                      </a:r>
                    </a:p>
                  </a:txBody>
                  <a:tcPr marL="6603" marR="6603" marT="660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 05.01.2024</a:t>
                      </a:r>
                    </a:p>
                  </a:txBody>
                  <a:tcPr marL="6603" marR="6603" marT="660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-</a:t>
                      </a:r>
                    </a:p>
                  </a:txBody>
                  <a:tcPr marL="6603" marR="6603" marT="660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72876278"/>
                  </a:ext>
                </a:extLst>
              </a:tr>
              <a:tr h="448166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8</a:t>
                      </a:r>
                    </a:p>
                  </a:txBody>
                  <a:tcPr marL="6603" marR="6603" marT="660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ru-RU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 КНП </a:t>
                      </a:r>
                      <a:r>
                        <a:rPr lang="ru-RU" sz="1000" b="0" i="0" u="none" strike="noStrike" dirty="0" err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Самбірської</a:t>
                      </a:r>
                      <a:r>
                        <a:rPr lang="ru-RU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lang="ru-RU" sz="1000" b="0" i="0" u="none" strike="noStrike" dirty="0" err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міської</a:t>
                      </a:r>
                      <a:r>
                        <a:rPr lang="ru-RU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 ради «</a:t>
                      </a:r>
                      <a:r>
                        <a:rPr lang="ru-RU" sz="1000" b="0" i="0" u="none" strike="noStrike" dirty="0" err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Самбірська</a:t>
                      </a:r>
                      <a:r>
                        <a:rPr lang="ru-RU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 центральна </a:t>
                      </a:r>
                      <a:r>
                        <a:rPr lang="ru-RU" sz="1000" b="0" i="0" u="none" strike="noStrike" dirty="0" err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лікарня</a:t>
                      </a:r>
                      <a:r>
                        <a:rPr lang="ru-RU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»</a:t>
                      </a:r>
                    </a:p>
                  </a:txBody>
                  <a:tcPr marL="6603" marR="6603" marT="660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10.01.2023 </a:t>
                      </a:r>
                    </a:p>
                  </a:txBody>
                  <a:tcPr marL="6603" marR="6603" marT="660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10.01.2023 </a:t>
                      </a:r>
                    </a:p>
                  </a:txBody>
                  <a:tcPr marL="6603" marR="6603" marT="660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10.01.2023 </a:t>
                      </a:r>
                    </a:p>
                  </a:txBody>
                  <a:tcPr marL="6603" marR="6603" marT="660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 -</a:t>
                      </a:r>
                    </a:p>
                  </a:txBody>
                  <a:tcPr marL="6603" marR="6603" marT="660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97310969"/>
                  </a:ext>
                </a:extLst>
              </a:tr>
              <a:tr h="815872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9</a:t>
                      </a:r>
                    </a:p>
                  </a:txBody>
                  <a:tcPr marL="6603" marR="6603" marT="660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ru-RU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КНП </a:t>
                      </a:r>
                      <a:r>
                        <a:rPr lang="ru-RU" sz="1000" b="0" i="0" u="none" strike="noStrike" dirty="0" err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Стрийської</a:t>
                      </a:r>
                      <a:r>
                        <a:rPr lang="ru-RU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lang="ru-RU" sz="1000" b="0" i="0" u="none" strike="noStrike" dirty="0" err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міської</a:t>
                      </a:r>
                      <a:r>
                        <a:rPr lang="ru-RU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 ради ТМО «</a:t>
                      </a:r>
                      <a:r>
                        <a:rPr lang="ru-RU" sz="1000" b="0" i="0" u="none" strike="noStrike" dirty="0" err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Стрийська</a:t>
                      </a:r>
                      <a:r>
                        <a:rPr lang="ru-RU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lang="ru-RU" sz="1000" b="0" i="0" u="none" strike="noStrike" dirty="0" err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міська</a:t>
                      </a:r>
                      <a:r>
                        <a:rPr lang="ru-RU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lang="ru-RU" sz="1000" b="0" i="0" u="none" strike="noStrike" dirty="0" err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об'єднана</a:t>
                      </a:r>
                      <a:r>
                        <a:rPr lang="ru-RU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lang="ru-RU" sz="1000" b="0" i="0" u="none" strike="noStrike" dirty="0" err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лікарня</a:t>
                      </a:r>
                      <a:r>
                        <a:rPr lang="ru-RU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», </a:t>
                      </a:r>
                      <a:r>
                        <a:rPr lang="ru-RU" sz="1000" b="0" i="0" u="none" strike="noStrike" dirty="0" smtClean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                 ВП </a:t>
                      </a:r>
                      <a:r>
                        <a:rPr lang="ru-RU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«</a:t>
                      </a:r>
                      <a:r>
                        <a:rPr lang="ru-RU" sz="1000" b="0" i="0" u="none" strike="noStrike" dirty="0" err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Лікарня</a:t>
                      </a:r>
                      <a:r>
                        <a:rPr lang="ru-RU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lang="ru-RU" sz="1000" b="0" i="0" u="none" strike="noStrike" dirty="0" err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інтенсивного</a:t>
                      </a:r>
                      <a:r>
                        <a:rPr lang="ru-RU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lang="ru-RU" sz="1000" b="0" i="0" u="none" strike="noStrike" dirty="0" err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лікування</a:t>
                      </a:r>
                      <a:r>
                        <a:rPr lang="ru-RU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»</a:t>
                      </a:r>
                    </a:p>
                  </a:txBody>
                  <a:tcPr marL="6603" marR="6603" marT="660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 29.12.2023</a:t>
                      </a:r>
                    </a:p>
                  </a:txBody>
                  <a:tcPr marL="6603" marR="6603" marT="660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 29.12.2023</a:t>
                      </a:r>
                    </a:p>
                  </a:txBody>
                  <a:tcPr marL="6603" marR="6603" marT="660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29.12.2023 </a:t>
                      </a:r>
                    </a:p>
                  </a:txBody>
                  <a:tcPr marL="6603" marR="6603" marT="660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-</a:t>
                      </a:r>
                    </a:p>
                  </a:txBody>
                  <a:tcPr marL="6603" marR="6603" marT="660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11707172"/>
                  </a:ext>
                </a:extLst>
              </a:tr>
              <a:tr h="703908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10</a:t>
                      </a:r>
                    </a:p>
                  </a:txBody>
                  <a:tcPr marL="6603" marR="6603" marT="660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ru-RU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КП «Центральна </a:t>
                      </a:r>
                      <a:r>
                        <a:rPr lang="ru-RU" sz="1000" b="0" i="0" u="none" strike="noStrike" dirty="0" err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міська</a:t>
                      </a:r>
                      <a:r>
                        <a:rPr lang="ru-RU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lang="ru-RU" sz="1000" b="0" i="0" u="none" strike="noStrike" dirty="0" err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лікарня</a:t>
                      </a:r>
                      <a:r>
                        <a:rPr lang="ru-RU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lang="ru-RU" sz="1000" b="0" i="0" u="none" strike="noStrike" dirty="0" err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Червоноградської</a:t>
                      </a:r>
                      <a:r>
                        <a:rPr lang="ru-RU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lang="ru-RU" sz="1000" b="0" i="0" u="none" strike="noStrike" dirty="0" err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міської</a:t>
                      </a:r>
                      <a:r>
                        <a:rPr lang="ru-RU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 ради»</a:t>
                      </a:r>
                    </a:p>
                  </a:txBody>
                  <a:tcPr marL="6603" marR="6603" marT="660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01.04.2020</a:t>
                      </a:r>
                      <a:br>
                        <a:rPr lang="ru-RU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</a:br>
                      <a:r>
                        <a:rPr lang="ru-RU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16.01.2023</a:t>
                      </a:r>
                    </a:p>
                  </a:txBody>
                  <a:tcPr marL="6603" marR="6603" marT="660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01.04.2020</a:t>
                      </a:r>
                      <a:br>
                        <a:rPr kumimoji="0" lang="ru-RU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</a:br>
                      <a:r>
                        <a:rPr kumimoji="0" lang="ru-RU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16.01.2023</a:t>
                      </a:r>
                    </a:p>
                  </a:txBody>
                  <a:tcPr marL="6603" marR="6603" marT="660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01.04.2020</a:t>
                      </a:r>
                      <a:br>
                        <a:rPr kumimoji="0" lang="ru-RU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</a:br>
                      <a:r>
                        <a:rPr kumimoji="0" lang="ru-RU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16.01.2023 </a:t>
                      </a:r>
                    </a:p>
                  </a:txBody>
                  <a:tcPr marL="6603" marR="6603" marT="660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01.04.2020</a:t>
                      </a:r>
                      <a:br>
                        <a:rPr lang="ru-RU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</a:br>
                      <a:r>
                        <a:rPr lang="ru-RU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16.01.2023 </a:t>
                      </a:r>
                    </a:p>
                  </a:txBody>
                  <a:tcPr marL="6603" marR="6603" marT="660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5991059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931453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" name="Google Shape;849;p82"/>
          <p:cNvSpPr txBox="1"/>
          <p:nvPr/>
        </p:nvSpPr>
        <p:spPr>
          <a:xfrm>
            <a:off x="4706483" y="3135891"/>
            <a:ext cx="2264800" cy="1354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67" tIns="121867" rIns="121867" bIns="121867" anchor="t" anchorCtr="0">
            <a:spAutoFit/>
          </a:bodyPr>
          <a:lstStyle/>
          <a:p>
            <a:pPr>
              <a:buClr>
                <a:srgbClr val="FFFFFF"/>
              </a:buClr>
              <a:buSzPts val="5400"/>
            </a:pPr>
            <a:r>
              <a:rPr lang="en" sz="7200" b="1" dirty="0">
                <a:solidFill>
                  <a:srgbClr val="FFFFFF"/>
                </a:solidFill>
                <a:latin typeface="Arial Narrow"/>
                <a:ea typeface="Arial Narrow"/>
                <a:cs typeface="Arial Narrow"/>
                <a:sym typeface="Arial Narrow"/>
              </a:rPr>
              <a:t>ЦБД</a:t>
            </a:r>
            <a:endParaRPr sz="1867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0" name="Google Shape;850;p82"/>
          <p:cNvSpPr txBox="1"/>
          <p:nvPr/>
        </p:nvSpPr>
        <p:spPr>
          <a:xfrm>
            <a:off x="423017" y="165017"/>
            <a:ext cx="11345965" cy="4744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algn="ctr"/>
            <a:r>
              <a:rPr lang="uk-UA" sz="3000" b="1" dirty="0">
                <a:solidFill>
                  <a:srgbClr val="00206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Перелік установ, які надають медичну допомогу хворим з ГМІ</a:t>
            </a:r>
            <a:endParaRPr sz="3000" b="1" dirty="0">
              <a:solidFill>
                <a:srgbClr val="002060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graphicFrame>
        <p:nvGraphicFramePr>
          <p:cNvPr id="3" name="Таблиця 2">
            <a:extLst>
              <a:ext uri="{FF2B5EF4-FFF2-40B4-BE49-F238E27FC236}">
                <a16:creationId xmlns:a16="http://schemas.microsoft.com/office/drawing/2014/main" id="{F9C6253A-BA92-4A34-883D-0C2896F2019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29953164"/>
              </p:ext>
            </p:extLst>
          </p:nvPr>
        </p:nvGraphicFramePr>
        <p:xfrm>
          <a:off x="423016" y="897148"/>
          <a:ext cx="11345965" cy="5436664"/>
        </p:xfrm>
        <a:graphic>
          <a:graphicData uri="http://schemas.openxmlformats.org/drawingml/2006/table">
            <a:tbl>
              <a:tblPr/>
              <a:tblGrid>
                <a:gridCol w="456653">
                  <a:extLst>
                    <a:ext uri="{9D8B030D-6E8A-4147-A177-3AD203B41FA5}">
                      <a16:colId xmlns:a16="http://schemas.microsoft.com/office/drawing/2014/main" val="124293691"/>
                    </a:ext>
                  </a:extLst>
                </a:gridCol>
                <a:gridCol w="4599474">
                  <a:extLst>
                    <a:ext uri="{9D8B030D-6E8A-4147-A177-3AD203B41FA5}">
                      <a16:colId xmlns:a16="http://schemas.microsoft.com/office/drawing/2014/main" val="4247028455"/>
                    </a:ext>
                  </a:extLst>
                </a:gridCol>
                <a:gridCol w="1033169">
                  <a:extLst>
                    <a:ext uri="{9D8B030D-6E8A-4147-A177-3AD203B41FA5}">
                      <a16:colId xmlns:a16="http://schemas.microsoft.com/office/drawing/2014/main" val="1234239359"/>
                    </a:ext>
                  </a:extLst>
                </a:gridCol>
                <a:gridCol w="944268">
                  <a:extLst>
                    <a:ext uri="{9D8B030D-6E8A-4147-A177-3AD203B41FA5}">
                      <a16:colId xmlns:a16="http://schemas.microsoft.com/office/drawing/2014/main" val="3077484755"/>
                    </a:ext>
                  </a:extLst>
                </a:gridCol>
                <a:gridCol w="747445">
                  <a:extLst>
                    <a:ext uri="{9D8B030D-6E8A-4147-A177-3AD203B41FA5}">
                      <a16:colId xmlns:a16="http://schemas.microsoft.com/office/drawing/2014/main" val="629117520"/>
                    </a:ext>
                  </a:extLst>
                </a:gridCol>
                <a:gridCol w="1272991">
                  <a:extLst>
                    <a:ext uri="{9D8B030D-6E8A-4147-A177-3AD203B41FA5}">
                      <a16:colId xmlns:a16="http://schemas.microsoft.com/office/drawing/2014/main" val="3662768892"/>
                    </a:ext>
                  </a:extLst>
                </a:gridCol>
                <a:gridCol w="1179559">
                  <a:extLst>
                    <a:ext uri="{9D8B030D-6E8A-4147-A177-3AD203B41FA5}">
                      <a16:colId xmlns:a16="http://schemas.microsoft.com/office/drawing/2014/main" val="3605657518"/>
                    </a:ext>
                  </a:extLst>
                </a:gridCol>
                <a:gridCol w="1112406">
                  <a:extLst>
                    <a:ext uri="{9D8B030D-6E8A-4147-A177-3AD203B41FA5}">
                      <a16:colId xmlns:a16="http://schemas.microsoft.com/office/drawing/2014/main" val="2712101147"/>
                    </a:ext>
                  </a:extLst>
                </a:gridCol>
              </a:tblGrid>
              <a:tr h="243071"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uk-UA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№ з/п</a:t>
                      </a:r>
                    </a:p>
                  </a:txBody>
                  <a:tcPr marL="7729" marR="7729" marT="772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uk-UA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Назва </a:t>
                      </a:r>
                      <a:r>
                        <a:rPr lang="uk-UA" sz="1000" b="0" i="0" u="none" strike="noStrike" dirty="0" err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ЗОЗ</a:t>
                      </a:r>
                      <a:r>
                        <a:rPr lang="uk-UA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</a:p>
                  </a:txBody>
                  <a:tcPr marL="7729" marR="7729" marT="772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uk-UA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Тип закладу</a:t>
                      </a:r>
                    </a:p>
                  </a:txBody>
                  <a:tcPr marL="7729" marR="7729" marT="772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uk-UA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Кількість нейрохірургів (</a:t>
                      </a:r>
                      <a:r>
                        <a:rPr lang="uk-UA" sz="1000" b="0" i="0" u="none" strike="noStrike" dirty="0" err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фіз</a:t>
                      </a:r>
                      <a:r>
                        <a:rPr lang="uk-UA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. осіб)</a:t>
                      </a:r>
                    </a:p>
                  </a:txBody>
                  <a:tcPr marL="7729" marR="7729" marT="772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uk-UA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Наявність </a:t>
                      </a:r>
                      <a:r>
                        <a:rPr lang="uk-UA" sz="1000" b="0" i="0" u="none" strike="noStrike" dirty="0" err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інсультного</a:t>
                      </a:r>
                      <a:r>
                        <a:rPr lang="uk-UA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 блоку</a:t>
                      </a:r>
                    </a:p>
                  </a:txBody>
                  <a:tcPr marL="7729" marR="7729" marT="772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rtl="0" fontAlgn="ctr"/>
                      <a:r>
                        <a:rPr lang="uk-UA" sz="9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Наявність (так/ні)</a:t>
                      </a:r>
                    </a:p>
                  </a:txBody>
                  <a:tcPr marL="7729" marR="7729" marT="772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uk-U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uk-UA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43251470"/>
                  </a:ext>
                </a:extLst>
              </a:tr>
              <a:tr h="510161">
                <a:tc vMerge="1">
                  <a:txBody>
                    <a:bodyPr/>
                    <a:lstStyle/>
                    <a:p>
                      <a:endParaRPr lang="uk-UA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uk-UA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uk-UA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uk-UA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uk-UA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uk-UA" sz="1000" b="0" i="0" u="none" strike="noStrike" dirty="0" err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Ангіограф</a:t>
                      </a:r>
                      <a:r>
                        <a:rPr lang="uk-UA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 /</a:t>
                      </a:r>
                      <a:br>
                        <a:rPr lang="uk-UA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</a:br>
                      <a:r>
                        <a:rPr lang="uk-UA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дата встановлення</a:t>
                      </a:r>
                    </a:p>
                  </a:txBody>
                  <a:tcPr marL="7729" marR="7729" marT="772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uk-UA" sz="1000" b="0" i="0" u="none" strike="noStrike" dirty="0" err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МРТ</a:t>
                      </a:r>
                      <a:r>
                        <a:rPr lang="uk-UA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 /</a:t>
                      </a:r>
                      <a:br>
                        <a:rPr lang="uk-UA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</a:br>
                      <a:r>
                        <a:rPr lang="uk-UA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дата встановлення</a:t>
                      </a:r>
                    </a:p>
                  </a:txBody>
                  <a:tcPr marL="7729" marR="7729" marT="772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uk-UA" sz="1000" b="0" i="0" u="none" strike="noStrike" dirty="0" err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КТ</a:t>
                      </a:r>
                      <a:r>
                        <a:rPr lang="uk-UA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 перфузія /</a:t>
                      </a:r>
                      <a:br>
                        <a:rPr lang="uk-UA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</a:br>
                      <a:r>
                        <a:rPr lang="uk-UA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дата встановлення</a:t>
                      </a:r>
                    </a:p>
                  </a:txBody>
                  <a:tcPr marL="7729" marR="7729" marT="772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8465250"/>
                  </a:ext>
                </a:extLst>
              </a:tr>
              <a:tr h="303840">
                <a:tc>
                  <a:txBody>
                    <a:bodyPr/>
                    <a:lstStyle/>
                    <a:p>
                      <a:pPr algn="ctr" rtl="0" fontAlgn="ctr"/>
                      <a:r>
                        <a:rPr lang="uk-UA" sz="10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</a:p>
                  </a:txBody>
                  <a:tcPr marL="7729" marR="7729" marT="772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uk-UA" sz="10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Всього</a:t>
                      </a:r>
                    </a:p>
                  </a:txBody>
                  <a:tcPr marL="7729" marR="7729" marT="772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uk-UA" sz="10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</a:p>
                  </a:txBody>
                  <a:tcPr marL="7729" marR="7729" marT="772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uk-UA" sz="1000" b="1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 44</a:t>
                      </a:r>
                    </a:p>
                  </a:txBody>
                  <a:tcPr marL="7729" marR="7729" marT="772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uk-UA" sz="1000" b="1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1</a:t>
                      </a:r>
                    </a:p>
                  </a:txBody>
                  <a:tcPr marL="7729" marR="7729" marT="772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uk-UA" sz="1000" b="1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 5</a:t>
                      </a:r>
                    </a:p>
                  </a:txBody>
                  <a:tcPr marL="7729" marR="7729" marT="772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uk-UA" sz="1000" b="1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6</a:t>
                      </a:r>
                    </a:p>
                  </a:txBody>
                  <a:tcPr marL="7729" marR="7729" marT="772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uk-UA" sz="1000" b="1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 11</a:t>
                      </a:r>
                    </a:p>
                  </a:txBody>
                  <a:tcPr marL="7729" marR="7729" marT="772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76333118"/>
                  </a:ext>
                </a:extLst>
              </a:tr>
              <a:tr h="435503">
                <a:tc>
                  <a:txBody>
                    <a:bodyPr/>
                    <a:lstStyle/>
                    <a:p>
                      <a:pPr algn="ctr" rtl="0" fontAlgn="ctr"/>
                      <a:r>
                        <a:rPr lang="uk-UA" sz="10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1</a:t>
                      </a:r>
                    </a:p>
                  </a:txBody>
                  <a:tcPr marL="7729" marR="7729" marT="772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ru-RU" sz="10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 КНП ЛОР «Львівська обласна клінічна лікарня»</a:t>
                      </a:r>
                    </a:p>
                  </a:txBody>
                  <a:tcPr marL="7729" marR="7729" marT="772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uk-UA" sz="1000" b="0" i="0" u="none" strike="noStrike" dirty="0" err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Надкластерний</a:t>
                      </a:r>
                      <a:endParaRPr lang="uk-UA" sz="1000" b="0" i="0" u="none" strike="noStrike" dirty="0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729" marR="7729" marT="772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uk-UA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4</a:t>
                      </a:r>
                    </a:p>
                  </a:txBody>
                  <a:tcPr marL="7729" marR="7729" marT="772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uk-UA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- </a:t>
                      </a:r>
                    </a:p>
                  </a:txBody>
                  <a:tcPr marL="7729" marR="7729" marT="772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 dirty="0" smtClean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30.09.2021 </a:t>
                      </a:r>
                      <a:r>
                        <a:rPr lang="ru-RU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ЦЗ</a:t>
                      </a:r>
                      <a:br>
                        <a:rPr lang="ru-RU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</a:br>
                      <a:r>
                        <a:rPr lang="ru-RU" sz="1000" b="0" i="0" u="none" strike="noStrike" dirty="0" err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Підрядник</a:t>
                      </a:r>
                      <a:r>
                        <a:rPr lang="ru-RU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 30. 04.2021</a:t>
                      </a:r>
                    </a:p>
                  </a:txBody>
                  <a:tcPr marL="7729" marR="7729" marT="772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uk-UA" sz="10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Підрядник 01.05.2020 </a:t>
                      </a:r>
                    </a:p>
                  </a:txBody>
                  <a:tcPr marL="7729" marR="7729" marT="772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uk-UA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Підрядник </a:t>
                      </a:r>
                      <a:r>
                        <a:rPr lang="uk-UA" sz="1000" b="0" i="0" u="none" strike="noStrike" dirty="0" smtClean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03.04.2021</a:t>
                      </a:r>
                      <a:endParaRPr lang="uk-UA" sz="1000" b="0" i="0" u="none" strike="noStrike" dirty="0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729" marR="7729" marT="772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98619706"/>
                  </a:ext>
                </a:extLst>
              </a:tr>
              <a:tr h="454392">
                <a:tc>
                  <a:txBody>
                    <a:bodyPr/>
                    <a:lstStyle/>
                    <a:p>
                      <a:pPr algn="ctr" rtl="0" fontAlgn="ctr"/>
                      <a:r>
                        <a:rPr lang="uk-UA" sz="10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2</a:t>
                      </a:r>
                    </a:p>
                  </a:txBody>
                  <a:tcPr marL="7729" marR="7729" marT="772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ru-RU" sz="10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 КНП ЛОР «Львівський обласний госпіталь ветеранів війн та репресованих ім. Ю. Липи»</a:t>
                      </a:r>
                    </a:p>
                  </a:txBody>
                  <a:tcPr marL="7729" marR="7729" marT="772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uk-UA" sz="10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Надкластерний</a:t>
                      </a:r>
                    </a:p>
                  </a:txBody>
                  <a:tcPr marL="7729" marR="7729" marT="772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uk-UA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4 </a:t>
                      </a:r>
                    </a:p>
                  </a:txBody>
                  <a:tcPr marL="7729" marR="7729" marT="772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uk-UA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-</a:t>
                      </a:r>
                    </a:p>
                  </a:txBody>
                  <a:tcPr marL="7729" marR="7729" marT="772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 dirty="0" err="1" smtClean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Введення</a:t>
                      </a:r>
                      <a:r>
                        <a:rPr lang="ru-RU" sz="1000" b="0" i="0" u="none" strike="noStrike" baseline="0" dirty="0" smtClean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 в </a:t>
                      </a:r>
                      <a:r>
                        <a:rPr lang="ru-RU" sz="1000" b="0" i="0" u="none" strike="noStrike" baseline="0" dirty="0" err="1" smtClean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експлуатацію</a:t>
                      </a:r>
                      <a:r>
                        <a:rPr lang="ru-RU" sz="1000" b="0" i="0" u="none" strike="noStrike" baseline="0" dirty="0" smtClean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. ЦЗ</a:t>
                      </a:r>
                      <a:endParaRPr lang="ru-RU" sz="1000" b="0" i="0" u="none" strike="noStrike" dirty="0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729" marR="7729" marT="772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uk-UA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 Підрядник </a:t>
                      </a:r>
                      <a:r>
                        <a:rPr lang="uk-UA" sz="1000" b="0" i="0" u="none" strike="noStrike" dirty="0" smtClean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2022</a:t>
                      </a:r>
                      <a:endParaRPr lang="uk-UA" sz="1000" b="0" i="0" u="none" strike="noStrike" dirty="0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729" marR="7729" marT="772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uk-UA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Підрядник</a:t>
                      </a:r>
                      <a:br>
                        <a:rPr lang="uk-UA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</a:br>
                      <a:r>
                        <a:rPr lang="uk-UA" sz="1000" b="0" i="0" u="none" strike="noStrike" dirty="0" smtClean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2020</a:t>
                      </a:r>
                      <a:endParaRPr lang="uk-UA" sz="1000" b="0" i="0" u="none" strike="noStrike" dirty="0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729" marR="7729" marT="772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45491844"/>
                  </a:ext>
                </a:extLst>
              </a:tr>
              <a:tr h="684242">
                <a:tc>
                  <a:txBody>
                    <a:bodyPr/>
                    <a:lstStyle/>
                    <a:p>
                      <a:pPr algn="ctr" rtl="0" fontAlgn="ctr"/>
                      <a:r>
                        <a:rPr lang="uk-UA" sz="10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3</a:t>
                      </a:r>
                    </a:p>
                  </a:txBody>
                  <a:tcPr marL="7729" marR="7729" marT="772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uk-UA" sz="10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Відокремлений підрозділ «Лікарня Святого Пантелеймона «КНП  «Львівське територіальне медичне об'єднання» Багатопрофільна клінічна лікарня інтенсивних методів лікування та швидкої медичної допомоги»</a:t>
                      </a:r>
                    </a:p>
                  </a:txBody>
                  <a:tcPr marL="7729" marR="7729" marT="772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uk-UA" sz="10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Кластерний </a:t>
                      </a:r>
                    </a:p>
                  </a:txBody>
                  <a:tcPr marL="7729" marR="7729" marT="772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uk-UA" sz="10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 17</a:t>
                      </a:r>
                    </a:p>
                  </a:txBody>
                  <a:tcPr marL="7729" marR="7729" marT="772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uk-UA" sz="10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наявний</a:t>
                      </a:r>
                    </a:p>
                  </a:txBody>
                  <a:tcPr marL="7729" marR="7729" marT="772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uk-UA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01.09.2007 МБ</a:t>
                      </a:r>
                      <a:br>
                        <a:rPr lang="uk-UA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</a:br>
                      <a:r>
                        <a:rPr lang="uk-UA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Підрядник </a:t>
                      </a:r>
                      <a:r>
                        <a:rPr lang="uk-UA" sz="1000" b="0" i="0" u="none" strike="noStrike" dirty="0" smtClean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02.2022</a:t>
                      </a:r>
                      <a:endParaRPr lang="uk-UA" sz="1000" b="0" i="0" u="none" strike="noStrike" dirty="0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729" marR="7729" marT="772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uk-UA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 Підрядник   01.04.2020 </a:t>
                      </a:r>
                      <a:br>
                        <a:rPr lang="uk-UA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</a:br>
                      <a:r>
                        <a:rPr lang="uk-UA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29.12.2023 МБ </a:t>
                      </a:r>
                    </a:p>
                  </a:txBody>
                  <a:tcPr marL="7729" marR="7729" marT="772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27.09.2019 МБ 01.03..</a:t>
                      </a:r>
                      <a:r>
                        <a:rPr lang="ru-RU" sz="1000" b="0" i="0" u="none" strike="noStrike" dirty="0" smtClean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2021 </a:t>
                      </a:r>
                      <a:r>
                        <a:rPr lang="ru-RU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ДБ </a:t>
                      </a:r>
                    </a:p>
                  </a:txBody>
                  <a:tcPr marL="7729" marR="7729" marT="772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5514192"/>
                  </a:ext>
                </a:extLst>
              </a:tr>
              <a:tr h="658320">
                <a:tc>
                  <a:txBody>
                    <a:bodyPr/>
                    <a:lstStyle/>
                    <a:p>
                      <a:pPr algn="ctr" rtl="0" fontAlgn="ctr"/>
                      <a:r>
                        <a:rPr lang="uk-UA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4</a:t>
                      </a:r>
                    </a:p>
                  </a:txBody>
                  <a:tcPr marL="7729" marR="7729" marT="772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uk-UA" sz="10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Відокремлений підрозділ «Лікарня Святого Луки» КНП  «Львівське територіальне медичне об'єднання» Багатопрофільна клінічна лікарня інтенсивних методів лікування та швидкої медичної допомоги»</a:t>
                      </a:r>
                    </a:p>
                  </a:txBody>
                  <a:tcPr marL="7729" marR="7729" marT="772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uk-UA" sz="10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Кластерний </a:t>
                      </a:r>
                    </a:p>
                  </a:txBody>
                  <a:tcPr marL="7729" marR="7729" marT="772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uk-UA" sz="10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10</a:t>
                      </a:r>
                    </a:p>
                  </a:txBody>
                  <a:tcPr marL="7729" marR="7729" marT="772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uk-UA" sz="10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-</a:t>
                      </a:r>
                    </a:p>
                  </a:txBody>
                  <a:tcPr marL="7729" marR="7729" marT="772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uk-UA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02.08.2022  МБ</a:t>
                      </a:r>
                    </a:p>
                  </a:txBody>
                  <a:tcPr marL="7729" marR="7729" marT="772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uk-UA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12.09.2022</a:t>
                      </a:r>
                      <a:br>
                        <a:rPr lang="uk-UA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</a:br>
                      <a:r>
                        <a:rPr lang="uk-UA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25.07.2023 БФ</a:t>
                      </a:r>
                    </a:p>
                  </a:txBody>
                  <a:tcPr marL="7729" marR="7729" marT="772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uk-UA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18.05.2021 </a:t>
                      </a:r>
                      <a:r>
                        <a:rPr lang="uk-UA" sz="1000" b="0" i="0" u="none" strike="noStrike" dirty="0" err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МБ</a:t>
                      </a:r>
                      <a:endParaRPr lang="uk-UA" sz="1000" b="0" i="0" u="none" strike="noStrike" dirty="0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729" marR="7729" marT="772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4896708"/>
                  </a:ext>
                </a:extLst>
              </a:tr>
              <a:tr h="344352">
                <a:tc>
                  <a:txBody>
                    <a:bodyPr/>
                    <a:lstStyle/>
                    <a:p>
                      <a:pPr algn="ctr" rtl="0" fontAlgn="ctr"/>
                      <a:r>
                        <a:rPr lang="uk-UA" sz="10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5</a:t>
                      </a:r>
                    </a:p>
                  </a:txBody>
                  <a:tcPr marL="7729" marR="7729" marT="772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ru-RU" sz="10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КНП Буської міської ради «Буська центральна районна лiкарня»</a:t>
                      </a:r>
                    </a:p>
                  </a:txBody>
                  <a:tcPr marL="7729" marR="7729" marT="772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uk-UA" sz="10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Кластерний  </a:t>
                      </a:r>
                    </a:p>
                  </a:txBody>
                  <a:tcPr marL="7729" marR="7729" marT="772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uk-UA" sz="10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 -</a:t>
                      </a:r>
                    </a:p>
                  </a:txBody>
                  <a:tcPr marL="7729" marR="7729" marT="772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uk-UA" sz="10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-</a:t>
                      </a:r>
                    </a:p>
                  </a:txBody>
                  <a:tcPr marL="7729" marR="7729" marT="772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uk-UA" sz="10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-</a:t>
                      </a:r>
                    </a:p>
                  </a:txBody>
                  <a:tcPr marL="7729" marR="7729" marT="772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uk-UA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-</a:t>
                      </a:r>
                    </a:p>
                  </a:txBody>
                  <a:tcPr marL="7729" marR="7729" marT="772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uk-UA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 03.09.2021 </a:t>
                      </a:r>
                      <a:r>
                        <a:rPr lang="uk-UA" sz="1000" b="0" i="0" u="none" strike="noStrike" dirty="0" err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ЦЗ</a:t>
                      </a:r>
                      <a:endParaRPr lang="uk-UA" sz="1000" b="0" i="0" u="none" strike="noStrike" dirty="0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729" marR="7729" marT="772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25809346"/>
                  </a:ext>
                </a:extLst>
              </a:tr>
              <a:tr h="324096">
                <a:tc>
                  <a:txBody>
                    <a:bodyPr/>
                    <a:lstStyle/>
                    <a:p>
                      <a:pPr algn="ctr" rtl="0" fontAlgn="ctr"/>
                      <a:r>
                        <a:rPr lang="uk-UA" sz="10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6</a:t>
                      </a:r>
                    </a:p>
                  </a:txBody>
                  <a:tcPr marL="7729" marR="7729" marT="772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uk-UA" sz="10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КНП «Дрогобицька міська лікарня № 1» Дрогобицької міської ради</a:t>
                      </a:r>
                    </a:p>
                  </a:txBody>
                  <a:tcPr marL="7729" marR="7729" marT="772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uk-UA" sz="10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Кластерний  </a:t>
                      </a:r>
                    </a:p>
                  </a:txBody>
                  <a:tcPr marL="7729" marR="7729" marT="772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uk-UA" sz="10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2 </a:t>
                      </a:r>
                    </a:p>
                  </a:txBody>
                  <a:tcPr marL="7729" marR="7729" marT="772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uk-UA" sz="10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-</a:t>
                      </a:r>
                    </a:p>
                  </a:txBody>
                  <a:tcPr marL="7729" marR="7729" marT="772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uk-UA" sz="1000" b="0" i="0" u="none" strike="noStrike" dirty="0" smtClean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13.03.2019</a:t>
                      </a:r>
                      <a:r>
                        <a:rPr lang="en-US" sz="1000" b="0" i="0" u="none" strike="noStrike" dirty="0" smtClean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lang="uk-UA" sz="1000" b="0" i="0" u="none" strike="noStrike" dirty="0" smtClean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ЦЗ</a:t>
                      </a:r>
                      <a:endParaRPr lang="uk-UA" sz="1000" b="0" i="0" u="none" strike="noStrike" dirty="0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729" marR="7729" marT="772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uk-UA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На зберіганні від </a:t>
                      </a:r>
                      <a:r>
                        <a:rPr lang="uk-UA" sz="1000" b="0" i="0" u="none" strike="noStrike" dirty="0" smtClean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13.03.2023</a:t>
                      </a:r>
                      <a:endParaRPr lang="uk-UA" sz="1000" b="0" i="0" u="none" strike="noStrike" dirty="0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729" marR="7729" marT="772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uk-UA" sz="1000" b="0" i="0" u="none" strike="noStrike" dirty="0" smtClean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27.01.2021 </a:t>
                      </a:r>
                      <a:r>
                        <a:rPr lang="uk-UA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ЦЗ</a:t>
                      </a:r>
                    </a:p>
                  </a:txBody>
                  <a:tcPr marL="7729" marR="7729" marT="772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33118796"/>
                  </a:ext>
                </a:extLst>
              </a:tr>
              <a:tr h="486143">
                <a:tc>
                  <a:txBody>
                    <a:bodyPr/>
                    <a:lstStyle/>
                    <a:p>
                      <a:pPr algn="ctr" rtl="0" fontAlgn="ctr"/>
                      <a:r>
                        <a:rPr lang="uk-UA" sz="10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7</a:t>
                      </a:r>
                    </a:p>
                  </a:txBody>
                  <a:tcPr marL="7729" marR="7729" marT="772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uk-UA" sz="10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 КНП «Новояворівська лікарня імені Юрія Липи» Новояворівської міської ради</a:t>
                      </a:r>
                    </a:p>
                  </a:txBody>
                  <a:tcPr marL="7729" marR="7729" marT="772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uk-UA" sz="10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Кластерний  </a:t>
                      </a:r>
                    </a:p>
                  </a:txBody>
                  <a:tcPr marL="7729" marR="7729" marT="772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uk-UA" sz="10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1 </a:t>
                      </a:r>
                    </a:p>
                  </a:txBody>
                  <a:tcPr marL="7729" marR="7729" marT="772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uk-UA" sz="10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 -</a:t>
                      </a:r>
                    </a:p>
                  </a:txBody>
                  <a:tcPr marL="7729" marR="7729" marT="772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uk-UA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 -</a:t>
                      </a:r>
                    </a:p>
                  </a:txBody>
                  <a:tcPr marL="7729" marR="7729" marT="772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uk-UA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05.06.2023 МБ</a:t>
                      </a:r>
                    </a:p>
                  </a:txBody>
                  <a:tcPr marL="7729" marR="7729" marT="772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 dirty="0" smtClean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16.03.2016 </a:t>
                      </a:r>
                      <a:r>
                        <a:rPr lang="ru-RU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/>
                      </a:r>
                      <a:br>
                        <a:rPr lang="ru-RU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</a:br>
                      <a:r>
                        <a:rPr lang="ru-RU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без </a:t>
                      </a:r>
                      <a:r>
                        <a:rPr lang="ru-RU" sz="1000" b="0" i="0" u="none" strike="noStrike" dirty="0" err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функції</a:t>
                      </a:r>
                      <a:r>
                        <a:rPr lang="ru-RU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lang="ru-RU" sz="1000" b="0" i="0" u="none" strike="noStrike" dirty="0" err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перфузії</a:t>
                      </a:r>
                      <a:r>
                        <a:rPr lang="ru-RU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 МТД </a:t>
                      </a:r>
                    </a:p>
                  </a:txBody>
                  <a:tcPr marL="7729" marR="7729" marT="772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4754493"/>
                  </a:ext>
                </a:extLst>
              </a:tr>
              <a:tr h="263328">
                <a:tc>
                  <a:txBody>
                    <a:bodyPr/>
                    <a:lstStyle/>
                    <a:p>
                      <a:pPr algn="ctr" rtl="0" fontAlgn="ctr"/>
                      <a:r>
                        <a:rPr lang="uk-UA" sz="10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8</a:t>
                      </a:r>
                    </a:p>
                  </a:txBody>
                  <a:tcPr marL="7729" marR="7729" marT="772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ru-RU" sz="10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 КНП Самбірської міської ради «Самбірська центральна лікарня»</a:t>
                      </a:r>
                    </a:p>
                  </a:txBody>
                  <a:tcPr marL="7729" marR="7729" marT="772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uk-UA" sz="10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Кластерний  </a:t>
                      </a:r>
                    </a:p>
                  </a:txBody>
                  <a:tcPr marL="7729" marR="7729" marT="772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uk-UA" sz="10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2</a:t>
                      </a:r>
                    </a:p>
                  </a:txBody>
                  <a:tcPr marL="7729" marR="7729" marT="772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uk-UA" sz="10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-</a:t>
                      </a:r>
                    </a:p>
                  </a:txBody>
                  <a:tcPr marL="7729" marR="7729" marT="772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uk-UA" sz="10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-</a:t>
                      </a:r>
                    </a:p>
                  </a:txBody>
                  <a:tcPr marL="7729" marR="7729" marT="772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uk-UA" sz="10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 -</a:t>
                      </a:r>
                    </a:p>
                  </a:txBody>
                  <a:tcPr marL="7729" marR="7729" marT="772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uk-UA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14.01.2022 </a:t>
                      </a:r>
                      <a:r>
                        <a:rPr lang="uk-UA" sz="1000" b="0" i="0" u="none" strike="noStrike" dirty="0" err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ЦЗ</a:t>
                      </a:r>
                      <a:endParaRPr lang="uk-UA" sz="1000" b="0" i="0" u="none" strike="noStrike" dirty="0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729" marR="7729" marT="772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4089217"/>
                  </a:ext>
                </a:extLst>
              </a:tr>
              <a:tr h="405120">
                <a:tc>
                  <a:txBody>
                    <a:bodyPr/>
                    <a:lstStyle/>
                    <a:p>
                      <a:pPr algn="ctr" rtl="0" fontAlgn="ctr"/>
                      <a:r>
                        <a:rPr lang="uk-UA" sz="10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9</a:t>
                      </a:r>
                    </a:p>
                  </a:txBody>
                  <a:tcPr marL="7729" marR="7729" marT="772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uk-UA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КНП </a:t>
                      </a:r>
                      <a:r>
                        <a:rPr lang="uk-UA" sz="1000" b="0" i="0" u="none" strike="noStrike" dirty="0" err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Стрийської</a:t>
                      </a:r>
                      <a:r>
                        <a:rPr lang="uk-UA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 міської ради ТМО «</a:t>
                      </a:r>
                      <a:r>
                        <a:rPr lang="uk-UA" sz="1000" b="0" i="0" u="none" strike="noStrike" dirty="0" err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Стрийська</a:t>
                      </a:r>
                      <a:r>
                        <a:rPr lang="uk-UA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 міська об'єднана лікарня», </a:t>
                      </a:r>
                      <a:r>
                        <a:rPr lang="uk-UA" sz="1000" b="0" i="0" u="none" strike="noStrike" dirty="0" smtClean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              ВП </a:t>
                      </a:r>
                      <a:r>
                        <a:rPr lang="uk-UA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«Лікарня інтенсивного лікування»</a:t>
                      </a:r>
                    </a:p>
                  </a:txBody>
                  <a:tcPr marL="7729" marR="7729" marT="772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uk-UA" sz="10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Кластерний </a:t>
                      </a:r>
                    </a:p>
                  </a:txBody>
                  <a:tcPr marL="7729" marR="7729" marT="772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uk-UA" sz="10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1</a:t>
                      </a:r>
                    </a:p>
                  </a:txBody>
                  <a:tcPr marL="7729" marR="7729" marT="772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uk-UA" sz="10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-</a:t>
                      </a:r>
                    </a:p>
                  </a:txBody>
                  <a:tcPr marL="7729" marR="7729" marT="772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uk-UA" sz="10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-</a:t>
                      </a:r>
                    </a:p>
                  </a:txBody>
                  <a:tcPr marL="7729" marR="7729" marT="772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uk-UA" sz="10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-</a:t>
                      </a:r>
                    </a:p>
                  </a:txBody>
                  <a:tcPr marL="7729" marR="7729" marT="772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 dirty="0" smtClean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01</a:t>
                      </a:r>
                      <a:r>
                        <a:rPr lang="uk-UA" sz="1000" b="0" i="0" u="none" strike="noStrike" dirty="0" smtClean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.03.10.2022 </a:t>
                      </a:r>
                      <a:r>
                        <a:rPr lang="uk-UA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ЦЗ</a:t>
                      </a:r>
                    </a:p>
                  </a:txBody>
                  <a:tcPr marL="7729" marR="7729" marT="772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465017"/>
                  </a:ext>
                </a:extLst>
              </a:tr>
              <a:tr h="324096">
                <a:tc>
                  <a:txBody>
                    <a:bodyPr/>
                    <a:lstStyle/>
                    <a:p>
                      <a:pPr algn="ctr" rtl="0" fontAlgn="ctr"/>
                      <a:r>
                        <a:rPr lang="uk-UA" sz="10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10</a:t>
                      </a:r>
                    </a:p>
                  </a:txBody>
                  <a:tcPr marL="7729" marR="7729" marT="772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ru-RU" sz="10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КП «Центральна міська лікарня Червоноградської міської ради»</a:t>
                      </a:r>
                    </a:p>
                  </a:txBody>
                  <a:tcPr marL="7729" marR="7729" marT="772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uk-UA" sz="10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Кластерний </a:t>
                      </a:r>
                    </a:p>
                  </a:txBody>
                  <a:tcPr marL="7729" marR="7729" marT="772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uk-UA" sz="10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3 </a:t>
                      </a:r>
                    </a:p>
                  </a:txBody>
                  <a:tcPr marL="7729" marR="7729" marT="772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uk-UA" sz="10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-</a:t>
                      </a:r>
                    </a:p>
                  </a:txBody>
                  <a:tcPr marL="7729" marR="7729" marT="772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uk-UA" sz="1000" b="0" i="0" u="none" strike="noStrike" dirty="0" smtClean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19.02.2023  </a:t>
                      </a:r>
                      <a:r>
                        <a:rPr lang="uk-UA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ЦЗ</a:t>
                      </a:r>
                    </a:p>
                  </a:txBody>
                  <a:tcPr marL="7729" marR="7729" marT="772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uk-UA" sz="10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- </a:t>
                      </a:r>
                    </a:p>
                  </a:txBody>
                  <a:tcPr marL="7729" marR="7729" marT="772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uk-UA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Підрядник </a:t>
                      </a:r>
                      <a:r>
                        <a:rPr lang="uk-UA" sz="1000" b="0" i="0" u="none" strike="noStrike" dirty="0" smtClean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01.05.2012</a:t>
                      </a:r>
                      <a:endParaRPr lang="uk-UA" sz="1000" b="0" i="0" u="none" strike="noStrike" dirty="0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729" marR="7729" marT="772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4672713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063069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850;p82">
            <a:extLst>
              <a:ext uri="{FF2B5EF4-FFF2-40B4-BE49-F238E27FC236}">
                <a16:creationId xmlns:a16="http://schemas.microsoft.com/office/drawing/2014/main" id="{16461161-F19A-43E9-B90C-0993ED93FDC6}"/>
              </a:ext>
            </a:extLst>
          </p:cNvPr>
          <p:cNvSpPr txBox="1"/>
          <p:nvPr/>
        </p:nvSpPr>
        <p:spPr>
          <a:xfrm>
            <a:off x="423017" y="261042"/>
            <a:ext cx="11345965" cy="4744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algn="ctr"/>
            <a:r>
              <a:rPr lang="ru-RU" sz="3000" b="1" dirty="0" err="1">
                <a:solidFill>
                  <a:srgbClr val="00206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Загальна</a:t>
            </a:r>
            <a:r>
              <a:rPr lang="ru-RU" sz="3000" b="1" dirty="0">
                <a:solidFill>
                  <a:srgbClr val="00206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 </a:t>
            </a:r>
            <a:r>
              <a:rPr lang="ru-RU" sz="3000" b="1" dirty="0" err="1">
                <a:solidFill>
                  <a:srgbClr val="00206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кількість</a:t>
            </a:r>
            <a:r>
              <a:rPr lang="ru-RU" sz="3000" b="1" dirty="0">
                <a:solidFill>
                  <a:srgbClr val="00206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 </a:t>
            </a:r>
            <a:r>
              <a:rPr lang="ru-RU" sz="3000" b="1" dirty="0" err="1">
                <a:solidFill>
                  <a:srgbClr val="00206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проведених</a:t>
            </a:r>
            <a:r>
              <a:rPr lang="ru-RU" sz="3000" b="1" dirty="0">
                <a:solidFill>
                  <a:srgbClr val="00206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 </a:t>
            </a:r>
            <a:r>
              <a:rPr lang="ru-RU" sz="3000" b="1" dirty="0" err="1">
                <a:solidFill>
                  <a:srgbClr val="00206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обстежень</a:t>
            </a:r>
            <a:r>
              <a:rPr lang="ru-RU" sz="3000" b="1" dirty="0">
                <a:solidFill>
                  <a:srgbClr val="00206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 у </a:t>
            </a:r>
            <a:r>
              <a:rPr lang="ru-RU" sz="3000" b="1" dirty="0" err="1">
                <a:solidFill>
                  <a:srgbClr val="00206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хворих</a:t>
            </a:r>
            <a:r>
              <a:rPr lang="ru-RU" sz="3000" b="1" dirty="0">
                <a:solidFill>
                  <a:srgbClr val="00206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 на </a:t>
            </a:r>
            <a:r>
              <a:rPr lang="ru-RU" sz="3000" b="1" dirty="0" err="1">
                <a:solidFill>
                  <a:srgbClr val="00206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ГМІ</a:t>
            </a:r>
            <a:endParaRPr sz="3000" b="1" dirty="0">
              <a:solidFill>
                <a:srgbClr val="002060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graphicFrame>
        <p:nvGraphicFramePr>
          <p:cNvPr id="4" name="Таблиця 3">
            <a:extLst>
              <a:ext uri="{FF2B5EF4-FFF2-40B4-BE49-F238E27FC236}">
                <a16:creationId xmlns:a16="http://schemas.microsoft.com/office/drawing/2014/main" id="{628BB954-7F4A-4DCB-9487-DA8240AEB31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48879798"/>
              </p:ext>
            </p:extLst>
          </p:nvPr>
        </p:nvGraphicFramePr>
        <p:xfrm>
          <a:off x="534838" y="905774"/>
          <a:ext cx="11234144" cy="5642999"/>
        </p:xfrm>
        <a:graphic>
          <a:graphicData uri="http://schemas.openxmlformats.org/drawingml/2006/table">
            <a:tbl>
              <a:tblPr/>
              <a:tblGrid>
                <a:gridCol w="310551">
                  <a:extLst>
                    <a:ext uri="{9D8B030D-6E8A-4147-A177-3AD203B41FA5}">
                      <a16:colId xmlns:a16="http://schemas.microsoft.com/office/drawing/2014/main" val="181183722"/>
                    </a:ext>
                  </a:extLst>
                </a:gridCol>
                <a:gridCol w="4096411">
                  <a:extLst>
                    <a:ext uri="{9D8B030D-6E8A-4147-A177-3AD203B41FA5}">
                      <a16:colId xmlns:a16="http://schemas.microsoft.com/office/drawing/2014/main" val="2945965950"/>
                    </a:ext>
                  </a:extLst>
                </a:gridCol>
                <a:gridCol w="577963">
                  <a:extLst>
                    <a:ext uri="{9D8B030D-6E8A-4147-A177-3AD203B41FA5}">
                      <a16:colId xmlns:a16="http://schemas.microsoft.com/office/drawing/2014/main" val="810838673"/>
                    </a:ext>
                  </a:extLst>
                </a:gridCol>
                <a:gridCol w="577963">
                  <a:extLst>
                    <a:ext uri="{9D8B030D-6E8A-4147-A177-3AD203B41FA5}">
                      <a16:colId xmlns:a16="http://schemas.microsoft.com/office/drawing/2014/main" val="2465755247"/>
                    </a:ext>
                  </a:extLst>
                </a:gridCol>
                <a:gridCol w="577963">
                  <a:extLst>
                    <a:ext uri="{9D8B030D-6E8A-4147-A177-3AD203B41FA5}">
                      <a16:colId xmlns:a16="http://schemas.microsoft.com/office/drawing/2014/main" val="3732403608"/>
                    </a:ext>
                  </a:extLst>
                </a:gridCol>
                <a:gridCol w="577963">
                  <a:extLst>
                    <a:ext uri="{9D8B030D-6E8A-4147-A177-3AD203B41FA5}">
                      <a16:colId xmlns:a16="http://schemas.microsoft.com/office/drawing/2014/main" val="3772661325"/>
                    </a:ext>
                  </a:extLst>
                </a:gridCol>
                <a:gridCol w="650207">
                  <a:extLst>
                    <a:ext uri="{9D8B030D-6E8A-4147-A177-3AD203B41FA5}">
                      <a16:colId xmlns:a16="http://schemas.microsoft.com/office/drawing/2014/main" val="129823115"/>
                    </a:ext>
                  </a:extLst>
                </a:gridCol>
                <a:gridCol w="650207">
                  <a:extLst>
                    <a:ext uri="{9D8B030D-6E8A-4147-A177-3AD203B41FA5}">
                      <a16:colId xmlns:a16="http://schemas.microsoft.com/office/drawing/2014/main" val="21826384"/>
                    </a:ext>
                  </a:extLst>
                </a:gridCol>
                <a:gridCol w="457554">
                  <a:extLst>
                    <a:ext uri="{9D8B030D-6E8A-4147-A177-3AD203B41FA5}">
                      <a16:colId xmlns:a16="http://schemas.microsoft.com/office/drawing/2014/main" val="4191225160"/>
                    </a:ext>
                  </a:extLst>
                </a:gridCol>
                <a:gridCol w="493675">
                  <a:extLst>
                    <a:ext uri="{9D8B030D-6E8A-4147-A177-3AD203B41FA5}">
                      <a16:colId xmlns:a16="http://schemas.microsoft.com/office/drawing/2014/main" val="2712100091"/>
                    </a:ext>
                  </a:extLst>
                </a:gridCol>
                <a:gridCol w="529798">
                  <a:extLst>
                    <a:ext uri="{9D8B030D-6E8A-4147-A177-3AD203B41FA5}">
                      <a16:colId xmlns:a16="http://schemas.microsoft.com/office/drawing/2014/main" val="3797048658"/>
                    </a:ext>
                  </a:extLst>
                </a:gridCol>
                <a:gridCol w="577963">
                  <a:extLst>
                    <a:ext uri="{9D8B030D-6E8A-4147-A177-3AD203B41FA5}">
                      <a16:colId xmlns:a16="http://schemas.microsoft.com/office/drawing/2014/main" val="476427429"/>
                    </a:ext>
                  </a:extLst>
                </a:gridCol>
                <a:gridCol w="577963">
                  <a:extLst>
                    <a:ext uri="{9D8B030D-6E8A-4147-A177-3AD203B41FA5}">
                      <a16:colId xmlns:a16="http://schemas.microsoft.com/office/drawing/2014/main" val="1319591736"/>
                    </a:ext>
                  </a:extLst>
                </a:gridCol>
                <a:gridCol w="577963">
                  <a:extLst>
                    <a:ext uri="{9D8B030D-6E8A-4147-A177-3AD203B41FA5}">
                      <a16:colId xmlns:a16="http://schemas.microsoft.com/office/drawing/2014/main" val="4196472960"/>
                    </a:ext>
                  </a:extLst>
                </a:gridCol>
              </a:tblGrid>
              <a:tr h="196697">
                <a:tc rowSpan="3">
                  <a:txBody>
                    <a:bodyPr/>
                    <a:lstStyle/>
                    <a:p>
                      <a:pPr algn="ctr" rtl="0" fontAlgn="ctr"/>
                      <a:r>
                        <a:rPr lang="uk-UA" sz="1100" b="1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№ з/п</a:t>
                      </a:r>
                    </a:p>
                  </a:txBody>
                  <a:tcPr marL="7549" marR="7549" marT="754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ctr" rtl="0" fontAlgn="ctr"/>
                      <a:r>
                        <a:rPr lang="uk-UA" sz="1100" b="1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Назва установи</a:t>
                      </a:r>
                    </a:p>
                  </a:txBody>
                  <a:tcPr marL="7549" marR="7549" marT="754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 gridSpan="12">
                  <a:txBody>
                    <a:bodyPr/>
                    <a:lstStyle/>
                    <a:p>
                      <a:pPr algn="ctr" rtl="0" fontAlgn="ctr"/>
                      <a:r>
                        <a:rPr lang="ru-RU" sz="1100" b="1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Кількість проведених обстежень хворих на ГМІ </a:t>
                      </a:r>
                    </a:p>
                  </a:txBody>
                  <a:tcPr marL="7549" marR="7549" marT="754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uk-U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uk-U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uk-U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uk-U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uk-U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uk-U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uk-U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uk-U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uk-U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uk-U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uk-UA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35595334"/>
                  </a:ext>
                </a:extLst>
              </a:tr>
              <a:tr h="196697">
                <a:tc vMerge="1">
                  <a:txBody>
                    <a:bodyPr/>
                    <a:lstStyle/>
                    <a:p>
                      <a:endParaRPr lang="uk-UA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uk-UA"/>
                    </a:p>
                  </a:txBody>
                  <a:tcPr/>
                </a:tc>
                <a:tc gridSpan="6">
                  <a:txBody>
                    <a:bodyPr/>
                    <a:lstStyle/>
                    <a:p>
                      <a:pPr algn="ctr" rtl="0" fontAlgn="ctr"/>
                      <a:r>
                        <a:rPr lang="uk-UA" sz="1100" b="1" i="0" u="none" strike="noStrike" dirty="0" err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КТ</a:t>
                      </a:r>
                      <a:endParaRPr lang="uk-UA" sz="1100" b="1" i="0" u="none" strike="noStrike" dirty="0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549" marR="7549" marT="754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uk-U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uk-U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uk-U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uk-U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uk-UA"/>
                    </a:p>
                  </a:txBody>
                  <a:tcPr/>
                </a:tc>
                <a:tc gridSpan="6">
                  <a:txBody>
                    <a:bodyPr/>
                    <a:lstStyle/>
                    <a:p>
                      <a:pPr algn="ctr" rtl="0" fontAlgn="ctr"/>
                      <a:r>
                        <a:rPr lang="uk-UA" sz="1100" b="1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Церебральна ангіографія</a:t>
                      </a:r>
                    </a:p>
                  </a:txBody>
                  <a:tcPr marL="7549" marR="7549" marT="754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uk-U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uk-U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uk-U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uk-U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uk-UA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44237492"/>
                  </a:ext>
                </a:extLst>
              </a:tr>
              <a:tr h="373724">
                <a:tc vMerge="1">
                  <a:txBody>
                    <a:bodyPr/>
                    <a:lstStyle/>
                    <a:p>
                      <a:endParaRPr lang="uk-UA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uk-UA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uk-UA" sz="1100" b="1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2021</a:t>
                      </a:r>
                    </a:p>
                  </a:txBody>
                  <a:tcPr marL="7549" marR="7549" marT="754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uk-UA" sz="1100" b="1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% від   ГМІ</a:t>
                      </a:r>
                    </a:p>
                  </a:txBody>
                  <a:tcPr marL="7549" marR="7549" marT="754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uk-UA" sz="1100" b="1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2022</a:t>
                      </a:r>
                    </a:p>
                  </a:txBody>
                  <a:tcPr marL="7549" marR="7549" marT="754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uk-UA" sz="1100" b="1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% від  ГМІ</a:t>
                      </a:r>
                    </a:p>
                  </a:txBody>
                  <a:tcPr marL="7549" marR="7549" marT="754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uk-UA" sz="1100" b="1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2023</a:t>
                      </a:r>
                    </a:p>
                  </a:txBody>
                  <a:tcPr marL="7549" marR="7549" marT="754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uk-UA" sz="1100" b="1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% від  ГМІ</a:t>
                      </a:r>
                    </a:p>
                  </a:txBody>
                  <a:tcPr marL="7549" marR="7549" marT="754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uk-UA" sz="1100" b="1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2021</a:t>
                      </a:r>
                    </a:p>
                  </a:txBody>
                  <a:tcPr marL="7549" marR="7549" marT="754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uk-UA" sz="1100" b="1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% від  </a:t>
                      </a:r>
                      <a:r>
                        <a:rPr lang="uk-UA" sz="1100" b="1" i="0" u="none" strike="noStrike" dirty="0" err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ГМІ</a:t>
                      </a:r>
                      <a:endParaRPr lang="uk-UA" sz="1100" b="1" i="0" u="none" strike="noStrike" dirty="0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549" marR="7549" marT="754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uk-UA" sz="1100" b="1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2022</a:t>
                      </a:r>
                    </a:p>
                  </a:txBody>
                  <a:tcPr marL="7549" marR="7549" marT="754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uk-UA" sz="1100" b="1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% від  </a:t>
                      </a:r>
                      <a:r>
                        <a:rPr lang="uk-UA" sz="1100" b="1" i="0" u="none" strike="noStrike" dirty="0" err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ГМІ</a:t>
                      </a:r>
                      <a:endParaRPr lang="uk-UA" sz="1100" b="1" i="0" u="none" strike="noStrike" dirty="0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549" marR="7549" marT="754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uk-UA" sz="1100" b="1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2023</a:t>
                      </a:r>
                    </a:p>
                  </a:txBody>
                  <a:tcPr marL="7549" marR="7549" marT="754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uk-UA" sz="1100" b="1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% від  ГМІ</a:t>
                      </a:r>
                    </a:p>
                  </a:txBody>
                  <a:tcPr marL="7549" marR="7549" marT="754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1026762"/>
                  </a:ext>
                </a:extLst>
              </a:tr>
              <a:tr h="304880">
                <a:tc>
                  <a:txBody>
                    <a:bodyPr/>
                    <a:lstStyle/>
                    <a:p>
                      <a:pPr algn="ctr" rtl="0" fontAlgn="ctr"/>
                      <a:r>
                        <a:rPr lang="uk-UA" sz="11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</a:p>
                  </a:txBody>
                  <a:tcPr marL="7549" marR="7549" marT="754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uk-UA" sz="1100" b="1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Всього</a:t>
                      </a:r>
                    </a:p>
                  </a:txBody>
                  <a:tcPr marL="7549" marR="7549" marT="754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uk-UA" sz="1100" b="1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5944</a:t>
                      </a:r>
                    </a:p>
                  </a:txBody>
                  <a:tcPr marL="7549" marR="7549" marT="754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100" b="1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98,9</a:t>
                      </a:r>
                    </a:p>
                  </a:txBody>
                  <a:tcPr marL="7549" marR="7549" marT="754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uk-UA" sz="1100" b="1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7166</a:t>
                      </a:r>
                    </a:p>
                  </a:txBody>
                  <a:tcPr marL="7549" marR="7549" marT="754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100" b="1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102,5</a:t>
                      </a:r>
                    </a:p>
                  </a:txBody>
                  <a:tcPr marL="7549" marR="7549" marT="754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uk-UA" sz="1100" b="1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8515</a:t>
                      </a:r>
                    </a:p>
                  </a:txBody>
                  <a:tcPr marL="7549" marR="7549" marT="754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100" b="1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113,2</a:t>
                      </a:r>
                    </a:p>
                  </a:txBody>
                  <a:tcPr marL="7549" marR="7549" marT="754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uk-UA" sz="1100" b="1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544</a:t>
                      </a:r>
                    </a:p>
                  </a:txBody>
                  <a:tcPr marL="7549" marR="7549" marT="754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100" b="1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9,1</a:t>
                      </a:r>
                    </a:p>
                  </a:txBody>
                  <a:tcPr marL="7549" marR="7549" marT="754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uk-UA" sz="1100" b="1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1218</a:t>
                      </a:r>
                    </a:p>
                  </a:txBody>
                  <a:tcPr marL="7549" marR="7549" marT="754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100" b="1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17,4</a:t>
                      </a:r>
                    </a:p>
                  </a:txBody>
                  <a:tcPr marL="7549" marR="7549" marT="754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uk-UA" sz="1100" b="1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1874</a:t>
                      </a:r>
                    </a:p>
                  </a:txBody>
                  <a:tcPr marL="7549" marR="7549" marT="754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100" b="1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24,9</a:t>
                      </a:r>
                    </a:p>
                  </a:txBody>
                  <a:tcPr marL="7549" marR="7549" marT="754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43318697"/>
                  </a:ext>
                </a:extLst>
              </a:tr>
              <a:tr h="344220">
                <a:tc>
                  <a:txBody>
                    <a:bodyPr/>
                    <a:lstStyle/>
                    <a:p>
                      <a:pPr algn="ctr" rtl="0" fontAlgn="ctr"/>
                      <a:r>
                        <a:rPr lang="uk-UA" sz="11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1</a:t>
                      </a:r>
                    </a:p>
                  </a:txBody>
                  <a:tcPr marL="7549" marR="7549" marT="754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ru-RU" sz="11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 КНП ЛОР «Львівська обласна клінічна лікарня»</a:t>
                      </a:r>
                    </a:p>
                  </a:txBody>
                  <a:tcPr marL="7549" marR="7549" marT="754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uk-UA" sz="11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784</a:t>
                      </a:r>
                    </a:p>
                  </a:txBody>
                  <a:tcPr marL="7549" marR="7549" marT="754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100,0</a:t>
                      </a:r>
                    </a:p>
                  </a:txBody>
                  <a:tcPr marL="7549" marR="7549" marT="754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uk-UA" sz="11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582</a:t>
                      </a:r>
                    </a:p>
                  </a:txBody>
                  <a:tcPr marL="7549" marR="7549" marT="754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100,0</a:t>
                      </a:r>
                    </a:p>
                  </a:txBody>
                  <a:tcPr marL="7549" marR="7549" marT="754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uk-UA" sz="11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721</a:t>
                      </a:r>
                    </a:p>
                  </a:txBody>
                  <a:tcPr marL="7549" marR="7549" marT="754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100,0</a:t>
                      </a:r>
                    </a:p>
                  </a:txBody>
                  <a:tcPr marL="7549" marR="7549" marT="754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uk-UA" sz="11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395</a:t>
                      </a:r>
                    </a:p>
                  </a:txBody>
                  <a:tcPr marL="7549" marR="7549" marT="754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50,4</a:t>
                      </a:r>
                    </a:p>
                  </a:txBody>
                  <a:tcPr marL="7549" marR="7549" marT="754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uk-UA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582</a:t>
                      </a:r>
                    </a:p>
                  </a:txBody>
                  <a:tcPr marL="7549" marR="7549" marT="754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100,0</a:t>
                      </a:r>
                    </a:p>
                  </a:txBody>
                  <a:tcPr marL="7549" marR="7549" marT="754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uk-UA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721</a:t>
                      </a:r>
                    </a:p>
                  </a:txBody>
                  <a:tcPr marL="7549" marR="7549" marT="754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1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100,0</a:t>
                      </a:r>
                    </a:p>
                  </a:txBody>
                  <a:tcPr marL="7549" marR="7549" marT="754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0518741"/>
                  </a:ext>
                </a:extLst>
              </a:tr>
              <a:tr h="786787">
                <a:tc>
                  <a:txBody>
                    <a:bodyPr/>
                    <a:lstStyle/>
                    <a:p>
                      <a:pPr algn="ctr" rtl="0" fontAlgn="ctr"/>
                      <a:r>
                        <a:rPr lang="uk-UA" sz="11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2</a:t>
                      </a:r>
                    </a:p>
                  </a:txBody>
                  <a:tcPr marL="7549" marR="7549" marT="754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uk-UA" sz="11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Відокремлений підрозділ «Лікарня Святого Пантелеймона «КНП  «Львівське територіальне медичне об'єднання» Багатопрофільна клінічна лікарня інтенсивних методів лікування та швидкої медичної допомоги»</a:t>
                      </a:r>
                    </a:p>
                  </a:txBody>
                  <a:tcPr marL="7549" marR="7549" marT="754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uk-UA" sz="11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2510</a:t>
                      </a:r>
                    </a:p>
                  </a:txBody>
                  <a:tcPr marL="7549" marR="7549" marT="754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102,4</a:t>
                      </a:r>
                    </a:p>
                  </a:txBody>
                  <a:tcPr marL="7549" marR="7549" marT="754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uk-UA" sz="11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2315</a:t>
                      </a:r>
                    </a:p>
                  </a:txBody>
                  <a:tcPr marL="7549" marR="7549" marT="754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104,6</a:t>
                      </a:r>
                    </a:p>
                  </a:txBody>
                  <a:tcPr marL="7549" marR="7549" marT="754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uk-UA" sz="11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1940</a:t>
                      </a:r>
                    </a:p>
                  </a:txBody>
                  <a:tcPr marL="7549" marR="7549" marT="754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106,8</a:t>
                      </a:r>
                    </a:p>
                  </a:txBody>
                  <a:tcPr marL="7549" marR="7549" marT="754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uk-UA" sz="11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149</a:t>
                      </a:r>
                    </a:p>
                  </a:txBody>
                  <a:tcPr marL="7549" marR="7549" marT="754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1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6,1</a:t>
                      </a:r>
                    </a:p>
                  </a:txBody>
                  <a:tcPr marL="7549" marR="7549" marT="754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uk-UA" sz="11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185</a:t>
                      </a:r>
                    </a:p>
                  </a:txBody>
                  <a:tcPr marL="7549" marR="7549" marT="754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8,4</a:t>
                      </a:r>
                    </a:p>
                  </a:txBody>
                  <a:tcPr marL="7549" marR="7549" marT="754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uk-UA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206</a:t>
                      </a:r>
                    </a:p>
                  </a:txBody>
                  <a:tcPr marL="7549" marR="7549" marT="754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11,3</a:t>
                      </a:r>
                    </a:p>
                  </a:txBody>
                  <a:tcPr marL="7549" marR="7549" marT="754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06690521"/>
                  </a:ext>
                </a:extLst>
              </a:tr>
              <a:tr h="738602">
                <a:tc>
                  <a:txBody>
                    <a:bodyPr/>
                    <a:lstStyle/>
                    <a:p>
                      <a:pPr algn="ctr" rtl="0" fontAlgn="ctr"/>
                      <a:r>
                        <a:rPr lang="uk-UA" sz="11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3</a:t>
                      </a:r>
                    </a:p>
                  </a:txBody>
                  <a:tcPr marL="7549" marR="7549" marT="754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uk-UA" sz="11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Відокремлений підрозділ «Лікарня Святого Луки» КНП  «Львівське територіальне медичне об'єднання» Багатопрофільна клінічна лікарня інтенсивних методів лікування та швидкої медичної допомоги»</a:t>
                      </a:r>
                    </a:p>
                  </a:txBody>
                  <a:tcPr marL="7549" marR="7549" marT="754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uk-UA" sz="11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45</a:t>
                      </a:r>
                    </a:p>
                  </a:txBody>
                  <a:tcPr marL="7549" marR="7549" marT="754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100,0</a:t>
                      </a:r>
                    </a:p>
                  </a:txBody>
                  <a:tcPr marL="7549" marR="7549" marT="754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uk-UA" sz="11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1078</a:t>
                      </a:r>
                    </a:p>
                  </a:txBody>
                  <a:tcPr marL="7549" marR="7549" marT="754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1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110,0</a:t>
                      </a:r>
                    </a:p>
                  </a:txBody>
                  <a:tcPr marL="7549" marR="7549" marT="754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uk-UA" sz="11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1506</a:t>
                      </a:r>
                    </a:p>
                  </a:txBody>
                  <a:tcPr marL="7549" marR="7549" marT="754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122,4</a:t>
                      </a:r>
                    </a:p>
                  </a:txBody>
                  <a:tcPr marL="7549" marR="7549" marT="754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uk-UA" sz="11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-</a:t>
                      </a:r>
                    </a:p>
                  </a:txBody>
                  <a:tcPr marL="7549" marR="7549" marT="754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uk-UA" sz="11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-</a:t>
                      </a:r>
                    </a:p>
                  </a:txBody>
                  <a:tcPr marL="7549" marR="7549" marT="754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uk-UA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41</a:t>
                      </a:r>
                    </a:p>
                  </a:txBody>
                  <a:tcPr marL="7549" marR="7549" marT="754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4,2</a:t>
                      </a:r>
                    </a:p>
                  </a:txBody>
                  <a:tcPr marL="7549" marR="7549" marT="754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uk-UA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104</a:t>
                      </a:r>
                    </a:p>
                  </a:txBody>
                  <a:tcPr marL="7549" marR="7549" marT="754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8,5</a:t>
                      </a:r>
                    </a:p>
                  </a:txBody>
                  <a:tcPr marL="7549" marR="7549" marT="754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42228525"/>
                  </a:ext>
                </a:extLst>
              </a:tr>
              <a:tr h="393394">
                <a:tc>
                  <a:txBody>
                    <a:bodyPr/>
                    <a:lstStyle/>
                    <a:p>
                      <a:pPr algn="ctr" rtl="0" fontAlgn="ctr"/>
                      <a:r>
                        <a:rPr lang="uk-UA" sz="11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4</a:t>
                      </a:r>
                    </a:p>
                  </a:txBody>
                  <a:tcPr marL="7549" marR="7549" marT="754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ru-RU" sz="11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 КНП ЛОР «Львівський обласний госпіталь ветеранів війн та репресованих ім. Ю. Липи»</a:t>
                      </a:r>
                    </a:p>
                  </a:txBody>
                  <a:tcPr marL="7549" marR="7549" marT="754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uk-UA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18</a:t>
                      </a:r>
                    </a:p>
                  </a:txBody>
                  <a:tcPr marL="7549" marR="7549" marT="754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52,9</a:t>
                      </a:r>
                    </a:p>
                  </a:txBody>
                  <a:tcPr marL="7549" marR="7549" marT="754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uk-UA" sz="11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415</a:t>
                      </a:r>
                    </a:p>
                  </a:txBody>
                  <a:tcPr marL="7549" marR="7549" marT="754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1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108,4</a:t>
                      </a:r>
                    </a:p>
                  </a:txBody>
                  <a:tcPr marL="7549" marR="7549" marT="754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uk-UA" sz="11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1179</a:t>
                      </a:r>
                    </a:p>
                  </a:txBody>
                  <a:tcPr marL="7549" marR="7549" marT="754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1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210,5</a:t>
                      </a:r>
                    </a:p>
                  </a:txBody>
                  <a:tcPr marL="7549" marR="7549" marT="754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uk-UA" sz="11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-</a:t>
                      </a:r>
                    </a:p>
                  </a:txBody>
                  <a:tcPr marL="7549" marR="7549" marT="754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uk-UA" sz="11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-</a:t>
                      </a:r>
                    </a:p>
                  </a:txBody>
                  <a:tcPr marL="7549" marR="7549" marT="754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uk-UA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-</a:t>
                      </a:r>
                    </a:p>
                  </a:txBody>
                  <a:tcPr marL="7549" marR="7549" marT="754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uk-UA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-</a:t>
                      </a:r>
                    </a:p>
                  </a:txBody>
                  <a:tcPr marL="7549" marR="7549" marT="754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uk-UA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-</a:t>
                      </a:r>
                    </a:p>
                  </a:txBody>
                  <a:tcPr marL="7549" marR="7549" marT="754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uk-UA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-</a:t>
                      </a:r>
                    </a:p>
                  </a:txBody>
                  <a:tcPr marL="7549" marR="7549" marT="754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4763611"/>
                  </a:ext>
                </a:extLst>
              </a:tr>
              <a:tr h="367211">
                <a:tc>
                  <a:txBody>
                    <a:bodyPr/>
                    <a:lstStyle/>
                    <a:p>
                      <a:pPr algn="ctr" rtl="0" fontAlgn="ctr"/>
                      <a:r>
                        <a:rPr lang="uk-UA" sz="11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5</a:t>
                      </a:r>
                    </a:p>
                  </a:txBody>
                  <a:tcPr marL="7549" marR="7549" marT="754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ru-RU" sz="11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КНП Буської міської ради «Буська центральна районна лiкарня»</a:t>
                      </a:r>
                    </a:p>
                  </a:txBody>
                  <a:tcPr marL="7549" marR="7549" marT="754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uk-UA" sz="11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0</a:t>
                      </a:r>
                    </a:p>
                  </a:txBody>
                  <a:tcPr marL="7549" marR="7549" marT="754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1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</a:p>
                  </a:txBody>
                  <a:tcPr marL="7549" marR="7549" marT="754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uk-UA" sz="11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83</a:t>
                      </a:r>
                    </a:p>
                  </a:txBody>
                  <a:tcPr marL="7549" marR="7549" marT="754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1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83,0</a:t>
                      </a:r>
                    </a:p>
                  </a:txBody>
                  <a:tcPr marL="7549" marR="7549" marT="754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uk-UA" sz="11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396</a:t>
                      </a:r>
                    </a:p>
                  </a:txBody>
                  <a:tcPr marL="7549" marR="7549" marT="754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1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100,0</a:t>
                      </a:r>
                    </a:p>
                  </a:txBody>
                  <a:tcPr marL="7549" marR="7549" marT="754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uk-UA" sz="11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-</a:t>
                      </a:r>
                    </a:p>
                  </a:txBody>
                  <a:tcPr marL="7549" marR="7549" marT="754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uk-UA" sz="11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-</a:t>
                      </a:r>
                    </a:p>
                  </a:txBody>
                  <a:tcPr marL="7549" marR="7549" marT="754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uk-UA" sz="11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-</a:t>
                      </a:r>
                    </a:p>
                  </a:txBody>
                  <a:tcPr marL="7549" marR="7549" marT="754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uk-UA" sz="11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-</a:t>
                      </a:r>
                    </a:p>
                  </a:txBody>
                  <a:tcPr marL="7549" marR="7549" marT="754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uk-UA" sz="11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-</a:t>
                      </a:r>
                    </a:p>
                  </a:txBody>
                  <a:tcPr marL="7549" marR="7549" marT="754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uk-UA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-</a:t>
                      </a:r>
                    </a:p>
                  </a:txBody>
                  <a:tcPr marL="7549" marR="7549" marT="754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20353609"/>
                  </a:ext>
                </a:extLst>
              </a:tr>
              <a:tr h="393394">
                <a:tc>
                  <a:txBody>
                    <a:bodyPr/>
                    <a:lstStyle/>
                    <a:p>
                      <a:pPr algn="ctr" rtl="0" fontAlgn="ctr"/>
                      <a:r>
                        <a:rPr lang="uk-UA" sz="11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6</a:t>
                      </a:r>
                    </a:p>
                  </a:txBody>
                  <a:tcPr marL="7549" marR="7549" marT="754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uk-UA" sz="11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КНП «Дрогобицька міська лікарня № 1» Дрогобицької міської ради</a:t>
                      </a:r>
                    </a:p>
                  </a:txBody>
                  <a:tcPr marL="7549" marR="7549" marT="754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uk-UA" sz="11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671</a:t>
                      </a:r>
                    </a:p>
                  </a:txBody>
                  <a:tcPr marL="7549" marR="7549" marT="754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1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100,0</a:t>
                      </a:r>
                    </a:p>
                  </a:txBody>
                  <a:tcPr marL="7549" marR="7549" marT="754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uk-UA" sz="11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768</a:t>
                      </a:r>
                    </a:p>
                  </a:txBody>
                  <a:tcPr marL="7549" marR="7549" marT="754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1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100,0</a:t>
                      </a:r>
                    </a:p>
                  </a:txBody>
                  <a:tcPr marL="7549" marR="7549" marT="754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uk-UA" sz="11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879</a:t>
                      </a:r>
                    </a:p>
                  </a:txBody>
                  <a:tcPr marL="7549" marR="7549" marT="754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100,0</a:t>
                      </a:r>
                    </a:p>
                  </a:txBody>
                  <a:tcPr marL="7549" marR="7549" marT="754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uk-UA" sz="11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-</a:t>
                      </a:r>
                    </a:p>
                  </a:txBody>
                  <a:tcPr marL="7549" marR="7549" marT="754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uk-UA" sz="11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-</a:t>
                      </a:r>
                    </a:p>
                  </a:txBody>
                  <a:tcPr marL="7549" marR="7549" marT="754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uk-UA" sz="11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-</a:t>
                      </a:r>
                    </a:p>
                  </a:txBody>
                  <a:tcPr marL="7549" marR="7549" marT="754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uk-UA" sz="11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-</a:t>
                      </a:r>
                    </a:p>
                  </a:txBody>
                  <a:tcPr marL="7549" marR="7549" marT="754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uk-UA" sz="11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-</a:t>
                      </a:r>
                    </a:p>
                  </a:txBody>
                  <a:tcPr marL="7549" marR="7549" marT="754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uk-UA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-</a:t>
                      </a:r>
                    </a:p>
                  </a:txBody>
                  <a:tcPr marL="7549" marR="7549" marT="754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38861083"/>
                  </a:ext>
                </a:extLst>
              </a:tr>
              <a:tr h="393394">
                <a:tc>
                  <a:txBody>
                    <a:bodyPr/>
                    <a:lstStyle/>
                    <a:p>
                      <a:pPr algn="ctr" rtl="0" fontAlgn="ctr"/>
                      <a:r>
                        <a:rPr lang="uk-UA" sz="11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7</a:t>
                      </a:r>
                    </a:p>
                  </a:txBody>
                  <a:tcPr marL="7549" marR="7549" marT="754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uk-UA" sz="11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 КНП «Новояворівська лікарня імені Юрія Липи» Новояворівської міської ради</a:t>
                      </a:r>
                    </a:p>
                  </a:txBody>
                  <a:tcPr marL="7549" marR="7549" marT="754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uk-UA" sz="11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385</a:t>
                      </a:r>
                    </a:p>
                  </a:txBody>
                  <a:tcPr marL="7549" marR="7549" marT="754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1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98,5</a:t>
                      </a:r>
                    </a:p>
                  </a:txBody>
                  <a:tcPr marL="7549" marR="7549" marT="754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uk-UA" sz="11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466</a:t>
                      </a:r>
                    </a:p>
                  </a:txBody>
                  <a:tcPr marL="7549" marR="7549" marT="754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1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98,3</a:t>
                      </a:r>
                    </a:p>
                  </a:txBody>
                  <a:tcPr marL="7549" marR="7549" marT="754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uk-UA" sz="11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309</a:t>
                      </a:r>
                    </a:p>
                  </a:txBody>
                  <a:tcPr marL="7549" marR="7549" marT="754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93,9</a:t>
                      </a:r>
                    </a:p>
                  </a:txBody>
                  <a:tcPr marL="7549" marR="7549" marT="754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uk-UA" sz="11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-</a:t>
                      </a:r>
                    </a:p>
                  </a:txBody>
                  <a:tcPr marL="7549" marR="7549" marT="754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uk-UA" sz="11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-</a:t>
                      </a:r>
                    </a:p>
                  </a:txBody>
                  <a:tcPr marL="7549" marR="7549" marT="754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uk-UA" sz="11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</a:p>
                  </a:txBody>
                  <a:tcPr marL="7549" marR="7549" marT="754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1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</a:p>
                  </a:txBody>
                  <a:tcPr marL="7549" marR="7549" marT="754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uk-UA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309</a:t>
                      </a:r>
                    </a:p>
                  </a:txBody>
                  <a:tcPr marL="7549" marR="7549" marT="754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93,9</a:t>
                      </a:r>
                    </a:p>
                  </a:txBody>
                  <a:tcPr marL="7549" marR="7549" marT="754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19753255"/>
                  </a:ext>
                </a:extLst>
              </a:tr>
              <a:tr h="393394">
                <a:tc>
                  <a:txBody>
                    <a:bodyPr/>
                    <a:lstStyle/>
                    <a:p>
                      <a:pPr algn="ctr" rtl="0" fontAlgn="ctr"/>
                      <a:r>
                        <a:rPr lang="uk-UA" sz="11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8</a:t>
                      </a:r>
                    </a:p>
                  </a:txBody>
                  <a:tcPr marL="7549" marR="7549" marT="754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ru-RU" sz="11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 КНП Самбірської міської ради «Самбірська центральна лікарня»</a:t>
                      </a:r>
                    </a:p>
                  </a:txBody>
                  <a:tcPr marL="7549" marR="7549" marT="754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uk-UA" sz="11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422</a:t>
                      </a:r>
                    </a:p>
                  </a:txBody>
                  <a:tcPr marL="7549" marR="7549" marT="754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1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100,0</a:t>
                      </a:r>
                    </a:p>
                  </a:txBody>
                  <a:tcPr marL="7549" marR="7549" marT="754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uk-UA" sz="11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394</a:t>
                      </a:r>
                    </a:p>
                  </a:txBody>
                  <a:tcPr marL="7549" marR="7549" marT="754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1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100,0</a:t>
                      </a:r>
                    </a:p>
                  </a:txBody>
                  <a:tcPr marL="7549" marR="7549" marT="754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uk-UA" sz="11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393</a:t>
                      </a:r>
                    </a:p>
                  </a:txBody>
                  <a:tcPr marL="7549" marR="7549" marT="754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1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100,0</a:t>
                      </a:r>
                    </a:p>
                  </a:txBody>
                  <a:tcPr marL="7549" marR="7549" marT="754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uk-UA" sz="11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-</a:t>
                      </a:r>
                    </a:p>
                  </a:txBody>
                  <a:tcPr marL="7549" marR="7549" marT="754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uk-UA" sz="11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-</a:t>
                      </a:r>
                    </a:p>
                  </a:txBody>
                  <a:tcPr marL="7549" marR="7549" marT="754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uk-UA" sz="11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385</a:t>
                      </a:r>
                    </a:p>
                  </a:txBody>
                  <a:tcPr marL="7549" marR="7549" marT="754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1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97,7</a:t>
                      </a:r>
                    </a:p>
                  </a:txBody>
                  <a:tcPr marL="7549" marR="7549" marT="754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uk-UA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389</a:t>
                      </a:r>
                    </a:p>
                  </a:txBody>
                  <a:tcPr marL="7549" marR="7549" marT="754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99,0</a:t>
                      </a:r>
                    </a:p>
                  </a:txBody>
                  <a:tcPr marL="7549" marR="7549" marT="754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53796533"/>
                  </a:ext>
                </a:extLst>
              </a:tr>
              <a:tr h="393394">
                <a:tc>
                  <a:txBody>
                    <a:bodyPr/>
                    <a:lstStyle/>
                    <a:p>
                      <a:pPr algn="ctr" rtl="0" fontAlgn="ctr"/>
                      <a:r>
                        <a:rPr lang="uk-UA" sz="11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9</a:t>
                      </a:r>
                    </a:p>
                  </a:txBody>
                  <a:tcPr marL="7549" marR="7549" marT="754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uk-UA" sz="11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КНП Стрийської міської ради ТМО «Стрийська міська об'єднана лікарня», ВП «Лікарня інтенсивного лікування»</a:t>
                      </a:r>
                    </a:p>
                  </a:txBody>
                  <a:tcPr marL="7549" marR="7549" marT="754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uk-UA" sz="11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645</a:t>
                      </a:r>
                    </a:p>
                  </a:txBody>
                  <a:tcPr marL="7549" marR="7549" marT="754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1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100,2</a:t>
                      </a:r>
                    </a:p>
                  </a:txBody>
                  <a:tcPr marL="7549" marR="7549" marT="754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uk-UA" sz="11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663</a:t>
                      </a:r>
                    </a:p>
                  </a:txBody>
                  <a:tcPr marL="7549" marR="7549" marT="754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1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100,0</a:t>
                      </a:r>
                    </a:p>
                  </a:txBody>
                  <a:tcPr marL="7549" marR="7549" marT="754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uk-UA" sz="11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671</a:t>
                      </a:r>
                    </a:p>
                  </a:txBody>
                  <a:tcPr marL="7549" marR="7549" marT="754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1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100,0</a:t>
                      </a:r>
                    </a:p>
                  </a:txBody>
                  <a:tcPr marL="7549" marR="7549" marT="754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uk-UA" sz="11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-</a:t>
                      </a:r>
                    </a:p>
                  </a:txBody>
                  <a:tcPr marL="7549" marR="7549" marT="754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uk-UA" sz="11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-</a:t>
                      </a:r>
                    </a:p>
                  </a:txBody>
                  <a:tcPr marL="7549" marR="7549" marT="754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uk-UA" sz="11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25</a:t>
                      </a:r>
                    </a:p>
                  </a:txBody>
                  <a:tcPr marL="7549" marR="7549" marT="754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1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3,8</a:t>
                      </a:r>
                    </a:p>
                  </a:txBody>
                  <a:tcPr marL="7549" marR="7549" marT="754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uk-UA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139</a:t>
                      </a:r>
                    </a:p>
                  </a:txBody>
                  <a:tcPr marL="7549" marR="7549" marT="754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20,7</a:t>
                      </a:r>
                    </a:p>
                  </a:txBody>
                  <a:tcPr marL="7549" marR="7549" marT="754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59219561"/>
                  </a:ext>
                </a:extLst>
              </a:tr>
              <a:tr h="367211">
                <a:tc>
                  <a:txBody>
                    <a:bodyPr/>
                    <a:lstStyle/>
                    <a:p>
                      <a:pPr algn="ctr" rtl="0" fontAlgn="ctr"/>
                      <a:r>
                        <a:rPr lang="uk-UA" sz="11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10</a:t>
                      </a:r>
                    </a:p>
                  </a:txBody>
                  <a:tcPr marL="7549" marR="7549" marT="754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ru-RU" sz="11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КП «Центральна міська лікарня Червоноградської міської ради»</a:t>
                      </a:r>
                    </a:p>
                  </a:txBody>
                  <a:tcPr marL="7549" marR="7549" marT="754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uk-UA" sz="11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464</a:t>
                      </a:r>
                    </a:p>
                  </a:txBody>
                  <a:tcPr marL="7549" marR="7549" marT="754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1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90,8</a:t>
                      </a:r>
                    </a:p>
                  </a:txBody>
                  <a:tcPr marL="7549" marR="7549" marT="754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uk-UA" sz="11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402</a:t>
                      </a:r>
                    </a:p>
                  </a:txBody>
                  <a:tcPr marL="7549" marR="7549" marT="754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1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93,1</a:t>
                      </a:r>
                    </a:p>
                  </a:txBody>
                  <a:tcPr marL="7549" marR="7549" marT="754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uk-UA" sz="11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521</a:t>
                      </a:r>
                    </a:p>
                  </a:txBody>
                  <a:tcPr marL="7549" marR="7549" marT="754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1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98,5</a:t>
                      </a:r>
                    </a:p>
                  </a:txBody>
                  <a:tcPr marL="7549" marR="7549" marT="754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uk-UA" sz="11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-</a:t>
                      </a:r>
                    </a:p>
                  </a:txBody>
                  <a:tcPr marL="7549" marR="7549" marT="754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uk-UA" sz="11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-</a:t>
                      </a:r>
                    </a:p>
                  </a:txBody>
                  <a:tcPr marL="7549" marR="7549" marT="754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uk-UA" sz="11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</a:p>
                  </a:txBody>
                  <a:tcPr marL="7549" marR="7549" marT="754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1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</a:p>
                  </a:txBody>
                  <a:tcPr marL="7549" marR="7549" marT="754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uk-UA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6</a:t>
                      </a:r>
                    </a:p>
                  </a:txBody>
                  <a:tcPr marL="7549" marR="7549" marT="754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1,1</a:t>
                      </a:r>
                    </a:p>
                  </a:txBody>
                  <a:tcPr marL="7549" marR="7549" marT="754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6507722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690066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850;p82">
            <a:extLst>
              <a:ext uri="{FF2B5EF4-FFF2-40B4-BE49-F238E27FC236}">
                <a16:creationId xmlns:a16="http://schemas.microsoft.com/office/drawing/2014/main" id="{16461161-F19A-43E9-B90C-0993ED93FDC6}"/>
              </a:ext>
            </a:extLst>
          </p:cNvPr>
          <p:cNvSpPr txBox="1"/>
          <p:nvPr/>
        </p:nvSpPr>
        <p:spPr>
          <a:xfrm>
            <a:off x="423019" y="205286"/>
            <a:ext cx="11345965" cy="4744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algn="ctr"/>
            <a:r>
              <a:rPr lang="ru-RU" sz="3000" b="1" dirty="0" err="1">
                <a:solidFill>
                  <a:srgbClr val="00206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Підстави</a:t>
            </a:r>
            <a:r>
              <a:rPr lang="ru-RU" sz="3000" b="1" dirty="0">
                <a:solidFill>
                  <a:srgbClr val="00206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 </a:t>
            </a:r>
            <a:r>
              <a:rPr lang="ru-RU" sz="3000" b="1" dirty="0" err="1">
                <a:solidFill>
                  <a:srgbClr val="00206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госпіталізації</a:t>
            </a:r>
            <a:r>
              <a:rPr lang="ru-RU" sz="3000" b="1" dirty="0">
                <a:solidFill>
                  <a:srgbClr val="00206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  </a:t>
            </a:r>
            <a:r>
              <a:rPr lang="ru-RU" sz="3000" b="1" dirty="0" err="1">
                <a:solidFill>
                  <a:srgbClr val="00206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пацієнтів</a:t>
            </a:r>
            <a:r>
              <a:rPr lang="ru-RU" sz="3000" b="1" dirty="0">
                <a:solidFill>
                  <a:srgbClr val="00206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 з ГМІ в закладах у </a:t>
            </a:r>
            <a:r>
              <a:rPr lang="ru-RU" sz="30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2023</a:t>
            </a:r>
            <a:endParaRPr sz="3000" b="1" dirty="0">
              <a:solidFill>
                <a:srgbClr val="002060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graphicFrame>
        <p:nvGraphicFramePr>
          <p:cNvPr id="3" name="Таблиця 2">
            <a:extLst>
              <a:ext uri="{FF2B5EF4-FFF2-40B4-BE49-F238E27FC236}">
                <a16:creationId xmlns:a16="http://schemas.microsoft.com/office/drawing/2014/main" id="{9BE48C4E-9D89-4822-A676-8477FEEA2AC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93684145"/>
              </p:ext>
            </p:extLst>
          </p:nvPr>
        </p:nvGraphicFramePr>
        <p:xfrm>
          <a:off x="423018" y="791737"/>
          <a:ext cx="11345965" cy="5711613"/>
        </p:xfrm>
        <a:graphic>
          <a:graphicData uri="http://schemas.openxmlformats.org/drawingml/2006/table">
            <a:tbl>
              <a:tblPr/>
              <a:tblGrid>
                <a:gridCol w="370860">
                  <a:extLst>
                    <a:ext uri="{9D8B030D-6E8A-4147-A177-3AD203B41FA5}">
                      <a16:colId xmlns:a16="http://schemas.microsoft.com/office/drawing/2014/main" val="828712024"/>
                    </a:ext>
                  </a:extLst>
                </a:gridCol>
                <a:gridCol w="2610629">
                  <a:extLst>
                    <a:ext uri="{9D8B030D-6E8A-4147-A177-3AD203B41FA5}">
                      <a16:colId xmlns:a16="http://schemas.microsoft.com/office/drawing/2014/main" val="2137386778"/>
                    </a:ext>
                  </a:extLst>
                </a:gridCol>
                <a:gridCol w="783772">
                  <a:extLst>
                    <a:ext uri="{9D8B030D-6E8A-4147-A177-3AD203B41FA5}">
                      <a16:colId xmlns:a16="http://schemas.microsoft.com/office/drawing/2014/main" val="1830708692"/>
                    </a:ext>
                  </a:extLst>
                </a:gridCol>
                <a:gridCol w="698065">
                  <a:extLst>
                    <a:ext uri="{9D8B030D-6E8A-4147-A177-3AD203B41FA5}">
                      <a16:colId xmlns:a16="http://schemas.microsoft.com/office/drawing/2014/main" val="3588851282"/>
                    </a:ext>
                  </a:extLst>
                </a:gridCol>
                <a:gridCol w="729399">
                  <a:extLst>
                    <a:ext uri="{9D8B030D-6E8A-4147-A177-3AD203B41FA5}">
                      <a16:colId xmlns:a16="http://schemas.microsoft.com/office/drawing/2014/main" val="396076286"/>
                    </a:ext>
                  </a:extLst>
                </a:gridCol>
                <a:gridCol w="729399">
                  <a:extLst>
                    <a:ext uri="{9D8B030D-6E8A-4147-A177-3AD203B41FA5}">
                      <a16:colId xmlns:a16="http://schemas.microsoft.com/office/drawing/2014/main" val="3528338683"/>
                    </a:ext>
                  </a:extLst>
                </a:gridCol>
                <a:gridCol w="629741">
                  <a:extLst>
                    <a:ext uri="{9D8B030D-6E8A-4147-A177-3AD203B41FA5}">
                      <a16:colId xmlns:a16="http://schemas.microsoft.com/office/drawing/2014/main" val="775084548"/>
                    </a:ext>
                  </a:extLst>
                </a:gridCol>
                <a:gridCol w="678510">
                  <a:extLst>
                    <a:ext uri="{9D8B030D-6E8A-4147-A177-3AD203B41FA5}">
                      <a16:colId xmlns:a16="http://schemas.microsoft.com/office/drawing/2014/main" val="3566474517"/>
                    </a:ext>
                  </a:extLst>
                </a:gridCol>
                <a:gridCol w="678510">
                  <a:extLst>
                    <a:ext uri="{9D8B030D-6E8A-4147-A177-3AD203B41FA5}">
                      <a16:colId xmlns:a16="http://schemas.microsoft.com/office/drawing/2014/main" val="4114934183"/>
                    </a:ext>
                  </a:extLst>
                </a:gridCol>
                <a:gridCol w="691327">
                  <a:extLst>
                    <a:ext uri="{9D8B030D-6E8A-4147-A177-3AD203B41FA5}">
                      <a16:colId xmlns:a16="http://schemas.microsoft.com/office/drawing/2014/main" val="2046813221"/>
                    </a:ext>
                  </a:extLst>
                </a:gridCol>
                <a:gridCol w="580881">
                  <a:extLst>
                    <a:ext uri="{9D8B030D-6E8A-4147-A177-3AD203B41FA5}">
                      <a16:colId xmlns:a16="http://schemas.microsoft.com/office/drawing/2014/main" val="3081759477"/>
                    </a:ext>
                  </a:extLst>
                </a:gridCol>
                <a:gridCol w="703954">
                  <a:extLst>
                    <a:ext uri="{9D8B030D-6E8A-4147-A177-3AD203B41FA5}">
                      <a16:colId xmlns:a16="http://schemas.microsoft.com/office/drawing/2014/main" val="3113055061"/>
                    </a:ext>
                  </a:extLst>
                </a:gridCol>
                <a:gridCol w="729399">
                  <a:extLst>
                    <a:ext uri="{9D8B030D-6E8A-4147-A177-3AD203B41FA5}">
                      <a16:colId xmlns:a16="http://schemas.microsoft.com/office/drawing/2014/main" val="3072528121"/>
                    </a:ext>
                  </a:extLst>
                </a:gridCol>
                <a:gridCol w="731519">
                  <a:extLst>
                    <a:ext uri="{9D8B030D-6E8A-4147-A177-3AD203B41FA5}">
                      <a16:colId xmlns:a16="http://schemas.microsoft.com/office/drawing/2014/main" val="1237935842"/>
                    </a:ext>
                  </a:extLst>
                </a:gridCol>
              </a:tblGrid>
              <a:tr h="290299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uk-UA" sz="1000" b="1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№ з/п</a:t>
                      </a:r>
                    </a:p>
                  </a:txBody>
                  <a:tcPr marL="6605" marR="6605" marT="66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uk-UA" sz="1000" b="1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Назва установи</a:t>
                      </a:r>
                    </a:p>
                  </a:txBody>
                  <a:tcPr marL="6605" marR="6605" marT="66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 fontAlgn="ctr"/>
                      <a:r>
                        <a:rPr lang="uk-UA" sz="1000" b="1" i="0" u="none" strike="noStrike" dirty="0" err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Інсультний</a:t>
                      </a:r>
                      <a:r>
                        <a:rPr lang="uk-UA" sz="1000" b="1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 пакет №5</a:t>
                      </a:r>
                    </a:p>
                  </a:txBody>
                  <a:tcPr marL="6605" marR="6605" marT="66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uk-U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uk-U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uk-UA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 fontAlgn="ctr"/>
                      <a:r>
                        <a:rPr lang="uk-UA" sz="1000" b="1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Терапевтичний  пакет №4</a:t>
                      </a:r>
                    </a:p>
                  </a:txBody>
                  <a:tcPr marL="6605" marR="6605" marT="66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uk-U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uk-U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uk-UA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 fontAlgn="ctr"/>
                      <a:r>
                        <a:rPr lang="uk-UA" sz="1000" b="1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Хірургічний пакет №3</a:t>
                      </a:r>
                    </a:p>
                  </a:txBody>
                  <a:tcPr marL="6605" marR="6605" marT="66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uk-U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uk-U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uk-UA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2704139"/>
                  </a:ext>
                </a:extLst>
              </a:tr>
              <a:tr h="628385">
                <a:tc vMerge="1">
                  <a:txBody>
                    <a:bodyPr/>
                    <a:lstStyle/>
                    <a:p>
                      <a:endParaRPr lang="uk-UA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uk-UA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900" b="1" i="0" u="none" strike="noStrike" dirty="0" smtClean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Переведення</a:t>
                      </a:r>
                    </a:p>
                    <a:p>
                      <a:pPr algn="ctr" fontAlgn="ctr"/>
                      <a:r>
                        <a:rPr lang="uk-UA" sz="900" b="1" i="0" u="none" strike="noStrike" dirty="0" smtClean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lang="uk-UA" sz="900" b="1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з іншого ЗОЗ</a:t>
                      </a:r>
                    </a:p>
                  </a:txBody>
                  <a:tcPr marL="6605" marR="6605" marT="66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900" b="1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Само- звернення</a:t>
                      </a:r>
                    </a:p>
                  </a:txBody>
                  <a:tcPr marL="6605" marR="6605" marT="66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900" b="1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За направленням</a:t>
                      </a:r>
                    </a:p>
                  </a:txBody>
                  <a:tcPr marL="6605" marR="6605" marT="66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900" b="1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Доставлено бригадою </a:t>
                      </a:r>
                      <a:r>
                        <a:rPr lang="uk-UA" sz="900" b="1" i="0" u="none" strike="noStrike" dirty="0" err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ЕМД</a:t>
                      </a:r>
                      <a:endParaRPr lang="uk-UA" sz="900" b="1" i="0" u="none" strike="noStrike" dirty="0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605" marR="6605" marT="66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900" b="1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Переведення з іншого </a:t>
                      </a:r>
                      <a:r>
                        <a:rPr lang="uk-UA" sz="900" b="1" i="0" u="none" strike="noStrike" dirty="0" err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ЗОЗ</a:t>
                      </a:r>
                      <a:endParaRPr lang="uk-UA" sz="900" b="1" i="0" u="none" strike="noStrike" dirty="0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605" marR="6605" marT="66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900" b="1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Само- звернення</a:t>
                      </a:r>
                    </a:p>
                  </a:txBody>
                  <a:tcPr marL="6605" marR="6605" marT="66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900" b="1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За направленням</a:t>
                      </a:r>
                    </a:p>
                  </a:txBody>
                  <a:tcPr marL="6605" marR="6605" marT="66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900" b="1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Доставлено бригадою </a:t>
                      </a:r>
                      <a:r>
                        <a:rPr lang="uk-UA" sz="900" b="1" i="0" u="none" strike="noStrike" dirty="0" err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ЕМД</a:t>
                      </a:r>
                      <a:endParaRPr lang="uk-UA" sz="900" b="1" i="0" u="none" strike="noStrike" dirty="0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605" marR="6605" marT="66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900" b="1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Переведення з іншого </a:t>
                      </a:r>
                      <a:r>
                        <a:rPr lang="uk-UA" sz="900" b="1" i="0" u="none" strike="noStrike" dirty="0" err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ЗОЗ</a:t>
                      </a:r>
                      <a:endParaRPr lang="uk-UA" sz="900" b="1" i="0" u="none" strike="noStrike" dirty="0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605" marR="6605" marT="66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900" b="1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Само- звернення</a:t>
                      </a:r>
                    </a:p>
                  </a:txBody>
                  <a:tcPr marL="6605" marR="6605" marT="66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900" b="1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За направленням</a:t>
                      </a:r>
                    </a:p>
                  </a:txBody>
                  <a:tcPr marL="6605" marR="6605" marT="66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900" b="1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Доставлено бригадою </a:t>
                      </a:r>
                      <a:r>
                        <a:rPr lang="uk-UA" sz="900" b="1" i="0" u="none" strike="noStrike" dirty="0" err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ЕМД</a:t>
                      </a:r>
                      <a:endParaRPr lang="uk-UA" sz="900" b="1" i="0" u="none" strike="noStrike" dirty="0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605" marR="6605" marT="66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8151183"/>
                  </a:ext>
                </a:extLst>
              </a:tr>
              <a:tr h="196377"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000" b="1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</a:p>
                  </a:txBody>
                  <a:tcPr marL="6605" marR="6605" marT="66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uk-UA" sz="1000" b="1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Всього</a:t>
                      </a:r>
                    </a:p>
                  </a:txBody>
                  <a:tcPr marL="6605" marR="6605" marT="66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000" b="1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100</a:t>
                      </a:r>
                    </a:p>
                  </a:txBody>
                  <a:tcPr marL="6605" marR="6605" marT="66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000" b="1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718</a:t>
                      </a:r>
                    </a:p>
                  </a:txBody>
                  <a:tcPr marL="6605" marR="6605" marT="66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000" b="1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344</a:t>
                      </a:r>
                    </a:p>
                  </a:txBody>
                  <a:tcPr marL="6605" marR="6605" marT="66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000" b="1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5972</a:t>
                      </a:r>
                    </a:p>
                  </a:txBody>
                  <a:tcPr marL="6605" marR="6605" marT="66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000" b="1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1</a:t>
                      </a:r>
                    </a:p>
                  </a:txBody>
                  <a:tcPr marL="6605" marR="6605" marT="66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000" b="1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34</a:t>
                      </a:r>
                    </a:p>
                  </a:txBody>
                  <a:tcPr marL="6605" marR="6605" marT="66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000" b="1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21</a:t>
                      </a:r>
                    </a:p>
                  </a:txBody>
                  <a:tcPr marL="6605" marR="6605" marT="66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000" b="1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165</a:t>
                      </a:r>
                    </a:p>
                  </a:txBody>
                  <a:tcPr marL="6605" marR="6605" marT="66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000" b="1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1</a:t>
                      </a:r>
                    </a:p>
                  </a:txBody>
                  <a:tcPr marL="6605" marR="6605" marT="66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000" b="1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2</a:t>
                      </a:r>
                    </a:p>
                  </a:txBody>
                  <a:tcPr marL="6605" marR="6605" marT="66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000" b="1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1</a:t>
                      </a:r>
                    </a:p>
                  </a:txBody>
                  <a:tcPr marL="6605" marR="6605" marT="66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000" b="1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30</a:t>
                      </a:r>
                    </a:p>
                  </a:txBody>
                  <a:tcPr marL="6605" marR="6605" marT="66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41281621"/>
                  </a:ext>
                </a:extLst>
              </a:tr>
              <a:tr h="317560"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1</a:t>
                      </a:r>
                    </a:p>
                  </a:txBody>
                  <a:tcPr marL="6605" marR="6605" marT="66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ru-RU" sz="10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 КНП ЛОР «Львівська обласна клінічна лікарня»</a:t>
                      </a:r>
                    </a:p>
                  </a:txBody>
                  <a:tcPr marL="6605" marR="6605" marT="66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2</a:t>
                      </a:r>
                    </a:p>
                  </a:txBody>
                  <a:tcPr marL="6605" marR="6605" marT="66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54</a:t>
                      </a:r>
                    </a:p>
                  </a:txBody>
                  <a:tcPr marL="6605" marR="6605" marT="66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14</a:t>
                      </a:r>
                    </a:p>
                  </a:txBody>
                  <a:tcPr marL="6605" marR="6605" marT="66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0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496</a:t>
                      </a:r>
                    </a:p>
                  </a:txBody>
                  <a:tcPr marL="6605" marR="6605" marT="66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 -</a:t>
                      </a:r>
                    </a:p>
                  </a:txBody>
                  <a:tcPr marL="6605" marR="6605" marT="66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9</a:t>
                      </a:r>
                    </a:p>
                  </a:txBody>
                  <a:tcPr marL="6605" marR="6605" marT="66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0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1</a:t>
                      </a:r>
                    </a:p>
                  </a:txBody>
                  <a:tcPr marL="6605" marR="6605" marT="66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62</a:t>
                      </a:r>
                    </a:p>
                  </a:txBody>
                  <a:tcPr marL="6605" marR="6605" marT="66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0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1</a:t>
                      </a:r>
                    </a:p>
                  </a:txBody>
                  <a:tcPr marL="6605" marR="6605" marT="66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</a:p>
                  </a:txBody>
                  <a:tcPr marL="6605" marR="6605" marT="66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</a:p>
                  </a:txBody>
                  <a:tcPr marL="6605" marR="6605" marT="66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6</a:t>
                      </a:r>
                    </a:p>
                  </a:txBody>
                  <a:tcPr marL="6605" marR="6605" marT="66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27754386"/>
                  </a:ext>
                </a:extLst>
              </a:tr>
              <a:tr h="864530"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2</a:t>
                      </a:r>
                    </a:p>
                  </a:txBody>
                  <a:tcPr marL="6605" marR="6605" marT="66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uk-UA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Відокремлений підрозділ «Лікарня Святого Пантелеймона «КНП  «Львівське територіальне медичне об'єднання» Багатопрофільна клінічна лікарня інтенсивних методів лікування та швидкої медичної допомоги»</a:t>
                      </a:r>
                    </a:p>
                  </a:txBody>
                  <a:tcPr marL="6605" marR="6605" marT="66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0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1</a:t>
                      </a:r>
                    </a:p>
                  </a:txBody>
                  <a:tcPr marL="6605" marR="6605" marT="66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0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284</a:t>
                      </a:r>
                    </a:p>
                  </a:txBody>
                  <a:tcPr marL="6605" marR="6605" marT="66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0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137</a:t>
                      </a:r>
                    </a:p>
                  </a:txBody>
                  <a:tcPr marL="6605" marR="6605" marT="66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1278</a:t>
                      </a:r>
                    </a:p>
                  </a:txBody>
                  <a:tcPr marL="6605" marR="6605" marT="66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- </a:t>
                      </a:r>
                    </a:p>
                  </a:txBody>
                  <a:tcPr marL="6605" marR="6605" marT="66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0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14</a:t>
                      </a:r>
                    </a:p>
                  </a:txBody>
                  <a:tcPr marL="6605" marR="6605" marT="66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14</a:t>
                      </a:r>
                    </a:p>
                  </a:txBody>
                  <a:tcPr marL="6605" marR="6605" marT="66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65</a:t>
                      </a:r>
                    </a:p>
                  </a:txBody>
                  <a:tcPr marL="6605" marR="6605" marT="66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- </a:t>
                      </a:r>
                    </a:p>
                  </a:txBody>
                  <a:tcPr marL="6605" marR="6605" marT="66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1</a:t>
                      </a:r>
                    </a:p>
                  </a:txBody>
                  <a:tcPr marL="6605" marR="6605" marT="66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0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1</a:t>
                      </a:r>
                    </a:p>
                  </a:txBody>
                  <a:tcPr marL="6605" marR="6605" marT="66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18</a:t>
                      </a:r>
                    </a:p>
                  </a:txBody>
                  <a:tcPr marL="6605" marR="6605" marT="66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65534627"/>
                  </a:ext>
                </a:extLst>
              </a:tr>
              <a:tr h="796527"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3</a:t>
                      </a:r>
                    </a:p>
                  </a:txBody>
                  <a:tcPr marL="6605" marR="6605" marT="66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uk-UA" sz="10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Відокремлений підрозділ «Лікарня Святого Луки» КНП  «Львівське територіальне медичне об'єднання» Багатопрофільна клінічна лікарня інтенсивних методів лікування та швидкої медичної допомоги»</a:t>
                      </a:r>
                    </a:p>
                  </a:txBody>
                  <a:tcPr marL="6605" marR="6605" marT="66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0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27</a:t>
                      </a:r>
                    </a:p>
                  </a:txBody>
                  <a:tcPr marL="6605" marR="6605" marT="66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0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159</a:t>
                      </a:r>
                    </a:p>
                  </a:txBody>
                  <a:tcPr marL="6605" marR="6605" marT="66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0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59</a:t>
                      </a:r>
                    </a:p>
                  </a:txBody>
                  <a:tcPr marL="6605" marR="6605" marT="66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0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949</a:t>
                      </a:r>
                    </a:p>
                  </a:txBody>
                  <a:tcPr marL="6605" marR="6605" marT="66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 -</a:t>
                      </a:r>
                    </a:p>
                  </a:txBody>
                  <a:tcPr marL="6605" marR="6605" marT="66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8</a:t>
                      </a:r>
                    </a:p>
                  </a:txBody>
                  <a:tcPr marL="6605" marR="6605" marT="66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0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2</a:t>
                      </a:r>
                    </a:p>
                  </a:txBody>
                  <a:tcPr marL="6605" marR="6605" marT="66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0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10</a:t>
                      </a:r>
                    </a:p>
                  </a:txBody>
                  <a:tcPr marL="6605" marR="6605" marT="66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- </a:t>
                      </a:r>
                    </a:p>
                  </a:txBody>
                  <a:tcPr marL="6605" marR="6605" marT="66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- </a:t>
                      </a:r>
                    </a:p>
                  </a:txBody>
                  <a:tcPr marL="6605" marR="6605" marT="66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 -</a:t>
                      </a:r>
                    </a:p>
                  </a:txBody>
                  <a:tcPr marL="6605" marR="6605" marT="66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3</a:t>
                      </a:r>
                    </a:p>
                  </a:txBody>
                  <a:tcPr marL="6605" marR="6605" marT="66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128855"/>
                  </a:ext>
                </a:extLst>
              </a:tr>
              <a:tr h="341528"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4</a:t>
                      </a:r>
                    </a:p>
                  </a:txBody>
                  <a:tcPr marL="6605" marR="6605" marT="66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ru-RU" sz="10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 КНП ЛОР «Львівський обласний госпіталь ветеранів війн та репресованих ім. Ю. Липи»</a:t>
                      </a:r>
                    </a:p>
                  </a:txBody>
                  <a:tcPr marL="6605" marR="6605" marT="66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0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30</a:t>
                      </a:r>
                    </a:p>
                  </a:txBody>
                  <a:tcPr marL="6605" marR="6605" marT="66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0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10</a:t>
                      </a:r>
                    </a:p>
                  </a:txBody>
                  <a:tcPr marL="6605" marR="6605" marT="66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 -</a:t>
                      </a:r>
                    </a:p>
                  </a:txBody>
                  <a:tcPr marL="6605" marR="6605" marT="66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0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520</a:t>
                      </a:r>
                    </a:p>
                  </a:txBody>
                  <a:tcPr marL="6605" marR="6605" marT="66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 -</a:t>
                      </a:r>
                    </a:p>
                  </a:txBody>
                  <a:tcPr marL="6605" marR="6605" marT="66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 -</a:t>
                      </a:r>
                    </a:p>
                  </a:txBody>
                  <a:tcPr marL="6605" marR="6605" marT="66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- </a:t>
                      </a:r>
                    </a:p>
                  </a:txBody>
                  <a:tcPr marL="6605" marR="6605" marT="66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 -</a:t>
                      </a:r>
                    </a:p>
                  </a:txBody>
                  <a:tcPr marL="6605" marR="6605" marT="66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 -</a:t>
                      </a:r>
                    </a:p>
                  </a:txBody>
                  <a:tcPr marL="6605" marR="6605" marT="66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 -</a:t>
                      </a:r>
                    </a:p>
                  </a:txBody>
                  <a:tcPr marL="6605" marR="6605" marT="66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- </a:t>
                      </a:r>
                    </a:p>
                  </a:txBody>
                  <a:tcPr marL="6605" marR="6605" marT="66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 -</a:t>
                      </a:r>
                    </a:p>
                  </a:txBody>
                  <a:tcPr marL="6605" marR="6605" marT="66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45958331"/>
                  </a:ext>
                </a:extLst>
              </a:tr>
              <a:tr h="341528"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5</a:t>
                      </a:r>
                    </a:p>
                  </a:txBody>
                  <a:tcPr marL="6605" marR="6605" marT="66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ru-RU" sz="10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КНП Буської міської ради «Буська центральна районна лiкарня»</a:t>
                      </a:r>
                    </a:p>
                  </a:txBody>
                  <a:tcPr marL="6605" marR="6605" marT="66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0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2</a:t>
                      </a:r>
                    </a:p>
                  </a:txBody>
                  <a:tcPr marL="6605" marR="6605" marT="66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0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18</a:t>
                      </a:r>
                    </a:p>
                  </a:txBody>
                  <a:tcPr marL="6605" marR="6605" marT="66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0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7</a:t>
                      </a:r>
                    </a:p>
                  </a:txBody>
                  <a:tcPr marL="6605" marR="6605" marT="66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0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369</a:t>
                      </a:r>
                    </a:p>
                  </a:txBody>
                  <a:tcPr marL="6605" marR="6605" marT="66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- </a:t>
                      </a:r>
                    </a:p>
                  </a:txBody>
                  <a:tcPr marL="6605" marR="6605" marT="66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- </a:t>
                      </a:r>
                    </a:p>
                  </a:txBody>
                  <a:tcPr marL="6605" marR="6605" marT="66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 -</a:t>
                      </a:r>
                    </a:p>
                  </a:txBody>
                  <a:tcPr marL="6605" marR="6605" marT="66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- </a:t>
                      </a:r>
                    </a:p>
                  </a:txBody>
                  <a:tcPr marL="6605" marR="6605" marT="66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 -</a:t>
                      </a:r>
                    </a:p>
                  </a:txBody>
                  <a:tcPr marL="6605" marR="6605" marT="66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 -</a:t>
                      </a:r>
                    </a:p>
                  </a:txBody>
                  <a:tcPr marL="6605" marR="6605" marT="66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- </a:t>
                      </a:r>
                    </a:p>
                  </a:txBody>
                  <a:tcPr marL="6605" marR="6605" marT="66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- </a:t>
                      </a:r>
                    </a:p>
                  </a:txBody>
                  <a:tcPr marL="6605" marR="6605" marT="66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1719081"/>
                  </a:ext>
                </a:extLst>
              </a:tr>
              <a:tr h="341528"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6</a:t>
                      </a:r>
                    </a:p>
                  </a:txBody>
                  <a:tcPr marL="6605" marR="6605" marT="66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uk-UA" sz="10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КНП «Дрогобицька міська лікарня № 1» Дрогобицької міської ради</a:t>
                      </a:r>
                    </a:p>
                  </a:txBody>
                  <a:tcPr marL="6605" marR="6605" marT="66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0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10</a:t>
                      </a:r>
                    </a:p>
                  </a:txBody>
                  <a:tcPr marL="6605" marR="6605" marT="66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0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85</a:t>
                      </a:r>
                    </a:p>
                  </a:txBody>
                  <a:tcPr marL="6605" marR="6605" marT="66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0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66</a:t>
                      </a:r>
                    </a:p>
                  </a:txBody>
                  <a:tcPr marL="6605" marR="6605" marT="66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0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704</a:t>
                      </a:r>
                    </a:p>
                  </a:txBody>
                  <a:tcPr marL="6605" marR="6605" marT="66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</a:p>
                  </a:txBody>
                  <a:tcPr marL="6605" marR="6605" marT="66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- </a:t>
                      </a:r>
                    </a:p>
                  </a:txBody>
                  <a:tcPr marL="6605" marR="6605" marT="66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- </a:t>
                      </a:r>
                    </a:p>
                  </a:txBody>
                  <a:tcPr marL="6605" marR="6605" marT="66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0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1</a:t>
                      </a:r>
                    </a:p>
                  </a:txBody>
                  <a:tcPr marL="6605" marR="6605" marT="66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- </a:t>
                      </a:r>
                    </a:p>
                  </a:txBody>
                  <a:tcPr marL="6605" marR="6605" marT="66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-</a:t>
                      </a:r>
                    </a:p>
                  </a:txBody>
                  <a:tcPr marL="6605" marR="6605" marT="66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- </a:t>
                      </a:r>
                    </a:p>
                  </a:txBody>
                  <a:tcPr marL="6605" marR="6605" marT="66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3</a:t>
                      </a:r>
                    </a:p>
                  </a:txBody>
                  <a:tcPr marL="6605" marR="6605" marT="66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66058038"/>
                  </a:ext>
                </a:extLst>
              </a:tr>
              <a:tr h="341528"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7</a:t>
                      </a:r>
                    </a:p>
                  </a:txBody>
                  <a:tcPr marL="6605" marR="6605" marT="66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uk-UA" sz="10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 КНП «Новояворівська лікарня імені Юрія Липи» Новояворівської міської ради</a:t>
                      </a:r>
                    </a:p>
                  </a:txBody>
                  <a:tcPr marL="6605" marR="6605" marT="66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0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4</a:t>
                      </a:r>
                    </a:p>
                  </a:txBody>
                  <a:tcPr marL="6605" marR="6605" marT="66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0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12</a:t>
                      </a:r>
                    </a:p>
                  </a:txBody>
                  <a:tcPr marL="6605" marR="6605" marT="66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0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6</a:t>
                      </a:r>
                    </a:p>
                  </a:txBody>
                  <a:tcPr marL="6605" marR="6605" marT="66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0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307</a:t>
                      </a:r>
                    </a:p>
                  </a:txBody>
                  <a:tcPr marL="6605" marR="6605" marT="66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0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1</a:t>
                      </a:r>
                    </a:p>
                  </a:txBody>
                  <a:tcPr marL="6605" marR="6605" marT="66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0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3</a:t>
                      </a:r>
                    </a:p>
                  </a:txBody>
                  <a:tcPr marL="6605" marR="6605" marT="66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0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4</a:t>
                      </a:r>
                    </a:p>
                  </a:txBody>
                  <a:tcPr marL="6605" marR="6605" marT="66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0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27</a:t>
                      </a:r>
                    </a:p>
                  </a:txBody>
                  <a:tcPr marL="6605" marR="6605" marT="66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 -</a:t>
                      </a:r>
                    </a:p>
                  </a:txBody>
                  <a:tcPr marL="6605" marR="6605" marT="66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0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1</a:t>
                      </a:r>
                    </a:p>
                  </a:txBody>
                  <a:tcPr marL="6605" marR="6605" marT="66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- </a:t>
                      </a:r>
                    </a:p>
                  </a:txBody>
                  <a:tcPr marL="6605" marR="6605" marT="66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- </a:t>
                      </a:r>
                    </a:p>
                  </a:txBody>
                  <a:tcPr marL="6605" marR="6605" marT="66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02209285"/>
                  </a:ext>
                </a:extLst>
              </a:tr>
              <a:tr h="341528"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8</a:t>
                      </a:r>
                    </a:p>
                  </a:txBody>
                  <a:tcPr marL="6605" marR="6605" marT="66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ru-RU" sz="10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 КНП Самбірської міської ради «Самбірська центральна лікарня»</a:t>
                      </a:r>
                    </a:p>
                  </a:txBody>
                  <a:tcPr marL="6605" marR="6605" marT="66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0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6</a:t>
                      </a:r>
                    </a:p>
                  </a:txBody>
                  <a:tcPr marL="6605" marR="6605" marT="66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0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25</a:t>
                      </a:r>
                    </a:p>
                  </a:txBody>
                  <a:tcPr marL="6605" marR="6605" marT="66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0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25</a:t>
                      </a:r>
                    </a:p>
                  </a:txBody>
                  <a:tcPr marL="6605" marR="6605" marT="66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0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268</a:t>
                      </a:r>
                    </a:p>
                  </a:txBody>
                  <a:tcPr marL="6605" marR="6605" marT="66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- </a:t>
                      </a:r>
                    </a:p>
                  </a:txBody>
                  <a:tcPr marL="6605" marR="6605" marT="66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- </a:t>
                      </a:r>
                    </a:p>
                  </a:txBody>
                  <a:tcPr marL="6605" marR="6605" marT="66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- </a:t>
                      </a:r>
                    </a:p>
                  </a:txBody>
                  <a:tcPr marL="6605" marR="6605" marT="66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 -</a:t>
                      </a:r>
                    </a:p>
                  </a:txBody>
                  <a:tcPr marL="6605" marR="6605" marT="66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- </a:t>
                      </a:r>
                    </a:p>
                  </a:txBody>
                  <a:tcPr marL="6605" marR="6605" marT="66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 -</a:t>
                      </a:r>
                    </a:p>
                  </a:txBody>
                  <a:tcPr marL="6605" marR="6605" marT="66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 -</a:t>
                      </a:r>
                    </a:p>
                  </a:txBody>
                  <a:tcPr marL="6605" marR="6605" marT="66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- </a:t>
                      </a:r>
                    </a:p>
                  </a:txBody>
                  <a:tcPr marL="6605" marR="6605" marT="66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73337286"/>
                  </a:ext>
                </a:extLst>
              </a:tr>
              <a:tr h="512292"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9</a:t>
                      </a:r>
                    </a:p>
                  </a:txBody>
                  <a:tcPr marL="6605" marR="6605" marT="66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uk-UA" sz="10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КНП Стрийської міської ради ТМО «Стрийська міська об'єднана лікарня», ВП «Лікарня інтенсивного лікування»</a:t>
                      </a:r>
                    </a:p>
                  </a:txBody>
                  <a:tcPr marL="6605" marR="6605" marT="66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0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15</a:t>
                      </a:r>
                    </a:p>
                  </a:txBody>
                  <a:tcPr marL="6605" marR="6605" marT="66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0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55</a:t>
                      </a:r>
                    </a:p>
                  </a:txBody>
                  <a:tcPr marL="6605" marR="6605" marT="66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0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25</a:t>
                      </a:r>
                    </a:p>
                  </a:txBody>
                  <a:tcPr marL="6605" marR="6605" marT="66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0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576</a:t>
                      </a:r>
                    </a:p>
                  </a:txBody>
                  <a:tcPr marL="6605" marR="6605" marT="66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- </a:t>
                      </a:r>
                    </a:p>
                  </a:txBody>
                  <a:tcPr marL="6605" marR="6605" marT="66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- </a:t>
                      </a:r>
                    </a:p>
                  </a:txBody>
                  <a:tcPr marL="6605" marR="6605" marT="66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 -</a:t>
                      </a:r>
                    </a:p>
                  </a:txBody>
                  <a:tcPr marL="6605" marR="6605" marT="66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 -</a:t>
                      </a:r>
                    </a:p>
                  </a:txBody>
                  <a:tcPr marL="6605" marR="6605" marT="66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- </a:t>
                      </a:r>
                    </a:p>
                  </a:txBody>
                  <a:tcPr marL="6605" marR="6605" marT="66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- </a:t>
                      </a:r>
                    </a:p>
                  </a:txBody>
                  <a:tcPr marL="6605" marR="6605" marT="66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 -</a:t>
                      </a:r>
                    </a:p>
                  </a:txBody>
                  <a:tcPr marL="6605" marR="6605" marT="66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- </a:t>
                      </a:r>
                    </a:p>
                  </a:txBody>
                  <a:tcPr marL="6605" marR="6605" marT="66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69362004"/>
                  </a:ext>
                </a:extLst>
              </a:tr>
              <a:tr h="341528"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10</a:t>
                      </a:r>
                    </a:p>
                  </a:txBody>
                  <a:tcPr marL="6605" marR="6605" marT="66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ru-RU" sz="10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КП «Центральна міська лікарня Червоноградської міської ради»</a:t>
                      </a:r>
                    </a:p>
                  </a:txBody>
                  <a:tcPr marL="6605" marR="6605" marT="66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0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3</a:t>
                      </a:r>
                    </a:p>
                  </a:txBody>
                  <a:tcPr marL="6605" marR="6605" marT="66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0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16</a:t>
                      </a:r>
                    </a:p>
                  </a:txBody>
                  <a:tcPr marL="6605" marR="6605" marT="66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0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5</a:t>
                      </a:r>
                    </a:p>
                  </a:txBody>
                  <a:tcPr marL="6605" marR="6605" marT="66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0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505</a:t>
                      </a:r>
                    </a:p>
                  </a:txBody>
                  <a:tcPr marL="6605" marR="6605" marT="66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 -</a:t>
                      </a:r>
                    </a:p>
                  </a:txBody>
                  <a:tcPr marL="6605" marR="6605" marT="66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- </a:t>
                      </a:r>
                    </a:p>
                  </a:txBody>
                  <a:tcPr marL="6605" marR="6605" marT="66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- </a:t>
                      </a:r>
                    </a:p>
                  </a:txBody>
                  <a:tcPr marL="6605" marR="6605" marT="66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 -</a:t>
                      </a:r>
                    </a:p>
                  </a:txBody>
                  <a:tcPr marL="6605" marR="6605" marT="66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- </a:t>
                      </a:r>
                    </a:p>
                  </a:txBody>
                  <a:tcPr marL="6605" marR="6605" marT="66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- </a:t>
                      </a:r>
                    </a:p>
                  </a:txBody>
                  <a:tcPr marL="6605" marR="6605" marT="66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- </a:t>
                      </a:r>
                    </a:p>
                  </a:txBody>
                  <a:tcPr marL="6605" marR="6605" marT="66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- </a:t>
                      </a:r>
                    </a:p>
                  </a:txBody>
                  <a:tcPr marL="6605" marR="6605" marT="66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1150728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154524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" name="Google Shape;849;p82"/>
          <p:cNvSpPr txBox="1"/>
          <p:nvPr/>
        </p:nvSpPr>
        <p:spPr>
          <a:xfrm>
            <a:off x="4706483" y="3135891"/>
            <a:ext cx="2264800" cy="1354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67" tIns="121867" rIns="121867" bIns="121867" anchor="t" anchorCtr="0">
            <a:spAutoFit/>
          </a:bodyPr>
          <a:lstStyle/>
          <a:p>
            <a:pPr>
              <a:buClr>
                <a:srgbClr val="FFFFFF"/>
              </a:buClr>
              <a:buSzPts val="5400"/>
            </a:pPr>
            <a:r>
              <a:rPr lang="en" sz="7200" b="1">
                <a:solidFill>
                  <a:srgbClr val="FFFFFF"/>
                </a:solidFill>
                <a:latin typeface="Arial Narrow"/>
                <a:ea typeface="Arial Narrow"/>
                <a:cs typeface="Arial Narrow"/>
                <a:sym typeface="Arial Narrow"/>
              </a:rPr>
              <a:t>ЦБД</a:t>
            </a:r>
            <a:endParaRPr sz="1867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0" name="Google Shape;850;p82"/>
          <p:cNvSpPr txBox="1"/>
          <p:nvPr/>
        </p:nvSpPr>
        <p:spPr>
          <a:xfrm>
            <a:off x="1190574" y="140379"/>
            <a:ext cx="8758346" cy="4744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algn="ctr"/>
            <a:r>
              <a:rPr lang="uk-UA" sz="3000" b="1" dirty="0">
                <a:solidFill>
                  <a:srgbClr val="00206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Госпіталізація в непрофільні заклади </a:t>
            </a:r>
            <a:endParaRPr sz="3000" b="1" dirty="0">
              <a:solidFill>
                <a:srgbClr val="002060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10" name="Google Shape;850;p82">
            <a:extLst>
              <a:ext uri="{FF2B5EF4-FFF2-40B4-BE49-F238E27FC236}">
                <a16:creationId xmlns:a16="http://schemas.microsoft.com/office/drawing/2014/main" id="{D91BF8E1-509B-4EAB-B29C-36F158D88120}"/>
              </a:ext>
            </a:extLst>
          </p:cNvPr>
          <p:cNvSpPr txBox="1"/>
          <p:nvPr/>
        </p:nvSpPr>
        <p:spPr>
          <a:xfrm>
            <a:off x="92279" y="643047"/>
            <a:ext cx="11920755" cy="5668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algn="ctr"/>
            <a:r>
              <a:rPr lang="uk-UA" b="1" i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Кількість пролікованих гострих мозкових інсультів (ГМІ) у стаціонарі непрофільних закладів охорони здоров’я Львівської області  впродовж 2023 </a:t>
            </a:r>
            <a:endParaRPr lang="uk-UA" i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2" name="Таблиця 11">
            <a:extLst>
              <a:ext uri="{FF2B5EF4-FFF2-40B4-BE49-F238E27FC236}">
                <a16:creationId xmlns:a16="http://schemas.microsoft.com/office/drawing/2014/main" id="{ADA05CE7-51AD-43E7-A9B5-896458842538}"/>
              </a:ext>
            </a:extLst>
          </p:cNvPr>
          <p:cNvGraphicFramePr>
            <a:graphicFrameLocks noGrp="1"/>
          </p:cNvGraphicFramePr>
          <p:nvPr/>
        </p:nvGraphicFramePr>
        <p:xfrm>
          <a:off x="9364989" y="1338764"/>
          <a:ext cx="2470453" cy="891093"/>
        </p:xfrm>
        <a:graphic>
          <a:graphicData uri="http://schemas.openxmlformats.org/drawingml/2006/table">
            <a:tbl>
              <a:tblPr firstRow="1" bandRow="1"/>
              <a:tblGrid>
                <a:gridCol w="1361601">
                  <a:extLst>
                    <a:ext uri="{9D8B030D-6E8A-4147-A177-3AD203B41FA5}">
                      <a16:colId xmlns:a16="http://schemas.microsoft.com/office/drawing/2014/main" val="2678176006"/>
                    </a:ext>
                  </a:extLst>
                </a:gridCol>
                <a:gridCol w="1108852">
                  <a:extLst>
                    <a:ext uri="{9D8B030D-6E8A-4147-A177-3AD203B41FA5}">
                      <a16:colId xmlns:a16="http://schemas.microsoft.com/office/drawing/2014/main" val="873119537"/>
                    </a:ext>
                  </a:extLst>
                </a:gridCol>
              </a:tblGrid>
              <a:tr h="522814"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ru-RU" sz="1000" b="1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% </a:t>
                      </a:r>
                      <a:r>
                        <a:rPr lang="ru-RU" sz="1000" b="1" i="0" u="none" strike="noStrike" dirty="0" err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від</a:t>
                      </a:r>
                      <a:r>
                        <a:rPr lang="ru-RU" sz="1000" b="1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sz="1000" b="1" i="0" u="none" strike="noStrike" dirty="0" err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загальної</a:t>
                      </a:r>
                      <a:r>
                        <a:rPr lang="ru-RU" sz="1000" b="1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sz="1000" b="1" i="0" u="none" strike="noStrike" dirty="0" err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кількості</a:t>
                      </a:r>
                      <a:r>
                        <a:rPr lang="ru-RU" sz="1000" b="1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sz="1000" b="1" i="0" u="none" strike="noStrike" dirty="0" err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пролікованих</a:t>
                      </a:r>
                      <a:r>
                        <a:rPr lang="ru-RU" sz="1000" b="1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sz="1000" b="1" i="0" u="none" strike="noStrike" dirty="0" err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ГМІ</a:t>
                      </a:r>
                      <a:r>
                        <a:rPr lang="ru-RU" sz="1000" b="1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у </a:t>
                      </a:r>
                      <a:r>
                        <a:rPr lang="ru-RU" sz="1000" b="1" i="0" u="none" strike="noStrike" dirty="0" err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ЗОЗ</a:t>
                      </a:r>
                      <a:r>
                        <a:rPr lang="ru-RU" sz="1000" b="1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sz="1000" b="1" i="0" u="none" strike="noStrike" dirty="0" err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області</a:t>
                      </a:r>
                      <a:r>
                        <a:rPr lang="ru-RU" sz="1000" b="1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</a:p>
                    <a:p>
                      <a:pPr algn="ctr" fontAlgn="ctr"/>
                      <a:r>
                        <a:rPr lang="ru-RU" sz="1000" b="1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(станом на 01.01.2024)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uk-UA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01282223"/>
                  </a:ext>
                </a:extLst>
              </a:tr>
              <a:tr h="178034"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000" b="1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Всього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000" b="1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померло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10410950"/>
                  </a:ext>
                </a:extLst>
              </a:tr>
              <a:tr h="190245"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000" b="1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2,0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000" b="1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0,9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38842328"/>
                  </a:ext>
                </a:extLst>
              </a:tr>
            </a:tbl>
          </a:graphicData>
        </a:graphic>
      </p:graphicFrame>
      <p:graphicFrame>
        <p:nvGraphicFramePr>
          <p:cNvPr id="8" name="Діаграма 7">
            <a:extLst>
              <a:ext uri="{FF2B5EF4-FFF2-40B4-BE49-F238E27FC236}">
                <a16:creationId xmlns:a16="http://schemas.microsoft.com/office/drawing/2014/main" id="{74EB07A9-F593-4FA5-B6A9-C8B1C83429E4}"/>
              </a:ext>
            </a:extLst>
          </p:cNvPr>
          <p:cNvGraphicFramePr/>
          <p:nvPr/>
        </p:nvGraphicFramePr>
        <p:xfrm>
          <a:off x="8881909" y="3403484"/>
          <a:ext cx="2134023" cy="178104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2" name="Таблиця 1">
            <a:extLst>
              <a:ext uri="{FF2B5EF4-FFF2-40B4-BE49-F238E27FC236}">
                <a16:creationId xmlns:a16="http://schemas.microsoft.com/office/drawing/2014/main" id="{8E5CAE94-21C6-4066-AC99-C075D652CF3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45915105"/>
              </p:ext>
            </p:extLst>
          </p:nvPr>
        </p:nvGraphicFramePr>
        <p:xfrm>
          <a:off x="591212" y="1338765"/>
          <a:ext cx="7974816" cy="5405128"/>
        </p:xfrm>
        <a:graphic>
          <a:graphicData uri="http://schemas.openxmlformats.org/drawingml/2006/table">
            <a:tbl>
              <a:tblPr/>
              <a:tblGrid>
                <a:gridCol w="288682">
                  <a:extLst>
                    <a:ext uri="{9D8B030D-6E8A-4147-A177-3AD203B41FA5}">
                      <a16:colId xmlns:a16="http://schemas.microsoft.com/office/drawing/2014/main" val="3972136620"/>
                    </a:ext>
                  </a:extLst>
                </a:gridCol>
                <a:gridCol w="3769743">
                  <a:extLst>
                    <a:ext uri="{9D8B030D-6E8A-4147-A177-3AD203B41FA5}">
                      <a16:colId xmlns:a16="http://schemas.microsoft.com/office/drawing/2014/main" val="1314232373"/>
                    </a:ext>
                  </a:extLst>
                </a:gridCol>
                <a:gridCol w="910042">
                  <a:extLst>
                    <a:ext uri="{9D8B030D-6E8A-4147-A177-3AD203B41FA5}">
                      <a16:colId xmlns:a16="http://schemas.microsoft.com/office/drawing/2014/main" val="4219542786"/>
                    </a:ext>
                  </a:extLst>
                </a:gridCol>
                <a:gridCol w="1010786">
                  <a:extLst>
                    <a:ext uri="{9D8B030D-6E8A-4147-A177-3AD203B41FA5}">
                      <a16:colId xmlns:a16="http://schemas.microsoft.com/office/drawing/2014/main" val="2988438023"/>
                    </a:ext>
                  </a:extLst>
                </a:gridCol>
                <a:gridCol w="1014504">
                  <a:extLst>
                    <a:ext uri="{9D8B030D-6E8A-4147-A177-3AD203B41FA5}">
                      <a16:colId xmlns:a16="http://schemas.microsoft.com/office/drawing/2014/main" val="570568263"/>
                    </a:ext>
                  </a:extLst>
                </a:gridCol>
                <a:gridCol w="981059">
                  <a:extLst>
                    <a:ext uri="{9D8B030D-6E8A-4147-A177-3AD203B41FA5}">
                      <a16:colId xmlns:a16="http://schemas.microsoft.com/office/drawing/2014/main" val="770667981"/>
                    </a:ext>
                  </a:extLst>
                </a:gridCol>
              </a:tblGrid>
              <a:tr h="420470"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uk-UA" sz="900" b="1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№ з/п</a:t>
                      </a:r>
                    </a:p>
                  </a:txBody>
                  <a:tcPr marL="4424" marR="4424" marT="44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uk-UA" sz="900" b="1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Назва закладу охорони здоров’я</a:t>
                      </a:r>
                    </a:p>
                  </a:txBody>
                  <a:tcPr marL="4424" marR="4424" marT="44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ru-RU" sz="900" b="1" i="0" u="none" strike="noStrike" dirty="0" err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Кількість</a:t>
                      </a:r>
                      <a:r>
                        <a:rPr lang="ru-RU" sz="900" b="1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lang="ru-RU" sz="900" b="1" i="0" u="none" strike="noStrike" dirty="0" err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пролікованих</a:t>
                      </a:r>
                      <a:r>
                        <a:rPr lang="ru-RU" sz="900" b="1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 ГМІ у </a:t>
                      </a:r>
                      <a:r>
                        <a:rPr lang="ru-RU" sz="900" b="1" i="0" u="none" strike="noStrike" dirty="0" smtClean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2023 </a:t>
                      </a:r>
                      <a:r>
                        <a:rPr lang="ru-RU" sz="900" b="1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/>
                      </a:r>
                      <a:br>
                        <a:rPr lang="ru-RU" sz="900" b="1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</a:br>
                      <a:r>
                        <a:rPr lang="ru-RU" sz="900" b="1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(</a:t>
                      </a:r>
                      <a:r>
                        <a:rPr lang="ru-RU" sz="900" b="1" i="0" u="none" strike="noStrike" dirty="0" err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дашборди</a:t>
                      </a:r>
                      <a:r>
                        <a:rPr lang="ru-RU" sz="900" b="1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 станом на </a:t>
                      </a:r>
                      <a:r>
                        <a:rPr lang="ru-RU" sz="900" b="1" i="0" u="none" strike="noStrike" dirty="0" smtClean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01.01.2024)</a:t>
                      </a:r>
                      <a:endParaRPr lang="ru-RU" sz="900" b="1" i="0" u="none" strike="noStrike" dirty="0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4424" marR="4424" marT="44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uk-UA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ru-RU" sz="900" b="1" i="0" u="none" strike="noStrike" dirty="0" err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Кількість</a:t>
                      </a:r>
                      <a:r>
                        <a:rPr lang="ru-RU" sz="900" b="1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lang="ru-RU" sz="900" b="1" i="0" u="none" strike="noStrike" dirty="0" err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пролікованих</a:t>
                      </a:r>
                      <a:r>
                        <a:rPr lang="ru-RU" sz="900" b="1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br>
                        <a:rPr lang="ru-RU" sz="900" b="1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</a:br>
                      <a:r>
                        <a:rPr lang="ru-RU" sz="900" b="1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ГМІ у </a:t>
                      </a:r>
                      <a:r>
                        <a:rPr lang="ru-RU" sz="900" b="1" i="0" u="none" strike="noStrike" dirty="0" smtClean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2023 </a:t>
                      </a:r>
                      <a:r>
                        <a:rPr lang="ru-RU" sz="900" b="1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/>
                      </a:r>
                      <a:br>
                        <a:rPr lang="ru-RU" sz="900" b="1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</a:br>
                      <a:r>
                        <a:rPr lang="ru-RU" sz="900" b="1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(</a:t>
                      </a:r>
                      <a:r>
                        <a:rPr lang="ru-RU" sz="900" b="1" i="0" u="none" strike="noStrike" dirty="0" err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дашборди</a:t>
                      </a:r>
                      <a:r>
                        <a:rPr lang="ru-RU" sz="900" b="1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 станом на </a:t>
                      </a:r>
                      <a:r>
                        <a:rPr lang="ru-RU" sz="900" b="1" i="0" u="none" strike="noStrike" dirty="0" smtClean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01.03.2024)</a:t>
                      </a:r>
                      <a:endParaRPr lang="ru-RU" sz="900" b="1" i="0" u="none" strike="noStrike" dirty="0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4424" marR="4424" marT="44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uk-UA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77383114"/>
                  </a:ext>
                </a:extLst>
              </a:tr>
              <a:tr h="193700">
                <a:tc vMerge="1">
                  <a:txBody>
                    <a:bodyPr/>
                    <a:lstStyle/>
                    <a:p>
                      <a:endParaRPr lang="uk-UA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uk-UA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uk-UA" sz="900" b="1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Всього</a:t>
                      </a:r>
                    </a:p>
                  </a:txBody>
                  <a:tcPr marL="4424" marR="4424" marT="44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uk-UA" sz="900" b="1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з них померли</a:t>
                      </a:r>
                    </a:p>
                  </a:txBody>
                  <a:tcPr marL="4424" marR="4424" marT="44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uk-UA" sz="900" b="1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Всього</a:t>
                      </a:r>
                    </a:p>
                  </a:txBody>
                  <a:tcPr marL="4424" marR="4424" marT="44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uk-UA" sz="900" b="1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з них померли</a:t>
                      </a:r>
                    </a:p>
                  </a:txBody>
                  <a:tcPr marL="4424" marR="4424" marT="44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5863294"/>
                  </a:ext>
                </a:extLst>
              </a:tr>
              <a:tr h="154556">
                <a:tc>
                  <a:txBody>
                    <a:bodyPr/>
                    <a:lstStyle/>
                    <a:p>
                      <a:pPr algn="ctr" rtl="0" fontAlgn="ctr"/>
                      <a:r>
                        <a:rPr lang="uk-UA" sz="10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</a:p>
                  </a:txBody>
                  <a:tcPr marL="4424" marR="4424" marT="44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uk-UA" sz="1000" b="1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Всього</a:t>
                      </a:r>
                    </a:p>
                  </a:txBody>
                  <a:tcPr marL="4424" marR="4424" marT="44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uk-UA" sz="1000" b="1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153</a:t>
                      </a:r>
                    </a:p>
                  </a:txBody>
                  <a:tcPr marL="4424" marR="4424" marT="44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uk-UA" sz="1000" b="1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14</a:t>
                      </a:r>
                    </a:p>
                  </a:txBody>
                  <a:tcPr marL="4424" marR="4424" marT="44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uk-UA" sz="1000" b="1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71</a:t>
                      </a:r>
                    </a:p>
                  </a:txBody>
                  <a:tcPr marL="4424" marR="4424" marT="44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uk-UA" sz="1000" b="1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10</a:t>
                      </a:r>
                    </a:p>
                  </a:txBody>
                  <a:tcPr marL="4424" marR="4424" marT="44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92616864"/>
                  </a:ext>
                </a:extLst>
              </a:tr>
              <a:tr h="167477">
                <a:tc>
                  <a:txBody>
                    <a:bodyPr/>
                    <a:lstStyle/>
                    <a:p>
                      <a:pPr algn="ctr" rtl="0" fontAlgn="ctr"/>
                      <a:r>
                        <a:rPr lang="uk-UA" sz="9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1</a:t>
                      </a:r>
                    </a:p>
                  </a:txBody>
                  <a:tcPr marL="4424" marR="4424" marT="44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uk-UA" sz="9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КНП «Городоцька центральна л</a:t>
                      </a:r>
                      <a:r>
                        <a:rPr lang="en-US" sz="900" b="0" i="0" u="none" strike="noStrike" dirty="0" err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i</a:t>
                      </a:r>
                      <a:r>
                        <a:rPr lang="uk-UA" sz="900" b="0" i="0" u="none" strike="noStrike" dirty="0" err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карня</a:t>
                      </a:r>
                      <a:r>
                        <a:rPr lang="uk-UA" sz="9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»</a:t>
                      </a:r>
                    </a:p>
                  </a:txBody>
                  <a:tcPr marL="4424" marR="4424" marT="44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uk-UA" sz="9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44</a:t>
                      </a:r>
                    </a:p>
                  </a:txBody>
                  <a:tcPr marL="4424" marR="4424" marT="44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uk-UA" sz="9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1</a:t>
                      </a:r>
                    </a:p>
                  </a:txBody>
                  <a:tcPr marL="4424" marR="4424" marT="44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uk-UA" sz="9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12</a:t>
                      </a:r>
                    </a:p>
                  </a:txBody>
                  <a:tcPr marL="4424" marR="4424" marT="44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uk-UA" sz="9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1</a:t>
                      </a:r>
                    </a:p>
                  </a:txBody>
                  <a:tcPr marL="4424" marR="4424" marT="44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27849597"/>
                  </a:ext>
                </a:extLst>
              </a:tr>
              <a:tr h="203149">
                <a:tc>
                  <a:txBody>
                    <a:bodyPr/>
                    <a:lstStyle/>
                    <a:p>
                      <a:pPr algn="ctr" rtl="0" fontAlgn="ctr"/>
                      <a:r>
                        <a:rPr lang="uk-UA" sz="9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2</a:t>
                      </a:r>
                    </a:p>
                  </a:txBody>
                  <a:tcPr marL="4424" marR="4424" marT="44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ru-RU" sz="9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КНП ЛОР "</a:t>
                      </a:r>
                      <a:r>
                        <a:rPr lang="ru-RU" sz="900" b="0" i="0" u="none" strike="noStrike" dirty="0" err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Львівська</a:t>
                      </a:r>
                      <a:r>
                        <a:rPr lang="ru-RU" sz="9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lang="ru-RU" sz="900" b="0" i="0" u="none" strike="noStrike" dirty="0" err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обласна</a:t>
                      </a:r>
                      <a:r>
                        <a:rPr lang="ru-RU" sz="9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lang="ru-RU" sz="900" b="0" i="0" u="none" strike="noStrike" dirty="0" err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лікарня</a:t>
                      </a:r>
                      <a:r>
                        <a:rPr lang="ru-RU" sz="9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lang="ru-RU" sz="900" b="0" i="0" u="none" strike="noStrike" dirty="0" err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відновного</a:t>
                      </a:r>
                      <a:r>
                        <a:rPr lang="ru-RU" sz="9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lang="ru-RU" sz="900" b="0" i="0" u="none" strike="noStrike" dirty="0" err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лікування</a:t>
                      </a:r>
                      <a:r>
                        <a:rPr lang="ru-RU" sz="9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 № 3"</a:t>
                      </a:r>
                    </a:p>
                  </a:txBody>
                  <a:tcPr marL="4424" marR="4424" marT="44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uk-UA" sz="9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24</a:t>
                      </a:r>
                    </a:p>
                  </a:txBody>
                  <a:tcPr marL="4424" marR="4424" marT="44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uk-UA" sz="9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-</a:t>
                      </a:r>
                    </a:p>
                  </a:txBody>
                  <a:tcPr marL="4424" marR="4424" marT="44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uk-UA" sz="9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</a:p>
                  </a:txBody>
                  <a:tcPr marL="4424" marR="4424" marT="44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uk-UA" sz="9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</a:p>
                  </a:txBody>
                  <a:tcPr marL="4424" marR="4424" marT="44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58366885"/>
                  </a:ext>
                </a:extLst>
              </a:tr>
              <a:tr h="167477">
                <a:tc>
                  <a:txBody>
                    <a:bodyPr/>
                    <a:lstStyle/>
                    <a:p>
                      <a:pPr algn="ctr" rtl="0" fontAlgn="ctr"/>
                      <a:r>
                        <a:rPr lang="uk-UA" sz="9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3</a:t>
                      </a:r>
                    </a:p>
                  </a:txBody>
                  <a:tcPr marL="4424" marR="4424" marT="44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uk-UA" sz="9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КНП «Сколівська центральна лікарня»</a:t>
                      </a:r>
                    </a:p>
                  </a:txBody>
                  <a:tcPr marL="4424" marR="4424" marT="44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uk-UA" sz="9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10</a:t>
                      </a:r>
                    </a:p>
                  </a:txBody>
                  <a:tcPr marL="4424" marR="4424" marT="44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uk-UA" sz="9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1</a:t>
                      </a:r>
                    </a:p>
                  </a:txBody>
                  <a:tcPr marL="4424" marR="4424" marT="44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uk-UA" sz="9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8</a:t>
                      </a:r>
                    </a:p>
                  </a:txBody>
                  <a:tcPr marL="4424" marR="4424" marT="44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uk-UA" sz="9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1</a:t>
                      </a:r>
                    </a:p>
                  </a:txBody>
                  <a:tcPr marL="4424" marR="4424" marT="44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38559956"/>
                  </a:ext>
                </a:extLst>
              </a:tr>
              <a:tr h="170078">
                <a:tc>
                  <a:txBody>
                    <a:bodyPr/>
                    <a:lstStyle/>
                    <a:p>
                      <a:pPr algn="ctr" rtl="0" fontAlgn="ctr"/>
                      <a:r>
                        <a:rPr lang="uk-UA" sz="9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4</a:t>
                      </a:r>
                    </a:p>
                  </a:txBody>
                  <a:tcPr marL="4424" marR="4424" marT="44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ru-RU" sz="9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КНП "Кам'янка-Бузька центральна районна лікарня"</a:t>
                      </a:r>
                    </a:p>
                  </a:txBody>
                  <a:tcPr marL="4424" marR="4424" marT="44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uk-UA" sz="9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10</a:t>
                      </a:r>
                    </a:p>
                  </a:txBody>
                  <a:tcPr marL="4424" marR="4424" marT="44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uk-UA" sz="9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3</a:t>
                      </a:r>
                    </a:p>
                  </a:txBody>
                  <a:tcPr marL="4424" marR="4424" marT="44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uk-UA" sz="9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7</a:t>
                      </a:r>
                    </a:p>
                  </a:txBody>
                  <a:tcPr marL="4424" marR="4424" marT="44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uk-UA" sz="9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2</a:t>
                      </a:r>
                    </a:p>
                  </a:txBody>
                  <a:tcPr marL="4424" marR="4424" marT="44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05934282"/>
                  </a:ext>
                </a:extLst>
              </a:tr>
              <a:tr h="179528">
                <a:tc>
                  <a:txBody>
                    <a:bodyPr/>
                    <a:lstStyle/>
                    <a:p>
                      <a:pPr algn="ctr" rtl="0" fontAlgn="ctr"/>
                      <a:r>
                        <a:rPr lang="uk-UA" sz="9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5</a:t>
                      </a:r>
                    </a:p>
                  </a:txBody>
                  <a:tcPr marL="4424" marR="4424" marT="44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ru-RU" sz="9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КНП "Золочівська центральна районна лікарня"</a:t>
                      </a:r>
                    </a:p>
                  </a:txBody>
                  <a:tcPr marL="4424" marR="4424" marT="44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uk-UA" sz="9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10</a:t>
                      </a:r>
                    </a:p>
                  </a:txBody>
                  <a:tcPr marL="4424" marR="4424" marT="44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uk-UA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</a:t>
                      </a:r>
                    </a:p>
                  </a:txBody>
                  <a:tcPr marL="4424" marR="4424" marT="44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uk-UA" sz="9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7</a:t>
                      </a:r>
                    </a:p>
                  </a:txBody>
                  <a:tcPr marL="4424" marR="4424" marT="44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uk-UA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-</a:t>
                      </a:r>
                    </a:p>
                  </a:txBody>
                  <a:tcPr marL="4424" marR="4424" marT="44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95557173"/>
                  </a:ext>
                </a:extLst>
              </a:tr>
              <a:tr h="139537">
                <a:tc>
                  <a:txBody>
                    <a:bodyPr/>
                    <a:lstStyle/>
                    <a:p>
                      <a:pPr algn="ctr" rtl="0" fontAlgn="ctr"/>
                      <a:r>
                        <a:rPr lang="uk-UA" sz="9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6</a:t>
                      </a:r>
                    </a:p>
                  </a:txBody>
                  <a:tcPr marL="4424" marR="4424" marT="44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uk-UA" sz="9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КНП «Жидачівська міська лікарня»</a:t>
                      </a:r>
                    </a:p>
                  </a:txBody>
                  <a:tcPr marL="4424" marR="4424" marT="44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uk-UA" sz="9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8</a:t>
                      </a:r>
                    </a:p>
                  </a:txBody>
                  <a:tcPr marL="4424" marR="4424" marT="44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uk-UA" sz="9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1</a:t>
                      </a:r>
                    </a:p>
                  </a:txBody>
                  <a:tcPr marL="4424" marR="4424" marT="44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uk-UA" sz="9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5</a:t>
                      </a:r>
                    </a:p>
                  </a:txBody>
                  <a:tcPr marL="4424" marR="4424" marT="44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uk-UA" sz="9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1</a:t>
                      </a:r>
                    </a:p>
                  </a:txBody>
                  <a:tcPr marL="4424" marR="4424" marT="44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24115639"/>
                  </a:ext>
                </a:extLst>
              </a:tr>
              <a:tr h="174803">
                <a:tc>
                  <a:txBody>
                    <a:bodyPr/>
                    <a:lstStyle/>
                    <a:p>
                      <a:pPr algn="ctr" rtl="0" fontAlgn="ctr"/>
                      <a:r>
                        <a:rPr lang="uk-UA" sz="9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7</a:t>
                      </a:r>
                    </a:p>
                  </a:txBody>
                  <a:tcPr marL="4424" marR="4424" marT="44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uk-UA" sz="9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КНП ЛОР "Львівська обласна </a:t>
                      </a:r>
                      <a:r>
                        <a:rPr lang="uk-UA" sz="900" b="0" i="0" u="none" strike="noStrike" dirty="0" err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інфекц</a:t>
                      </a:r>
                      <a:r>
                        <a:rPr lang="en-US" sz="900" b="0" i="0" u="none" strike="noStrike" dirty="0" err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i</a:t>
                      </a:r>
                      <a:r>
                        <a:rPr lang="uk-UA" sz="900" b="0" i="0" u="none" strike="noStrike" dirty="0" err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йна</a:t>
                      </a:r>
                      <a:r>
                        <a:rPr lang="uk-UA" sz="9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 клінічна л</a:t>
                      </a:r>
                      <a:r>
                        <a:rPr lang="en-US" sz="900" b="0" i="0" u="none" strike="noStrike" dirty="0" err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i</a:t>
                      </a:r>
                      <a:r>
                        <a:rPr lang="uk-UA" sz="900" b="0" i="0" u="none" strike="noStrike" dirty="0" err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карня</a:t>
                      </a:r>
                      <a:r>
                        <a:rPr lang="uk-UA" sz="9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"</a:t>
                      </a:r>
                    </a:p>
                  </a:txBody>
                  <a:tcPr marL="4424" marR="4424" marT="44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uk-UA" sz="9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5</a:t>
                      </a:r>
                    </a:p>
                  </a:txBody>
                  <a:tcPr marL="4424" marR="4424" marT="44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uk-UA" sz="9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-</a:t>
                      </a:r>
                    </a:p>
                  </a:txBody>
                  <a:tcPr marL="4424" marR="4424" marT="44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uk-UA" sz="9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3</a:t>
                      </a:r>
                    </a:p>
                  </a:txBody>
                  <a:tcPr marL="4424" marR="4424" marT="44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uk-UA" sz="9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-</a:t>
                      </a:r>
                    </a:p>
                  </a:txBody>
                  <a:tcPr marL="4424" marR="4424" marT="44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16338836"/>
                  </a:ext>
                </a:extLst>
              </a:tr>
              <a:tr h="167477">
                <a:tc>
                  <a:txBody>
                    <a:bodyPr/>
                    <a:lstStyle/>
                    <a:p>
                      <a:pPr algn="ctr" rtl="0" fontAlgn="ctr"/>
                      <a:r>
                        <a:rPr lang="uk-UA" sz="9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8</a:t>
                      </a:r>
                    </a:p>
                  </a:txBody>
                  <a:tcPr marL="4424" marR="4424" marT="44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uk-UA" sz="9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КНП "Новояричівська районна лікарня"</a:t>
                      </a:r>
                    </a:p>
                  </a:txBody>
                  <a:tcPr marL="4424" marR="4424" marT="44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uk-UA" sz="9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5</a:t>
                      </a:r>
                    </a:p>
                  </a:txBody>
                  <a:tcPr marL="4424" marR="4424" marT="44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uk-UA" sz="9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-</a:t>
                      </a:r>
                    </a:p>
                  </a:txBody>
                  <a:tcPr marL="4424" marR="4424" marT="44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uk-UA" sz="9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6</a:t>
                      </a:r>
                    </a:p>
                  </a:txBody>
                  <a:tcPr marL="4424" marR="4424" marT="44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uk-UA" sz="9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-</a:t>
                      </a:r>
                    </a:p>
                  </a:txBody>
                  <a:tcPr marL="4424" marR="4424" marT="44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28873393"/>
                  </a:ext>
                </a:extLst>
              </a:tr>
              <a:tr h="139537">
                <a:tc>
                  <a:txBody>
                    <a:bodyPr/>
                    <a:lstStyle/>
                    <a:p>
                      <a:pPr algn="ctr" rtl="0" fontAlgn="ctr"/>
                      <a:r>
                        <a:rPr lang="uk-UA" sz="9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9</a:t>
                      </a:r>
                    </a:p>
                  </a:txBody>
                  <a:tcPr marL="4424" marR="4424" marT="44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uk-UA" sz="9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КНП "Миколаївська міська лікарня" </a:t>
                      </a:r>
                    </a:p>
                  </a:txBody>
                  <a:tcPr marL="4424" marR="4424" marT="44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uk-UA" sz="9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3</a:t>
                      </a:r>
                    </a:p>
                  </a:txBody>
                  <a:tcPr marL="4424" marR="4424" marT="44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uk-UA" sz="9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2</a:t>
                      </a:r>
                    </a:p>
                  </a:txBody>
                  <a:tcPr marL="4424" marR="4424" marT="44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uk-UA" sz="9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3</a:t>
                      </a:r>
                    </a:p>
                  </a:txBody>
                  <a:tcPr marL="4424" marR="4424" marT="44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uk-UA" sz="9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1</a:t>
                      </a:r>
                    </a:p>
                  </a:txBody>
                  <a:tcPr marL="4424" marR="4424" marT="44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13988879"/>
                  </a:ext>
                </a:extLst>
              </a:tr>
              <a:tr h="139537">
                <a:tc>
                  <a:txBody>
                    <a:bodyPr/>
                    <a:lstStyle/>
                    <a:p>
                      <a:pPr algn="ctr" rtl="0" fontAlgn="ctr"/>
                      <a:r>
                        <a:rPr lang="uk-UA" sz="9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10</a:t>
                      </a:r>
                    </a:p>
                  </a:txBody>
                  <a:tcPr marL="4424" marR="4424" marT="44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uk-UA" sz="9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КНП "Сокальська районна лікарня" </a:t>
                      </a:r>
                    </a:p>
                  </a:txBody>
                  <a:tcPr marL="4424" marR="4424" marT="44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uk-UA" sz="9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3</a:t>
                      </a:r>
                    </a:p>
                  </a:txBody>
                  <a:tcPr marL="4424" marR="4424" marT="44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uk-UA" sz="9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-</a:t>
                      </a:r>
                    </a:p>
                  </a:txBody>
                  <a:tcPr marL="4424" marR="4424" marT="44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uk-UA" sz="9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2</a:t>
                      </a:r>
                    </a:p>
                  </a:txBody>
                  <a:tcPr marL="4424" marR="4424" marT="44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uk-UA" sz="9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-</a:t>
                      </a:r>
                    </a:p>
                  </a:txBody>
                  <a:tcPr marL="4424" marR="4424" marT="44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86846981"/>
                  </a:ext>
                </a:extLst>
              </a:tr>
              <a:tr h="167477">
                <a:tc>
                  <a:txBody>
                    <a:bodyPr/>
                    <a:lstStyle/>
                    <a:p>
                      <a:pPr algn="ctr" rtl="0" fontAlgn="ctr"/>
                      <a:r>
                        <a:rPr lang="uk-UA" sz="9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11</a:t>
                      </a:r>
                    </a:p>
                  </a:txBody>
                  <a:tcPr marL="4424" marR="4424" marT="44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uk-UA" sz="9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КНП "Лопатинська районна лікарня" </a:t>
                      </a:r>
                    </a:p>
                  </a:txBody>
                  <a:tcPr marL="4424" marR="4424" marT="44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uk-UA" sz="9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3</a:t>
                      </a:r>
                    </a:p>
                  </a:txBody>
                  <a:tcPr marL="4424" marR="4424" marT="44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uk-UA" sz="9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-</a:t>
                      </a:r>
                    </a:p>
                  </a:txBody>
                  <a:tcPr marL="4424" marR="4424" marT="44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uk-UA" sz="9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</a:p>
                  </a:txBody>
                  <a:tcPr marL="4424" marR="4424" marT="44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uk-UA" sz="9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</a:p>
                  </a:txBody>
                  <a:tcPr marL="4424" marR="4424" marT="44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52619103"/>
                  </a:ext>
                </a:extLst>
              </a:tr>
              <a:tr h="167477">
                <a:tc>
                  <a:txBody>
                    <a:bodyPr/>
                    <a:lstStyle/>
                    <a:p>
                      <a:pPr algn="ctr" rtl="0" fontAlgn="ctr"/>
                      <a:r>
                        <a:rPr lang="uk-UA" sz="9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12</a:t>
                      </a:r>
                    </a:p>
                  </a:txBody>
                  <a:tcPr marL="4424" marR="4424" marT="44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uk-UA" sz="9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КНП "Стебницька міська лікарня" ДМР </a:t>
                      </a:r>
                    </a:p>
                  </a:txBody>
                  <a:tcPr marL="4424" marR="4424" marT="44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uk-UA" sz="9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3</a:t>
                      </a:r>
                    </a:p>
                  </a:txBody>
                  <a:tcPr marL="4424" marR="4424" marT="44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uk-UA" sz="9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-</a:t>
                      </a:r>
                    </a:p>
                  </a:txBody>
                  <a:tcPr marL="4424" marR="4424" marT="44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uk-UA" sz="9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2</a:t>
                      </a:r>
                    </a:p>
                  </a:txBody>
                  <a:tcPr marL="4424" marR="4424" marT="44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uk-UA" sz="9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-</a:t>
                      </a:r>
                    </a:p>
                  </a:txBody>
                  <a:tcPr marL="4424" marR="4424" marT="44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02099500"/>
                  </a:ext>
                </a:extLst>
              </a:tr>
              <a:tr h="139537">
                <a:tc>
                  <a:txBody>
                    <a:bodyPr/>
                    <a:lstStyle/>
                    <a:p>
                      <a:pPr algn="ctr" rtl="0" fontAlgn="ctr"/>
                      <a:r>
                        <a:rPr lang="uk-UA" sz="9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13</a:t>
                      </a:r>
                    </a:p>
                  </a:txBody>
                  <a:tcPr marL="4424" marR="4424" marT="44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uk-UA" sz="9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КНП "Моршинська міська лікарня" </a:t>
                      </a:r>
                    </a:p>
                  </a:txBody>
                  <a:tcPr marL="4424" marR="4424" marT="44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uk-UA" sz="9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3</a:t>
                      </a:r>
                    </a:p>
                  </a:txBody>
                  <a:tcPr marL="4424" marR="4424" marT="44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uk-UA" sz="9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-</a:t>
                      </a:r>
                    </a:p>
                  </a:txBody>
                  <a:tcPr marL="4424" marR="4424" marT="44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uk-UA" sz="9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</a:p>
                  </a:txBody>
                  <a:tcPr marL="4424" marR="4424" marT="44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uk-UA" sz="9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</a:p>
                  </a:txBody>
                  <a:tcPr marL="4424" marR="4424" marT="44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78388918"/>
                  </a:ext>
                </a:extLst>
              </a:tr>
              <a:tr h="167477">
                <a:tc>
                  <a:txBody>
                    <a:bodyPr/>
                    <a:lstStyle/>
                    <a:p>
                      <a:pPr algn="ctr" rtl="0" fontAlgn="ctr"/>
                      <a:r>
                        <a:rPr lang="uk-UA" sz="9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14</a:t>
                      </a:r>
                    </a:p>
                  </a:txBody>
                  <a:tcPr marL="4424" marR="4424" marT="44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uk-UA" sz="9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КНП «Новороздільська міська лікарня»</a:t>
                      </a:r>
                    </a:p>
                  </a:txBody>
                  <a:tcPr marL="4424" marR="4424" marT="44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uk-UA" sz="9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3</a:t>
                      </a:r>
                    </a:p>
                  </a:txBody>
                  <a:tcPr marL="4424" marR="4424" marT="44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uk-UA" sz="9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1</a:t>
                      </a:r>
                    </a:p>
                  </a:txBody>
                  <a:tcPr marL="4424" marR="4424" marT="44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uk-UA" sz="9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1</a:t>
                      </a:r>
                    </a:p>
                  </a:txBody>
                  <a:tcPr marL="4424" marR="4424" marT="44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uk-UA" sz="9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1</a:t>
                      </a:r>
                    </a:p>
                  </a:txBody>
                  <a:tcPr marL="4424" marR="4424" marT="44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39977095"/>
                  </a:ext>
                </a:extLst>
              </a:tr>
              <a:tr h="167477">
                <a:tc>
                  <a:txBody>
                    <a:bodyPr/>
                    <a:lstStyle/>
                    <a:p>
                      <a:pPr algn="ctr" rtl="0" fontAlgn="ctr"/>
                      <a:r>
                        <a:rPr lang="uk-UA" sz="9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15</a:t>
                      </a:r>
                    </a:p>
                  </a:txBody>
                  <a:tcPr marL="4424" marR="4424" marT="44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uk-UA" sz="9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КНП «Старосамбірська районна лікарня»</a:t>
                      </a:r>
                    </a:p>
                  </a:txBody>
                  <a:tcPr marL="4424" marR="4424" marT="44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uk-UA" sz="9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3</a:t>
                      </a:r>
                    </a:p>
                  </a:txBody>
                  <a:tcPr marL="4424" marR="4424" marT="44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uk-UA" sz="9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1</a:t>
                      </a:r>
                    </a:p>
                  </a:txBody>
                  <a:tcPr marL="4424" marR="4424" marT="44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uk-UA" sz="9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3</a:t>
                      </a:r>
                    </a:p>
                  </a:txBody>
                  <a:tcPr marL="4424" marR="4424" marT="44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uk-UA" sz="9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1</a:t>
                      </a:r>
                    </a:p>
                  </a:txBody>
                  <a:tcPr marL="4424" marR="4424" marT="44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95718061"/>
                  </a:ext>
                </a:extLst>
              </a:tr>
              <a:tr h="139537">
                <a:tc>
                  <a:txBody>
                    <a:bodyPr/>
                    <a:lstStyle/>
                    <a:p>
                      <a:pPr algn="ctr" rtl="0" fontAlgn="ctr"/>
                      <a:r>
                        <a:rPr lang="uk-UA" sz="9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16</a:t>
                      </a:r>
                    </a:p>
                  </a:txBody>
                  <a:tcPr marL="4424" marR="4424" marT="44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uk-UA" sz="9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КНП "Меденицька лікарня" </a:t>
                      </a:r>
                    </a:p>
                  </a:txBody>
                  <a:tcPr marL="4424" marR="4424" marT="44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uk-UA" sz="9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2</a:t>
                      </a:r>
                    </a:p>
                  </a:txBody>
                  <a:tcPr marL="4424" marR="4424" marT="44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uk-UA" sz="9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-</a:t>
                      </a:r>
                    </a:p>
                  </a:txBody>
                  <a:tcPr marL="4424" marR="4424" marT="44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uk-UA" sz="9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2</a:t>
                      </a:r>
                    </a:p>
                  </a:txBody>
                  <a:tcPr marL="4424" marR="4424" marT="44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uk-UA" sz="9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-</a:t>
                      </a:r>
                    </a:p>
                  </a:txBody>
                  <a:tcPr marL="4424" marR="4424" marT="44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73192479"/>
                  </a:ext>
                </a:extLst>
              </a:tr>
              <a:tr h="274713">
                <a:tc>
                  <a:txBody>
                    <a:bodyPr/>
                    <a:lstStyle/>
                    <a:p>
                      <a:pPr algn="ctr" rtl="0" fontAlgn="ctr"/>
                      <a:r>
                        <a:rPr lang="uk-UA" sz="9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17</a:t>
                      </a:r>
                    </a:p>
                  </a:txBody>
                  <a:tcPr marL="4424" marR="4424" marT="44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ru-RU" sz="9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КНП ЛОР "Львівський онкологічний регіональний лікувально-діагностичний центр"</a:t>
                      </a:r>
                    </a:p>
                  </a:txBody>
                  <a:tcPr marL="4424" marR="4424" marT="44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uk-UA" sz="9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2</a:t>
                      </a:r>
                    </a:p>
                  </a:txBody>
                  <a:tcPr marL="4424" marR="4424" marT="44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uk-UA" sz="9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-</a:t>
                      </a:r>
                    </a:p>
                  </a:txBody>
                  <a:tcPr marL="4424" marR="4424" marT="44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uk-UA" sz="9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2</a:t>
                      </a:r>
                    </a:p>
                  </a:txBody>
                  <a:tcPr marL="4424" marR="4424" marT="44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uk-UA" sz="9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-</a:t>
                      </a:r>
                    </a:p>
                  </a:txBody>
                  <a:tcPr marL="4424" marR="4424" marT="44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77417335"/>
                  </a:ext>
                </a:extLst>
              </a:tr>
              <a:tr h="139537">
                <a:tc>
                  <a:txBody>
                    <a:bodyPr/>
                    <a:lstStyle/>
                    <a:p>
                      <a:pPr algn="ctr" rtl="0" fontAlgn="ctr"/>
                      <a:r>
                        <a:rPr lang="uk-UA" sz="9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18</a:t>
                      </a:r>
                    </a:p>
                  </a:txBody>
                  <a:tcPr marL="4424" marR="4424" marT="44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uk-UA" sz="9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КНП «Мостиська міська л</a:t>
                      </a:r>
                      <a:r>
                        <a:rPr lang="en-US" sz="9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i</a:t>
                      </a:r>
                      <a:r>
                        <a:rPr lang="uk-UA" sz="9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карня»</a:t>
                      </a:r>
                    </a:p>
                  </a:txBody>
                  <a:tcPr marL="4424" marR="4424" marT="44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uk-UA" sz="9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2</a:t>
                      </a:r>
                    </a:p>
                  </a:txBody>
                  <a:tcPr marL="4424" marR="4424" marT="44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uk-UA" sz="9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-</a:t>
                      </a:r>
                    </a:p>
                  </a:txBody>
                  <a:tcPr marL="4424" marR="4424" marT="44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uk-UA" sz="9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1</a:t>
                      </a:r>
                    </a:p>
                  </a:txBody>
                  <a:tcPr marL="4424" marR="4424" marT="44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uk-UA" sz="9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-</a:t>
                      </a:r>
                    </a:p>
                  </a:txBody>
                  <a:tcPr marL="4424" marR="4424" marT="44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57736887"/>
                  </a:ext>
                </a:extLst>
              </a:tr>
              <a:tr h="139537">
                <a:tc>
                  <a:txBody>
                    <a:bodyPr/>
                    <a:lstStyle/>
                    <a:p>
                      <a:pPr algn="ctr" rtl="0" fontAlgn="ctr"/>
                      <a:r>
                        <a:rPr lang="uk-UA" sz="9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19</a:t>
                      </a:r>
                    </a:p>
                  </a:txBody>
                  <a:tcPr marL="4424" marR="4424" marT="44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uk-UA" sz="9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КНП "Трускавецька МЛ" </a:t>
                      </a:r>
                    </a:p>
                  </a:txBody>
                  <a:tcPr marL="4424" marR="4424" marT="44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uk-UA" sz="9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1</a:t>
                      </a:r>
                    </a:p>
                  </a:txBody>
                  <a:tcPr marL="4424" marR="4424" marT="44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uk-UA" sz="9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-</a:t>
                      </a:r>
                    </a:p>
                  </a:txBody>
                  <a:tcPr marL="4424" marR="4424" marT="44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uk-UA" sz="9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1</a:t>
                      </a:r>
                    </a:p>
                  </a:txBody>
                  <a:tcPr marL="4424" marR="4424" marT="44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uk-UA" sz="9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-</a:t>
                      </a:r>
                    </a:p>
                  </a:txBody>
                  <a:tcPr marL="4424" marR="4424" marT="44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67226807"/>
                  </a:ext>
                </a:extLst>
              </a:tr>
              <a:tr h="139537">
                <a:tc>
                  <a:txBody>
                    <a:bodyPr/>
                    <a:lstStyle/>
                    <a:p>
                      <a:pPr algn="ctr" rtl="0" fontAlgn="ctr"/>
                      <a:r>
                        <a:rPr lang="uk-UA" sz="9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20</a:t>
                      </a:r>
                    </a:p>
                  </a:txBody>
                  <a:tcPr marL="4424" marR="4424" marT="44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uk-UA" sz="9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КНП "Пустомитівська л</a:t>
                      </a:r>
                      <a:r>
                        <a:rPr lang="en-US" sz="9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i</a:t>
                      </a:r>
                      <a:r>
                        <a:rPr lang="uk-UA" sz="9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карня" </a:t>
                      </a:r>
                    </a:p>
                  </a:txBody>
                  <a:tcPr marL="4424" marR="4424" marT="44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uk-UA" sz="9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1</a:t>
                      </a:r>
                    </a:p>
                  </a:txBody>
                  <a:tcPr marL="4424" marR="4424" marT="44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uk-UA" sz="9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1</a:t>
                      </a:r>
                    </a:p>
                  </a:txBody>
                  <a:tcPr marL="4424" marR="4424" marT="44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uk-UA" sz="9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1</a:t>
                      </a:r>
                    </a:p>
                  </a:txBody>
                  <a:tcPr marL="4424" marR="4424" marT="44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uk-UA" sz="9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1</a:t>
                      </a:r>
                    </a:p>
                  </a:txBody>
                  <a:tcPr marL="4424" marR="4424" marT="44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31338058"/>
                  </a:ext>
                </a:extLst>
              </a:tr>
              <a:tr h="167477">
                <a:tc>
                  <a:txBody>
                    <a:bodyPr/>
                    <a:lstStyle/>
                    <a:p>
                      <a:pPr algn="ctr" rtl="0" fontAlgn="ctr"/>
                      <a:r>
                        <a:rPr lang="uk-UA" sz="9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21</a:t>
                      </a:r>
                    </a:p>
                  </a:txBody>
                  <a:tcPr marL="4424" marR="4424" marT="44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uk-UA" sz="9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КНП "Добромильська районна лікарня"</a:t>
                      </a:r>
                    </a:p>
                  </a:txBody>
                  <a:tcPr marL="4424" marR="4424" marT="44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uk-UA" sz="9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1</a:t>
                      </a:r>
                    </a:p>
                  </a:txBody>
                  <a:tcPr marL="4424" marR="4424" marT="44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uk-UA" sz="9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-</a:t>
                      </a:r>
                    </a:p>
                  </a:txBody>
                  <a:tcPr marL="4424" marR="4424" marT="44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uk-UA" sz="9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1</a:t>
                      </a:r>
                    </a:p>
                  </a:txBody>
                  <a:tcPr marL="4424" marR="4424" marT="44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uk-UA" sz="9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-</a:t>
                      </a:r>
                    </a:p>
                  </a:txBody>
                  <a:tcPr marL="4424" marR="4424" marT="44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83515177"/>
                  </a:ext>
                </a:extLst>
              </a:tr>
              <a:tr h="170078">
                <a:tc>
                  <a:txBody>
                    <a:bodyPr/>
                    <a:lstStyle/>
                    <a:p>
                      <a:pPr algn="ctr" rtl="0" fontAlgn="ctr"/>
                      <a:r>
                        <a:rPr lang="uk-UA" sz="9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22</a:t>
                      </a:r>
                    </a:p>
                  </a:txBody>
                  <a:tcPr marL="4424" marR="4424" marT="44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ru-RU" sz="9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КНП "Радехівська центральна районна лікарня"  </a:t>
                      </a:r>
                    </a:p>
                  </a:txBody>
                  <a:tcPr marL="4424" marR="4424" marT="44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uk-UA" sz="9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1</a:t>
                      </a:r>
                    </a:p>
                  </a:txBody>
                  <a:tcPr marL="4424" marR="4424" marT="44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uk-UA" sz="9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1</a:t>
                      </a:r>
                    </a:p>
                  </a:txBody>
                  <a:tcPr marL="4424" marR="4424" marT="44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uk-UA" sz="9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1</a:t>
                      </a:r>
                    </a:p>
                  </a:txBody>
                  <a:tcPr marL="4424" marR="4424" marT="44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uk-UA" sz="9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1</a:t>
                      </a:r>
                    </a:p>
                  </a:txBody>
                  <a:tcPr marL="4424" marR="4424" marT="44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03539607"/>
                  </a:ext>
                </a:extLst>
              </a:tr>
              <a:tr h="248852">
                <a:tc>
                  <a:txBody>
                    <a:bodyPr/>
                    <a:lstStyle/>
                    <a:p>
                      <a:pPr algn="ctr" rtl="0" fontAlgn="ctr"/>
                      <a:r>
                        <a:rPr lang="uk-UA" sz="9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23</a:t>
                      </a:r>
                    </a:p>
                  </a:txBody>
                  <a:tcPr marL="4424" marR="4424" marT="44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uk-UA" sz="9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КНП "Підбузька лікарня Східницької територіальної громади"</a:t>
                      </a:r>
                    </a:p>
                  </a:txBody>
                  <a:tcPr marL="4424" marR="4424" marT="44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uk-UA" sz="9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1</a:t>
                      </a:r>
                    </a:p>
                  </a:txBody>
                  <a:tcPr marL="4424" marR="4424" marT="44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uk-UA" sz="9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-</a:t>
                      </a:r>
                    </a:p>
                  </a:txBody>
                  <a:tcPr marL="4424" marR="4424" marT="44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uk-UA" sz="9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-</a:t>
                      </a:r>
                    </a:p>
                  </a:txBody>
                  <a:tcPr marL="4424" marR="4424" marT="44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uk-UA" sz="9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-</a:t>
                      </a:r>
                    </a:p>
                  </a:txBody>
                  <a:tcPr marL="4424" marR="4424" marT="44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28964976"/>
                  </a:ext>
                </a:extLst>
              </a:tr>
              <a:tr h="139537">
                <a:tc>
                  <a:txBody>
                    <a:bodyPr/>
                    <a:lstStyle/>
                    <a:p>
                      <a:pPr algn="ctr" rtl="0" fontAlgn="ctr"/>
                      <a:r>
                        <a:rPr lang="uk-UA" sz="9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24</a:t>
                      </a:r>
                    </a:p>
                  </a:txBody>
                  <a:tcPr marL="4424" marR="4424" marT="44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uk-UA" sz="9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КНП "Бібрська міська лікарня" </a:t>
                      </a:r>
                    </a:p>
                  </a:txBody>
                  <a:tcPr marL="4424" marR="4424" marT="44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uk-UA" sz="9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1</a:t>
                      </a:r>
                    </a:p>
                  </a:txBody>
                  <a:tcPr marL="4424" marR="4424" marT="44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uk-UA" sz="9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-</a:t>
                      </a:r>
                    </a:p>
                  </a:txBody>
                  <a:tcPr marL="4424" marR="4424" marT="44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uk-UA" sz="9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1</a:t>
                      </a:r>
                    </a:p>
                  </a:txBody>
                  <a:tcPr marL="4424" marR="4424" marT="44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uk-UA" sz="9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-</a:t>
                      </a:r>
                    </a:p>
                  </a:txBody>
                  <a:tcPr marL="4424" marR="4424" marT="44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02207004"/>
                  </a:ext>
                </a:extLst>
              </a:tr>
              <a:tr h="170078">
                <a:tc>
                  <a:txBody>
                    <a:bodyPr/>
                    <a:lstStyle/>
                    <a:p>
                      <a:pPr algn="ctr" rtl="0" fontAlgn="ctr"/>
                      <a:r>
                        <a:rPr lang="uk-UA" sz="9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25</a:t>
                      </a:r>
                    </a:p>
                  </a:txBody>
                  <a:tcPr marL="4424" marR="4424" marT="44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ru-RU" sz="9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КНП "Турківська центральна міська лікарня" </a:t>
                      </a:r>
                    </a:p>
                  </a:txBody>
                  <a:tcPr marL="4424" marR="4424" marT="44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uk-UA" sz="9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1</a:t>
                      </a:r>
                    </a:p>
                  </a:txBody>
                  <a:tcPr marL="4424" marR="4424" marT="44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uk-UA" sz="9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-</a:t>
                      </a:r>
                    </a:p>
                  </a:txBody>
                  <a:tcPr marL="4424" marR="4424" marT="44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uk-UA" sz="9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1</a:t>
                      </a:r>
                    </a:p>
                  </a:txBody>
                  <a:tcPr marL="4424" marR="4424" marT="44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uk-UA" sz="9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-</a:t>
                      </a:r>
                    </a:p>
                  </a:txBody>
                  <a:tcPr marL="4424" marR="4424" marT="44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40599526"/>
                  </a:ext>
                </a:extLst>
              </a:tr>
              <a:tr h="139537">
                <a:tc>
                  <a:txBody>
                    <a:bodyPr/>
                    <a:lstStyle/>
                    <a:p>
                      <a:pPr algn="ctr" rtl="0" fontAlgn="ctr"/>
                      <a:r>
                        <a:rPr lang="uk-UA" sz="9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26</a:t>
                      </a:r>
                    </a:p>
                  </a:txBody>
                  <a:tcPr marL="4424" marR="4424" marT="44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uk-UA" sz="9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КНП "Боринська районна л</a:t>
                      </a:r>
                      <a:r>
                        <a:rPr lang="en-US" sz="9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i</a:t>
                      </a:r>
                      <a:r>
                        <a:rPr lang="uk-UA" sz="9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карня" </a:t>
                      </a:r>
                    </a:p>
                  </a:txBody>
                  <a:tcPr marL="4424" marR="4424" marT="44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uk-UA" sz="9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1</a:t>
                      </a:r>
                    </a:p>
                  </a:txBody>
                  <a:tcPr marL="4424" marR="4424" marT="44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uk-UA" sz="9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-</a:t>
                      </a:r>
                    </a:p>
                  </a:txBody>
                  <a:tcPr marL="4424" marR="4424" marT="44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uk-UA" sz="9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1</a:t>
                      </a:r>
                    </a:p>
                  </a:txBody>
                  <a:tcPr marL="4424" marR="4424" marT="44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uk-UA" sz="9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-</a:t>
                      </a:r>
                    </a:p>
                  </a:txBody>
                  <a:tcPr marL="4424" marR="4424" marT="44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71327266"/>
                  </a:ext>
                </a:extLst>
              </a:tr>
              <a:tr h="139537">
                <a:tc>
                  <a:txBody>
                    <a:bodyPr/>
                    <a:lstStyle/>
                    <a:p>
                      <a:pPr algn="ctr" rtl="0" fontAlgn="ctr"/>
                      <a:r>
                        <a:rPr lang="uk-UA" sz="9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27</a:t>
                      </a:r>
                    </a:p>
                  </a:txBody>
                  <a:tcPr marL="4424" marR="4424" marT="44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uk-UA" sz="9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КНП "Рудківська лікарня" </a:t>
                      </a:r>
                    </a:p>
                  </a:txBody>
                  <a:tcPr marL="4424" marR="4424" marT="44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uk-UA" sz="9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1</a:t>
                      </a:r>
                    </a:p>
                  </a:txBody>
                  <a:tcPr marL="4424" marR="4424" marT="44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uk-UA" sz="9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-</a:t>
                      </a:r>
                    </a:p>
                  </a:txBody>
                  <a:tcPr marL="4424" marR="4424" marT="44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uk-UA" sz="9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-</a:t>
                      </a:r>
                    </a:p>
                  </a:txBody>
                  <a:tcPr marL="4424" marR="4424" marT="44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uk-UA" sz="9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-</a:t>
                      </a:r>
                    </a:p>
                  </a:txBody>
                  <a:tcPr marL="4424" marR="4424" marT="44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37665202"/>
                  </a:ext>
                </a:extLst>
              </a:tr>
              <a:tr h="139537">
                <a:tc>
                  <a:txBody>
                    <a:bodyPr/>
                    <a:lstStyle/>
                    <a:p>
                      <a:pPr algn="ctr" rtl="0" fontAlgn="ctr"/>
                      <a:r>
                        <a:rPr lang="uk-UA" sz="9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28</a:t>
                      </a:r>
                    </a:p>
                  </a:txBody>
                  <a:tcPr marL="4424" marR="4424" marT="44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uk-UA" sz="9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КНП "Львівське ТМО 2"</a:t>
                      </a:r>
                    </a:p>
                  </a:txBody>
                  <a:tcPr marL="4424" marR="4424" marT="44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uk-UA" sz="9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1</a:t>
                      </a:r>
                    </a:p>
                  </a:txBody>
                  <a:tcPr marL="4424" marR="4424" marT="44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uk-UA" sz="9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-</a:t>
                      </a:r>
                    </a:p>
                  </a:txBody>
                  <a:tcPr marL="4424" marR="4424" marT="44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uk-UA" sz="9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-</a:t>
                      </a:r>
                    </a:p>
                  </a:txBody>
                  <a:tcPr marL="4424" marR="4424" marT="44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uk-UA" sz="9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-</a:t>
                      </a:r>
                    </a:p>
                  </a:txBody>
                  <a:tcPr marL="4424" marR="4424" marT="44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27876589"/>
                  </a:ext>
                </a:extLst>
              </a:tr>
            </a:tbl>
          </a:graphicData>
        </a:graphic>
      </p:graphicFrame>
      <p:graphicFrame>
        <p:nvGraphicFramePr>
          <p:cNvPr id="9" name="Таблиця 8">
            <a:extLst>
              <a:ext uri="{FF2B5EF4-FFF2-40B4-BE49-F238E27FC236}">
                <a16:creationId xmlns:a16="http://schemas.microsoft.com/office/drawing/2014/main" id="{EB855B1D-77B8-494D-BEA5-B3DCDEAE1807}"/>
              </a:ext>
            </a:extLst>
          </p:cNvPr>
          <p:cNvGraphicFramePr>
            <a:graphicFrameLocks noGrp="1"/>
          </p:cNvGraphicFramePr>
          <p:nvPr/>
        </p:nvGraphicFramePr>
        <p:xfrm>
          <a:off x="9364989" y="2371693"/>
          <a:ext cx="2470453" cy="889955"/>
        </p:xfrm>
        <a:graphic>
          <a:graphicData uri="http://schemas.openxmlformats.org/drawingml/2006/table">
            <a:tbl>
              <a:tblPr firstRow="1" bandRow="1"/>
              <a:tblGrid>
                <a:gridCol w="1361601">
                  <a:extLst>
                    <a:ext uri="{9D8B030D-6E8A-4147-A177-3AD203B41FA5}">
                      <a16:colId xmlns:a16="http://schemas.microsoft.com/office/drawing/2014/main" val="2678176006"/>
                    </a:ext>
                  </a:extLst>
                </a:gridCol>
                <a:gridCol w="1108852">
                  <a:extLst>
                    <a:ext uri="{9D8B030D-6E8A-4147-A177-3AD203B41FA5}">
                      <a16:colId xmlns:a16="http://schemas.microsoft.com/office/drawing/2014/main" val="873119537"/>
                    </a:ext>
                  </a:extLst>
                </a:gridCol>
              </a:tblGrid>
              <a:tr h="457200"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ru-RU" sz="1000" b="1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% </a:t>
                      </a:r>
                      <a:r>
                        <a:rPr lang="ru-RU" sz="1000" b="1" i="0" u="none" strike="noStrike" dirty="0" err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від</a:t>
                      </a:r>
                      <a:r>
                        <a:rPr lang="ru-RU" sz="1000" b="1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sz="1000" b="1" i="0" u="none" strike="noStrike" dirty="0" err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загальної</a:t>
                      </a:r>
                      <a:r>
                        <a:rPr lang="ru-RU" sz="1000" b="1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sz="1000" b="1" i="0" u="none" strike="noStrike" dirty="0" err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кількості</a:t>
                      </a:r>
                      <a:r>
                        <a:rPr lang="ru-RU" sz="1000" b="1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sz="1000" b="1" i="0" u="none" strike="noStrike" dirty="0" err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пролікованих</a:t>
                      </a:r>
                      <a:r>
                        <a:rPr lang="ru-RU" sz="1000" b="1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sz="1000" b="1" i="0" u="none" strike="noStrike" dirty="0" err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ГМІ</a:t>
                      </a:r>
                      <a:r>
                        <a:rPr lang="ru-RU" sz="1000" b="1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у </a:t>
                      </a:r>
                      <a:r>
                        <a:rPr lang="ru-RU" sz="1000" b="1" i="0" u="none" strike="noStrike" dirty="0" err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ЗОЗ</a:t>
                      </a:r>
                      <a:r>
                        <a:rPr lang="ru-RU" sz="1000" b="1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sz="1000" b="1" i="0" u="none" strike="noStrike" dirty="0" err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області</a:t>
                      </a:r>
                      <a:endParaRPr lang="ru-RU" sz="1000" b="1" i="0" u="none" strike="noStrike" dirty="0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 fontAlgn="ctr"/>
                      <a:r>
                        <a:rPr lang="ru-RU" sz="1000" b="1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(станом на 01.03.2024)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uk-UA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01282223"/>
                  </a:ext>
                </a:extLst>
              </a:tr>
              <a:tr h="243785"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000" b="1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Всього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000" b="1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померло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10410950"/>
                  </a:ext>
                </a:extLst>
              </a:tr>
              <a:tr h="179445"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000" b="1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0,9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000" b="1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0,1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38842328"/>
                  </a:ext>
                </a:extLst>
              </a:tr>
            </a:tbl>
          </a:graphicData>
        </a:graphic>
      </p:graphicFrame>
      <p:graphicFrame>
        <p:nvGraphicFramePr>
          <p:cNvPr id="11" name="Діаграма 10">
            <a:extLst>
              <a:ext uri="{FF2B5EF4-FFF2-40B4-BE49-F238E27FC236}">
                <a16:creationId xmlns:a16="http://schemas.microsoft.com/office/drawing/2014/main" id="{B86CBF83-DAFA-4E48-A7E3-EAD26C15BD59}"/>
              </a:ext>
            </a:extLst>
          </p:cNvPr>
          <p:cNvGraphicFramePr/>
          <p:nvPr/>
        </p:nvGraphicFramePr>
        <p:xfrm>
          <a:off x="9948920" y="5018473"/>
          <a:ext cx="2134023" cy="178104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33939733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кутник 3">
            <a:extLst>
              <a:ext uri="{FF2B5EF4-FFF2-40B4-BE49-F238E27FC236}">
                <a16:creationId xmlns:a16="http://schemas.microsoft.com/office/drawing/2014/main" id="{5CD39874-DED0-928E-6CE3-CB61DA800244}"/>
              </a:ext>
            </a:extLst>
          </p:cNvPr>
          <p:cNvSpPr/>
          <p:nvPr/>
        </p:nvSpPr>
        <p:spPr>
          <a:xfrm>
            <a:off x="9033036" y="771425"/>
            <a:ext cx="2767005" cy="829711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fontAlgn="ctr"/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4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КНП</a:t>
            </a:r>
            <a:r>
              <a:rPr lang="ru-RU" sz="1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ЛОР </a:t>
            </a:r>
            <a:r>
              <a:rPr lang="ru-RU" sz="1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«</a:t>
            </a:r>
            <a:r>
              <a:rPr lang="ru-RU" sz="14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Львівська</a:t>
            </a:r>
            <a:r>
              <a:rPr lang="ru-RU" sz="1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4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обласна</a:t>
            </a:r>
            <a:r>
              <a:rPr lang="ru-RU" sz="1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4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клінічна</a:t>
            </a:r>
            <a:r>
              <a:rPr lang="ru-RU" sz="1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4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лікарня</a:t>
            </a:r>
            <a:r>
              <a:rPr lang="ru-RU" sz="1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»</a:t>
            </a:r>
          </a:p>
        </p:txBody>
      </p:sp>
      <p:sp>
        <p:nvSpPr>
          <p:cNvPr id="7" name="Прямокутник 6">
            <a:extLst>
              <a:ext uri="{FF2B5EF4-FFF2-40B4-BE49-F238E27FC236}">
                <a16:creationId xmlns:a16="http://schemas.microsoft.com/office/drawing/2014/main" id="{813F1F7A-FF1E-3CF6-C544-EB1071626DA9}"/>
              </a:ext>
            </a:extLst>
          </p:cNvPr>
          <p:cNvSpPr/>
          <p:nvPr/>
        </p:nvSpPr>
        <p:spPr>
          <a:xfrm>
            <a:off x="313432" y="845122"/>
            <a:ext cx="2761035" cy="829712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uk-UA" sz="1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КНП </a:t>
            </a:r>
            <a:r>
              <a:rPr lang="uk-UA" sz="1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«</a:t>
            </a:r>
            <a:r>
              <a:rPr lang="uk-UA" sz="14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Новояворівська</a:t>
            </a:r>
            <a:r>
              <a:rPr lang="uk-UA" sz="1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лікарня ім. </a:t>
            </a:r>
            <a:r>
              <a:rPr lang="uk-UA" sz="14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Ю.Липи</a:t>
            </a:r>
            <a:r>
              <a:rPr lang="uk-UA" sz="1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» </a:t>
            </a:r>
            <a:r>
              <a:rPr lang="uk-UA" sz="14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Новояворівської</a:t>
            </a:r>
            <a:r>
              <a:rPr lang="uk-UA" sz="1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міської ради</a:t>
            </a:r>
            <a:endParaRPr lang="uk-UA" sz="1400" dirty="0">
              <a:solidFill>
                <a:srgbClr val="002060"/>
              </a:solidFill>
              <a:effectLst/>
              <a:latin typeface="Arial" panose="020B0604020202020204" pitchFamily="34" charset="0"/>
              <a:ea typeface="Gill Sans MT" panose="020B0502020104020203" pitchFamily="34" charset="0"/>
              <a:cs typeface="Arial" panose="020B0604020202020204" pitchFamily="34" charset="0"/>
            </a:endParaRPr>
          </a:p>
        </p:txBody>
      </p:sp>
      <p:sp>
        <p:nvSpPr>
          <p:cNvPr id="9" name="Прямокутник 8">
            <a:extLst>
              <a:ext uri="{FF2B5EF4-FFF2-40B4-BE49-F238E27FC236}">
                <a16:creationId xmlns:a16="http://schemas.microsoft.com/office/drawing/2014/main" id="{BA7C5C63-1BB5-9437-6267-2256630B27A2}"/>
              </a:ext>
            </a:extLst>
          </p:cNvPr>
          <p:cNvSpPr/>
          <p:nvPr/>
        </p:nvSpPr>
        <p:spPr>
          <a:xfrm>
            <a:off x="316313" y="3219895"/>
            <a:ext cx="2761035" cy="826149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sz="14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КНП</a:t>
            </a:r>
            <a:r>
              <a:rPr lang="ru-RU" sz="1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4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Самбірської</a:t>
            </a:r>
            <a:r>
              <a:rPr lang="ru-RU" sz="1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4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міської</a:t>
            </a:r>
            <a:r>
              <a:rPr lang="ru-RU" sz="1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ради </a:t>
            </a:r>
            <a:r>
              <a:rPr lang="ru-RU" sz="1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«</a:t>
            </a:r>
            <a:r>
              <a:rPr lang="ru-RU" sz="14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Самбірська</a:t>
            </a:r>
            <a:r>
              <a:rPr lang="ru-RU" sz="1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центральна </a:t>
            </a:r>
            <a:r>
              <a:rPr lang="ru-RU" sz="14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лікарня</a:t>
            </a:r>
            <a:r>
              <a:rPr lang="ru-RU" sz="1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»</a:t>
            </a:r>
            <a:endParaRPr lang="uk-UA" sz="1400" b="1" dirty="0">
              <a:solidFill>
                <a:srgbClr val="002060"/>
              </a:solidFill>
              <a:effectLst/>
              <a:latin typeface="Arial" panose="020B0604020202020204" pitchFamily="34" charset="0"/>
              <a:ea typeface="Gill Sans MT" panose="020B0502020104020203" pitchFamily="34" charset="0"/>
              <a:cs typeface="Arial" panose="020B0604020202020204" pitchFamily="34" charset="0"/>
            </a:endParaRPr>
          </a:p>
        </p:txBody>
      </p:sp>
      <p:sp>
        <p:nvSpPr>
          <p:cNvPr id="10" name="Прямокутник 9">
            <a:extLst>
              <a:ext uri="{FF2B5EF4-FFF2-40B4-BE49-F238E27FC236}">
                <a16:creationId xmlns:a16="http://schemas.microsoft.com/office/drawing/2014/main" id="{C6AE3963-04C0-2281-A17B-0092A777A203}"/>
              </a:ext>
            </a:extLst>
          </p:cNvPr>
          <p:cNvSpPr/>
          <p:nvPr/>
        </p:nvSpPr>
        <p:spPr>
          <a:xfrm>
            <a:off x="313432" y="5591106"/>
            <a:ext cx="2761035" cy="905802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fontAlgn="ctr"/>
            <a:r>
              <a:rPr lang="uk-UA" sz="1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КНП </a:t>
            </a:r>
            <a:r>
              <a:rPr lang="uk-UA" sz="1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«Дрогобицька міська лікарня № 1» </a:t>
            </a:r>
            <a:r>
              <a:rPr lang="uk-UA" sz="1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Дрогобицької міської ради</a:t>
            </a:r>
          </a:p>
        </p:txBody>
      </p:sp>
      <p:sp>
        <p:nvSpPr>
          <p:cNvPr id="11" name="Прямокутник 10">
            <a:extLst>
              <a:ext uri="{FF2B5EF4-FFF2-40B4-BE49-F238E27FC236}">
                <a16:creationId xmlns:a16="http://schemas.microsoft.com/office/drawing/2014/main" id="{B9520AA3-3F8A-4D04-AC41-A56385D2268B}"/>
              </a:ext>
            </a:extLst>
          </p:cNvPr>
          <p:cNvSpPr/>
          <p:nvPr/>
        </p:nvSpPr>
        <p:spPr>
          <a:xfrm>
            <a:off x="4565760" y="1055441"/>
            <a:ext cx="3060478" cy="583310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fontAlgn="ctr"/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4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КНП</a:t>
            </a:r>
            <a:r>
              <a:rPr lang="ru-RU" sz="1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ЛОР </a:t>
            </a:r>
            <a:r>
              <a:rPr lang="ru-RU" sz="1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«</a:t>
            </a:r>
            <a:r>
              <a:rPr lang="ru-RU" sz="14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Львівський</a:t>
            </a:r>
            <a:r>
              <a:rPr lang="ru-RU" sz="1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4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обласний</a:t>
            </a:r>
            <a:r>
              <a:rPr lang="ru-RU" sz="1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4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госпіталь</a:t>
            </a:r>
            <a:r>
              <a:rPr lang="ru-RU" sz="1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4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ВВтаР</a:t>
            </a:r>
            <a:r>
              <a:rPr lang="ru-RU" sz="1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4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ім</a:t>
            </a:r>
            <a:r>
              <a:rPr lang="ru-RU" sz="1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Ю. </a:t>
            </a:r>
            <a:r>
              <a:rPr lang="ru-RU" sz="14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Липи</a:t>
            </a:r>
            <a:r>
              <a:rPr lang="ru-RU" sz="1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»</a:t>
            </a:r>
          </a:p>
        </p:txBody>
      </p:sp>
      <p:sp>
        <p:nvSpPr>
          <p:cNvPr id="13" name="Прямокутник 12">
            <a:extLst>
              <a:ext uri="{FF2B5EF4-FFF2-40B4-BE49-F238E27FC236}">
                <a16:creationId xmlns:a16="http://schemas.microsoft.com/office/drawing/2014/main" id="{1DECEE54-93E1-4E68-8839-045DC3549925}"/>
              </a:ext>
            </a:extLst>
          </p:cNvPr>
          <p:cNvSpPr/>
          <p:nvPr/>
        </p:nvSpPr>
        <p:spPr>
          <a:xfrm>
            <a:off x="8616679" y="5629213"/>
            <a:ext cx="2844390" cy="905802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fontAlgn="ctr"/>
            <a:r>
              <a:rPr lang="ru-RU" sz="16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КНП</a:t>
            </a:r>
            <a:r>
              <a:rPr lang="ru-RU" sz="16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6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Буської</a:t>
            </a:r>
            <a:r>
              <a:rPr lang="ru-RU" sz="16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6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міської</a:t>
            </a:r>
            <a:r>
              <a:rPr lang="ru-RU" sz="16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ради «</a:t>
            </a:r>
            <a:r>
              <a:rPr lang="ru-RU" sz="16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Буська</a:t>
            </a:r>
            <a:r>
              <a:rPr lang="ru-RU" sz="16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центральна </a:t>
            </a:r>
            <a:r>
              <a:rPr lang="ru-RU" sz="16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районна</a:t>
            </a:r>
            <a:r>
              <a:rPr lang="ru-RU" sz="16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6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лiкарня</a:t>
            </a:r>
            <a:r>
              <a:rPr lang="ru-RU" sz="16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»</a:t>
            </a:r>
          </a:p>
        </p:txBody>
      </p:sp>
      <p:sp>
        <p:nvSpPr>
          <p:cNvPr id="16" name="Прямокутник 15">
            <a:extLst>
              <a:ext uri="{FF2B5EF4-FFF2-40B4-BE49-F238E27FC236}">
                <a16:creationId xmlns:a16="http://schemas.microsoft.com/office/drawing/2014/main" id="{378E831E-A9C4-4F9D-B74F-D2A273D25E08}"/>
              </a:ext>
            </a:extLst>
          </p:cNvPr>
          <p:cNvSpPr/>
          <p:nvPr/>
        </p:nvSpPr>
        <p:spPr>
          <a:xfrm>
            <a:off x="8933528" y="2990764"/>
            <a:ext cx="2844391" cy="726114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fontAlgn="ctr"/>
            <a:r>
              <a:rPr lang="ru-RU" sz="1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КП </a:t>
            </a:r>
            <a:r>
              <a:rPr lang="ru-RU" sz="1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«Центральна </a:t>
            </a:r>
            <a:r>
              <a:rPr lang="ru-RU" sz="14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міська</a:t>
            </a:r>
            <a:r>
              <a:rPr lang="ru-RU" sz="1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4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лікарня</a:t>
            </a:r>
            <a:r>
              <a:rPr lang="ru-RU" sz="1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4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Червоноградської</a:t>
            </a:r>
            <a:r>
              <a:rPr lang="ru-RU" sz="1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4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міської</a:t>
            </a:r>
            <a:r>
              <a:rPr lang="ru-RU" sz="1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ради»</a:t>
            </a:r>
          </a:p>
        </p:txBody>
      </p:sp>
      <p:cxnSp>
        <p:nvCxnSpPr>
          <p:cNvPr id="19" name="Пряма сполучна лінія 18">
            <a:extLst>
              <a:ext uri="{FF2B5EF4-FFF2-40B4-BE49-F238E27FC236}">
                <a16:creationId xmlns:a16="http://schemas.microsoft.com/office/drawing/2014/main" id="{FFAE5D60-66E6-4C14-A340-60AD4C93124A}"/>
              </a:ext>
            </a:extLst>
          </p:cNvPr>
          <p:cNvCxnSpPr>
            <a:cxnSpLocks/>
            <a:stCxn id="9" idx="0"/>
            <a:endCxn id="9" idx="0"/>
          </p:cNvCxnSpPr>
          <p:nvPr/>
        </p:nvCxnSpPr>
        <p:spPr>
          <a:xfrm>
            <a:off x="1696831" y="3219895"/>
            <a:ext cx="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Пряма зі стрілкою 34">
            <a:extLst>
              <a:ext uri="{FF2B5EF4-FFF2-40B4-BE49-F238E27FC236}">
                <a16:creationId xmlns:a16="http://schemas.microsoft.com/office/drawing/2014/main" id="{23A17B8B-756F-4B18-8666-2098506AB8B3}"/>
              </a:ext>
            </a:extLst>
          </p:cNvPr>
          <p:cNvCxnSpPr>
            <a:cxnSpLocks/>
            <a:stCxn id="10" idx="0"/>
          </p:cNvCxnSpPr>
          <p:nvPr/>
        </p:nvCxnSpPr>
        <p:spPr>
          <a:xfrm flipV="1">
            <a:off x="1693950" y="4222122"/>
            <a:ext cx="2576308" cy="136898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Пряма зі стрілкою 36">
            <a:extLst>
              <a:ext uri="{FF2B5EF4-FFF2-40B4-BE49-F238E27FC236}">
                <a16:creationId xmlns:a16="http://schemas.microsoft.com/office/drawing/2014/main" id="{918AC194-2B85-4C8C-A51E-C27A5910027B}"/>
              </a:ext>
            </a:extLst>
          </p:cNvPr>
          <p:cNvCxnSpPr>
            <a:cxnSpLocks/>
          </p:cNvCxnSpPr>
          <p:nvPr/>
        </p:nvCxnSpPr>
        <p:spPr>
          <a:xfrm flipH="1">
            <a:off x="8062929" y="1657292"/>
            <a:ext cx="2246725" cy="8691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FBDD66B9-A9E5-4C12-8CA4-FA7E500FE758}"/>
              </a:ext>
            </a:extLst>
          </p:cNvPr>
          <p:cNvCxnSpPr>
            <a:cxnSpLocks/>
          </p:cNvCxnSpPr>
          <p:nvPr/>
        </p:nvCxnSpPr>
        <p:spPr>
          <a:xfrm flipV="1">
            <a:off x="6079946" y="4328603"/>
            <a:ext cx="0" cy="130581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7B0D963F-241D-4B4A-98A0-71ADFF17BC58}"/>
              </a:ext>
            </a:extLst>
          </p:cNvPr>
          <p:cNvCxnSpPr>
            <a:cxnSpLocks/>
          </p:cNvCxnSpPr>
          <p:nvPr/>
        </p:nvCxnSpPr>
        <p:spPr>
          <a:xfrm>
            <a:off x="6095999" y="1638751"/>
            <a:ext cx="0" cy="65267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Пряма зі стрілкою 11">
            <a:extLst>
              <a:ext uri="{FF2B5EF4-FFF2-40B4-BE49-F238E27FC236}">
                <a16:creationId xmlns:a16="http://schemas.microsoft.com/office/drawing/2014/main" id="{1868F8A2-6639-457D-B795-F249133A69E6}"/>
              </a:ext>
            </a:extLst>
          </p:cNvPr>
          <p:cNvCxnSpPr>
            <a:cxnSpLocks/>
          </p:cNvCxnSpPr>
          <p:nvPr/>
        </p:nvCxnSpPr>
        <p:spPr>
          <a:xfrm>
            <a:off x="1693949" y="1694195"/>
            <a:ext cx="2474026" cy="86119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AutoShape 12">
            <a:extLst>
              <a:ext uri="{FF2B5EF4-FFF2-40B4-BE49-F238E27FC236}">
                <a16:creationId xmlns:a16="http://schemas.microsoft.com/office/drawing/2014/main" id="{5F714E17-E578-44EB-9FA0-D7D9657120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29071" y="2328970"/>
            <a:ext cx="3933857" cy="1962086"/>
          </a:xfrm>
          <a:prstGeom prst="flowChartAlternateProcess">
            <a:avLst/>
          </a:prstGeom>
          <a:solidFill>
            <a:srgbClr val="0066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defRPr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1pPr>
            <a:lvl2pPr marL="742950" indent="-285750" algn="ctr">
              <a:defRPr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2pPr>
            <a:lvl3pPr marL="1143000" indent="-228600" algn="ctr">
              <a:defRPr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3pPr>
            <a:lvl4pPr marL="1600200" indent="-228600" algn="ctr">
              <a:defRPr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4pPr>
            <a:lvl5pPr marL="2057400" indent="-228600" algn="ctr">
              <a:defRPr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9pPr>
          </a:lstStyle>
          <a:p>
            <a:r>
              <a:rPr lang="uk-UA" sz="2000" dirty="0">
                <a:solidFill>
                  <a:schemeClr val="bg1"/>
                </a:solidFill>
                <a:latin typeface="+mn-lt"/>
                <a:cs typeface="Times New Roman" panose="02020603050405020304" pitchFamily="18" charset="0"/>
              </a:rPr>
              <a:t>КНП </a:t>
            </a:r>
            <a:r>
              <a:rPr lang="uk-UA" sz="2000" dirty="0">
                <a:solidFill>
                  <a:schemeClr val="bg1"/>
                </a:solidFill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«</a:t>
            </a:r>
            <a:r>
              <a:rPr lang="uk-UA" sz="2000" b="1" dirty="0">
                <a:solidFill>
                  <a:schemeClr val="bg1"/>
                </a:solidFill>
                <a:latin typeface="+mn-lt"/>
                <a:cs typeface="Times New Roman" panose="02020603050405020304" pitchFamily="18" charset="0"/>
              </a:rPr>
              <a:t>Львівське </a:t>
            </a:r>
            <a:r>
              <a:rPr lang="uk-UA" sz="2000" b="1" dirty="0" err="1">
                <a:solidFill>
                  <a:schemeClr val="bg1"/>
                </a:solidFill>
                <a:latin typeface="+mn-lt"/>
                <a:cs typeface="Times New Roman" panose="02020603050405020304" pitchFamily="18" charset="0"/>
              </a:rPr>
              <a:t>ТМО</a:t>
            </a:r>
            <a:r>
              <a:rPr lang="uk-UA" sz="2000" b="1" dirty="0">
                <a:solidFill>
                  <a:schemeClr val="bg1"/>
                </a:solidFill>
                <a:latin typeface="+mn-lt"/>
                <a:cs typeface="Times New Roman" panose="02020603050405020304" pitchFamily="18" charset="0"/>
              </a:rPr>
              <a:t> </a:t>
            </a:r>
          </a:p>
          <a:p>
            <a:r>
              <a:rPr lang="uk-UA" sz="2000" b="1" dirty="0">
                <a:solidFill>
                  <a:schemeClr val="bg1"/>
                </a:solidFill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«</a:t>
            </a:r>
            <a:r>
              <a:rPr lang="uk-UA" sz="2000" b="1" dirty="0">
                <a:solidFill>
                  <a:schemeClr val="bg1"/>
                </a:solidFill>
                <a:latin typeface="+mn-lt"/>
                <a:cs typeface="Times New Roman" panose="02020603050405020304" pitchFamily="18" charset="0"/>
              </a:rPr>
              <a:t>Багатопрофільна </a:t>
            </a:r>
          </a:p>
          <a:p>
            <a:r>
              <a:rPr lang="uk-UA" sz="2000" b="1" dirty="0">
                <a:solidFill>
                  <a:schemeClr val="bg1"/>
                </a:solidFill>
                <a:latin typeface="+mn-lt"/>
                <a:cs typeface="Times New Roman" panose="02020603050405020304" pitchFamily="18" charset="0"/>
              </a:rPr>
              <a:t>клінічна лікарня інтенсивних </a:t>
            </a:r>
          </a:p>
          <a:p>
            <a:r>
              <a:rPr lang="uk-UA" sz="2000" b="1" dirty="0">
                <a:solidFill>
                  <a:schemeClr val="bg1"/>
                </a:solidFill>
                <a:latin typeface="+mn-lt"/>
                <a:cs typeface="Times New Roman" panose="02020603050405020304" pitchFamily="18" charset="0"/>
              </a:rPr>
              <a:t>методів лікування та швидкої </a:t>
            </a:r>
          </a:p>
          <a:p>
            <a:r>
              <a:rPr lang="uk-UA" sz="2000" b="1" dirty="0">
                <a:solidFill>
                  <a:schemeClr val="bg1"/>
                </a:solidFill>
                <a:latin typeface="+mn-lt"/>
                <a:cs typeface="Times New Roman" panose="02020603050405020304" pitchFamily="18" charset="0"/>
              </a:rPr>
              <a:t>медичної допомоги</a:t>
            </a:r>
            <a:r>
              <a:rPr lang="uk-UA" sz="2000" b="1" dirty="0">
                <a:solidFill>
                  <a:schemeClr val="bg1"/>
                </a:solidFill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»</a:t>
            </a:r>
            <a:endParaRPr lang="uk-UA" altLang="uk-UA" sz="2000" b="1" dirty="0">
              <a:solidFill>
                <a:schemeClr val="bg1"/>
              </a:solidFill>
              <a:latin typeface="+mn-lt"/>
            </a:endParaRPr>
          </a:p>
        </p:txBody>
      </p:sp>
      <p:cxnSp>
        <p:nvCxnSpPr>
          <p:cNvPr id="41" name="Пряма зі стрілкою 40">
            <a:extLst>
              <a:ext uri="{FF2B5EF4-FFF2-40B4-BE49-F238E27FC236}">
                <a16:creationId xmlns:a16="http://schemas.microsoft.com/office/drawing/2014/main" id="{300B9571-0DBC-4F37-B998-23DF45B45BE6}"/>
              </a:ext>
            </a:extLst>
          </p:cNvPr>
          <p:cNvCxnSpPr>
            <a:cxnSpLocks/>
            <a:stCxn id="9" idx="3"/>
          </p:cNvCxnSpPr>
          <p:nvPr/>
        </p:nvCxnSpPr>
        <p:spPr>
          <a:xfrm flipV="1">
            <a:off x="3077348" y="3344306"/>
            <a:ext cx="1048842" cy="2886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Пряма зі стрілкою 53">
            <a:extLst>
              <a:ext uri="{FF2B5EF4-FFF2-40B4-BE49-F238E27FC236}">
                <a16:creationId xmlns:a16="http://schemas.microsoft.com/office/drawing/2014/main" id="{6E6168CD-5AA3-430B-8D15-912807ADD78F}"/>
              </a:ext>
            </a:extLst>
          </p:cNvPr>
          <p:cNvCxnSpPr>
            <a:cxnSpLocks/>
          </p:cNvCxnSpPr>
          <p:nvPr/>
        </p:nvCxnSpPr>
        <p:spPr>
          <a:xfrm flipH="1">
            <a:off x="8062928" y="3429000"/>
            <a:ext cx="79568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Пряма зі стрілкою 58">
            <a:extLst>
              <a:ext uri="{FF2B5EF4-FFF2-40B4-BE49-F238E27FC236}">
                <a16:creationId xmlns:a16="http://schemas.microsoft.com/office/drawing/2014/main" id="{3EBBF5B1-81AF-4129-AF8F-C33330DB280C}"/>
              </a:ext>
            </a:extLst>
          </p:cNvPr>
          <p:cNvCxnSpPr>
            <a:cxnSpLocks/>
          </p:cNvCxnSpPr>
          <p:nvPr/>
        </p:nvCxnSpPr>
        <p:spPr>
          <a:xfrm flipH="1" flipV="1">
            <a:off x="7898024" y="4254693"/>
            <a:ext cx="2240242" cy="136144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Google Shape;850;p82">
            <a:extLst>
              <a:ext uri="{FF2B5EF4-FFF2-40B4-BE49-F238E27FC236}">
                <a16:creationId xmlns:a16="http://schemas.microsoft.com/office/drawing/2014/main" id="{BEE9E8BA-7DD5-49A3-B3DD-C475A565A1D7}"/>
              </a:ext>
            </a:extLst>
          </p:cNvPr>
          <p:cNvSpPr txBox="1"/>
          <p:nvPr/>
        </p:nvSpPr>
        <p:spPr>
          <a:xfrm>
            <a:off x="2245249" y="160798"/>
            <a:ext cx="7321200" cy="4744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algn="ctr"/>
            <a:r>
              <a:rPr lang="uk-UA" sz="3000" b="1" dirty="0" err="1">
                <a:solidFill>
                  <a:srgbClr val="00206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Міжлікарняні</a:t>
            </a:r>
            <a:r>
              <a:rPr lang="uk-UA" sz="3000" b="1" dirty="0">
                <a:solidFill>
                  <a:srgbClr val="00206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 переведення хворих з </a:t>
            </a:r>
            <a:r>
              <a:rPr lang="uk-UA" sz="3000" b="1" dirty="0" err="1">
                <a:solidFill>
                  <a:srgbClr val="00206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ГМІ</a:t>
            </a:r>
            <a:endParaRPr sz="3000" b="1" dirty="0">
              <a:solidFill>
                <a:srgbClr val="002060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22" name="Прямокутник 21">
            <a:extLst>
              <a:ext uri="{FF2B5EF4-FFF2-40B4-BE49-F238E27FC236}">
                <a16:creationId xmlns:a16="http://schemas.microsoft.com/office/drawing/2014/main" id="{B4E1CCB4-1744-48DA-8D21-72C415EC07BC}"/>
              </a:ext>
            </a:extLst>
          </p:cNvPr>
          <p:cNvSpPr/>
          <p:nvPr/>
        </p:nvSpPr>
        <p:spPr>
          <a:xfrm>
            <a:off x="4542854" y="5633675"/>
            <a:ext cx="3180066" cy="905802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fontAlgn="ctr"/>
            <a:r>
              <a:rPr lang="ru-RU" sz="1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КНП </a:t>
            </a:r>
            <a:r>
              <a:rPr lang="ru-RU" sz="14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Стрийської</a:t>
            </a:r>
            <a:r>
              <a:rPr lang="ru-RU" sz="1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4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міської</a:t>
            </a:r>
            <a:r>
              <a:rPr lang="ru-RU" sz="1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ради </a:t>
            </a:r>
            <a:r>
              <a:rPr lang="ru-RU" sz="1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ТМО </a:t>
            </a:r>
            <a:r>
              <a:rPr lang="uk-UA" sz="1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«</a:t>
            </a:r>
            <a:r>
              <a:rPr lang="ru-RU" sz="14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Стрийська</a:t>
            </a:r>
            <a:r>
              <a:rPr lang="ru-RU" sz="1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4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міська</a:t>
            </a:r>
            <a:r>
              <a:rPr lang="ru-RU" sz="1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4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об'єднана</a:t>
            </a:r>
            <a:r>
              <a:rPr lang="ru-RU" sz="1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4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лікарня</a:t>
            </a:r>
            <a:r>
              <a:rPr lang="uk-UA" sz="1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»</a:t>
            </a:r>
            <a:r>
              <a:rPr lang="ru-RU" sz="1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1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ВП</a:t>
            </a:r>
            <a:r>
              <a:rPr lang="ru-RU" sz="1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uk-UA" sz="1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«</a:t>
            </a:r>
            <a:r>
              <a:rPr lang="ru-RU" sz="14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Лікарня</a:t>
            </a:r>
            <a:r>
              <a:rPr lang="ru-RU" sz="1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4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інтенсивного</a:t>
            </a:r>
            <a:r>
              <a:rPr lang="ru-RU" sz="1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4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лікування</a:t>
            </a:r>
            <a:r>
              <a:rPr lang="uk-UA" sz="1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»</a:t>
            </a:r>
            <a:endParaRPr lang="ru-RU" sz="14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Прямокутник 24">
            <a:extLst>
              <a:ext uri="{FF2B5EF4-FFF2-40B4-BE49-F238E27FC236}">
                <a16:creationId xmlns:a16="http://schemas.microsoft.com/office/drawing/2014/main" id="{E5600635-C145-4AFF-91E4-58264386B6F2}"/>
              </a:ext>
            </a:extLst>
          </p:cNvPr>
          <p:cNvSpPr/>
          <p:nvPr/>
        </p:nvSpPr>
        <p:spPr>
          <a:xfrm>
            <a:off x="3419925" y="3282271"/>
            <a:ext cx="375697" cy="317336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fontAlgn="ctr"/>
            <a:r>
              <a:rPr lang="ru-RU" sz="1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6</a:t>
            </a:r>
            <a:endParaRPr lang="ru-RU" sz="12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4" name="Пряма зі стрілкою 13">
            <a:extLst>
              <a:ext uri="{FF2B5EF4-FFF2-40B4-BE49-F238E27FC236}">
                <a16:creationId xmlns:a16="http://schemas.microsoft.com/office/drawing/2014/main" id="{5ECC7536-912E-41A1-A1AA-16B065623825}"/>
              </a:ext>
            </a:extLst>
          </p:cNvPr>
          <p:cNvCxnSpPr>
            <a:cxnSpLocks/>
            <a:stCxn id="7" idx="3"/>
            <a:endCxn id="11" idx="1"/>
          </p:cNvCxnSpPr>
          <p:nvPr/>
        </p:nvCxnSpPr>
        <p:spPr>
          <a:xfrm>
            <a:off x="3074467" y="1259978"/>
            <a:ext cx="1491293" cy="8711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Пряма зі стрілкою 20">
            <a:extLst>
              <a:ext uri="{FF2B5EF4-FFF2-40B4-BE49-F238E27FC236}">
                <a16:creationId xmlns:a16="http://schemas.microsoft.com/office/drawing/2014/main" id="{76651148-E76E-4E75-94AB-E9FAA325393C}"/>
              </a:ext>
            </a:extLst>
          </p:cNvPr>
          <p:cNvCxnSpPr>
            <a:cxnSpLocks/>
            <a:stCxn id="4" idx="1"/>
            <a:endCxn id="11" idx="3"/>
          </p:cNvCxnSpPr>
          <p:nvPr/>
        </p:nvCxnSpPr>
        <p:spPr>
          <a:xfrm flipH="1">
            <a:off x="7626238" y="1186281"/>
            <a:ext cx="1406798" cy="16081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Прямокутник 44">
            <a:extLst>
              <a:ext uri="{FF2B5EF4-FFF2-40B4-BE49-F238E27FC236}">
                <a16:creationId xmlns:a16="http://schemas.microsoft.com/office/drawing/2014/main" id="{E1FD42DA-5CB3-4F1A-8F29-1AE63350634D}"/>
              </a:ext>
            </a:extLst>
          </p:cNvPr>
          <p:cNvSpPr/>
          <p:nvPr/>
        </p:nvSpPr>
        <p:spPr>
          <a:xfrm>
            <a:off x="3419925" y="2209135"/>
            <a:ext cx="375697" cy="325851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fontAlgn="ctr"/>
            <a:r>
              <a:rPr lang="ru-RU" sz="1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r>
            <a:endParaRPr lang="ru-RU" sz="12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3" name="Прямокутник 92">
            <a:extLst>
              <a:ext uri="{FF2B5EF4-FFF2-40B4-BE49-F238E27FC236}">
                <a16:creationId xmlns:a16="http://schemas.microsoft.com/office/drawing/2014/main" id="{E019DA87-FCC6-4638-B918-F7389EC4AF23}"/>
              </a:ext>
            </a:extLst>
          </p:cNvPr>
          <p:cNvSpPr/>
          <p:nvPr/>
        </p:nvSpPr>
        <p:spPr>
          <a:xfrm>
            <a:off x="3413920" y="4427583"/>
            <a:ext cx="375697" cy="325851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fontAlgn="ctr"/>
            <a:r>
              <a:rPr lang="ru-RU" sz="1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r>
            <a:endParaRPr lang="ru-RU" sz="12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7" name="Прямокутник 96">
            <a:extLst>
              <a:ext uri="{FF2B5EF4-FFF2-40B4-BE49-F238E27FC236}">
                <a16:creationId xmlns:a16="http://schemas.microsoft.com/office/drawing/2014/main" id="{96B68A30-2363-4728-8D79-041C8B73CA5C}"/>
              </a:ext>
            </a:extLst>
          </p:cNvPr>
          <p:cNvSpPr/>
          <p:nvPr/>
        </p:nvSpPr>
        <p:spPr>
          <a:xfrm>
            <a:off x="3413920" y="1184170"/>
            <a:ext cx="375697" cy="325851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fontAlgn="ctr"/>
            <a:r>
              <a:rPr lang="ru-RU" sz="1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1</a:t>
            </a:r>
            <a:endParaRPr lang="ru-RU" sz="12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8" name="Прямокутник 97">
            <a:extLst>
              <a:ext uri="{FF2B5EF4-FFF2-40B4-BE49-F238E27FC236}">
                <a16:creationId xmlns:a16="http://schemas.microsoft.com/office/drawing/2014/main" id="{782B31AE-CB1A-4D55-8560-810C16E36787}"/>
              </a:ext>
            </a:extLst>
          </p:cNvPr>
          <p:cNvSpPr/>
          <p:nvPr/>
        </p:nvSpPr>
        <p:spPr>
          <a:xfrm>
            <a:off x="8311881" y="1021244"/>
            <a:ext cx="375697" cy="325851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fontAlgn="ctr"/>
            <a:r>
              <a:rPr lang="ru-RU" sz="1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1</a:t>
            </a:r>
            <a:endParaRPr lang="ru-RU" sz="12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9" name="Прямокутник 98">
            <a:extLst>
              <a:ext uri="{FF2B5EF4-FFF2-40B4-BE49-F238E27FC236}">
                <a16:creationId xmlns:a16="http://schemas.microsoft.com/office/drawing/2014/main" id="{AA0F6283-282E-4965-863E-BD050314C89D}"/>
              </a:ext>
            </a:extLst>
          </p:cNvPr>
          <p:cNvSpPr/>
          <p:nvPr/>
        </p:nvSpPr>
        <p:spPr>
          <a:xfrm>
            <a:off x="5945038" y="1716485"/>
            <a:ext cx="336508" cy="325851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fontAlgn="ctr"/>
            <a:r>
              <a:rPr lang="ru-RU" sz="1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3</a:t>
            </a:r>
            <a:endParaRPr lang="ru-RU" sz="12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0" name="Прямокутник 99">
            <a:extLst>
              <a:ext uri="{FF2B5EF4-FFF2-40B4-BE49-F238E27FC236}">
                <a16:creationId xmlns:a16="http://schemas.microsoft.com/office/drawing/2014/main" id="{0928170B-3AA1-49FE-A7DA-D8C3D7F3A03A}"/>
              </a:ext>
            </a:extLst>
          </p:cNvPr>
          <p:cNvSpPr/>
          <p:nvPr/>
        </p:nvSpPr>
        <p:spPr>
          <a:xfrm>
            <a:off x="8355955" y="2213398"/>
            <a:ext cx="375697" cy="325851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fontAlgn="ctr"/>
            <a:r>
              <a:rPr lang="ru-RU" sz="1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3</a:t>
            </a:r>
            <a:endParaRPr lang="ru-RU" sz="12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3" name="Прямокутник 102">
            <a:extLst>
              <a:ext uri="{FF2B5EF4-FFF2-40B4-BE49-F238E27FC236}">
                <a16:creationId xmlns:a16="http://schemas.microsoft.com/office/drawing/2014/main" id="{F87E1958-2501-44F5-9F56-A37DFBD2FBF0}"/>
              </a:ext>
            </a:extLst>
          </p:cNvPr>
          <p:cNvSpPr/>
          <p:nvPr/>
        </p:nvSpPr>
        <p:spPr>
          <a:xfrm>
            <a:off x="8329637" y="4510120"/>
            <a:ext cx="375697" cy="325851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fontAlgn="ctr"/>
            <a:r>
              <a:rPr lang="ru-RU" sz="1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3</a:t>
            </a:r>
            <a:endParaRPr lang="ru-RU" sz="12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" name="Прямокутник 103">
            <a:extLst>
              <a:ext uri="{FF2B5EF4-FFF2-40B4-BE49-F238E27FC236}">
                <a16:creationId xmlns:a16="http://schemas.microsoft.com/office/drawing/2014/main" id="{1587D094-4516-49EE-8EAC-2CC693DF7A38}"/>
              </a:ext>
            </a:extLst>
          </p:cNvPr>
          <p:cNvSpPr/>
          <p:nvPr/>
        </p:nvSpPr>
        <p:spPr>
          <a:xfrm>
            <a:off x="5905849" y="4826505"/>
            <a:ext cx="375697" cy="325851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fontAlgn="ctr"/>
            <a:r>
              <a:rPr lang="ru-RU" sz="1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2</a:t>
            </a:r>
            <a:endParaRPr lang="ru-RU" sz="12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5" name="Прямокутник 104">
            <a:extLst>
              <a:ext uri="{FF2B5EF4-FFF2-40B4-BE49-F238E27FC236}">
                <a16:creationId xmlns:a16="http://schemas.microsoft.com/office/drawing/2014/main" id="{E926E6D3-CE2C-4B92-8ED4-811BB77A85EC}"/>
              </a:ext>
            </a:extLst>
          </p:cNvPr>
          <p:cNvSpPr/>
          <p:nvPr/>
        </p:nvSpPr>
        <p:spPr>
          <a:xfrm>
            <a:off x="8355955" y="3229064"/>
            <a:ext cx="375697" cy="325851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fontAlgn="ctr"/>
            <a:r>
              <a:rPr lang="ru-RU" sz="1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4</a:t>
            </a:r>
            <a:endParaRPr lang="ru-RU" sz="12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3040936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" name="Google Shape;849;p82"/>
          <p:cNvSpPr txBox="1"/>
          <p:nvPr/>
        </p:nvSpPr>
        <p:spPr>
          <a:xfrm>
            <a:off x="4706483" y="3135891"/>
            <a:ext cx="2264800" cy="1354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67" tIns="121867" rIns="121867" bIns="121867" anchor="t" anchorCtr="0">
            <a:spAutoFit/>
          </a:bodyPr>
          <a:lstStyle/>
          <a:p>
            <a:pPr>
              <a:buClr>
                <a:srgbClr val="FFFFFF"/>
              </a:buClr>
              <a:buSzPts val="5400"/>
            </a:pPr>
            <a:r>
              <a:rPr lang="en" sz="7200" b="1">
                <a:solidFill>
                  <a:srgbClr val="FFFFFF"/>
                </a:solidFill>
                <a:latin typeface="Arial Narrow"/>
                <a:ea typeface="Arial Narrow"/>
                <a:cs typeface="Arial Narrow"/>
                <a:sym typeface="Arial Narrow"/>
              </a:rPr>
              <a:t>ЦБД</a:t>
            </a:r>
            <a:endParaRPr sz="1867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0" name="Google Shape;850;p82"/>
          <p:cNvSpPr txBox="1"/>
          <p:nvPr/>
        </p:nvSpPr>
        <p:spPr>
          <a:xfrm>
            <a:off x="334158" y="220572"/>
            <a:ext cx="11523684" cy="4744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algn="ctr"/>
            <a:r>
              <a:rPr lang="uk-UA" sz="3000" b="1" dirty="0">
                <a:solidFill>
                  <a:srgbClr val="00206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Загальна кількість пролікованих хворих з ГМІ і летальність </a:t>
            </a:r>
            <a:endParaRPr sz="3000" b="1" strike="sngStrike" dirty="0">
              <a:solidFill>
                <a:srgbClr val="002060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graphicFrame>
        <p:nvGraphicFramePr>
          <p:cNvPr id="5" name="Таблиця 4">
            <a:extLst>
              <a:ext uri="{FF2B5EF4-FFF2-40B4-BE49-F238E27FC236}">
                <a16:creationId xmlns:a16="http://schemas.microsoft.com/office/drawing/2014/main" id="{DB2C4B8C-53EC-4AF2-9D8A-B134E8961EF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66778735"/>
              </p:ext>
            </p:extLst>
          </p:nvPr>
        </p:nvGraphicFramePr>
        <p:xfrm>
          <a:off x="434519" y="914559"/>
          <a:ext cx="11523683" cy="5722869"/>
        </p:xfrm>
        <a:graphic>
          <a:graphicData uri="http://schemas.openxmlformats.org/drawingml/2006/table">
            <a:tbl>
              <a:tblPr/>
              <a:tblGrid>
                <a:gridCol w="424557">
                  <a:extLst>
                    <a:ext uri="{9D8B030D-6E8A-4147-A177-3AD203B41FA5}">
                      <a16:colId xmlns:a16="http://schemas.microsoft.com/office/drawing/2014/main" val="3582385581"/>
                    </a:ext>
                  </a:extLst>
                </a:gridCol>
                <a:gridCol w="3605787">
                  <a:extLst>
                    <a:ext uri="{9D8B030D-6E8A-4147-A177-3AD203B41FA5}">
                      <a16:colId xmlns:a16="http://schemas.microsoft.com/office/drawing/2014/main" val="4279497052"/>
                    </a:ext>
                  </a:extLst>
                </a:gridCol>
                <a:gridCol w="669466">
                  <a:extLst>
                    <a:ext uri="{9D8B030D-6E8A-4147-A177-3AD203B41FA5}">
                      <a16:colId xmlns:a16="http://schemas.microsoft.com/office/drawing/2014/main" val="3766661459"/>
                    </a:ext>
                  </a:extLst>
                </a:gridCol>
                <a:gridCol w="633599">
                  <a:extLst>
                    <a:ext uri="{9D8B030D-6E8A-4147-A177-3AD203B41FA5}">
                      <a16:colId xmlns:a16="http://schemas.microsoft.com/office/drawing/2014/main" val="3663862443"/>
                    </a:ext>
                  </a:extLst>
                </a:gridCol>
                <a:gridCol w="633599">
                  <a:extLst>
                    <a:ext uri="{9D8B030D-6E8A-4147-A177-3AD203B41FA5}">
                      <a16:colId xmlns:a16="http://schemas.microsoft.com/office/drawing/2014/main" val="4076504949"/>
                    </a:ext>
                  </a:extLst>
                </a:gridCol>
                <a:gridCol w="669466">
                  <a:extLst>
                    <a:ext uri="{9D8B030D-6E8A-4147-A177-3AD203B41FA5}">
                      <a16:colId xmlns:a16="http://schemas.microsoft.com/office/drawing/2014/main" val="96449778"/>
                    </a:ext>
                  </a:extLst>
                </a:gridCol>
                <a:gridCol w="536161">
                  <a:extLst>
                    <a:ext uri="{9D8B030D-6E8A-4147-A177-3AD203B41FA5}">
                      <a16:colId xmlns:a16="http://schemas.microsoft.com/office/drawing/2014/main" val="770489332"/>
                    </a:ext>
                  </a:extLst>
                </a:gridCol>
                <a:gridCol w="633599">
                  <a:extLst>
                    <a:ext uri="{9D8B030D-6E8A-4147-A177-3AD203B41FA5}">
                      <a16:colId xmlns:a16="http://schemas.microsoft.com/office/drawing/2014/main" val="770754753"/>
                    </a:ext>
                  </a:extLst>
                </a:gridCol>
                <a:gridCol w="633599">
                  <a:extLst>
                    <a:ext uri="{9D8B030D-6E8A-4147-A177-3AD203B41FA5}">
                      <a16:colId xmlns:a16="http://schemas.microsoft.com/office/drawing/2014/main" val="2317469279"/>
                    </a:ext>
                  </a:extLst>
                </a:gridCol>
                <a:gridCol w="680745">
                  <a:extLst>
                    <a:ext uri="{9D8B030D-6E8A-4147-A177-3AD203B41FA5}">
                      <a16:colId xmlns:a16="http://schemas.microsoft.com/office/drawing/2014/main" val="385462907"/>
                    </a:ext>
                  </a:extLst>
                </a:gridCol>
                <a:gridCol w="669466">
                  <a:extLst>
                    <a:ext uri="{9D8B030D-6E8A-4147-A177-3AD203B41FA5}">
                      <a16:colId xmlns:a16="http://schemas.microsoft.com/office/drawing/2014/main" val="3168374601"/>
                    </a:ext>
                  </a:extLst>
                </a:gridCol>
                <a:gridCol w="523214">
                  <a:extLst>
                    <a:ext uri="{9D8B030D-6E8A-4147-A177-3AD203B41FA5}">
                      <a16:colId xmlns:a16="http://schemas.microsoft.com/office/drawing/2014/main" val="2195140635"/>
                    </a:ext>
                  </a:extLst>
                </a:gridCol>
                <a:gridCol w="573835">
                  <a:extLst>
                    <a:ext uri="{9D8B030D-6E8A-4147-A177-3AD203B41FA5}">
                      <a16:colId xmlns:a16="http://schemas.microsoft.com/office/drawing/2014/main" val="1713767210"/>
                    </a:ext>
                  </a:extLst>
                </a:gridCol>
                <a:gridCol w="636590">
                  <a:extLst>
                    <a:ext uri="{9D8B030D-6E8A-4147-A177-3AD203B41FA5}">
                      <a16:colId xmlns:a16="http://schemas.microsoft.com/office/drawing/2014/main" val="4057677221"/>
                    </a:ext>
                  </a:extLst>
                </a:gridCol>
              </a:tblGrid>
              <a:tr h="444232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uk-UA" sz="1100" b="1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№ </a:t>
                      </a:r>
                      <a:br>
                        <a:rPr lang="uk-UA" sz="1100" b="1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uk-UA" sz="1100" b="1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з/п</a:t>
                      </a:r>
                    </a:p>
                  </a:txBody>
                  <a:tcPr marL="6315" marR="6315" marT="63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uk-UA" sz="1100" b="1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Назва </a:t>
                      </a:r>
                      <a:r>
                        <a:rPr lang="uk-UA" sz="1100" b="1" i="0" u="none" strike="noStrike" dirty="0" err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ЗОЗ</a:t>
                      </a:r>
                      <a:r>
                        <a:rPr lang="uk-UA" sz="1100" b="1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</a:p>
                  </a:txBody>
                  <a:tcPr marL="6315" marR="6315" marT="63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err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Загальна</a:t>
                      </a:r>
                      <a:r>
                        <a:rPr lang="ru-RU" sz="1100" b="1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sz="1100" b="1" i="0" u="none" strike="noStrike" dirty="0" err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кількість</a:t>
                      </a:r>
                      <a:endParaRPr lang="ru-RU" sz="1100" b="1" i="0" u="none" strike="noStrike" dirty="0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 fontAlgn="ctr"/>
                      <a:r>
                        <a:rPr lang="ru-RU" sz="1100" b="1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sz="1100" b="1" i="0" u="none" strike="noStrike" dirty="0" err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госпіталізованих</a:t>
                      </a:r>
                      <a:r>
                        <a:rPr lang="ru-RU" sz="1100" b="1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sz="1100" b="1" i="0" u="none" strike="noStrike" dirty="0" err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хворих</a:t>
                      </a:r>
                      <a:r>
                        <a:rPr lang="ru-RU" sz="1100" b="1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(</a:t>
                      </a:r>
                      <a:r>
                        <a:rPr lang="ru-RU" sz="1100" b="1" i="0" u="none" strike="noStrike" dirty="0" err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абс.ч</a:t>
                      </a:r>
                      <a:r>
                        <a:rPr lang="ru-RU" sz="1100" b="1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.)</a:t>
                      </a:r>
                    </a:p>
                  </a:txBody>
                  <a:tcPr marL="6315" marR="6315" marT="63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uk-U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uk-U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uk-UA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uk-UA" sz="1100" b="1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Загальна л</a:t>
                      </a:r>
                      <a:r>
                        <a:rPr lang="ru-RU" sz="1100" b="1" i="0" u="none" strike="noStrike" dirty="0" err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етальність</a:t>
                      </a:r>
                      <a:r>
                        <a:rPr lang="ru-RU" sz="1100" b="1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  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100" b="1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( </a:t>
                      </a:r>
                      <a:r>
                        <a:rPr lang="ru-RU" sz="1100" b="1" i="0" u="none" strike="noStrike" dirty="0" err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абс.ч</a:t>
                      </a:r>
                      <a:r>
                        <a:rPr lang="ru-RU" sz="1100" b="1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. /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100" b="1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 % </a:t>
                      </a:r>
                      <a:r>
                        <a:rPr lang="ru-RU" sz="1100" b="1" i="0" u="none" strike="noStrike" dirty="0" err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від</a:t>
                      </a:r>
                      <a:r>
                        <a:rPr lang="ru-RU" sz="1100" b="1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lang="ru-RU" sz="1100" b="1" i="0" u="none" strike="noStrike" dirty="0" err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загальної</a:t>
                      </a:r>
                      <a:r>
                        <a:rPr lang="ru-RU" sz="1100" b="1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 к-</a:t>
                      </a:r>
                      <a:r>
                        <a:rPr lang="ru-RU" sz="1100" b="1" i="0" u="none" strike="noStrike" dirty="0" err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ті</a:t>
                      </a:r>
                      <a:r>
                        <a:rPr lang="ru-RU" sz="1100" b="1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lang="ru-RU" sz="1100" b="1" i="0" u="none" strike="noStrike" dirty="0" err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госпіт</a:t>
                      </a:r>
                      <a:r>
                        <a:rPr lang="ru-RU" sz="1100" b="1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. </a:t>
                      </a:r>
                      <a:r>
                        <a:rPr lang="ru-RU" sz="1100" b="1" i="0" u="none" strike="noStrike" dirty="0" err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хворих</a:t>
                      </a:r>
                      <a:r>
                        <a:rPr lang="ru-RU" sz="1100" b="1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uk-U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uk-U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uk-UA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uk-UA" sz="1100" b="1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Л</a:t>
                      </a:r>
                      <a:r>
                        <a:rPr lang="ru-RU" sz="1100" b="1" i="0" u="none" strike="noStrike" dirty="0" err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етальність</a:t>
                      </a:r>
                      <a:r>
                        <a:rPr lang="ru-RU" sz="1100" b="1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  до 24-х годин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100" b="1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( </a:t>
                      </a:r>
                      <a:r>
                        <a:rPr lang="ru-RU" sz="1100" b="1" i="0" u="none" strike="noStrike" dirty="0" err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абс.ч</a:t>
                      </a:r>
                      <a:r>
                        <a:rPr lang="ru-RU" sz="1100" b="1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. / 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100" b="1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% </a:t>
                      </a:r>
                      <a:r>
                        <a:rPr lang="ru-RU" sz="1100" b="1" i="0" u="none" strike="noStrike" dirty="0" err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від</a:t>
                      </a:r>
                      <a:r>
                        <a:rPr lang="ru-RU" sz="1100" b="1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lang="ru-RU" sz="1100" b="1" i="0" u="none" strike="noStrike" dirty="0" err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загальної</a:t>
                      </a:r>
                      <a:r>
                        <a:rPr lang="ru-RU" sz="1100" b="1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 к-</a:t>
                      </a:r>
                      <a:r>
                        <a:rPr lang="ru-RU" sz="1100" b="1" i="0" u="none" strike="noStrike" dirty="0" err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ті</a:t>
                      </a:r>
                      <a:r>
                        <a:rPr lang="ru-RU" sz="1100" b="1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lang="ru-RU" sz="1100" b="1" i="0" u="none" strike="noStrike" dirty="0" err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летальності</a:t>
                      </a:r>
                      <a:r>
                        <a:rPr lang="ru-RU" sz="1100" b="1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uk-U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uk-U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uk-UA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62404767"/>
                  </a:ext>
                </a:extLst>
              </a:tr>
              <a:tr h="276949">
                <a:tc vMerge="1">
                  <a:txBody>
                    <a:bodyPr/>
                    <a:lstStyle/>
                    <a:p>
                      <a:endParaRPr lang="uk-UA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uk-UA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100" b="1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2020р.</a:t>
                      </a:r>
                    </a:p>
                  </a:txBody>
                  <a:tcPr marL="6315" marR="6315" marT="63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100" b="1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2021р.</a:t>
                      </a:r>
                    </a:p>
                  </a:txBody>
                  <a:tcPr marL="6315" marR="6315" marT="63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100" b="1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2022р.</a:t>
                      </a:r>
                    </a:p>
                  </a:txBody>
                  <a:tcPr marL="6315" marR="6315" marT="63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100" b="1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2023р.</a:t>
                      </a:r>
                    </a:p>
                  </a:txBody>
                  <a:tcPr marL="6315" marR="6315" marT="63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100" b="1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2020р.</a:t>
                      </a:r>
                    </a:p>
                  </a:txBody>
                  <a:tcPr marL="6315" marR="6315" marT="63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100" b="1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2021р.</a:t>
                      </a:r>
                    </a:p>
                  </a:txBody>
                  <a:tcPr marL="6315" marR="6315" marT="63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100" b="1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2022р.</a:t>
                      </a:r>
                    </a:p>
                  </a:txBody>
                  <a:tcPr marL="6315" marR="6315" marT="63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100" b="1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2023р.</a:t>
                      </a:r>
                    </a:p>
                  </a:txBody>
                  <a:tcPr marL="6315" marR="6315" marT="63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100" b="1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2020р.</a:t>
                      </a:r>
                    </a:p>
                  </a:txBody>
                  <a:tcPr marL="6315" marR="6315" marT="63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100" b="1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2021р.</a:t>
                      </a:r>
                    </a:p>
                  </a:txBody>
                  <a:tcPr marL="6315" marR="6315" marT="63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100" b="1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2022р.</a:t>
                      </a:r>
                    </a:p>
                  </a:txBody>
                  <a:tcPr marL="6315" marR="6315" marT="63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100" b="1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2023р.</a:t>
                      </a:r>
                    </a:p>
                  </a:txBody>
                  <a:tcPr marL="6315" marR="6315" marT="63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95041511"/>
                  </a:ext>
                </a:extLst>
              </a:tr>
              <a:tr h="379175">
                <a:tc>
                  <a:txBody>
                    <a:bodyPr/>
                    <a:lstStyle/>
                    <a:p>
                      <a:pPr algn="ctr" fontAlgn="ctr"/>
                      <a:endParaRPr lang="uk-UA" sz="1000" b="0" i="0" u="none" strike="noStrike" dirty="0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15" marR="6315" marT="63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ru-RU" sz="1100" b="1" i="0" u="none" strike="noStrike" dirty="0" err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Всього</a:t>
                      </a:r>
                      <a:endParaRPr lang="ru-RU" sz="1100" b="1" i="0" u="none" strike="noStrike" dirty="0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973" marR="6973" marT="697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3431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6011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6989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7525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576</a:t>
                      </a:r>
                    </a:p>
                    <a:p>
                      <a:pPr algn="ctr" fontAlgn="ctr"/>
                      <a:r>
                        <a:rPr lang="uk-UA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16,8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1002</a:t>
                      </a:r>
                    </a:p>
                    <a:p>
                      <a:pPr algn="ctr" fontAlgn="ctr"/>
                      <a:r>
                        <a:rPr lang="uk-UA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16,7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1302</a:t>
                      </a:r>
                    </a:p>
                    <a:p>
                      <a:pPr algn="ctr" fontAlgn="ctr"/>
                      <a:r>
                        <a:rPr lang="uk-UA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18,6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1395</a:t>
                      </a:r>
                    </a:p>
                    <a:p>
                      <a:pPr algn="ctr" fontAlgn="ctr"/>
                      <a:r>
                        <a:rPr lang="uk-UA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18,5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90</a:t>
                      </a:r>
                    </a:p>
                    <a:p>
                      <a:pPr algn="ctr" fontAlgn="ctr"/>
                      <a:r>
                        <a:rPr lang="uk-UA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15,6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156</a:t>
                      </a:r>
                    </a:p>
                    <a:p>
                      <a:pPr algn="ctr" fontAlgn="ctr"/>
                      <a:r>
                        <a:rPr lang="uk-UA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15,6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188</a:t>
                      </a:r>
                    </a:p>
                    <a:p>
                      <a:pPr algn="ctr" fontAlgn="ctr"/>
                      <a:r>
                        <a:rPr lang="uk-UA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14,4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198</a:t>
                      </a:r>
                    </a:p>
                    <a:p>
                      <a:pPr algn="ctr" fontAlgn="ctr"/>
                      <a:r>
                        <a:rPr lang="uk-UA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14,2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7865343"/>
                  </a:ext>
                </a:extLst>
              </a:tr>
              <a:tr h="372054"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6315" marR="6315" marT="63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ru-RU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sz="1100" b="0" i="0" u="none" strike="noStrike" dirty="0" err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КНП</a:t>
                      </a:r>
                      <a:r>
                        <a:rPr lang="ru-RU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ЛОР «</a:t>
                      </a:r>
                      <a:r>
                        <a:rPr lang="ru-RU" sz="1100" b="0" i="0" u="none" strike="noStrike" dirty="0" err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Львівська</a:t>
                      </a:r>
                      <a:r>
                        <a:rPr lang="ru-RU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sz="1100" b="0" i="0" u="none" strike="noStrike" dirty="0" err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обласна</a:t>
                      </a:r>
                      <a:r>
                        <a:rPr lang="ru-RU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sz="1100" b="0" i="0" u="none" strike="noStrike" dirty="0" err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клінічна</a:t>
                      </a:r>
                      <a:r>
                        <a:rPr lang="ru-RU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sz="1100" b="0" i="0" u="none" strike="noStrike" dirty="0" err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лікарня</a:t>
                      </a:r>
                      <a:r>
                        <a:rPr lang="ru-RU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»</a:t>
                      </a:r>
                    </a:p>
                  </a:txBody>
                  <a:tcPr marL="6973" marR="6973" marT="697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uk-UA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 369</a:t>
                      </a:r>
                    </a:p>
                  </a:txBody>
                  <a:tcPr marL="6315" marR="6315" marT="6315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uk-UA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784 </a:t>
                      </a:r>
                    </a:p>
                  </a:txBody>
                  <a:tcPr marL="6315" marR="6315" marT="6315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uk-UA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582</a:t>
                      </a:r>
                    </a:p>
                  </a:txBody>
                  <a:tcPr marL="6315" marR="6315" marT="6315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uk-UA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721</a:t>
                      </a:r>
                    </a:p>
                  </a:txBody>
                  <a:tcPr marL="6315" marR="6315" marT="6315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uk-UA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34 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uk-UA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9,2</a:t>
                      </a:r>
                    </a:p>
                  </a:txBody>
                  <a:tcPr marL="6315" marR="6315" marT="6315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uk-UA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100 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uk-UA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12,7</a:t>
                      </a:r>
                    </a:p>
                  </a:txBody>
                  <a:tcPr marL="6315" marR="6315" marT="6315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uk-UA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81 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uk-UA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13,9</a:t>
                      </a:r>
                    </a:p>
                  </a:txBody>
                  <a:tcPr marL="6315" marR="6315" marT="6315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uk-UA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103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uk-UA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14,3</a:t>
                      </a:r>
                    </a:p>
                  </a:txBody>
                  <a:tcPr marL="6315" marR="6315" marT="6315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uk-UA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-/-</a:t>
                      </a:r>
                    </a:p>
                  </a:txBody>
                  <a:tcPr marL="6315" marR="6315" marT="6315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uk-UA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5 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uk-UA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5,0</a:t>
                      </a:r>
                    </a:p>
                  </a:txBody>
                  <a:tcPr marL="6315" marR="6315" marT="6315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uk-UA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3 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uk-UA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3,7</a:t>
                      </a:r>
                    </a:p>
                  </a:txBody>
                  <a:tcPr marL="6315" marR="6315" marT="6315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uk-UA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11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uk-UA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10,7</a:t>
                      </a:r>
                    </a:p>
                  </a:txBody>
                  <a:tcPr marL="6315" marR="6315" marT="6315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76521215"/>
                  </a:ext>
                </a:extLst>
              </a:tr>
              <a:tr h="630267"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0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6315" marR="6315" marT="63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kumimoji="0" lang="uk-UA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Відокремлений</a:t>
                      </a:r>
                      <a:r>
                        <a:rPr lang="uk-UA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підрозділ </a:t>
                      </a:r>
                      <a:r>
                        <a:rPr kumimoji="0" lang="ru-RU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«</a:t>
                      </a:r>
                      <a:r>
                        <a:rPr lang="uk-UA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Лікарня Святого Пантелеймона </a:t>
                      </a:r>
                      <a:r>
                        <a:rPr kumimoji="0" lang="ru-RU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«</a:t>
                      </a:r>
                      <a:r>
                        <a:rPr lang="uk-UA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КНП  "Львівське територіальне медичне об'єднання</a:t>
                      </a:r>
                      <a:r>
                        <a:rPr kumimoji="0" lang="ru-RU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»</a:t>
                      </a:r>
                      <a:r>
                        <a:rPr lang="uk-UA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Багатопрофільна клінічна лікарня інтенсивних методів лікування та швидкої медичної допомоги</a:t>
                      </a:r>
                      <a:r>
                        <a:rPr kumimoji="0" lang="ru-RU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»</a:t>
                      </a:r>
                      <a:endParaRPr lang="uk-UA" sz="1100" b="0" i="0" u="none" strike="noStrike" dirty="0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701" marR="6701" marT="670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1475</a:t>
                      </a:r>
                    </a:p>
                  </a:txBody>
                  <a:tcPr marL="6315" marR="6315" marT="63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2450</a:t>
                      </a:r>
                    </a:p>
                  </a:txBody>
                  <a:tcPr marL="6315" marR="6315" marT="63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2213</a:t>
                      </a:r>
                    </a:p>
                  </a:txBody>
                  <a:tcPr marL="6315" marR="6315" marT="63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1817</a:t>
                      </a:r>
                    </a:p>
                  </a:txBody>
                  <a:tcPr marL="6315" marR="6315" marT="63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302</a:t>
                      </a:r>
                    </a:p>
                    <a:p>
                      <a:pPr algn="ctr" fontAlgn="ctr"/>
                      <a:r>
                        <a:rPr lang="uk-UA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20,5 </a:t>
                      </a:r>
                    </a:p>
                  </a:txBody>
                  <a:tcPr marL="6315" marR="6315" marT="63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431</a:t>
                      </a:r>
                    </a:p>
                    <a:p>
                      <a:pPr algn="ctr" fontAlgn="ctr"/>
                      <a:r>
                        <a:rPr lang="uk-UA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17,6</a:t>
                      </a:r>
                    </a:p>
                  </a:txBody>
                  <a:tcPr marL="6315" marR="6315" marT="63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477</a:t>
                      </a:r>
                    </a:p>
                    <a:p>
                      <a:pPr algn="ctr" fontAlgn="ctr"/>
                      <a:r>
                        <a:rPr lang="uk-UA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21,6 </a:t>
                      </a:r>
                    </a:p>
                  </a:txBody>
                  <a:tcPr marL="6315" marR="6315" marT="63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381</a:t>
                      </a:r>
                    </a:p>
                    <a:p>
                      <a:pPr algn="ctr" fontAlgn="ctr"/>
                      <a:r>
                        <a:rPr lang="uk-UA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20,9 </a:t>
                      </a:r>
                    </a:p>
                  </a:txBody>
                  <a:tcPr marL="6315" marR="6315" marT="63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65</a:t>
                      </a:r>
                    </a:p>
                    <a:p>
                      <a:pPr algn="ctr" fontAlgn="ctr"/>
                      <a:r>
                        <a:rPr lang="uk-UA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21,5</a:t>
                      </a:r>
                    </a:p>
                  </a:txBody>
                  <a:tcPr marL="6315" marR="6315" marT="63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80</a:t>
                      </a:r>
                    </a:p>
                    <a:p>
                      <a:pPr algn="ctr" fontAlgn="ctr"/>
                      <a:r>
                        <a:rPr lang="uk-UA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18,6</a:t>
                      </a:r>
                    </a:p>
                  </a:txBody>
                  <a:tcPr marL="6315" marR="6315" marT="63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83</a:t>
                      </a:r>
                    </a:p>
                    <a:p>
                      <a:pPr algn="ctr" fontAlgn="ctr"/>
                      <a:r>
                        <a:rPr lang="uk-UA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17,4</a:t>
                      </a:r>
                    </a:p>
                  </a:txBody>
                  <a:tcPr marL="6315" marR="6315" marT="63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42</a:t>
                      </a:r>
                    </a:p>
                    <a:p>
                      <a:pPr algn="ctr" fontAlgn="ctr"/>
                      <a:r>
                        <a:rPr lang="uk-UA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11,0</a:t>
                      </a:r>
                    </a:p>
                  </a:txBody>
                  <a:tcPr marL="6315" marR="6315" marT="63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46709805"/>
                  </a:ext>
                </a:extLst>
              </a:tr>
              <a:tr h="719643"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0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6315" marR="6315" marT="63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kumimoji="0" lang="uk-UA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Відокремлений</a:t>
                      </a:r>
                      <a:r>
                        <a:rPr lang="uk-UA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підрозділ </a:t>
                      </a:r>
                      <a:r>
                        <a:rPr kumimoji="0" lang="ru-RU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«</a:t>
                      </a:r>
                      <a:r>
                        <a:rPr lang="uk-UA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Лікарня Святого Луки </a:t>
                      </a:r>
                      <a:r>
                        <a:rPr kumimoji="0" lang="ru-RU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«</a:t>
                      </a:r>
                      <a:r>
                        <a:rPr lang="uk-UA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КНП  </a:t>
                      </a:r>
                      <a:r>
                        <a:rPr kumimoji="0" lang="ru-RU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«</a:t>
                      </a:r>
                      <a:r>
                        <a:rPr lang="uk-UA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Львівське територіальне медичне об'єднання</a:t>
                      </a:r>
                      <a:r>
                        <a:rPr kumimoji="0" lang="ru-RU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»</a:t>
                      </a:r>
                      <a:r>
                        <a:rPr lang="uk-UA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Багатопрофільна клінічна лікарня інтенсивних методів лікування та швидкої медичної допомоги</a:t>
                      </a:r>
                      <a:r>
                        <a:rPr kumimoji="0" lang="ru-RU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»</a:t>
                      </a:r>
                      <a:endParaRPr lang="uk-UA" sz="1100" b="0" i="0" u="none" strike="noStrike" dirty="0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701" marR="6701" marT="670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23</a:t>
                      </a:r>
                    </a:p>
                  </a:txBody>
                  <a:tcPr marL="6315" marR="6315" marT="63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45 </a:t>
                      </a:r>
                    </a:p>
                  </a:txBody>
                  <a:tcPr marL="6315" marR="6315" marT="63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980 </a:t>
                      </a:r>
                    </a:p>
                  </a:txBody>
                  <a:tcPr marL="6315" marR="6315" marT="63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1230</a:t>
                      </a:r>
                    </a:p>
                  </a:txBody>
                  <a:tcPr marL="6315" marR="6315" marT="63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</a:p>
                    <a:p>
                      <a:pPr algn="ctr" fontAlgn="ctr"/>
                      <a:r>
                        <a:rPr lang="uk-UA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21,7 </a:t>
                      </a:r>
                    </a:p>
                  </a:txBody>
                  <a:tcPr marL="6315" marR="6315" marT="63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8</a:t>
                      </a:r>
                    </a:p>
                    <a:p>
                      <a:pPr algn="ctr" fontAlgn="ctr"/>
                      <a:r>
                        <a:rPr lang="uk-UA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17,8 </a:t>
                      </a:r>
                    </a:p>
                  </a:txBody>
                  <a:tcPr marL="6315" marR="6315" marT="63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205</a:t>
                      </a:r>
                    </a:p>
                    <a:p>
                      <a:pPr algn="ctr" fontAlgn="ctr"/>
                      <a:r>
                        <a:rPr lang="uk-UA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20,9 </a:t>
                      </a:r>
                    </a:p>
                  </a:txBody>
                  <a:tcPr marL="6315" marR="6315" marT="63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243</a:t>
                      </a:r>
                    </a:p>
                    <a:p>
                      <a:pPr algn="ctr" fontAlgn="ctr"/>
                      <a:r>
                        <a:rPr lang="uk-UA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19,8 </a:t>
                      </a:r>
                    </a:p>
                  </a:txBody>
                  <a:tcPr marL="6315" marR="6315" marT="63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-/-</a:t>
                      </a:r>
                    </a:p>
                  </a:txBody>
                  <a:tcPr marL="6315" marR="6315" marT="63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1</a:t>
                      </a:r>
                    </a:p>
                    <a:p>
                      <a:pPr algn="ctr" fontAlgn="ctr"/>
                      <a:r>
                        <a:rPr lang="uk-UA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12,5</a:t>
                      </a:r>
                    </a:p>
                  </a:txBody>
                  <a:tcPr marL="6315" marR="6315" marT="63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27</a:t>
                      </a:r>
                    </a:p>
                    <a:p>
                      <a:pPr algn="ctr" fontAlgn="ctr"/>
                      <a:r>
                        <a:rPr lang="uk-UA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13,2</a:t>
                      </a:r>
                    </a:p>
                  </a:txBody>
                  <a:tcPr marL="6315" marR="6315" marT="63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55</a:t>
                      </a:r>
                    </a:p>
                    <a:p>
                      <a:pPr algn="ctr" fontAlgn="ctr"/>
                      <a:r>
                        <a:rPr lang="uk-UA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22,6</a:t>
                      </a:r>
                    </a:p>
                  </a:txBody>
                  <a:tcPr marL="6315" marR="6315" marT="63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79020532"/>
                  </a:ext>
                </a:extLst>
              </a:tr>
              <a:tr h="424899"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0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marL="6315" marR="6315" marT="63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ru-RU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sz="1100" b="0" i="0" u="none" strike="noStrike" dirty="0" err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КНП</a:t>
                      </a:r>
                      <a:r>
                        <a:rPr lang="ru-RU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ЛОР «</a:t>
                      </a:r>
                      <a:r>
                        <a:rPr lang="ru-RU" sz="1100" b="0" i="0" u="none" strike="noStrike" dirty="0" err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Львівський</a:t>
                      </a:r>
                      <a:r>
                        <a:rPr lang="ru-RU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sz="1100" b="0" i="0" u="none" strike="noStrike" dirty="0" err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обласний</a:t>
                      </a:r>
                      <a:r>
                        <a:rPr lang="ru-RU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sz="1100" b="0" i="0" u="none" strike="noStrike" dirty="0" err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госпіталь</a:t>
                      </a:r>
                      <a:r>
                        <a:rPr lang="ru-RU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sz="1100" b="0" i="0" u="none" strike="noStrike" dirty="0" err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ветеранів</a:t>
                      </a:r>
                      <a:r>
                        <a:rPr lang="ru-RU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sz="1100" b="0" i="0" u="none" strike="noStrike" dirty="0" err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війн</a:t>
                      </a:r>
                      <a:r>
                        <a:rPr lang="ru-RU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та </a:t>
                      </a:r>
                      <a:r>
                        <a:rPr lang="ru-RU" sz="1100" b="0" i="0" u="none" strike="noStrike" dirty="0" err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репресованих</a:t>
                      </a:r>
                      <a:r>
                        <a:rPr lang="ru-RU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sz="1100" b="0" i="0" u="none" strike="noStrike" dirty="0" err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ім</a:t>
                      </a:r>
                      <a:r>
                        <a:rPr lang="ru-RU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 Ю. </a:t>
                      </a:r>
                      <a:r>
                        <a:rPr lang="ru-RU" sz="1100" b="0" i="0" u="none" strike="noStrike" dirty="0" err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Липи</a:t>
                      </a:r>
                      <a:r>
                        <a:rPr lang="ru-RU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»</a:t>
                      </a:r>
                    </a:p>
                  </a:txBody>
                  <a:tcPr marL="6973" marR="6973" marT="697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r>
                        <a:rPr lang="en-US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14</a:t>
                      </a:r>
                      <a:endParaRPr lang="uk-UA" sz="1100" b="0" i="0" u="none" strike="noStrike" dirty="0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15" marR="6315" marT="63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r>
                        <a:rPr lang="en-US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34</a:t>
                      </a:r>
                      <a:endParaRPr lang="uk-UA" sz="1100" b="0" i="0" u="none" strike="noStrike" dirty="0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15" marR="6315" marT="63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383</a:t>
                      </a:r>
                    </a:p>
                  </a:txBody>
                  <a:tcPr marL="6315" marR="6315" marT="63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560</a:t>
                      </a:r>
                      <a:endParaRPr lang="uk-UA" sz="1100" b="0" i="0" u="none" strike="noStrike" dirty="0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15" marR="6315" marT="63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-/-</a:t>
                      </a:r>
                    </a:p>
                  </a:txBody>
                  <a:tcPr marL="6315" marR="6315" marT="63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9</a:t>
                      </a:r>
                    </a:p>
                    <a:p>
                      <a:pPr algn="ctr" fontAlgn="ctr"/>
                      <a:r>
                        <a:rPr lang="uk-UA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26,5</a:t>
                      </a:r>
                    </a:p>
                  </a:txBody>
                  <a:tcPr marL="6315" marR="6315" marT="63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56</a:t>
                      </a:r>
                    </a:p>
                    <a:p>
                      <a:pPr algn="ctr" fontAlgn="ctr"/>
                      <a:r>
                        <a:rPr lang="uk-UA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14</a:t>
                      </a:r>
                      <a:r>
                        <a:rPr lang="en-US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</a:t>
                      </a:r>
                      <a:r>
                        <a:rPr lang="uk-UA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</a:p>
                  </a:txBody>
                  <a:tcPr marL="6315" marR="6315" marT="63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r>
                        <a:rPr lang="en-US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113</a:t>
                      </a:r>
                      <a:endParaRPr lang="uk-UA" sz="1100" b="0" i="0" u="none" strike="noStrike" dirty="0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20,2</a:t>
                      </a:r>
                      <a:endParaRPr lang="uk-UA" sz="1100" b="0" i="0" u="none" strike="noStrike" dirty="0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15" marR="6315" marT="63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-/-</a:t>
                      </a:r>
                    </a:p>
                  </a:txBody>
                  <a:tcPr marL="6315" marR="6315" marT="63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-/-</a:t>
                      </a:r>
                    </a:p>
                  </a:txBody>
                  <a:tcPr marL="6315" marR="6315" marT="63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</a:p>
                    <a:p>
                      <a:pPr algn="ctr" fontAlgn="ctr"/>
                      <a:r>
                        <a:rPr lang="uk-UA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8,9</a:t>
                      </a:r>
                    </a:p>
                  </a:txBody>
                  <a:tcPr marL="6315" marR="6315" marT="63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</a:t>
                      </a:r>
                    </a:p>
                    <a:p>
                      <a:pPr algn="ctr" fontAlgn="ctr"/>
                      <a:r>
                        <a:rPr lang="uk-UA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10,6</a:t>
                      </a:r>
                    </a:p>
                  </a:txBody>
                  <a:tcPr marL="6315" marR="6315" marT="63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71670513"/>
                  </a:ext>
                </a:extLst>
              </a:tr>
              <a:tr h="291797"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0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 marL="6315" marR="6315" marT="63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ru-RU" sz="1100" b="0" i="0" u="none" strike="noStrike" dirty="0" err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КНП</a:t>
                      </a:r>
                      <a:r>
                        <a:rPr lang="ru-RU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sz="1100" b="0" i="0" u="none" strike="noStrike" dirty="0" err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Буської</a:t>
                      </a:r>
                      <a:r>
                        <a:rPr lang="ru-RU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sz="1100" b="0" i="0" u="none" strike="noStrike" dirty="0" err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міської</a:t>
                      </a:r>
                      <a:r>
                        <a:rPr lang="ru-RU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ради «</a:t>
                      </a:r>
                      <a:r>
                        <a:rPr lang="ru-RU" sz="1100" b="0" i="0" u="none" strike="noStrike" dirty="0" err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Буська</a:t>
                      </a:r>
                      <a:r>
                        <a:rPr lang="ru-RU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центральна </a:t>
                      </a:r>
                      <a:r>
                        <a:rPr lang="ru-RU" sz="1100" b="0" i="0" u="none" strike="noStrike" dirty="0" err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районна</a:t>
                      </a:r>
                      <a:r>
                        <a:rPr lang="ru-RU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sz="1100" b="0" i="0" u="none" strike="noStrike" dirty="0" err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лiкарня</a:t>
                      </a:r>
                      <a:r>
                        <a:rPr lang="ru-RU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»</a:t>
                      </a:r>
                    </a:p>
                  </a:txBody>
                  <a:tcPr marL="6973" marR="6973" marT="697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31</a:t>
                      </a:r>
                    </a:p>
                  </a:txBody>
                  <a:tcPr marL="6315" marR="6315" marT="63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59</a:t>
                      </a:r>
                    </a:p>
                  </a:txBody>
                  <a:tcPr marL="6315" marR="6315" marT="63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100</a:t>
                      </a:r>
                    </a:p>
                  </a:txBody>
                  <a:tcPr marL="6315" marR="6315" marT="63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396</a:t>
                      </a:r>
                    </a:p>
                  </a:txBody>
                  <a:tcPr marL="6315" marR="6315" marT="63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</a:p>
                    <a:p>
                      <a:pPr algn="ctr" fontAlgn="ctr"/>
                      <a:r>
                        <a:rPr lang="uk-UA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16,1</a:t>
                      </a:r>
                    </a:p>
                  </a:txBody>
                  <a:tcPr marL="6315" marR="6315" marT="63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10</a:t>
                      </a:r>
                    </a:p>
                    <a:p>
                      <a:pPr algn="ctr" fontAlgn="ctr"/>
                      <a:r>
                        <a:rPr lang="uk-UA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16,9</a:t>
                      </a:r>
                    </a:p>
                  </a:txBody>
                  <a:tcPr marL="6315" marR="6315" marT="63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</a:p>
                    <a:p>
                      <a:pPr algn="ctr" fontAlgn="ctr"/>
                      <a:r>
                        <a:rPr lang="uk-UA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10,0</a:t>
                      </a:r>
                    </a:p>
                  </a:txBody>
                  <a:tcPr marL="6315" marR="6315" marT="63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51</a:t>
                      </a:r>
                    </a:p>
                    <a:p>
                      <a:pPr algn="ctr" fontAlgn="ctr"/>
                      <a:r>
                        <a:rPr lang="uk-UA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13,0</a:t>
                      </a:r>
                    </a:p>
                  </a:txBody>
                  <a:tcPr marL="6315" marR="6315" marT="63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-/-</a:t>
                      </a:r>
                    </a:p>
                  </a:txBody>
                  <a:tcPr marL="6315" marR="6315" marT="63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uk-UA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-/-</a:t>
                      </a:r>
                    </a:p>
                  </a:txBody>
                  <a:tcPr marL="6315" marR="6315" marT="63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uk-UA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-/-</a:t>
                      </a:r>
                    </a:p>
                  </a:txBody>
                  <a:tcPr marL="6315" marR="6315" marT="63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uk-UA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8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uk-UA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15,7</a:t>
                      </a:r>
                    </a:p>
                  </a:txBody>
                  <a:tcPr marL="6315" marR="6315" marT="63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71933546"/>
                  </a:ext>
                </a:extLst>
              </a:tr>
              <a:tr h="424899"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0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</a:p>
                  </a:txBody>
                  <a:tcPr marL="6315" marR="6315" marT="63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uk-UA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КНП «Дрогобицька міська лікарня № 1» Дрогобицької міської ради</a:t>
                      </a:r>
                    </a:p>
                  </a:txBody>
                  <a:tcPr marL="6973" marR="6973" marT="697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456</a:t>
                      </a:r>
                    </a:p>
                  </a:txBody>
                  <a:tcPr marL="6315" marR="6315" marT="63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671</a:t>
                      </a:r>
                    </a:p>
                  </a:txBody>
                  <a:tcPr marL="6315" marR="6315" marT="63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768</a:t>
                      </a:r>
                    </a:p>
                  </a:txBody>
                  <a:tcPr marL="6315" marR="6315" marT="63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869</a:t>
                      </a:r>
                    </a:p>
                  </a:txBody>
                  <a:tcPr marL="6315" marR="6315" marT="63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68</a:t>
                      </a:r>
                    </a:p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14</a:t>
                      </a:r>
                      <a:r>
                        <a:rPr lang="uk-UA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,9</a:t>
                      </a:r>
                    </a:p>
                  </a:txBody>
                  <a:tcPr marL="6315" marR="6315" marT="63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r>
                        <a:rPr lang="en-US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115</a:t>
                      </a:r>
                      <a:endParaRPr lang="uk-UA" sz="1100" b="0" i="0" u="none" strike="noStrike" dirty="0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17</a:t>
                      </a:r>
                      <a:r>
                        <a:rPr lang="uk-UA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,1</a:t>
                      </a:r>
                    </a:p>
                  </a:txBody>
                  <a:tcPr marL="6315" marR="6315" marT="63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126</a:t>
                      </a:r>
                    </a:p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16</a:t>
                      </a:r>
                      <a:r>
                        <a:rPr lang="uk-UA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,4</a:t>
                      </a:r>
                    </a:p>
                  </a:txBody>
                  <a:tcPr marL="6315" marR="6315" marT="63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158</a:t>
                      </a:r>
                    </a:p>
                    <a:p>
                      <a:pPr algn="ctr" fontAlgn="ctr"/>
                      <a:r>
                        <a:rPr lang="uk-UA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18,0</a:t>
                      </a:r>
                    </a:p>
                  </a:txBody>
                  <a:tcPr marL="6315" marR="6315" marT="63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r>
                        <a:rPr lang="en-US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uk-UA" sz="1100" b="0" i="0" u="none" strike="noStrike" dirty="0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 fontAlgn="ctr"/>
                      <a:r>
                        <a:rPr lang="uk-UA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11,8</a:t>
                      </a:r>
                    </a:p>
                  </a:txBody>
                  <a:tcPr marL="6315" marR="6315" marT="63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24</a:t>
                      </a:r>
                    </a:p>
                    <a:p>
                      <a:pPr algn="ctr" fontAlgn="ctr"/>
                      <a:r>
                        <a:rPr lang="uk-UA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20,9</a:t>
                      </a:r>
                    </a:p>
                  </a:txBody>
                  <a:tcPr marL="6315" marR="6315" marT="63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24</a:t>
                      </a:r>
                    </a:p>
                    <a:p>
                      <a:pPr algn="ctr" fontAlgn="ctr"/>
                      <a:r>
                        <a:rPr lang="uk-UA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19,0</a:t>
                      </a:r>
                    </a:p>
                  </a:txBody>
                  <a:tcPr marL="6315" marR="6315" marT="63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28</a:t>
                      </a:r>
                    </a:p>
                    <a:p>
                      <a:pPr algn="ctr" fontAlgn="ctr"/>
                      <a:r>
                        <a:rPr lang="uk-UA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17,7</a:t>
                      </a:r>
                    </a:p>
                  </a:txBody>
                  <a:tcPr marL="6315" marR="6315" marT="63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38072336"/>
                  </a:ext>
                </a:extLst>
              </a:tr>
              <a:tr h="324900"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0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</a:p>
                  </a:txBody>
                  <a:tcPr marL="6315" marR="6315" marT="63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uk-UA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КНП «</a:t>
                      </a:r>
                      <a:r>
                        <a:rPr lang="uk-UA" sz="1100" b="0" i="0" u="none" strike="noStrike" dirty="0" err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Новояворівська</a:t>
                      </a:r>
                      <a:r>
                        <a:rPr lang="uk-UA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лікарня імені Юрія Липи» </a:t>
                      </a:r>
                      <a:r>
                        <a:rPr lang="uk-UA" sz="1100" b="0" i="0" u="none" strike="noStrike" dirty="0" err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Новояворівської</a:t>
                      </a:r>
                      <a:r>
                        <a:rPr lang="uk-UA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міської ради</a:t>
                      </a:r>
                    </a:p>
                  </a:txBody>
                  <a:tcPr marL="6973" marR="6973" marT="697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229</a:t>
                      </a:r>
                    </a:p>
                  </a:txBody>
                  <a:tcPr marL="6315" marR="6315" marT="63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391</a:t>
                      </a:r>
                    </a:p>
                  </a:txBody>
                  <a:tcPr marL="6315" marR="6315" marT="63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474</a:t>
                      </a:r>
                    </a:p>
                  </a:txBody>
                  <a:tcPr marL="6315" marR="6315" marT="63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329</a:t>
                      </a:r>
                    </a:p>
                  </a:txBody>
                  <a:tcPr marL="6315" marR="6315" marT="63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32</a:t>
                      </a:r>
                    </a:p>
                    <a:p>
                      <a:pPr algn="ctr" fontAlgn="ctr"/>
                      <a:r>
                        <a:rPr lang="uk-UA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14,0</a:t>
                      </a:r>
                    </a:p>
                  </a:txBody>
                  <a:tcPr marL="6315" marR="6315" marT="63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67</a:t>
                      </a:r>
                    </a:p>
                    <a:p>
                      <a:pPr algn="ctr" fontAlgn="ctr"/>
                      <a:r>
                        <a:rPr lang="uk-UA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17,1</a:t>
                      </a:r>
                    </a:p>
                  </a:txBody>
                  <a:tcPr marL="6315" marR="6315" marT="63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61</a:t>
                      </a:r>
                    </a:p>
                    <a:p>
                      <a:pPr algn="ctr" fontAlgn="ctr"/>
                      <a:r>
                        <a:rPr lang="uk-UA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12,9</a:t>
                      </a:r>
                    </a:p>
                  </a:txBody>
                  <a:tcPr marL="6315" marR="6315" marT="63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59</a:t>
                      </a:r>
                    </a:p>
                    <a:p>
                      <a:pPr algn="ctr" fontAlgn="ctr"/>
                      <a:r>
                        <a:rPr lang="uk-UA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17,9</a:t>
                      </a:r>
                    </a:p>
                  </a:txBody>
                  <a:tcPr marL="6315" marR="6315" marT="63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  <a:p>
                      <a:pPr algn="ctr" fontAlgn="ctr"/>
                      <a:r>
                        <a:rPr lang="uk-UA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12,5</a:t>
                      </a:r>
                    </a:p>
                  </a:txBody>
                  <a:tcPr marL="6315" marR="6315" marT="63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11</a:t>
                      </a:r>
                    </a:p>
                    <a:p>
                      <a:pPr algn="ctr" fontAlgn="ctr"/>
                      <a:r>
                        <a:rPr lang="uk-UA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16,4</a:t>
                      </a:r>
                    </a:p>
                  </a:txBody>
                  <a:tcPr marL="6315" marR="6315" marT="63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</a:p>
                    <a:p>
                      <a:pPr algn="ctr" fontAlgn="ctr"/>
                      <a:r>
                        <a:rPr lang="uk-UA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16,4</a:t>
                      </a:r>
                    </a:p>
                  </a:txBody>
                  <a:tcPr marL="6315" marR="6315" marT="63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</a:p>
                    <a:p>
                      <a:pPr algn="ctr" fontAlgn="ctr"/>
                      <a:r>
                        <a:rPr lang="uk-UA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13,6</a:t>
                      </a:r>
                    </a:p>
                  </a:txBody>
                  <a:tcPr marL="6315" marR="6315" marT="63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48727973"/>
                  </a:ext>
                </a:extLst>
              </a:tr>
              <a:tr h="291797"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0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</a:p>
                  </a:txBody>
                  <a:tcPr marL="6315" marR="6315" marT="63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ru-RU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sz="1100" b="0" i="0" u="none" strike="noStrike" dirty="0" err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КНП</a:t>
                      </a:r>
                      <a:r>
                        <a:rPr lang="ru-RU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sz="1100" b="0" i="0" u="none" strike="noStrike" dirty="0" err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Самбірської</a:t>
                      </a:r>
                      <a:r>
                        <a:rPr lang="ru-RU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sz="1100" b="0" i="0" u="none" strike="noStrike" dirty="0" err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міської</a:t>
                      </a:r>
                      <a:r>
                        <a:rPr lang="ru-RU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ради «</a:t>
                      </a:r>
                      <a:r>
                        <a:rPr lang="ru-RU" sz="1100" b="0" i="0" u="none" strike="noStrike" dirty="0" err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Самбірська</a:t>
                      </a:r>
                      <a:r>
                        <a:rPr lang="ru-RU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центральна </a:t>
                      </a:r>
                      <a:r>
                        <a:rPr lang="ru-RU" sz="1100" b="0" i="0" u="none" strike="noStrike" dirty="0" err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лікарня</a:t>
                      </a:r>
                      <a:r>
                        <a:rPr lang="ru-RU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»</a:t>
                      </a:r>
                    </a:p>
                  </a:txBody>
                  <a:tcPr marL="6973" marR="6973" marT="697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192</a:t>
                      </a:r>
                    </a:p>
                  </a:txBody>
                  <a:tcPr marL="6315" marR="6315" marT="63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422 </a:t>
                      </a:r>
                    </a:p>
                  </a:txBody>
                  <a:tcPr marL="6315" marR="6315" marT="63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394 </a:t>
                      </a:r>
                    </a:p>
                  </a:txBody>
                  <a:tcPr marL="6315" marR="6315" marT="63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393</a:t>
                      </a:r>
                    </a:p>
                  </a:txBody>
                  <a:tcPr marL="6315" marR="6315" marT="63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</a:p>
                    <a:p>
                      <a:pPr algn="ctr" fontAlgn="ctr"/>
                      <a:r>
                        <a:rPr lang="uk-UA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3,1</a:t>
                      </a:r>
                    </a:p>
                  </a:txBody>
                  <a:tcPr marL="6315" marR="6315" marT="63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21 </a:t>
                      </a:r>
                    </a:p>
                    <a:p>
                      <a:pPr algn="ctr" fontAlgn="ctr"/>
                      <a:r>
                        <a:rPr lang="uk-UA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4,9</a:t>
                      </a:r>
                    </a:p>
                  </a:txBody>
                  <a:tcPr marL="6315" marR="6315" marT="63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45</a:t>
                      </a:r>
                    </a:p>
                    <a:p>
                      <a:pPr algn="ctr" fontAlgn="ctr"/>
                      <a:r>
                        <a:rPr lang="uk-UA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11,4</a:t>
                      </a:r>
                    </a:p>
                  </a:txBody>
                  <a:tcPr marL="6315" marR="6315" marT="63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45</a:t>
                      </a:r>
                    </a:p>
                    <a:p>
                      <a:pPr algn="ctr" fontAlgn="ctr"/>
                      <a:r>
                        <a:rPr lang="uk-UA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11,5</a:t>
                      </a:r>
                    </a:p>
                  </a:txBody>
                  <a:tcPr marL="6315" marR="6315" marT="63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algn="ctr" fontAlgn="ctr"/>
                      <a:r>
                        <a:rPr lang="uk-UA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16,7</a:t>
                      </a:r>
                    </a:p>
                  </a:txBody>
                  <a:tcPr marL="6315" marR="6315" marT="63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-/-</a:t>
                      </a:r>
                    </a:p>
                  </a:txBody>
                  <a:tcPr marL="6315" marR="6315" marT="63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2 </a:t>
                      </a:r>
                    </a:p>
                    <a:p>
                      <a:pPr algn="ctr" fontAlgn="ctr"/>
                      <a:r>
                        <a:rPr lang="uk-UA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4,4</a:t>
                      </a:r>
                    </a:p>
                  </a:txBody>
                  <a:tcPr marL="6315" marR="6315" marT="63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  <a:p>
                      <a:pPr algn="ctr" fontAlgn="ctr"/>
                      <a:r>
                        <a:rPr lang="uk-UA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4,4</a:t>
                      </a:r>
                    </a:p>
                  </a:txBody>
                  <a:tcPr marL="6315" marR="6315" marT="63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82273924"/>
                  </a:ext>
                </a:extLst>
              </a:tr>
              <a:tr h="566532"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0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</a:p>
                  </a:txBody>
                  <a:tcPr marL="6315" marR="6315" marT="63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uk-UA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КНП Стрийської міської ради ТМО «Стрийська міська об'єднана лікарня», ВП «Лікарня інтенсивного лікування»</a:t>
                      </a:r>
                      <a:endParaRPr kumimoji="0" lang="ru-RU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2060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973" marR="6973" marT="697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275</a:t>
                      </a:r>
                    </a:p>
                  </a:txBody>
                  <a:tcPr marL="6315" marR="6315" marT="63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644</a:t>
                      </a:r>
                    </a:p>
                  </a:txBody>
                  <a:tcPr marL="6315" marR="6315" marT="63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663</a:t>
                      </a:r>
                    </a:p>
                  </a:txBody>
                  <a:tcPr marL="6315" marR="6315" marT="63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671</a:t>
                      </a:r>
                    </a:p>
                  </a:txBody>
                  <a:tcPr marL="6315" marR="6315" marT="63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70</a:t>
                      </a:r>
                    </a:p>
                    <a:p>
                      <a:pPr algn="ctr" fontAlgn="ctr"/>
                      <a:r>
                        <a:rPr lang="uk-UA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25,5</a:t>
                      </a:r>
                    </a:p>
                  </a:txBody>
                  <a:tcPr marL="6315" marR="6315" marT="63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155</a:t>
                      </a:r>
                    </a:p>
                    <a:p>
                      <a:pPr algn="ctr" fontAlgn="ctr"/>
                      <a:r>
                        <a:rPr lang="uk-UA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24,1</a:t>
                      </a:r>
                    </a:p>
                  </a:txBody>
                  <a:tcPr marL="6315" marR="6315" marT="63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176</a:t>
                      </a:r>
                    </a:p>
                    <a:p>
                      <a:pPr algn="ctr" fontAlgn="ctr"/>
                      <a:r>
                        <a:rPr lang="uk-UA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26,5</a:t>
                      </a:r>
                    </a:p>
                  </a:txBody>
                  <a:tcPr marL="6315" marR="6315" marT="63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137</a:t>
                      </a:r>
                    </a:p>
                    <a:p>
                      <a:pPr algn="ctr" fontAlgn="ctr"/>
                      <a:r>
                        <a:rPr lang="uk-UA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20,4</a:t>
                      </a:r>
                    </a:p>
                  </a:txBody>
                  <a:tcPr marL="6315" marR="6315" marT="63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  <a:p>
                      <a:pPr algn="ctr" fontAlgn="ctr"/>
                      <a:r>
                        <a:rPr lang="uk-UA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5,7</a:t>
                      </a:r>
                    </a:p>
                  </a:txBody>
                  <a:tcPr marL="6315" marR="6315" marT="63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17</a:t>
                      </a:r>
                    </a:p>
                    <a:p>
                      <a:pPr algn="ctr" fontAlgn="ctr"/>
                      <a:r>
                        <a:rPr lang="uk-UA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11,0</a:t>
                      </a:r>
                    </a:p>
                  </a:txBody>
                  <a:tcPr marL="6315" marR="6315" marT="63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25</a:t>
                      </a:r>
                    </a:p>
                    <a:p>
                      <a:pPr algn="ctr" fontAlgn="ctr"/>
                      <a:r>
                        <a:rPr lang="uk-UA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14,2</a:t>
                      </a:r>
                    </a:p>
                  </a:txBody>
                  <a:tcPr marL="6315" marR="6315" marT="63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</a:t>
                      </a:r>
                    </a:p>
                    <a:p>
                      <a:pPr algn="ctr" fontAlgn="ctr"/>
                      <a:r>
                        <a:rPr lang="uk-UA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8,8</a:t>
                      </a:r>
                    </a:p>
                  </a:txBody>
                  <a:tcPr marL="6315" marR="6315" marT="63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13000457"/>
                  </a:ext>
                </a:extLst>
              </a:tr>
              <a:tr h="221815"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</a:p>
                  </a:txBody>
                  <a:tcPr marL="6315" marR="6315" marT="63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ru-RU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КП «Центральна </a:t>
                      </a:r>
                      <a:r>
                        <a:rPr lang="ru-RU" sz="1100" b="0" i="0" u="none" strike="noStrike" dirty="0" err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міська</a:t>
                      </a:r>
                      <a:r>
                        <a:rPr lang="ru-RU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sz="1100" b="0" i="0" u="none" strike="noStrike" dirty="0" err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лікарня</a:t>
                      </a:r>
                      <a:r>
                        <a:rPr lang="ru-RU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sz="1100" b="0" i="0" u="none" strike="noStrike" dirty="0" err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Червоноградської</a:t>
                      </a:r>
                      <a:r>
                        <a:rPr lang="ru-RU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sz="1100" b="0" i="0" u="none" strike="noStrike" dirty="0" err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міської</a:t>
                      </a:r>
                      <a:r>
                        <a:rPr lang="ru-RU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ради»</a:t>
                      </a:r>
                    </a:p>
                  </a:txBody>
                  <a:tcPr marL="6973" marR="6973" marT="697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367</a:t>
                      </a:r>
                    </a:p>
                  </a:txBody>
                  <a:tcPr marL="6315" marR="6315" marT="63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511</a:t>
                      </a:r>
                    </a:p>
                  </a:txBody>
                  <a:tcPr marL="6315" marR="6315" marT="63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432</a:t>
                      </a:r>
                    </a:p>
                  </a:txBody>
                  <a:tcPr marL="6315" marR="6315" marT="63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529</a:t>
                      </a:r>
                    </a:p>
                  </a:txBody>
                  <a:tcPr marL="6315" marR="6315" marT="63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54</a:t>
                      </a:r>
                    </a:p>
                    <a:p>
                      <a:pPr algn="ctr" fontAlgn="ctr"/>
                      <a:r>
                        <a:rPr lang="uk-UA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14,7</a:t>
                      </a:r>
                    </a:p>
                  </a:txBody>
                  <a:tcPr marL="6315" marR="6315" marT="63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86</a:t>
                      </a:r>
                    </a:p>
                    <a:p>
                      <a:pPr algn="ctr" fontAlgn="ctr"/>
                      <a:r>
                        <a:rPr lang="uk-UA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16,8</a:t>
                      </a:r>
                    </a:p>
                  </a:txBody>
                  <a:tcPr marL="6315" marR="6315" marT="63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65</a:t>
                      </a:r>
                    </a:p>
                    <a:p>
                      <a:pPr algn="ctr" fontAlgn="ctr"/>
                      <a:r>
                        <a:rPr lang="uk-UA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15,0</a:t>
                      </a:r>
                    </a:p>
                  </a:txBody>
                  <a:tcPr marL="6315" marR="6315" marT="63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105</a:t>
                      </a:r>
                    </a:p>
                    <a:p>
                      <a:pPr algn="ctr" fontAlgn="ctr"/>
                      <a:r>
                        <a:rPr lang="uk-UA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19,8</a:t>
                      </a:r>
                    </a:p>
                  </a:txBody>
                  <a:tcPr marL="6315" marR="6315" marT="63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</a:p>
                    <a:p>
                      <a:pPr algn="ctr" fontAlgn="ctr"/>
                      <a:r>
                        <a:rPr lang="uk-UA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14,8</a:t>
                      </a:r>
                    </a:p>
                  </a:txBody>
                  <a:tcPr marL="6315" marR="6315" marT="63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18</a:t>
                      </a:r>
                    </a:p>
                    <a:p>
                      <a:pPr algn="ctr" fontAlgn="ctr"/>
                      <a:r>
                        <a:rPr lang="uk-UA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20,9</a:t>
                      </a:r>
                    </a:p>
                  </a:txBody>
                  <a:tcPr marL="6315" marR="6315" marT="63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</a:p>
                    <a:p>
                      <a:pPr algn="ctr" fontAlgn="ctr"/>
                      <a:r>
                        <a:rPr lang="uk-UA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13,8</a:t>
                      </a:r>
                    </a:p>
                  </a:txBody>
                  <a:tcPr marL="6315" marR="6315" marT="63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</a:t>
                      </a:r>
                    </a:p>
                    <a:p>
                      <a:pPr algn="ctr" fontAlgn="ctr"/>
                      <a:r>
                        <a:rPr lang="uk-UA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19,0</a:t>
                      </a:r>
                    </a:p>
                  </a:txBody>
                  <a:tcPr marL="6315" marR="6315" marT="63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6404958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7652073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460522-E79F-B582-4062-C4D8975F2D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9729" y="181771"/>
            <a:ext cx="11821884" cy="1396774"/>
          </a:xfrm>
        </p:spPr>
        <p:txBody>
          <a:bodyPr>
            <a:normAutofit fontScale="90000"/>
          </a:bodyPr>
          <a:lstStyle/>
          <a:p>
            <a:pPr algn="ctr"/>
            <a:r>
              <a:rPr lang="ru-RU" sz="33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Загальна кількість пролікованих хворих з ГМІ </a:t>
            </a:r>
            <a:br>
              <a:rPr lang="ru-RU" sz="33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33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у Львівській </a:t>
            </a:r>
            <a:r>
              <a:rPr lang="ru-RU" sz="33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області</a:t>
            </a:r>
            <a:r>
              <a:rPr lang="ru-RU" sz="33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6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у </a:t>
            </a:r>
            <a:r>
              <a:rPr lang="ru-RU" sz="36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період</a:t>
            </a:r>
            <a:r>
              <a:rPr lang="ru-RU" sz="36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з 2020 по 2023 </a:t>
            </a:r>
            <a:r>
              <a:rPr lang="uk-UA" sz="4400" dirty="0"/>
              <a:t/>
            </a:r>
            <a:br>
              <a:rPr lang="uk-UA" sz="4400" dirty="0"/>
            </a:br>
            <a:endParaRPr lang="en-US" dirty="0"/>
          </a:p>
        </p:txBody>
      </p:sp>
      <p:graphicFrame>
        <p:nvGraphicFramePr>
          <p:cNvPr id="12" name="Місце для вмісту 11">
            <a:extLst>
              <a:ext uri="{FF2B5EF4-FFF2-40B4-BE49-F238E27FC236}">
                <a16:creationId xmlns:a16="http://schemas.microsoft.com/office/drawing/2014/main" id="{0C72048C-C526-42FA-9FA6-31D1EA1726D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30043505"/>
              </p:ext>
            </p:extLst>
          </p:nvPr>
        </p:nvGraphicFramePr>
        <p:xfrm>
          <a:off x="0" y="1200839"/>
          <a:ext cx="12191998" cy="554148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46017072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80F4D5-BEBE-1180-790E-81CAA67BAC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1784" y="166353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uk-UA" sz="3000" b="1" i="0" u="none" strike="noStrike" kern="1200" spc="0" baseline="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Летальність від ГМІ у </a:t>
            </a:r>
            <a:r>
              <a:rPr lang="uk-UA" sz="3000" b="1" i="0" u="none" strike="noStrike" kern="1200" spc="0" baseline="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ЗОЗ</a:t>
            </a:r>
            <a:r>
              <a:rPr lang="uk-UA" sz="3000" b="1" i="0" u="none" strike="noStrike" kern="1200" spc="0" baseline="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Львівської області </a:t>
            </a:r>
            <a:endParaRPr lang="en-US" sz="3000" dirty="0"/>
          </a:p>
        </p:txBody>
      </p:sp>
      <p:graphicFrame>
        <p:nvGraphicFramePr>
          <p:cNvPr id="7" name="Місце для вмісту 6">
            <a:extLst>
              <a:ext uri="{FF2B5EF4-FFF2-40B4-BE49-F238E27FC236}">
                <a16:creationId xmlns:a16="http://schemas.microsoft.com/office/drawing/2014/main" id="{15728D8E-27A9-41F9-A43E-FD4D79AC295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7250279"/>
              </p:ext>
            </p:extLst>
          </p:nvPr>
        </p:nvGraphicFramePr>
        <p:xfrm>
          <a:off x="0" y="1491916"/>
          <a:ext cx="12192000" cy="514951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cxnSp>
        <p:nvCxnSpPr>
          <p:cNvPr id="4" name="Пряма сполучна лінія 3">
            <a:extLst>
              <a:ext uri="{FF2B5EF4-FFF2-40B4-BE49-F238E27FC236}">
                <a16:creationId xmlns:a16="http://schemas.microsoft.com/office/drawing/2014/main" id="{9940E3F8-E04E-48C1-A497-E2DF90FF4042}"/>
              </a:ext>
            </a:extLst>
          </p:cNvPr>
          <p:cNvCxnSpPr>
            <a:cxnSpLocks/>
          </p:cNvCxnSpPr>
          <p:nvPr/>
        </p:nvCxnSpPr>
        <p:spPr>
          <a:xfrm>
            <a:off x="1207698" y="3054172"/>
            <a:ext cx="10696755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827411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231D3FF-3B46-4B60-8877-DFADA174D8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uk-UA" sz="3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Частка пацієнтів пролікованих в </a:t>
            </a:r>
            <a:r>
              <a:rPr lang="uk-UA" sz="30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інсультних</a:t>
            </a:r>
            <a:r>
              <a:rPr lang="uk-UA" sz="3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блоках </a:t>
            </a:r>
            <a:br>
              <a:rPr lang="uk-UA" sz="3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3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у </a:t>
            </a:r>
            <a:r>
              <a:rPr lang="ru-RU" sz="30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період</a:t>
            </a:r>
            <a:r>
              <a:rPr lang="ru-RU" sz="3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з 2020 по 2023 </a:t>
            </a:r>
            <a:endParaRPr lang="uk-UA" sz="30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Діаграма 3">
            <a:extLst>
              <a:ext uri="{FF2B5EF4-FFF2-40B4-BE49-F238E27FC236}">
                <a16:creationId xmlns:a16="http://schemas.microsoft.com/office/drawing/2014/main" id="{DB01E315-37A2-4115-9FB2-75DB0EFD0AC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43100994"/>
              </p:ext>
            </p:extLst>
          </p:nvPr>
        </p:nvGraphicFramePr>
        <p:xfrm>
          <a:off x="1186774" y="1556426"/>
          <a:ext cx="10272409" cy="510790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9564624" y="1117514"/>
            <a:ext cx="189455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sz="3200" b="1" dirty="0" smtClean="0">
                <a:solidFill>
                  <a:srgbClr val="FF0000"/>
                </a:solidFill>
              </a:rPr>
              <a:t>КПІ ≥90%</a:t>
            </a:r>
            <a:endParaRPr lang="uk-UA" sz="32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0303843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460522-E79F-B582-4062-C4D8975F2D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506" y="178131"/>
            <a:ext cx="11851572" cy="1021278"/>
          </a:xfrm>
          <a:noFill/>
        </p:spPr>
        <p:txBody>
          <a:bodyPr>
            <a:noAutofit/>
          </a:bodyPr>
          <a:lstStyle/>
          <a:p>
            <a:pPr lvl="0" algn="ctr">
              <a:lnSpc>
                <a:spcPct val="100000"/>
              </a:lnSpc>
              <a:spcBef>
                <a:spcPts val="0"/>
              </a:spcBef>
            </a:pPr>
            <a:r>
              <a:rPr lang="uk-UA" sz="32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uk-UA" sz="32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uk-UA" sz="32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Структура інсультів у Львівській області </a:t>
            </a:r>
            <a:br>
              <a:rPr lang="uk-UA" sz="32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32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1689B935-7F99-4759-A160-C05EA22FBE1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9559375"/>
              </p:ext>
            </p:extLst>
          </p:nvPr>
        </p:nvGraphicFramePr>
        <p:xfrm>
          <a:off x="288758" y="1199409"/>
          <a:ext cx="11713944" cy="496750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9" name="Прямокутник 8">
            <a:extLst>
              <a:ext uri="{FF2B5EF4-FFF2-40B4-BE49-F238E27FC236}">
                <a16:creationId xmlns:a16="http://schemas.microsoft.com/office/drawing/2014/main" id="{528398C0-7BE4-4BAA-AD37-4DE7444B2E12}"/>
              </a:ext>
            </a:extLst>
          </p:cNvPr>
          <p:cNvSpPr/>
          <p:nvPr/>
        </p:nvSpPr>
        <p:spPr>
          <a:xfrm>
            <a:off x="1876970" y="4580568"/>
            <a:ext cx="856649" cy="66615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uk-UA" sz="1600" b="1" dirty="0"/>
              <a:t>85,0% / </a:t>
            </a:r>
          </a:p>
          <a:p>
            <a:pPr algn="ctr"/>
            <a:r>
              <a:rPr lang="uk-UA" sz="1600" b="1" dirty="0"/>
              <a:t>2917</a:t>
            </a:r>
          </a:p>
        </p:txBody>
      </p:sp>
      <p:sp>
        <p:nvSpPr>
          <p:cNvPr id="10" name="Прямокутник 9">
            <a:extLst>
              <a:ext uri="{FF2B5EF4-FFF2-40B4-BE49-F238E27FC236}">
                <a16:creationId xmlns:a16="http://schemas.microsoft.com/office/drawing/2014/main" id="{A616AD43-7287-4B17-8B9C-826262063FD0}"/>
              </a:ext>
            </a:extLst>
          </p:cNvPr>
          <p:cNvSpPr/>
          <p:nvPr/>
        </p:nvSpPr>
        <p:spPr>
          <a:xfrm>
            <a:off x="4064254" y="3776276"/>
            <a:ext cx="808521" cy="116941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uk-UA" sz="1600" b="1" dirty="0"/>
              <a:t>85,0%/</a:t>
            </a:r>
          </a:p>
          <a:p>
            <a:pPr algn="ctr"/>
            <a:r>
              <a:rPr lang="uk-UA" sz="1600" b="1" dirty="0"/>
              <a:t>5111</a:t>
            </a:r>
          </a:p>
        </p:txBody>
      </p:sp>
      <p:sp>
        <p:nvSpPr>
          <p:cNvPr id="17" name="Прямокутник 16">
            <a:extLst>
              <a:ext uri="{FF2B5EF4-FFF2-40B4-BE49-F238E27FC236}">
                <a16:creationId xmlns:a16="http://schemas.microsoft.com/office/drawing/2014/main" id="{4DEA3FF6-CA1C-468D-A66C-4209946D5267}"/>
              </a:ext>
            </a:extLst>
          </p:cNvPr>
          <p:cNvSpPr/>
          <p:nvPr/>
        </p:nvSpPr>
        <p:spPr>
          <a:xfrm>
            <a:off x="8431729" y="3291276"/>
            <a:ext cx="856650" cy="7837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uk-UA" sz="1600" b="1" dirty="0"/>
              <a:t>85,2%/6413</a:t>
            </a:r>
          </a:p>
        </p:txBody>
      </p:sp>
      <p:sp>
        <p:nvSpPr>
          <p:cNvPr id="20" name="Прямокутник 19">
            <a:extLst>
              <a:ext uri="{FF2B5EF4-FFF2-40B4-BE49-F238E27FC236}">
                <a16:creationId xmlns:a16="http://schemas.microsoft.com/office/drawing/2014/main" id="{182022A9-07D5-4576-A5BA-7CCDC3D8FBAC}"/>
              </a:ext>
            </a:extLst>
          </p:cNvPr>
          <p:cNvSpPr/>
          <p:nvPr/>
        </p:nvSpPr>
        <p:spPr>
          <a:xfrm>
            <a:off x="6223927" y="3533298"/>
            <a:ext cx="856650" cy="93198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uk-UA" sz="1600" b="1" dirty="0"/>
              <a:t>85,3%/</a:t>
            </a:r>
          </a:p>
          <a:p>
            <a:pPr algn="ctr"/>
            <a:r>
              <a:rPr lang="uk-UA" sz="1600" b="1" dirty="0"/>
              <a:t>5964</a:t>
            </a:r>
          </a:p>
        </p:txBody>
      </p:sp>
      <p:sp>
        <p:nvSpPr>
          <p:cNvPr id="21" name="Прямокутник 20">
            <a:extLst>
              <a:ext uri="{FF2B5EF4-FFF2-40B4-BE49-F238E27FC236}">
                <a16:creationId xmlns:a16="http://schemas.microsoft.com/office/drawing/2014/main" id="{846054A6-ED01-4679-9606-2A2BDB66F268}"/>
              </a:ext>
            </a:extLst>
          </p:cNvPr>
          <p:cNvSpPr/>
          <p:nvPr/>
        </p:nvSpPr>
        <p:spPr>
          <a:xfrm>
            <a:off x="1821848" y="3989800"/>
            <a:ext cx="1020097" cy="34232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uk-UA" sz="1400" b="1" dirty="0">
                <a:solidFill>
                  <a:srgbClr val="002060"/>
                </a:solidFill>
              </a:rPr>
              <a:t>15,0% /514</a:t>
            </a:r>
          </a:p>
        </p:txBody>
      </p:sp>
      <p:sp>
        <p:nvSpPr>
          <p:cNvPr id="22" name="Прямокутник 21">
            <a:extLst>
              <a:ext uri="{FF2B5EF4-FFF2-40B4-BE49-F238E27FC236}">
                <a16:creationId xmlns:a16="http://schemas.microsoft.com/office/drawing/2014/main" id="{CFE0D7EC-80B8-4DDB-ADF5-D98A7B541002}"/>
              </a:ext>
            </a:extLst>
          </p:cNvPr>
          <p:cNvSpPr/>
          <p:nvPr/>
        </p:nvSpPr>
        <p:spPr>
          <a:xfrm>
            <a:off x="4064254" y="2789674"/>
            <a:ext cx="763675" cy="32154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uk-UA" sz="1400" b="1" dirty="0">
                <a:solidFill>
                  <a:srgbClr val="002060"/>
                </a:solidFill>
              </a:rPr>
              <a:t>15,0%/</a:t>
            </a:r>
          </a:p>
          <a:p>
            <a:pPr algn="ctr"/>
            <a:r>
              <a:rPr lang="uk-UA" sz="1400" b="1" dirty="0">
                <a:solidFill>
                  <a:srgbClr val="002060"/>
                </a:solidFill>
              </a:rPr>
              <a:t>900</a:t>
            </a:r>
          </a:p>
        </p:txBody>
      </p:sp>
      <p:sp>
        <p:nvSpPr>
          <p:cNvPr id="23" name="Прямокутник 22">
            <a:extLst>
              <a:ext uri="{FF2B5EF4-FFF2-40B4-BE49-F238E27FC236}">
                <a16:creationId xmlns:a16="http://schemas.microsoft.com/office/drawing/2014/main" id="{539397DA-DDA0-4131-9748-21DDE39A7E8E}"/>
              </a:ext>
            </a:extLst>
          </p:cNvPr>
          <p:cNvSpPr/>
          <p:nvPr/>
        </p:nvSpPr>
        <p:spPr>
          <a:xfrm>
            <a:off x="6316902" y="2387359"/>
            <a:ext cx="763675" cy="20096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uk-UA" sz="1400" b="1" dirty="0">
                <a:solidFill>
                  <a:srgbClr val="002060"/>
                </a:solidFill>
              </a:rPr>
              <a:t>14,7%/</a:t>
            </a:r>
          </a:p>
          <a:p>
            <a:pPr algn="ctr"/>
            <a:r>
              <a:rPr lang="uk-UA" sz="1400" b="1" dirty="0">
                <a:solidFill>
                  <a:srgbClr val="002060"/>
                </a:solidFill>
              </a:rPr>
              <a:t>1025</a:t>
            </a:r>
          </a:p>
        </p:txBody>
      </p:sp>
      <p:sp>
        <p:nvSpPr>
          <p:cNvPr id="11" name="Прямокутник 10">
            <a:extLst>
              <a:ext uri="{FF2B5EF4-FFF2-40B4-BE49-F238E27FC236}">
                <a16:creationId xmlns:a16="http://schemas.microsoft.com/office/drawing/2014/main" id="{6EB21FEB-7DF1-4332-86F3-7555620AEEC9}"/>
              </a:ext>
            </a:extLst>
          </p:cNvPr>
          <p:cNvSpPr/>
          <p:nvPr/>
        </p:nvSpPr>
        <p:spPr>
          <a:xfrm>
            <a:off x="798986" y="1301222"/>
            <a:ext cx="3869267" cy="41301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uk-UA" sz="1400" b="1" dirty="0">
                <a:solidFill>
                  <a:srgbClr val="002060"/>
                </a:solidFill>
              </a:rPr>
              <a:t>% - від загальної кількості інсультів/ </a:t>
            </a:r>
            <a:r>
              <a:rPr lang="uk-UA" sz="1400" b="1" dirty="0" err="1">
                <a:solidFill>
                  <a:srgbClr val="002060"/>
                </a:solidFill>
              </a:rPr>
              <a:t>абс.ч</a:t>
            </a:r>
            <a:r>
              <a:rPr lang="uk-UA" sz="1400" b="1" dirty="0">
                <a:solidFill>
                  <a:srgbClr val="002060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45680990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1689B935-7F99-4759-A160-C05EA22FBE1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83763786"/>
              </p:ext>
            </p:extLst>
          </p:nvPr>
        </p:nvGraphicFramePr>
        <p:xfrm>
          <a:off x="288758" y="1199409"/>
          <a:ext cx="11713944" cy="534577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4" name="Title 1">
            <a:extLst>
              <a:ext uri="{FF2B5EF4-FFF2-40B4-BE49-F238E27FC236}">
                <a16:creationId xmlns:a16="http://schemas.microsoft.com/office/drawing/2014/main" id="{19F0C1E4-5B13-4C7E-ACA7-DC83061823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0514" y="178131"/>
            <a:ext cx="11300059" cy="1021278"/>
          </a:xfrm>
          <a:noFill/>
        </p:spPr>
        <p:txBody>
          <a:bodyPr>
            <a:noAutofit/>
          </a:bodyPr>
          <a:lstStyle/>
          <a:p>
            <a:pPr algn="ctr"/>
            <a:r>
              <a:rPr lang="uk-UA" sz="3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Летальність </a:t>
            </a:r>
            <a:r>
              <a:rPr lang="ru-RU" sz="3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з ГМІ у </a:t>
            </a:r>
            <a:r>
              <a:rPr lang="ru-RU" sz="30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Львівській</a:t>
            </a:r>
            <a:r>
              <a:rPr lang="ru-RU" sz="3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0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області</a:t>
            </a:r>
            <a:r>
              <a:rPr lang="ru-RU" sz="3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br>
              <a:rPr lang="ru-RU" sz="3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3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у </a:t>
            </a:r>
            <a:r>
              <a:rPr lang="ru-RU" sz="30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період</a:t>
            </a:r>
            <a:r>
              <a:rPr lang="ru-RU" sz="3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з 2020 по </a:t>
            </a:r>
            <a:r>
              <a:rPr lang="en-US" sz="3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2023 </a:t>
            </a:r>
            <a:r>
              <a:rPr lang="uk-UA" sz="3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рр.</a:t>
            </a:r>
            <a:endParaRPr lang="en-US" sz="30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3999369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" name="Google Shape;849;p82"/>
          <p:cNvSpPr txBox="1"/>
          <p:nvPr/>
        </p:nvSpPr>
        <p:spPr>
          <a:xfrm>
            <a:off x="4706483" y="3135891"/>
            <a:ext cx="2264800" cy="1354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67" tIns="121867" rIns="121867" bIns="121867" anchor="t" anchorCtr="0">
            <a:spAutoFit/>
          </a:bodyPr>
          <a:lstStyle/>
          <a:p>
            <a:pPr>
              <a:buClr>
                <a:srgbClr val="FFFFFF"/>
              </a:buClr>
              <a:buSzPts val="5400"/>
            </a:pPr>
            <a:r>
              <a:rPr lang="en" sz="7200" b="1" dirty="0">
                <a:solidFill>
                  <a:srgbClr val="FFFFFF"/>
                </a:solidFill>
                <a:latin typeface="Arial Narrow"/>
                <a:ea typeface="Arial Narrow"/>
                <a:cs typeface="Arial Narrow"/>
                <a:sym typeface="Arial Narrow"/>
              </a:rPr>
              <a:t>ЦБД</a:t>
            </a:r>
            <a:endParaRPr sz="1867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0" name="Google Shape;850;p82"/>
          <p:cNvSpPr txBox="1"/>
          <p:nvPr/>
        </p:nvSpPr>
        <p:spPr>
          <a:xfrm>
            <a:off x="337454" y="440358"/>
            <a:ext cx="11517092" cy="9669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algn="ctr"/>
            <a:r>
              <a:rPr lang="uk-UA" sz="3200" b="1" dirty="0">
                <a:solidFill>
                  <a:srgbClr val="00206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Причини летальності хворих з гострим мозковим  інсультом </a:t>
            </a:r>
          </a:p>
          <a:p>
            <a:pPr algn="ctr"/>
            <a:endParaRPr lang="uk-UA" sz="3000" b="1" dirty="0">
              <a:solidFill>
                <a:srgbClr val="002060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10" name="Google Shape;849;p82">
            <a:extLst>
              <a:ext uri="{FF2B5EF4-FFF2-40B4-BE49-F238E27FC236}">
                <a16:creationId xmlns:a16="http://schemas.microsoft.com/office/drawing/2014/main" id="{AF43D3C4-8446-4F1F-9471-6D80C32829DA}"/>
              </a:ext>
            </a:extLst>
          </p:cNvPr>
          <p:cNvSpPr txBox="1"/>
          <p:nvPr/>
        </p:nvSpPr>
        <p:spPr>
          <a:xfrm>
            <a:off x="4715181" y="1307193"/>
            <a:ext cx="2264800" cy="1354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67" tIns="121867" rIns="121867" bIns="121867" anchor="t" anchorCtr="0">
            <a:spAutoFit/>
          </a:bodyPr>
          <a:lstStyle/>
          <a:p>
            <a:pPr>
              <a:buClr>
                <a:srgbClr val="FFFFFF"/>
              </a:buClr>
              <a:buSzPts val="5400"/>
            </a:pPr>
            <a:r>
              <a:rPr lang="en" sz="7200" b="1" dirty="0">
                <a:solidFill>
                  <a:srgbClr val="FFFFFF"/>
                </a:solidFill>
                <a:latin typeface="Arial Narrow"/>
                <a:ea typeface="Arial Narrow"/>
                <a:cs typeface="Arial Narrow"/>
                <a:sym typeface="Arial Narrow"/>
              </a:rPr>
              <a:t>ЦБД</a:t>
            </a:r>
            <a:endParaRPr sz="1867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" name="Місце для тексту 2">
            <a:extLst>
              <a:ext uri="{FF2B5EF4-FFF2-40B4-BE49-F238E27FC236}">
                <a16:creationId xmlns:a16="http://schemas.microsoft.com/office/drawing/2014/main" id="{960F09F3-9DB0-4261-95FD-E3C95C2947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02440" y="1140903"/>
            <a:ext cx="11187120" cy="5276739"/>
          </a:xfrm>
        </p:spPr>
        <p:txBody>
          <a:bodyPr>
            <a:normAutofit/>
          </a:bodyPr>
          <a:lstStyle/>
          <a:p>
            <a:r>
              <a:rPr kumimoji="0" lang="uk-UA" sz="2200" b="0" i="0" u="none" strike="noStrike" kern="1200" cap="none" spc="0" normalizeH="0" baseline="0" noProof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Недосконалі клінічні маршрути в ЗОЗ</a:t>
            </a:r>
          </a:p>
          <a:p>
            <a:r>
              <a:rPr lang="uk-UA" sz="22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Недотримання протоколів  надання медичної допомоги в ЗОЗ</a:t>
            </a:r>
          </a:p>
          <a:p>
            <a:r>
              <a:rPr lang="uk-UA" sz="22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Відсутність  в </a:t>
            </a:r>
            <a:r>
              <a:rPr lang="uk-UA" sz="2200" dirty="0" err="1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інсультних</a:t>
            </a:r>
            <a:r>
              <a:rPr lang="uk-UA" sz="22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відділеннях  реанімацій та лікування  ГМІ непрофільними фахівцями (реаніматологами)</a:t>
            </a:r>
            <a:endParaRPr kumimoji="0" lang="uk-UA" sz="2200" b="0" i="0" u="none" strike="noStrike" kern="1200" cap="none" spc="0" normalizeH="0" baseline="0" noProof="0" dirty="0">
              <a:ln>
                <a:noFill/>
              </a:ln>
              <a:solidFill>
                <a:schemeClr val="accent1">
                  <a:lumMod val="50000"/>
                </a:schemeClr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Clr>
                <a:prstClr val="black"/>
              </a:buClr>
              <a:defRPr/>
            </a:pPr>
            <a:r>
              <a:rPr kumimoji="0" lang="uk-UA" sz="2200" b="0" i="0" u="none" strike="noStrike" kern="1200" cap="none" spc="0" normalizeH="0" baseline="0" noProof="0" dirty="0">
                <a:ln>
                  <a:noFill/>
                </a:ln>
                <a:solidFill>
                  <a:srgbClr val="4472C4">
                    <a:lumMod val="5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Пізнє звернення за медичною допомогою від початку захворювання   та доставлені в ЗОЗ поза «вікном терапевтичних можливостей</a:t>
            </a:r>
            <a:r>
              <a:rPr kumimoji="0" lang="uk-UA" sz="2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4472C4">
                    <a:lumMod val="5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»</a:t>
            </a:r>
            <a:endParaRPr kumimoji="0" lang="uk-UA" sz="2200" b="0" i="0" u="none" strike="noStrike" kern="1200" cap="none" spc="0" normalizeH="0" baseline="0" noProof="0" dirty="0">
              <a:ln>
                <a:noFill/>
              </a:ln>
              <a:solidFill>
                <a:srgbClr val="4472C4">
                  <a:lumMod val="50000"/>
                </a:srgbClr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r>
              <a:rPr lang="uk-UA" sz="22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Недостатній рівень профілактики  та лікування ГХ  на первинному рівні надання медичної допомоги </a:t>
            </a:r>
          </a:p>
          <a:p>
            <a:pPr marL="609585" marR="0" lvl="0" indent="-482588" algn="l" defTabSz="914400" rtl="0" eaLnBrk="1" fontAlgn="auto" latinLnBrk="0" hangingPunct="1">
              <a:lnSpc>
                <a:spcPct val="90000"/>
              </a:lnSpc>
              <a:spcBef>
                <a:spcPts val="1067"/>
              </a:spcBef>
              <a:spcAft>
                <a:spcPts val="0"/>
              </a:spcAft>
              <a:buClr>
                <a:prstClr val="black"/>
              </a:buClr>
              <a:buSzPts val="2100"/>
              <a:buFont typeface="Arial" panose="020B0604020202020204" pitchFamily="34" charset="0"/>
              <a:buChar char="•"/>
              <a:tabLst/>
              <a:defRPr/>
            </a:pPr>
            <a:r>
              <a:rPr kumimoji="0" lang="uk-UA" sz="2200" b="0" i="0" u="none" strike="noStrike" kern="1200" cap="none" spc="0" normalizeH="0" baseline="0" noProof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Недостатня первинна профілактика судинних захворювань, гіпертонічної хвороби.</a:t>
            </a:r>
            <a:endParaRPr lang="uk-UA" sz="2200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09585" marR="0" lvl="0" indent="-482588" algn="l" defTabSz="914400" rtl="0" eaLnBrk="1" fontAlgn="auto" latinLnBrk="0" hangingPunct="1">
              <a:lnSpc>
                <a:spcPct val="90000"/>
              </a:lnSpc>
              <a:spcBef>
                <a:spcPts val="1067"/>
              </a:spcBef>
              <a:spcAft>
                <a:spcPts val="0"/>
              </a:spcAft>
              <a:buClr>
                <a:prstClr val="black"/>
              </a:buClr>
              <a:buSzPts val="2100"/>
              <a:buFont typeface="Arial" panose="020B0604020202020204" pitchFamily="34" charset="0"/>
              <a:buChar char="•"/>
              <a:tabLst/>
              <a:defRPr/>
            </a:pPr>
            <a:r>
              <a:rPr kumimoji="0" lang="uk-UA" sz="2200" b="0" i="0" u="none" strike="noStrike" kern="1200" cap="none" spc="0" normalizeH="0" baseline="0" noProof="0" dirty="0">
                <a:ln>
                  <a:noFill/>
                </a:ln>
                <a:solidFill>
                  <a:srgbClr val="4472C4">
                    <a:lumMod val="5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Збільшилася кількість пацієнтів похилого віку (старше 75 років).</a:t>
            </a:r>
          </a:p>
          <a:p>
            <a:pPr marL="126997" indent="0">
              <a:buNone/>
            </a:pPr>
            <a:endParaRPr lang="uk-UA" sz="2000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6997" indent="0">
              <a:buNone/>
            </a:pPr>
            <a:endParaRPr lang="uk-UA" sz="1600" dirty="0"/>
          </a:p>
        </p:txBody>
      </p:sp>
    </p:spTree>
    <p:extLst>
      <p:ext uri="{BB962C8B-B14F-4D97-AF65-F5344CB8AC3E}">
        <p14:creationId xmlns:p14="http://schemas.microsoft.com/office/powerpoint/2010/main" val="58056961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" name="Google Shape;849;p82"/>
          <p:cNvSpPr txBox="1"/>
          <p:nvPr/>
        </p:nvSpPr>
        <p:spPr>
          <a:xfrm>
            <a:off x="4706483" y="3135891"/>
            <a:ext cx="2264800" cy="1354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67" tIns="121867" rIns="121867" bIns="121867" anchor="t" anchorCtr="0">
            <a:spAutoFit/>
          </a:bodyPr>
          <a:lstStyle/>
          <a:p>
            <a:pPr>
              <a:buClr>
                <a:srgbClr val="FFFFFF"/>
              </a:buClr>
              <a:buSzPts val="5400"/>
            </a:pPr>
            <a:r>
              <a:rPr lang="en" sz="7200" b="1" dirty="0">
                <a:solidFill>
                  <a:srgbClr val="FFFFFF"/>
                </a:solidFill>
                <a:latin typeface="Arial Narrow"/>
                <a:ea typeface="Arial Narrow"/>
                <a:cs typeface="Arial Narrow"/>
                <a:sym typeface="Arial Narrow"/>
              </a:rPr>
              <a:t>ЦБД</a:t>
            </a:r>
            <a:endParaRPr sz="1867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0" name="Google Shape;850;p82"/>
          <p:cNvSpPr txBox="1"/>
          <p:nvPr/>
        </p:nvSpPr>
        <p:spPr>
          <a:xfrm>
            <a:off x="568711" y="93320"/>
            <a:ext cx="11345965" cy="4744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algn="ctr"/>
            <a:r>
              <a:rPr lang="uk-UA" sz="3000" b="1" dirty="0" err="1">
                <a:solidFill>
                  <a:srgbClr val="00206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ЗОЗ</a:t>
            </a:r>
            <a:r>
              <a:rPr lang="uk-UA" sz="3000" b="1" dirty="0">
                <a:solidFill>
                  <a:srgbClr val="00206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 в яких проводилась </a:t>
            </a:r>
            <a:r>
              <a:rPr lang="uk-UA" sz="3000" b="1" dirty="0" err="1">
                <a:solidFill>
                  <a:srgbClr val="00206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тромболітична</a:t>
            </a:r>
            <a:r>
              <a:rPr lang="uk-UA" sz="3000" b="1" dirty="0">
                <a:solidFill>
                  <a:srgbClr val="00206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 терапія хворим з ГМІ</a:t>
            </a:r>
            <a:endParaRPr sz="3000" b="1" dirty="0">
              <a:solidFill>
                <a:srgbClr val="002060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graphicFrame>
        <p:nvGraphicFramePr>
          <p:cNvPr id="5" name="Таблиця 4">
            <a:extLst>
              <a:ext uri="{FF2B5EF4-FFF2-40B4-BE49-F238E27FC236}">
                <a16:creationId xmlns:a16="http://schemas.microsoft.com/office/drawing/2014/main" id="{1147D6FE-B599-45BF-A19A-0D5287A7B28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80783644"/>
              </p:ext>
            </p:extLst>
          </p:nvPr>
        </p:nvGraphicFramePr>
        <p:xfrm>
          <a:off x="470936" y="784914"/>
          <a:ext cx="11541513" cy="6059736"/>
        </p:xfrm>
        <a:graphic>
          <a:graphicData uri="http://schemas.openxmlformats.org/drawingml/2006/table">
            <a:tbl>
              <a:tblPr/>
              <a:tblGrid>
                <a:gridCol w="638101">
                  <a:extLst>
                    <a:ext uri="{9D8B030D-6E8A-4147-A177-3AD203B41FA5}">
                      <a16:colId xmlns:a16="http://schemas.microsoft.com/office/drawing/2014/main" val="3468717064"/>
                    </a:ext>
                  </a:extLst>
                </a:gridCol>
                <a:gridCol w="3895610">
                  <a:extLst>
                    <a:ext uri="{9D8B030D-6E8A-4147-A177-3AD203B41FA5}">
                      <a16:colId xmlns:a16="http://schemas.microsoft.com/office/drawing/2014/main" val="3745166535"/>
                    </a:ext>
                  </a:extLst>
                </a:gridCol>
                <a:gridCol w="612577">
                  <a:extLst>
                    <a:ext uri="{9D8B030D-6E8A-4147-A177-3AD203B41FA5}">
                      <a16:colId xmlns:a16="http://schemas.microsoft.com/office/drawing/2014/main" val="3852281486"/>
                    </a:ext>
                  </a:extLst>
                </a:gridCol>
                <a:gridCol w="612577">
                  <a:extLst>
                    <a:ext uri="{9D8B030D-6E8A-4147-A177-3AD203B41FA5}">
                      <a16:colId xmlns:a16="http://schemas.microsoft.com/office/drawing/2014/main" val="2054737532"/>
                    </a:ext>
                  </a:extLst>
                </a:gridCol>
                <a:gridCol w="638101">
                  <a:extLst>
                    <a:ext uri="{9D8B030D-6E8A-4147-A177-3AD203B41FA5}">
                      <a16:colId xmlns:a16="http://schemas.microsoft.com/office/drawing/2014/main" val="3969379259"/>
                    </a:ext>
                  </a:extLst>
                </a:gridCol>
                <a:gridCol w="638101">
                  <a:extLst>
                    <a:ext uri="{9D8B030D-6E8A-4147-A177-3AD203B41FA5}">
                      <a16:colId xmlns:a16="http://schemas.microsoft.com/office/drawing/2014/main" val="2619512922"/>
                    </a:ext>
                  </a:extLst>
                </a:gridCol>
                <a:gridCol w="523244">
                  <a:extLst>
                    <a:ext uri="{9D8B030D-6E8A-4147-A177-3AD203B41FA5}">
                      <a16:colId xmlns:a16="http://schemas.microsoft.com/office/drawing/2014/main" val="3080171103"/>
                    </a:ext>
                  </a:extLst>
                </a:gridCol>
                <a:gridCol w="523244">
                  <a:extLst>
                    <a:ext uri="{9D8B030D-6E8A-4147-A177-3AD203B41FA5}">
                      <a16:colId xmlns:a16="http://schemas.microsoft.com/office/drawing/2014/main" val="1999705493"/>
                    </a:ext>
                  </a:extLst>
                </a:gridCol>
                <a:gridCol w="523244">
                  <a:extLst>
                    <a:ext uri="{9D8B030D-6E8A-4147-A177-3AD203B41FA5}">
                      <a16:colId xmlns:a16="http://schemas.microsoft.com/office/drawing/2014/main" val="2924513561"/>
                    </a:ext>
                  </a:extLst>
                </a:gridCol>
                <a:gridCol w="650865">
                  <a:extLst>
                    <a:ext uri="{9D8B030D-6E8A-4147-A177-3AD203B41FA5}">
                      <a16:colId xmlns:a16="http://schemas.microsoft.com/office/drawing/2014/main" val="3981307591"/>
                    </a:ext>
                  </a:extLst>
                </a:gridCol>
                <a:gridCol w="523244">
                  <a:extLst>
                    <a:ext uri="{9D8B030D-6E8A-4147-A177-3AD203B41FA5}">
                      <a16:colId xmlns:a16="http://schemas.microsoft.com/office/drawing/2014/main" val="3009696487"/>
                    </a:ext>
                  </a:extLst>
                </a:gridCol>
                <a:gridCol w="523244">
                  <a:extLst>
                    <a:ext uri="{9D8B030D-6E8A-4147-A177-3AD203B41FA5}">
                      <a16:colId xmlns:a16="http://schemas.microsoft.com/office/drawing/2014/main" val="2300185027"/>
                    </a:ext>
                  </a:extLst>
                </a:gridCol>
                <a:gridCol w="650865">
                  <a:extLst>
                    <a:ext uri="{9D8B030D-6E8A-4147-A177-3AD203B41FA5}">
                      <a16:colId xmlns:a16="http://schemas.microsoft.com/office/drawing/2014/main" val="1818369644"/>
                    </a:ext>
                  </a:extLst>
                </a:gridCol>
                <a:gridCol w="588496">
                  <a:extLst>
                    <a:ext uri="{9D8B030D-6E8A-4147-A177-3AD203B41FA5}">
                      <a16:colId xmlns:a16="http://schemas.microsoft.com/office/drawing/2014/main" val="3330789705"/>
                    </a:ext>
                  </a:extLst>
                </a:gridCol>
              </a:tblGrid>
              <a:tr h="545689"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ru-RU" sz="1100" b="1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№ з/п</a:t>
                      </a:r>
                    </a:p>
                  </a:txBody>
                  <a:tcPr marL="6005" marR="6005" marT="60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ru-RU" sz="1100" b="1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Назва ЗОЗ </a:t>
                      </a:r>
                    </a:p>
                  </a:txBody>
                  <a:tcPr marL="6005" marR="6005" marT="60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 rtl="0" fontAlgn="ctr"/>
                      <a:r>
                        <a:rPr lang="ru-RU" sz="1100" b="1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Проведено </a:t>
                      </a:r>
                      <a:r>
                        <a:rPr lang="ru-RU" sz="1100" b="1" i="0" u="none" strike="noStrike" dirty="0" err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тромболітичної</a:t>
                      </a:r>
                      <a:r>
                        <a:rPr lang="ru-RU" sz="1100" b="1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lang="ru-RU" sz="1100" b="1" i="0" u="none" strike="noStrike" dirty="0" err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терапії</a:t>
                      </a:r>
                      <a:r>
                        <a:rPr lang="ru-RU" sz="1100" b="1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 (ТЛТ) / </a:t>
                      </a:r>
                      <a:br>
                        <a:rPr lang="ru-RU" sz="1100" b="1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</a:br>
                      <a:r>
                        <a:rPr lang="ru-RU" sz="1100" b="1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(</a:t>
                      </a:r>
                      <a:r>
                        <a:rPr lang="ru-RU" sz="1100" b="1" i="0" u="none" strike="noStrike" dirty="0" err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абс.ч</a:t>
                      </a:r>
                      <a:r>
                        <a:rPr lang="ru-RU" sz="1100" b="1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./% </a:t>
                      </a:r>
                      <a:r>
                        <a:rPr lang="ru-RU" sz="1100" b="1" i="0" u="none" strike="noStrike" dirty="0" err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від</a:t>
                      </a:r>
                      <a:r>
                        <a:rPr lang="ru-RU" sz="1100" b="1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 к-</a:t>
                      </a:r>
                      <a:r>
                        <a:rPr lang="ru-RU" sz="1100" b="1" i="0" u="none" strike="noStrike" dirty="0" err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ті</a:t>
                      </a:r>
                      <a:r>
                        <a:rPr lang="ru-RU" sz="1100" b="1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  ГМІ)</a:t>
                      </a:r>
                    </a:p>
                  </a:txBody>
                  <a:tcPr marL="6005" marR="6005" marT="60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 rtl="0" fontAlgn="ctr"/>
                      <a:r>
                        <a:rPr lang="ru-RU" sz="1100" b="1" i="0" u="none" strike="noStrike" dirty="0" err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Летальність</a:t>
                      </a:r>
                      <a:r>
                        <a:rPr lang="ru-RU" sz="1100" b="1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lang="ru-RU" sz="1100" b="1" i="0" u="none" strike="noStrike" dirty="0" err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після</a:t>
                      </a:r>
                      <a:r>
                        <a:rPr lang="ru-RU" sz="1100" b="1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lang="ru-RU" sz="1100" b="1" i="0" u="none" strike="noStrike" dirty="0" err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проведеного</a:t>
                      </a:r>
                      <a:r>
                        <a:rPr lang="ru-RU" sz="1100" b="1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lang="ru-RU" sz="1100" b="1" i="0" u="none" strike="noStrike" dirty="0" err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тромболізису</a:t>
                      </a:r>
                      <a:r>
                        <a:rPr lang="ru-RU" sz="1100" b="1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/ </a:t>
                      </a:r>
                    </a:p>
                    <a:p>
                      <a:pPr algn="ctr" rtl="0" fontAlgn="ctr"/>
                      <a:r>
                        <a:rPr lang="ru-RU" sz="1100" b="1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(</a:t>
                      </a:r>
                      <a:r>
                        <a:rPr lang="ru-RU" sz="1100" b="1" i="0" u="none" strike="noStrike" dirty="0" err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абс.ч</a:t>
                      </a:r>
                      <a:r>
                        <a:rPr lang="ru-RU" sz="1100" b="1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./% </a:t>
                      </a:r>
                      <a:r>
                        <a:rPr lang="ru-RU" sz="1100" b="1" i="0" u="none" strike="noStrike" dirty="0" err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від</a:t>
                      </a:r>
                      <a:r>
                        <a:rPr lang="ru-RU" sz="1100" b="1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 к-</a:t>
                      </a:r>
                      <a:r>
                        <a:rPr lang="ru-RU" sz="1100" b="1" i="0" u="none" strike="noStrike" dirty="0" err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ті</a:t>
                      </a:r>
                      <a:r>
                        <a:rPr lang="ru-RU" sz="1100" b="1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  ТЛТ)</a:t>
                      </a:r>
                    </a:p>
                  </a:txBody>
                  <a:tcPr marL="6005" marR="6005" marT="60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 rtl="0" fontAlgn="ctr"/>
                      <a:r>
                        <a:rPr lang="ru-RU" sz="1100" b="1" i="0" u="none" strike="noStrike" dirty="0" err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Летальність</a:t>
                      </a:r>
                      <a:r>
                        <a:rPr lang="ru-RU" sz="1100" b="1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  до 24-х годин/ </a:t>
                      </a:r>
                      <a:br>
                        <a:rPr lang="ru-RU" sz="1100" b="1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</a:br>
                      <a:r>
                        <a:rPr lang="ru-RU" sz="1100" b="1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(</a:t>
                      </a:r>
                      <a:r>
                        <a:rPr lang="ru-RU" sz="1100" b="1" i="0" u="none" strike="noStrike" dirty="0" err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абс.ч</a:t>
                      </a:r>
                      <a:r>
                        <a:rPr lang="ru-RU" sz="1100" b="1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./% </a:t>
                      </a:r>
                      <a:r>
                        <a:rPr lang="ru-RU" sz="1100" b="1" i="0" u="none" strike="noStrike" dirty="0" err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від</a:t>
                      </a:r>
                      <a:r>
                        <a:rPr lang="ru-RU" sz="1100" b="1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 лет. </a:t>
                      </a:r>
                      <a:r>
                        <a:rPr lang="ru-RU" sz="1100" b="1" i="0" u="none" strike="noStrike" dirty="0" err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після</a:t>
                      </a:r>
                      <a:r>
                        <a:rPr lang="ru-RU" sz="1100" b="1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lang="ru-RU" sz="1100" b="1" i="0" u="none" strike="noStrike" dirty="0" err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тромболізису</a:t>
                      </a:r>
                      <a:r>
                        <a:rPr lang="ru-RU" sz="1100" b="1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)</a:t>
                      </a:r>
                    </a:p>
                  </a:txBody>
                  <a:tcPr marL="6005" marR="6005" marT="60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65531638"/>
                  </a:ext>
                </a:extLst>
              </a:tr>
              <a:tr h="272558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100" b="1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2020</a:t>
                      </a:r>
                    </a:p>
                  </a:txBody>
                  <a:tcPr marL="6005" marR="6005" marT="60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100" b="1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2021</a:t>
                      </a:r>
                    </a:p>
                  </a:txBody>
                  <a:tcPr marL="6005" marR="6005" marT="60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100" b="1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2022</a:t>
                      </a:r>
                    </a:p>
                  </a:txBody>
                  <a:tcPr marL="6005" marR="6005" marT="60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100" b="1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2023</a:t>
                      </a:r>
                    </a:p>
                  </a:txBody>
                  <a:tcPr marL="6005" marR="6005" marT="60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100" b="1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2020</a:t>
                      </a:r>
                    </a:p>
                  </a:txBody>
                  <a:tcPr marL="6005" marR="6005" marT="60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100" b="1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2021</a:t>
                      </a:r>
                    </a:p>
                  </a:txBody>
                  <a:tcPr marL="6005" marR="6005" marT="60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100" b="1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2022</a:t>
                      </a:r>
                    </a:p>
                  </a:txBody>
                  <a:tcPr marL="6005" marR="6005" marT="60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100" b="1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2023</a:t>
                      </a:r>
                    </a:p>
                  </a:txBody>
                  <a:tcPr marL="6005" marR="6005" marT="60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100" b="1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2020</a:t>
                      </a:r>
                    </a:p>
                  </a:txBody>
                  <a:tcPr marL="6005" marR="6005" marT="60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100" b="1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2021</a:t>
                      </a:r>
                    </a:p>
                  </a:txBody>
                  <a:tcPr marL="6005" marR="6005" marT="60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100" b="1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2022</a:t>
                      </a:r>
                    </a:p>
                  </a:txBody>
                  <a:tcPr marL="6005" marR="6005" marT="60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100" b="1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2023</a:t>
                      </a:r>
                    </a:p>
                  </a:txBody>
                  <a:tcPr marL="6005" marR="6005" marT="60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2869430"/>
                  </a:ext>
                </a:extLst>
              </a:tr>
              <a:tr h="163726"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ru-RU" sz="11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</a:p>
                  </a:txBody>
                  <a:tcPr marL="6005" marR="6005" marT="60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l" rtl="0" fontAlgn="ctr"/>
                      <a:r>
                        <a:rPr lang="ru-RU" sz="1100" b="1" i="0" u="none" strike="noStrike" dirty="0" err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Всього</a:t>
                      </a:r>
                      <a:endParaRPr lang="ru-RU" sz="1100" b="1" i="0" u="none" strike="noStrike" dirty="0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005" marR="6005" marT="60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100" b="1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50</a:t>
                      </a:r>
                    </a:p>
                  </a:txBody>
                  <a:tcPr marL="6005" marR="6005" marT="60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100" b="1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220</a:t>
                      </a:r>
                    </a:p>
                  </a:txBody>
                  <a:tcPr marL="6005" marR="6005" marT="60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100" b="1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393</a:t>
                      </a:r>
                    </a:p>
                  </a:txBody>
                  <a:tcPr marL="6005" marR="6005" marT="60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100" b="1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599</a:t>
                      </a:r>
                    </a:p>
                  </a:txBody>
                  <a:tcPr marL="6005" marR="6005" marT="60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100" b="1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1</a:t>
                      </a:r>
                    </a:p>
                  </a:txBody>
                  <a:tcPr marL="6005" marR="6005" marT="60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100" b="1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17</a:t>
                      </a:r>
                    </a:p>
                  </a:txBody>
                  <a:tcPr marL="6005" marR="6005" marT="60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100" b="1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35</a:t>
                      </a:r>
                    </a:p>
                  </a:txBody>
                  <a:tcPr marL="6005" marR="6005" marT="60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100" b="1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60</a:t>
                      </a:r>
                    </a:p>
                  </a:txBody>
                  <a:tcPr marL="6005" marR="6005" marT="60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100" b="1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-/-</a:t>
                      </a:r>
                    </a:p>
                  </a:txBody>
                  <a:tcPr marL="6005" marR="6005" marT="60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100" b="1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-/-</a:t>
                      </a:r>
                    </a:p>
                  </a:txBody>
                  <a:tcPr marL="6005" marR="6005" marT="60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100" b="1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-/-</a:t>
                      </a:r>
                    </a:p>
                  </a:txBody>
                  <a:tcPr marL="6005" marR="6005" marT="60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100" b="1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2</a:t>
                      </a:r>
                    </a:p>
                  </a:txBody>
                  <a:tcPr marL="6005" marR="6005" marT="60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45969240"/>
                  </a:ext>
                </a:extLst>
              </a:tr>
              <a:tr h="163726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100" b="1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1,5</a:t>
                      </a:r>
                    </a:p>
                  </a:txBody>
                  <a:tcPr marL="6005" marR="6005" marT="60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100" b="1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3,7</a:t>
                      </a:r>
                    </a:p>
                  </a:txBody>
                  <a:tcPr marL="6005" marR="6005" marT="60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100" b="1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5,6</a:t>
                      </a:r>
                    </a:p>
                  </a:txBody>
                  <a:tcPr marL="6005" marR="6005" marT="60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100" b="1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8,0</a:t>
                      </a:r>
                    </a:p>
                  </a:txBody>
                  <a:tcPr marL="6005" marR="6005" marT="60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100" b="1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2,0</a:t>
                      </a:r>
                    </a:p>
                  </a:txBody>
                  <a:tcPr marL="6005" marR="6005" marT="60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100" b="1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7,7</a:t>
                      </a:r>
                    </a:p>
                  </a:txBody>
                  <a:tcPr marL="6005" marR="6005" marT="60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100" b="1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8,9</a:t>
                      </a:r>
                    </a:p>
                  </a:txBody>
                  <a:tcPr marL="6005" marR="6005" marT="60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100" b="1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10,0</a:t>
                      </a:r>
                    </a:p>
                  </a:txBody>
                  <a:tcPr marL="6005" marR="6005" marT="60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100" b="1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</a:p>
                  </a:txBody>
                  <a:tcPr marL="6005" marR="6005" marT="60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100" b="1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</a:p>
                  </a:txBody>
                  <a:tcPr marL="6005" marR="6005" marT="60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100" b="1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</a:p>
                  </a:txBody>
                  <a:tcPr marL="6005" marR="6005" marT="60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100" b="1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3,3</a:t>
                      </a:r>
                    </a:p>
                  </a:txBody>
                  <a:tcPr marL="6005" marR="6005" marT="60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81085841"/>
                  </a:ext>
                </a:extLst>
              </a:tr>
              <a:tr h="163726"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ru-RU" sz="11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1</a:t>
                      </a:r>
                    </a:p>
                  </a:txBody>
                  <a:tcPr marL="6005" marR="6005" marT="60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l" rtl="0" fontAlgn="ctr"/>
                      <a:r>
                        <a:rPr lang="ru-RU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 КНП ЛОР «</a:t>
                      </a:r>
                      <a:r>
                        <a:rPr lang="ru-RU" sz="1100" b="0" i="0" u="none" strike="noStrike" dirty="0" err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Львівська</a:t>
                      </a:r>
                      <a:r>
                        <a:rPr lang="ru-RU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lang="ru-RU" sz="1100" b="0" i="0" u="none" strike="noStrike" dirty="0" err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обласна</a:t>
                      </a:r>
                      <a:r>
                        <a:rPr lang="ru-RU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lang="ru-RU" sz="1100" b="0" i="0" u="none" strike="noStrike" dirty="0" err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клінічна</a:t>
                      </a:r>
                      <a:r>
                        <a:rPr lang="ru-RU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lang="ru-RU" sz="1100" b="0" i="0" u="none" strike="noStrike" dirty="0" err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лікарня</a:t>
                      </a:r>
                      <a:r>
                        <a:rPr lang="ru-RU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»</a:t>
                      </a:r>
                    </a:p>
                  </a:txBody>
                  <a:tcPr marL="6005" marR="6005" marT="60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1</a:t>
                      </a:r>
                    </a:p>
                  </a:txBody>
                  <a:tcPr marL="6005" marR="6005" marT="60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1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5</a:t>
                      </a:r>
                    </a:p>
                  </a:txBody>
                  <a:tcPr marL="6005" marR="6005" marT="60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1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28</a:t>
                      </a:r>
                    </a:p>
                  </a:txBody>
                  <a:tcPr marL="6005" marR="6005" marT="60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39</a:t>
                      </a:r>
                    </a:p>
                  </a:txBody>
                  <a:tcPr marL="6005" marR="6005" marT="60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ru-RU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-/- </a:t>
                      </a:r>
                    </a:p>
                  </a:txBody>
                  <a:tcPr marL="6005" marR="6005" marT="60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1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1</a:t>
                      </a:r>
                    </a:p>
                  </a:txBody>
                  <a:tcPr marL="6005" marR="6005" marT="60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1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2</a:t>
                      </a:r>
                    </a:p>
                  </a:txBody>
                  <a:tcPr marL="6005" marR="6005" marT="60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16</a:t>
                      </a:r>
                    </a:p>
                  </a:txBody>
                  <a:tcPr marL="6005" marR="6005" marT="60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ru-RU" sz="11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-/- </a:t>
                      </a:r>
                    </a:p>
                  </a:txBody>
                  <a:tcPr marL="6005" marR="6005" marT="60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ru-RU" sz="11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-/- </a:t>
                      </a:r>
                    </a:p>
                  </a:txBody>
                  <a:tcPr marL="6005" marR="6005" marT="60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ru-RU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-/- </a:t>
                      </a:r>
                    </a:p>
                  </a:txBody>
                  <a:tcPr marL="6005" marR="6005" marT="60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1</a:t>
                      </a:r>
                    </a:p>
                  </a:txBody>
                  <a:tcPr marL="6005" marR="6005" marT="60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55591606"/>
                  </a:ext>
                </a:extLst>
              </a:tr>
              <a:tr h="163726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1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0,3 </a:t>
                      </a:r>
                    </a:p>
                  </a:txBody>
                  <a:tcPr marL="6005" marR="6005" marT="60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0,6</a:t>
                      </a:r>
                    </a:p>
                  </a:txBody>
                  <a:tcPr marL="6005" marR="6005" marT="60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4,8 </a:t>
                      </a:r>
                    </a:p>
                  </a:txBody>
                  <a:tcPr marL="6005" marR="6005" marT="60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5,4</a:t>
                      </a:r>
                    </a:p>
                  </a:txBody>
                  <a:tcPr marL="6005" marR="6005" marT="60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1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20,0</a:t>
                      </a:r>
                    </a:p>
                  </a:txBody>
                  <a:tcPr marL="6005" marR="6005" marT="60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1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7,1</a:t>
                      </a:r>
                    </a:p>
                  </a:txBody>
                  <a:tcPr marL="6005" marR="6005" marT="60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41,0</a:t>
                      </a:r>
                    </a:p>
                  </a:txBody>
                  <a:tcPr marL="6005" marR="6005" marT="60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6,3</a:t>
                      </a:r>
                    </a:p>
                  </a:txBody>
                  <a:tcPr marL="6005" marR="6005" marT="60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1539840"/>
                  </a:ext>
                </a:extLst>
              </a:tr>
              <a:tr h="163726"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ru-RU" sz="11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2</a:t>
                      </a:r>
                    </a:p>
                  </a:txBody>
                  <a:tcPr marL="6005" marR="6005" marT="60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l" rtl="0" fontAlgn="ctr"/>
                      <a:r>
                        <a:rPr lang="ru-RU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Відокремлений </a:t>
                      </a:r>
                      <a:r>
                        <a:rPr lang="ru-RU" sz="1100" b="0" i="0" u="none" strike="noStrike" dirty="0" err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підрозділ</a:t>
                      </a:r>
                      <a:r>
                        <a:rPr lang="ru-RU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 «</a:t>
                      </a:r>
                      <a:r>
                        <a:rPr lang="ru-RU" sz="1100" b="0" i="0" u="none" strike="noStrike" dirty="0" err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Лікарня</a:t>
                      </a:r>
                      <a:r>
                        <a:rPr lang="ru-RU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 Святого Пантелеймона «КНП  "</a:t>
                      </a:r>
                      <a:r>
                        <a:rPr lang="ru-RU" sz="1100" b="0" i="0" u="none" strike="noStrike" dirty="0" err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Львівське</a:t>
                      </a:r>
                      <a:r>
                        <a:rPr lang="ru-RU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lang="ru-RU" sz="1100" b="0" i="0" u="none" strike="noStrike" dirty="0" err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територіальне</a:t>
                      </a:r>
                      <a:r>
                        <a:rPr lang="ru-RU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lang="ru-RU" sz="1100" b="0" i="0" u="none" strike="noStrike" dirty="0" err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медичне</a:t>
                      </a:r>
                      <a:r>
                        <a:rPr lang="ru-RU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lang="ru-RU" sz="1100" b="0" i="0" u="none" strike="noStrike" dirty="0" err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об'єднання</a:t>
                      </a:r>
                      <a:r>
                        <a:rPr lang="ru-RU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» </a:t>
                      </a:r>
                      <a:r>
                        <a:rPr lang="ru-RU" sz="1100" b="0" i="0" u="none" strike="noStrike" dirty="0" err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Багатопрофільна</a:t>
                      </a:r>
                      <a:r>
                        <a:rPr lang="ru-RU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lang="ru-RU" sz="1100" b="0" i="0" u="none" strike="noStrike" dirty="0" err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клінічна</a:t>
                      </a:r>
                      <a:r>
                        <a:rPr lang="ru-RU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lang="ru-RU" sz="1100" b="0" i="0" u="none" strike="noStrike" dirty="0" err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лікарня</a:t>
                      </a:r>
                      <a:r>
                        <a:rPr lang="ru-RU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lang="ru-RU" sz="1100" b="0" i="0" u="none" strike="noStrike" dirty="0" err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інтенсивних</a:t>
                      </a:r>
                      <a:r>
                        <a:rPr lang="ru-RU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lang="ru-RU" sz="1100" b="0" i="0" u="none" strike="noStrike" dirty="0" err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методів</a:t>
                      </a:r>
                      <a:r>
                        <a:rPr lang="ru-RU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lang="ru-RU" sz="1100" b="0" i="0" u="none" strike="noStrike" dirty="0" err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лікування</a:t>
                      </a:r>
                      <a:r>
                        <a:rPr lang="ru-RU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 та </a:t>
                      </a:r>
                      <a:r>
                        <a:rPr lang="ru-RU" sz="1100" b="0" i="0" u="none" strike="noStrike" dirty="0" err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швидкої</a:t>
                      </a:r>
                      <a:r>
                        <a:rPr lang="ru-RU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lang="ru-RU" sz="1100" b="0" i="0" u="none" strike="noStrike" dirty="0" err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медичної</a:t>
                      </a:r>
                      <a:r>
                        <a:rPr lang="ru-RU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lang="ru-RU" sz="1100" b="0" i="0" u="none" strike="noStrike" dirty="0" err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допомоги</a:t>
                      </a:r>
                      <a:r>
                        <a:rPr lang="ru-RU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»</a:t>
                      </a:r>
                    </a:p>
                  </a:txBody>
                  <a:tcPr marL="6005" marR="6005" marT="60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1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46</a:t>
                      </a:r>
                    </a:p>
                  </a:txBody>
                  <a:tcPr marL="6005" marR="6005" marT="60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1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136</a:t>
                      </a:r>
                    </a:p>
                  </a:txBody>
                  <a:tcPr marL="6005" marR="6005" marT="60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1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121</a:t>
                      </a:r>
                    </a:p>
                  </a:txBody>
                  <a:tcPr marL="6005" marR="6005" marT="60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1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127</a:t>
                      </a:r>
                    </a:p>
                  </a:txBody>
                  <a:tcPr marL="6005" marR="6005" marT="60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1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1</a:t>
                      </a:r>
                    </a:p>
                  </a:txBody>
                  <a:tcPr marL="6005" marR="6005" marT="60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1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4</a:t>
                      </a:r>
                    </a:p>
                  </a:txBody>
                  <a:tcPr marL="6005" marR="6005" marT="60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1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2</a:t>
                      </a:r>
                    </a:p>
                  </a:txBody>
                  <a:tcPr marL="6005" marR="6005" marT="60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1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6</a:t>
                      </a:r>
                    </a:p>
                  </a:txBody>
                  <a:tcPr marL="6005" marR="6005" marT="60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ru-RU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-/- </a:t>
                      </a:r>
                    </a:p>
                  </a:txBody>
                  <a:tcPr marL="6005" marR="6005" marT="60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ru-RU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-/- </a:t>
                      </a:r>
                    </a:p>
                  </a:txBody>
                  <a:tcPr marL="6005" marR="6005" marT="60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ru-RU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-/- </a:t>
                      </a:r>
                    </a:p>
                  </a:txBody>
                  <a:tcPr marL="6005" marR="6005" marT="60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ru-RU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-/- </a:t>
                      </a:r>
                    </a:p>
                  </a:txBody>
                  <a:tcPr marL="6005" marR="6005" marT="60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47827092"/>
                  </a:ext>
                </a:extLst>
              </a:tr>
              <a:tr h="569320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1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3,1</a:t>
                      </a:r>
                    </a:p>
                  </a:txBody>
                  <a:tcPr marL="6005" marR="6005" marT="60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1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5,6</a:t>
                      </a:r>
                    </a:p>
                  </a:txBody>
                  <a:tcPr marL="6005" marR="6005" marT="60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1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5,5</a:t>
                      </a:r>
                    </a:p>
                  </a:txBody>
                  <a:tcPr marL="6005" marR="6005" marT="60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6,9</a:t>
                      </a:r>
                    </a:p>
                  </a:txBody>
                  <a:tcPr marL="6005" marR="6005" marT="60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1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2,2</a:t>
                      </a:r>
                    </a:p>
                  </a:txBody>
                  <a:tcPr marL="6005" marR="6005" marT="60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1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2,9 </a:t>
                      </a:r>
                    </a:p>
                  </a:txBody>
                  <a:tcPr marL="6005" marR="6005" marT="60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1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1,7</a:t>
                      </a:r>
                    </a:p>
                  </a:txBody>
                  <a:tcPr marL="6005" marR="6005" marT="60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4,7</a:t>
                      </a:r>
                    </a:p>
                  </a:txBody>
                  <a:tcPr marL="6005" marR="6005" marT="60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18910384"/>
                  </a:ext>
                </a:extLst>
              </a:tr>
              <a:tr h="322802"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ru-RU" sz="11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3</a:t>
                      </a:r>
                    </a:p>
                  </a:txBody>
                  <a:tcPr marL="6005" marR="6005" marT="60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l" rtl="0" fontAlgn="ctr"/>
                      <a:r>
                        <a:rPr lang="ru-RU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Відокремлений </a:t>
                      </a:r>
                      <a:r>
                        <a:rPr lang="ru-RU" sz="1100" b="0" i="0" u="none" strike="noStrike" dirty="0" err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підрозділ</a:t>
                      </a:r>
                      <a:r>
                        <a:rPr lang="ru-RU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 «</a:t>
                      </a:r>
                      <a:r>
                        <a:rPr lang="ru-RU" sz="1100" b="0" i="0" u="none" strike="noStrike" dirty="0" err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Лікарня</a:t>
                      </a:r>
                      <a:r>
                        <a:rPr lang="ru-RU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 Святого Луки « КНП  «</a:t>
                      </a:r>
                      <a:r>
                        <a:rPr lang="ru-RU" sz="1100" b="0" i="0" u="none" strike="noStrike" dirty="0" err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Львівське</a:t>
                      </a:r>
                      <a:r>
                        <a:rPr lang="ru-RU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lang="ru-RU" sz="1100" b="0" i="0" u="none" strike="noStrike" dirty="0" err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територіальне</a:t>
                      </a:r>
                      <a:r>
                        <a:rPr lang="ru-RU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lang="ru-RU" sz="1100" b="0" i="0" u="none" strike="noStrike" dirty="0" err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медичне</a:t>
                      </a:r>
                      <a:r>
                        <a:rPr lang="ru-RU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lang="ru-RU" sz="1100" b="0" i="0" u="none" strike="noStrike" dirty="0" err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об'єднання</a:t>
                      </a:r>
                      <a:r>
                        <a:rPr lang="ru-RU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» </a:t>
                      </a:r>
                      <a:r>
                        <a:rPr lang="ru-RU" sz="1100" b="0" i="0" u="none" strike="noStrike" dirty="0" err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Багатопрофільна</a:t>
                      </a:r>
                      <a:r>
                        <a:rPr lang="ru-RU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lang="ru-RU" sz="1100" b="0" i="0" u="none" strike="noStrike" dirty="0" err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клінічна</a:t>
                      </a:r>
                      <a:r>
                        <a:rPr lang="ru-RU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lang="ru-RU" sz="1100" b="0" i="0" u="none" strike="noStrike" dirty="0" err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лікарня</a:t>
                      </a:r>
                      <a:r>
                        <a:rPr lang="ru-RU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lang="ru-RU" sz="1100" b="0" i="0" u="none" strike="noStrike" dirty="0" err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інтенсивних</a:t>
                      </a:r>
                      <a:r>
                        <a:rPr lang="ru-RU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lang="ru-RU" sz="1100" b="0" i="0" u="none" strike="noStrike" dirty="0" err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методів</a:t>
                      </a:r>
                      <a:r>
                        <a:rPr lang="ru-RU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lang="ru-RU" sz="1100" b="0" i="0" u="none" strike="noStrike" dirty="0" err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лікування</a:t>
                      </a:r>
                      <a:r>
                        <a:rPr lang="ru-RU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 та </a:t>
                      </a:r>
                      <a:r>
                        <a:rPr lang="ru-RU" sz="1100" b="0" i="0" u="none" strike="noStrike" dirty="0" err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швидкої</a:t>
                      </a:r>
                      <a:r>
                        <a:rPr lang="ru-RU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lang="ru-RU" sz="1100" b="0" i="0" u="none" strike="noStrike" dirty="0" err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медичної</a:t>
                      </a:r>
                      <a:r>
                        <a:rPr lang="ru-RU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lang="ru-RU" sz="1100" b="0" i="0" u="none" strike="noStrike" dirty="0" err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допомоги</a:t>
                      </a:r>
                      <a:r>
                        <a:rPr lang="ru-RU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»</a:t>
                      </a:r>
                    </a:p>
                  </a:txBody>
                  <a:tcPr marL="6005" marR="6005" marT="60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ru-RU" sz="11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-/-</a:t>
                      </a:r>
                    </a:p>
                  </a:txBody>
                  <a:tcPr marL="6005" marR="6005" marT="60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ru-RU" sz="11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 -/-</a:t>
                      </a:r>
                    </a:p>
                  </a:txBody>
                  <a:tcPr marL="6005" marR="6005" marT="60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1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84</a:t>
                      </a:r>
                    </a:p>
                  </a:txBody>
                  <a:tcPr marL="6005" marR="6005" marT="60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123</a:t>
                      </a:r>
                    </a:p>
                  </a:txBody>
                  <a:tcPr marL="6005" marR="6005" marT="60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00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ru-RU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-/- </a:t>
                      </a:r>
                    </a:p>
                  </a:txBody>
                  <a:tcPr marL="6005" marR="6005" marT="60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ru-RU" sz="11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 -/-</a:t>
                      </a:r>
                    </a:p>
                  </a:txBody>
                  <a:tcPr marL="6005" marR="6005" marT="60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1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13</a:t>
                      </a:r>
                    </a:p>
                  </a:txBody>
                  <a:tcPr marL="6005" marR="6005" marT="60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13</a:t>
                      </a:r>
                    </a:p>
                  </a:txBody>
                  <a:tcPr marL="6005" marR="6005" marT="60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00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ru-RU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-/-</a:t>
                      </a:r>
                    </a:p>
                  </a:txBody>
                  <a:tcPr marL="6005" marR="6005" marT="60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ru-RU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-/-</a:t>
                      </a:r>
                    </a:p>
                  </a:txBody>
                  <a:tcPr marL="6005" marR="6005" marT="60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ru-RU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-/- </a:t>
                      </a:r>
                    </a:p>
                  </a:txBody>
                  <a:tcPr marL="6005" marR="6005" marT="60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1 </a:t>
                      </a:r>
                    </a:p>
                  </a:txBody>
                  <a:tcPr marL="6005" marR="6005" marT="60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8984269"/>
                  </a:ext>
                </a:extLst>
              </a:tr>
              <a:tr h="324882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1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8,6</a:t>
                      </a:r>
                    </a:p>
                  </a:txBody>
                  <a:tcPr marL="6005" marR="6005" marT="60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10,0</a:t>
                      </a:r>
                    </a:p>
                  </a:txBody>
                  <a:tcPr marL="6005" marR="6005" marT="60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1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15,5 </a:t>
                      </a:r>
                    </a:p>
                  </a:txBody>
                  <a:tcPr marL="6005" marR="6005" marT="60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10,6</a:t>
                      </a:r>
                    </a:p>
                  </a:txBody>
                  <a:tcPr marL="6005" marR="6005" marT="60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rtl="0" fontAlgn="ctr"/>
                      <a:endParaRPr lang="ru-RU" sz="1100" b="0" i="0" u="none" strike="noStrike" dirty="0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005" marR="6005" marT="60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rtl="0" fontAlgn="ctr"/>
                      <a:endParaRPr lang="ru-RU" sz="1100" b="0" i="0" u="none" strike="noStrike" dirty="0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005" marR="6005" marT="60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rtl="0" fontAlgn="ctr"/>
                      <a:endParaRPr lang="ru-RU" sz="1100" b="0" i="0" u="none" strike="noStrike" dirty="0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005" marR="6005" marT="60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 7,7</a:t>
                      </a:r>
                    </a:p>
                  </a:txBody>
                  <a:tcPr marL="6005" marR="6005" marT="60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8378933"/>
                  </a:ext>
                </a:extLst>
              </a:tr>
              <a:tr h="227786">
                <a:tc rowSpan="3">
                  <a:txBody>
                    <a:bodyPr/>
                    <a:lstStyle/>
                    <a:p>
                      <a:pPr algn="ctr" rtl="0" fontAlgn="ctr"/>
                      <a:r>
                        <a:rPr lang="ru-RU" sz="11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4</a:t>
                      </a:r>
                    </a:p>
                  </a:txBody>
                  <a:tcPr marL="6005" marR="6005" marT="60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>
                  <a:txBody>
                    <a:bodyPr/>
                    <a:lstStyle/>
                    <a:p>
                      <a:pPr algn="l" rtl="0" fontAlgn="ctr"/>
                      <a:r>
                        <a:rPr lang="ru-RU" sz="11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 КНП ЛОР «Львівський обласний госпіталь ветеранів війн та репресованих ім. Ю. Липи»</a:t>
                      </a:r>
                    </a:p>
                  </a:txBody>
                  <a:tcPr marL="6005" marR="6005" marT="60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>
                  <a:txBody>
                    <a:bodyPr/>
                    <a:lstStyle/>
                    <a:p>
                      <a:pPr algn="ctr" rtl="0" fontAlgn="ctr"/>
                      <a:r>
                        <a:rPr lang="ru-RU" sz="11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-/- </a:t>
                      </a:r>
                    </a:p>
                  </a:txBody>
                  <a:tcPr marL="6005" marR="6005" marT="60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ru-RU" sz="11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5</a:t>
                      </a:r>
                    </a:p>
                  </a:txBody>
                  <a:tcPr marL="6005" marR="6005" marT="60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ru-RU" sz="11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9</a:t>
                      </a:r>
                    </a:p>
                  </a:txBody>
                  <a:tcPr marL="6005" marR="6005" marT="60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ru-RU" sz="11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59</a:t>
                      </a:r>
                    </a:p>
                  </a:txBody>
                  <a:tcPr marL="6005" marR="6005" marT="60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rowSpan="3">
                  <a:txBody>
                    <a:bodyPr/>
                    <a:lstStyle/>
                    <a:p>
                      <a:pPr algn="ctr" rtl="0" fontAlgn="ctr"/>
                      <a:r>
                        <a:rPr lang="ru-RU" sz="11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 -/- </a:t>
                      </a:r>
                    </a:p>
                  </a:txBody>
                  <a:tcPr marL="6005" marR="6005" marT="60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>
                  <a:txBody>
                    <a:bodyPr/>
                    <a:lstStyle/>
                    <a:p>
                      <a:pPr algn="ctr" rtl="0" fontAlgn="ctr"/>
                      <a:r>
                        <a:rPr lang="ru-RU" sz="11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 -/-  </a:t>
                      </a:r>
                    </a:p>
                  </a:txBody>
                  <a:tcPr marL="6005" marR="6005" marT="60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1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1</a:t>
                      </a:r>
                    </a:p>
                  </a:txBody>
                  <a:tcPr marL="6005" marR="6005" marT="60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8</a:t>
                      </a:r>
                    </a:p>
                  </a:txBody>
                  <a:tcPr marL="6005" marR="6005" marT="60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ctr" rtl="0" fontAlgn="ctr"/>
                      <a:r>
                        <a:rPr lang="ru-RU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</a:p>
                    <a:p>
                      <a:pPr algn="ctr" rtl="0" fontAlgn="ctr"/>
                      <a:r>
                        <a:rPr lang="ru-RU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 -/-</a:t>
                      </a:r>
                    </a:p>
                    <a:p>
                      <a:pPr algn="ctr" rtl="0" fontAlgn="ctr"/>
                      <a:r>
                        <a:rPr lang="ru-RU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</a:p>
                  </a:txBody>
                  <a:tcPr marL="6005" marR="6005" marT="60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>
                  <a:txBody>
                    <a:bodyPr/>
                    <a:lstStyle/>
                    <a:p>
                      <a:pPr algn="ctr" rtl="0" fontAlgn="ctr"/>
                      <a:r>
                        <a:rPr lang="ru-RU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</a:p>
                    <a:p>
                      <a:pPr algn="ctr" rtl="0" fontAlgn="ctr"/>
                      <a:r>
                        <a:rPr lang="ru-RU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-/- </a:t>
                      </a:r>
                    </a:p>
                    <a:p>
                      <a:pPr algn="ctr" rtl="0" fontAlgn="ctr"/>
                      <a:r>
                        <a:rPr lang="ru-RU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</a:p>
                  </a:txBody>
                  <a:tcPr marL="6005" marR="6005" marT="60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>
                  <a:txBody>
                    <a:bodyPr/>
                    <a:lstStyle/>
                    <a:p>
                      <a:pPr algn="ctr" rtl="0" fontAlgn="ctr"/>
                      <a:r>
                        <a:rPr lang="ru-RU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</a:p>
                    <a:p>
                      <a:pPr algn="ctr" rtl="0" fontAlgn="ctr"/>
                      <a:r>
                        <a:rPr lang="ru-RU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-/- </a:t>
                      </a:r>
                    </a:p>
                    <a:p>
                      <a:pPr algn="ctr" rtl="0" fontAlgn="ctr"/>
                      <a:r>
                        <a:rPr lang="ru-RU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</a:p>
                  </a:txBody>
                  <a:tcPr marL="6005" marR="6005" marT="60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>
                  <a:txBody>
                    <a:bodyPr/>
                    <a:lstStyle/>
                    <a:p>
                      <a:pPr algn="ctr" rtl="0" fontAlgn="ctr"/>
                      <a:r>
                        <a:rPr lang="ru-RU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</a:p>
                    <a:p>
                      <a:pPr algn="ctr" rtl="0" fontAlgn="ctr"/>
                      <a:r>
                        <a:rPr lang="ru-RU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 -/-</a:t>
                      </a:r>
                    </a:p>
                    <a:p>
                      <a:pPr algn="ctr" rtl="0" fontAlgn="ctr"/>
                      <a:r>
                        <a:rPr lang="ru-RU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</a:p>
                  </a:txBody>
                  <a:tcPr marL="6005" marR="6005" marT="60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40510748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uk-UA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uk-UA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uk-UA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 rtl="0" fontAlgn="ctr"/>
                      <a:endParaRPr lang="ru-RU" sz="1100" b="0" i="0" u="none" strike="noStrike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005" marR="6005" marT="60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vMerge="1">
                  <a:txBody>
                    <a:bodyPr/>
                    <a:lstStyle/>
                    <a:p>
                      <a:pPr algn="ctr" rtl="0" fontAlgn="ctr"/>
                      <a:endParaRPr lang="ru-RU" sz="1100" b="0" i="0" u="none" strike="noStrike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005" marR="6005" marT="60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vMerge="1">
                  <a:txBody>
                    <a:bodyPr/>
                    <a:lstStyle/>
                    <a:p>
                      <a:pPr algn="ctr" rtl="0" fontAlgn="ctr"/>
                      <a:endParaRPr lang="ru-RU" sz="1100" b="0" i="0" u="none" strike="noStrike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005" marR="6005" marT="60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uk-UA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uk-UA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ru-RU" sz="11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11,1</a:t>
                      </a:r>
                    </a:p>
                  </a:txBody>
                  <a:tcPr marL="6005" marR="6005" marT="60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ru-RU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13,5</a:t>
                      </a:r>
                    </a:p>
                  </a:txBody>
                  <a:tcPr marL="6005" marR="6005" marT="60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rtl="0" fontAlgn="ctr"/>
                      <a:endParaRPr lang="ru-RU" sz="1100" b="0" i="0" u="none" strike="noStrike" dirty="0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005" marR="6005" marT="60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rtl="0" fontAlgn="ctr"/>
                      <a:endParaRPr lang="ru-RU" sz="1100" b="0" i="0" u="none" strike="noStrike" dirty="0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005" marR="6005" marT="60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rtl="0" fontAlgn="ctr"/>
                      <a:endParaRPr lang="ru-RU" sz="1100" b="0" i="0" u="none" strike="noStrike" dirty="0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005" marR="6005" marT="60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rtl="0" fontAlgn="ctr"/>
                      <a:endParaRPr lang="ru-RU" sz="1100" b="0" i="0" u="none" strike="noStrike" dirty="0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005" marR="6005" marT="60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89737931"/>
                  </a:ext>
                </a:extLst>
              </a:tr>
              <a:tr h="93358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1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14,7</a:t>
                      </a:r>
                    </a:p>
                  </a:txBody>
                  <a:tcPr marL="6005" marR="6005" marT="60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1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2,4 </a:t>
                      </a:r>
                    </a:p>
                  </a:txBody>
                  <a:tcPr marL="6005" marR="6005" marT="60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1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10,5</a:t>
                      </a:r>
                    </a:p>
                  </a:txBody>
                  <a:tcPr marL="6005" marR="6005" marT="60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 rtl="0" fontAlgn="ctr"/>
                      <a:r>
                        <a:rPr lang="ru-RU" sz="11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11,1</a:t>
                      </a:r>
                    </a:p>
                  </a:txBody>
                  <a:tcPr marL="6005" marR="6005" marT="60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rtl="0" fontAlgn="ctr"/>
                      <a:r>
                        <a:rPr lang="ru-RU" sz="11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13,5</a:t>
                      </a:r>
                    </a:p>
                  </a:txBody>
                  <a:tcPr marL="6005" marR="6005" marT="60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rtl="0" fontAlgn="ctr"/>
                      <a:endParaRPr lang="ru-RU" sz="1100" b="0" i="0" u="none" strike="noStrike" dirty="0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005" marR="6005" marT="60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rtl="0" fontAlgn="ctr"/>
                      <a:endParaRPr lang="ru-RU" sz="1100" b="0" i="0" u="none" strike="noStrike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005" marR="6005" marT="60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rtl="0" fontAlgn="ctr"/>
                      <a:endParaRPr lang="ru-RU" sz="1100" b="0" i="0" u="none" strike="noStrike" dirty="0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005" marR="6005" marT="60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rtl="0" fontAlgn="ctr"/>
                      <a:endParaRPr lang="ru-RU" sz="1100" b="0" i="0" u="none" strike="noStrike" dirty="0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005" marR="6005" marT="60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20750936"/>
                  </a:ext>
                </a:extLst>
              </a:tr>
              <a:tr h="169087">
                <a:tc rowSpan="3">
                  <a:txBody>
                    <a:bodyPr/>
                    <a:lstStyle/>
                    <a:p>
                      <a:pPr algn="ctr" rtl="0" fontAlgn="ctr"/>
                      <a:r>
                        <a:rPr lang="ru-RU" sz="11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5</a:t>
                      </a:r>
                    </a:p>
                  </a:txBody>
                  <a:tcPr marL="6005" marR="6005" marT="60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>
                  <a:txBody>
                    <a:bodyPr/>
                    <a:lstStyle/>
                    <a:p>
                      <a:pPr algn="l" rtl="0" fontAlgn="ctr"/>
                      <a:r>
                        <a:rPr lang="ru-RU" sz="11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КНП Буської міської ради «Буська центральна районна лiкарня»</a:t>
                      </a:r>
                    </a:p>
                  </a:txBody>
                  <a:tcPr marL="6005" marR="6005" marT="60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>
                  <a:txBody>
                    <a:bodyPr/>
                    <a:lstStyle/>
                    <a:p>
                      <a:pPr algn="ctr" rtl="0" fontAlgn="ctr"/>
                      <a:r>
                        <a:rPr lang="ru-RU" sz="11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 -/-</a:t>
                      </a:r>
                    </a:p>
                  </a:txBody>
                  <a:tcPr marL="6005" marR="6005" marT="60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>
                  <a:txBody>
                    <a:bodyPr/>
                    <a:lstStyle/>
                    <a:p>
                      <a:pPr algn="ctr" rtl="0" fontAlgn="ctr"/>
                      <a:r>
                        <a:rPr lang="ru-RU" sz="11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 -/-</a:t>
                      </a:r>
                    </a:p>
                  </a:txBody>
                  <a:tcPr marL="6005" marR="6005" marT="60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>
                  <a:txBody>
                    <a:bodyPr/>
                    <a:lstStyle/>
                    <a:p>
                      <a:pPr algn="ctr" rtl="0" fontAlgn="ctr"/>
                      <a:r>
                        <a:rPr lang="ru-RU" sz="11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 -/-</a:t>
                      </a:r>
                    </a:p>
                  </a:txBody>
                  <a:tcPr marL="6005" marR="6005" marT="60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1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11</a:t>
                      </a:r>
                    </a:p>
                  </a:txBody>
                  <a:tcPr marL="6005" marR="6005" marT="60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rowSpan="3">
                  <a:txBody>
                    <a:bodyPr/>
                    <a:lstStyle/>
                    <a:p>
                      <a:pPr algn="ctr" rtl="0" fontAlgn="ctr"/>
                      <a:r>
                        <a:rPr lang="ru-RU" sz="11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 -/-</a:t>
                      </a:r>
                    </a:p>
                  </a:txBody>
                  <a:tcPr marL="6005" marR="6005" marT="60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>
                  <a:txBody>
                    <a:bodyPr/>
                    <a:lstStyle/>
                    <a:p>
                      <a:pPr algn="ctr" rtl="0" fontAlgn="ctr"/>
                      <a:r>
                        <a:rPr lang="ru-RU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 -/-</a:t>
                      </a:r>
                    </a:p>
                  </a:txBody>
                  <a:tcPr marL="6005" marR="6005" marT="60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>
                  <a:txBody>
                    <a:bodyPr/>
                    <a:lstStyle/>
                    <a:p>
                      <a:pPr algn="ctr" rtl="0" fontAlgn="ctr"/>
                      <a:r>
                        <a:rPr lang="ru-RU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 -/-</a:t>
                      </a:r>
                    </a:p>
                  </a:txBody>
                  <a:tcPr marL="6005" marR="6005" marT="60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ru-RU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1</a:t>
                      </a:r>
                    </a:p>
                  </a:txBody>
                  <a:tcPr marL="6005" marR="6005" marT="60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rowSpan="3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 </a:t>
                      </a:r>
                      <a:r>
                        <a:rPr lang="ru-RU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</a:p>
                    <a:p>
                      <a:pPr algn="ctr" rtl="0" fontAlgn="ctr"/>
                      <a:r>
                        <a:rPr lang="ru-RU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 -/-</a:t>
                      </a:r>
                    </a:p>
                    <a:p>
                      <a:pPr algn="ctr" rtl="0" fontAlgn="ctr"/>
                      <a:r>
                        <a:rPr lang="ru-RU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</a:p>
                  </a:txBody>
                  <a:tcPr marL="6005" marR="6005" marT="60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>
                  <a:txBody>
                    <a:bodyPr/>
                    <a:lstStyle/>
                    <a:p>
                      <a:pPr algn="ctr" rtl="0" fontAlgn="ctr"/>
                      <a:r>
                        <a:rPr lang="ru-RU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  -/-</a:t>
                      </a:r>
                    </a:p>
                  </a:txBody>
                  <a:tcPr marL="6005" marR="6005" marT="60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>
                  <a:txBody>
                    <a:bodyPr/>
                    <a:lstStyle/>
                    <a:p>
                      <a:pPr algn="ctr" rtl="0" fontAlgn="ctr"/>
                      <a:r>
                        <a:rPr lang="ru-RU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</a:p>
                    <a:p>
                      <a:pPr algn="ctr" rtl="0" fontAlgn="ctr"/>
                      <a:r>
                        <a:rPr lang="ru-RU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-/- </a:t>
                      </a:r>
                    </a:p>
                    <a:p>
                      <a:pPr algn="ctr" rtl="0" fontAlgn="ctr"/>
                      <a:r>
                        <a:rPr lang="ru-RU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</a:p>
                  </a:txBody>
                  <a:tcPr marL="6005" marR="6005" marT="60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>
                  <a:txBody>
                    <a:bodyPr/>
                    <a:lstStyle/>
                    <a:p>
                      <a:pPr algn="ctr" rtl="0" fontAlgn="ctr"/>
                      <a:r>
                        <a:rPr lang="ru-RU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 -/- </a:t>
                      </a:r>
                    </a:p>
                  </a:txBody>
                  <a:tcPr marL="6005" marR="6005" marT="60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98105163"/>
                  </a:ext>
                </a:extLst>
              </a:tr>
              <a:tr h="85993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ru-RU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2,8</a:t>
                      </a:r>
                    </a:p>
                  </a:txBody>
                  <a:tcPr marL="6005" marR="6005" marT="60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 rtl="0" fontAlgn="ctr"/>
                      <a:r>
                        <a:rPr lang="ru-RU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9,1</a:t>
                      </a:r>
                    </a:p>
                  </a:txBody>
                  <a:tcPr marL="6005" marR="6005" marT="60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rtl="0" fontAlgn="ctr"/>
                      <a:endParaRPr lang="ru-RU" sz="1100" b="0" i="0" u="none" strike="noStrike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005" marR="6005" marT="60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rtl="0" fontAlgn="ctr"/>
                      <a:endParaRPr lang="ru-RU" sz="1100" b="0" i="0" u="none" strike="noStrike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005" marR="6005" marT="60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rtl="0" fontAlgn="ctr"/>
                      <a:endParaRPr lang="ru-RU" sz="1100" b="0" i="0" u="none" strike="noStrike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005" marR="6005" marT="60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rtl="0" fontAlgn="ctr"/>
                      <a:endParaRPr lang="ru-RU" sz="1100" b="0" i="0" u="none" strike="noStrike" dirty="0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005" marR="6005" marT="60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70550387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algn="ctr" rtl="0" fontAlgn="ctr"/>
                      <a:endParaRPr lang="ru-RU" sz="1100" b="0" i="0" u="none" strike="noStrike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005" marR="6005" marT="60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fontAlgn="ctr"/>
                      <a:endParaRPr lang="ru-RU" sz="1100" b="0" i="0" u="none" strike="noStrike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005" marR="6005" marT="60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rtl="0" fontAlgn="ctr"/>
                      <a:endParaRPr lang="ru-RU" sz="1100" b="0" i="0" u="none" strike="noStrike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005" marR="6005" marT="60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rtl="0" fontAlgn="ctr"/>
                      <a:endParaRPr lang="ru-RU" sz="1100" b="0" i="0" u="none" strike="noStrike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005" marR="6005" marT="60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rtl="0" fontAlgn="ctr"/>
                      <a:endParaRPr lang="ru-RU" sz="1100" b="0" i="0" u="none" strike="noStrike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005" marR="6005" marT="60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rtl="0" fontAlgn="ctr"/>
                      <a:endParaRPr lang="ru-RU" sz="1100" b="0" i="0" u="none" strike="noStrike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005" marR="6005" marT="60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rtl="0" fontAlgn="ctr"/>
                      <a:endParaRPr lang="ru-RU" sz="1100" b="0" i="0" u="none" strike="noStrike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005" marR="6005" marT="60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rtl="0" fontAlgn="ctr"/>
                      <a:endParaRPr lang="ru-RU" sz="1100" b="0" i="0" u="none" strike="noStrike" dirty="0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005" marR="6005" marT="60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rtl="0" fontAlgn="ctr"/>
                      <a:endParaRPr lang="ru-RU" sz="1100" b="0" i="0" u="none" strike="noStrike" dirty="0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005" marR="6005" marT="60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9,1</a:t>
                      </a:r>
                    </a:p>
                  </a:txBody>
                  <a:tcPr marL="6005" marR="6005" marT="60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rtl="0" fontAlgn="ctr"/>
                      <a:endParaRPr lang="ru-RU" sz="1100" b="0" i="0" u="none" strike="noStrike" dirty="0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005" marR="6005" marT="60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rtl="0" fontAlgn="ctr"/>
                      <a:endParaRPr lang="ru-RU" sz="1100" b="0" i="0" u="none" strike="noStrike" dirty="0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005" marR="6005" marT="60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rtl="0" fontAlgn="ctr"/>
                      <a:endParaRPr lang="ru-RU" sz="1100" b="0" i="0" u="none" strike="noStrike" dirty="0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005" marR="6005" marT="60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rtl="0" fontAlgn="ctr"/>
                      <a:endParaRPr lang="ru-RU" sz="1100" b="0" i="0" u="none" strike="noStrike" dirty="0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005" marR="6005" marT="60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97269378"/>
                  </a:ext>
                </a:extLst>
              </a:tr>
              <a:tr h="261315"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ru-RU" sz="11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6</a:t>
                      </a:r>
                    </a:p>
                  </a:txBody>
                  <a:tcPr marL="6005" marR="6005" marT="60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l" rtl="0" fontAlgn="ctr"/>
                      <a:r>
                        <a:rPr lang="ru-RU" sz="11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КНП «Дрогобицька міська лікарня № 1» Дрогобицької міської ради</a:t>
                      </a:r>
                    </a:p>
                  </a:txBody>
                  <a:tcPr marL="6005" marR="6005" marT="60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2</a:t>
                      </a:r>
                    </a:p>
                  </a:txBody>
                  <a:tcPr marL="6005" marR="6005" marT="60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1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13</a:t>
                      </a:r>
                    </a:p>
                  </a:txBody>
                  <a:tcPr marL="6005" marR="6005" marT="60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1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29</a:t>
                      </a:r>
                    </a:p>
                  </a:txBody>
                  <a:tcPr marL="6005" marR="6005" marT="60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47</a:t>
                      </a:r>
                    </a:p>
                  </a:txBody>
                  <a:tcPr marL="6005" marR="6005" marT="60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00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ru-RU" sz="11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 -/-</a:t>
                      </a:r>
                    </a:p>
                  </a:txBody>
                  <a:tcPr marL="6005" marR="6005" marT="60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ru-RU" sz="11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-/-</a:t>
                      </a:r>
                    </a:p>
                  </a:txBody>
                  <a:tcPr marL="6005" marR="6005" marT="60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3</a:t>
                      </a:r>
                    </a:p>
                  </a:txBody>
                  <a:tcPr marL="6005" marR="6005" marT="60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4</a:t>
                      </a:r>
                    </a:p>
                  </a:txBody>
                  <a:tcPr marL="6005" marR="6005" marT="60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100" b="0" i="0" u="none" strike="noStrike" dirty="0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-/-</a:t>
                      </a:r>
                    </a:p>
                  </a:txBody>
                  <a:tcPr marL="6005" marR="6005" marT="60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ru-RU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-/-</a:t>
                      </a:r>
                    </a:p>
                  </a:txBody>
                  <a:tcPr marL="6005" marR="6005" marT="60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ru-RU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-/- </a:t>
                      </a:r>
                    </a:p>
                  </a:txBody>
                  <a:tcPr marL="6005" marR="6005" marT="60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ru-RU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  -/-</a:t>
                      </a:r>
                    </a:p>
                  </a:txBody>
                  <a:tcPr marL="6005" marR="6005" marT="60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56163932"/>
                  </a:ext>
                </a:extLst>
              </a:tr>
              <a:tr h="176774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1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0,4</a:t>
                      </a:r>
                    </a:p>
                  </a:txBody>
                  <a:tcPr marL="6005" marR="6005" marT="60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1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1,9</a:t>
                      </a:r>
                    </a:p>
                  </a:txBody>
                  <a:tcPr marL="6005" marR="6005" marT="60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1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3,8</a:t>
                      </a:r>
                    </a:p>
                  </a:txBody>
                  <a:tcPr marL="6005" marR="6005" marT="60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5,3</a:t>
                      </a:r>
                    </a:p>
                  </a:txBody>
                  <a:tcPr marL="6005" marR="6005" marT="60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10,3</a:t>
                      </a:r>
                    </a:p>
                  </a:txBody>
                  <a:tcPr marL="6005" marR="6005" marT="60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8,5</a:t>
                      </a:r>
                    </a:p>
                  </a:txBody>
                  <a:tcPr marL="6005" marR="6005" marT="60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1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</a:p>
                  </a:txBody>
                  <a:tcPr marL="6005" marR="6005" marT="60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rtl="0" fontAlgn="ctr"/>
                      <a:endParaRPr lang="ru-RU" sz="1100" b="0" i="0" u="none" strike="noStrike" dirty="0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005" marR="6005" marT="60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rtl="0" fontAlgn="ctr"/>
                      <a:endParaRPr lang="ru-RU" sz="1100" b="0" i="0" u="none" strike="noStrike" dirty="0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005" marR="6005" marT="60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rtl="0" fontAlgn="ctr"/>
                      <a:endParaRPr lang="ru-RU" sz="1100" b="0" i="0" u="none" strike="noStrike" dirty="0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005" marR="6005" marT="60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5100223"/>
                  </a:ext>
                </a:extLst>
              </a:tr>
              <a:tr h="163726"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ru-RU" sz="11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7</a:t>
                      </a:r>
                    </a:p>
                  </a:txBody>
                  <a:tcPr marL="6005" marR="6005" marT="60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l" rtl="0" fontAlgn="ctr"/>
                      <a:r>
                        <a:rPr lang="ru-RU" sz="11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 КНП «Новояворівська лікарня імені Юрія Липи» Новояворівської міської ради</a:t>
                      </a:r>
                    </a:p>
                  </a:txBody>
                  <a:tcPr marL="6005" marR="6005" marT="60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ru-RU" sz="11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-/- </a:t>
                      </a:r>
                    </a:p>
                  </a:txBody>
                  <a:tcPr marL="6005" marR="6005" marT="60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1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16</a:t>
                      </a:r>
                    </a:p>
                  </a:txBody>
                  <a:tcPr marL="6005" marR="6005" marT="60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1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24</a:t>
                      </a:r>
                    </a:p>
                  </a:txBody>
                  <a:tcPr marL="6005" marR="6005" marT="60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1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31</a:t>
                      </a:r>
                    </a:p>
                  </a:txBody>
                  <a:tcPr marL="6005" marR="6005" marT="60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ru-RU" sz="11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-/- </a:t>
                      </a:r>
                    </a:p>
                  </a:txBody>
                  <a:tcPr marL="6005" marR="6005" marT="60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1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6</a:t>
                      </a:r>
                    </a:p>
                  </a:txBody>
                  <a:tcPr marL="6005" marR="6005" marT="60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1</a:t>
                      </a:r>
                    </a:p>
                  </a:txBody>
                  <a:tcPr marL="6005" marR="6005" marT="60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6</a:t>
                      </a:r>
                    </a:p>
                  </a:txBody>
                  <a:tcPr marL="6005" marR="6005" marT="60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ru-RU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-/-  </a:t>
                      </a:r>
                    </a:p>
                  </a:txBody>
                  <a:tcPr marL="6005" marR="6005" marT="60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ru-RU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 -/- </a:t>
                      </a:r>
                    </a:p>
                  </a:txBody>
                  <a:tcPr marL="6005" marR="6005" marT="60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ru-RU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-/- </a:t>
                      </a:r>
                    </a:p>
                  </a:txBody>
                  <a:tcPr marL="6005" marR="6005" marT="60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ru-RU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-/- </a:t>
                      </a:r>
                    </a:p>
                  </a:txBody>
                  <a:tcPr marL="6005" marR="6005" marT="60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15447300"/>
                  </a:ext>
                </a:extLst>
              </a:tr>
              <a:tr h="163726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1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4,1</a:t>
                      </a:r>
                    </a:p>
                  </a:txBody>
                  <a:tcPr marL="6005" marR="6005" marT="60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1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5,1</a:t>
                      </a:r>
                    </a:p>
                  </a:txBody>
                  <a:tcPr marL="6005" marR="6005" marT="60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1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9,4</a:t>
                      </a:r>
                    </a:p>
                  </a:txBody>
                  <a:tcPr marL="6005" marR="6005" marT="60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1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37,5</a:t>
                      </a:r>
                    </a:p>
                  </a:txBody>
                  <a:tcPr marL="6005" marR="6005" marT="60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1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4,2</a:t>
                      </a:r>
                    </a:p>
                  </a:txBody>
                  <a:tcPr marL="6005" marR="6005" marT="60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19,4</a:t>
                      </a:r>
                    </a:p>
                  </a:txBody>
                  <a:tcPr marL="6005" marR="6005" marT="60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rtl="0" fontAlgn="ctr"/>
                      <a:endParaRPr lang="ru-RU" sz="1100" b="0" i="0" u="none" strike="noStrike" dirty="0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005" marR="6005" marT="60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rtl="0" fontAlgn="ctr"/>
                      <a:endParaRPr lang="ru-RU" sz="1100" b="0" i="0" u="none" strike="noStrike" dirty="0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005" marR="6005" marT="60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rtl="0" fontAlgn="ctr"/>
                      <a:endParaRPr lang="ru-RU" sz="1100" b="0" i="0" u="none" strike="noStrike" dirty="0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005" marR="6005" marT="60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rtl="0" fontAlgn="ctr"/>
                      <a:endParaRPr lang="ru-RU" sz="1100" b="0" i="0" u="none" strike="noStrike" dirty="0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005" marR="6005" marT="60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17851502"/>
                  </a:ext>
                </a:extLst>
              </a:tr>
              <a:tr h="163726"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ru-RU" sz="11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8</a:t>
                      </a:r>
                    </a:p>
                  </a:txBody>
                  <a:tcPr marL="6005" marR="6005" marT="60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l" rtl="0" fontAlgn="ctr"/>
                      <a:r>
                        <a:rPr lang="ru-RU" sz="11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 КНП Самбірської міської ради «Самбірська центральна лікарня»</a:t>
                      </a:r>
                    </a:p>
                  </a:txBody>
                  <a:tcPr marL="6005" marR="6005" marT="60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ru-RU" sz="11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-/-</a:t>
                      </a:r>
                    </a:p>
                  </a:txBody>
                  <a:tcPr marL="6005" marR="6005" marT="60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1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14</a:t>
                      </a:r>
                    </a:p>
                  </a:txBody>
                  <a:tcPr marL="6005" marR="6005" marT="60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1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8</a:t>
                      </a:r>
                    </a:p>
                  </a:txBody>
                  <a:tcPr marL="6005" marR="6005" marT="60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22</a:t>
                      </a:r>
                    </a:p>
                  </a:txBody>
                  <a:tcPr marL="6005" marR="6005" marT="60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00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ru-RU" sz="11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-/-</a:t>
                      </a:r>
                    </a:p>
                  </a:txBody>
                  <a:tcPr marL="6005" marR="6005" marT="60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ru-RU" sz="11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-/-</a:t>
                      </a:r>
                    </a:p>
                  </a:txBody>
                  <a:tcPr marL="6005" marR="6005" marT="60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1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1</a:t>
                      </a:r>
                    </a:p>
                  </a:txBody>
                  <a:tcPr marL="6005" marR="6005" marT="60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1</a:t>
                      </a:r>
                    </a:p>
                  </a:txBody>
                  <a:tcPr marL="6005" marR="6005" marT="60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00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ru-RU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-/-</a:t>
                      </a:r>
                    </a:p>
                  </a:txBody>
                  <a:tcPr marL="6005" marR="6005" marT="60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ru-RU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-/-</a:t>
                      </a:r>
                    </a:p>
                  </a:txBody>
                  <a:tcPr marL="6005" marR="6005" marT="60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ru-RU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-/-</a:t>
                      </a:r>
                    </a:p>
                  </a:txBody>
                  <a:tcPr marL="6005" marR="6005" marT="60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ru-RU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-/-</a:t>
                      </a:r>
                    </a:p>
                  </a:txBody>
                  <a:tcPr marL="6005" marR="6005" marT="60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48841306"/>
                  </a:ext>
                </a:extLst>
              </a:tr>
              <a:tr h="163726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1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3,3</a:t>
                      </a:r>
                    </a:p>
                  </a:txBody>
                  <a:tcPr marL="6005" marR="6005" marT="60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1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2,0</a:t>
                      </a:r>
                    </a:p>
                  </a:txBody>
                  <a:tcPr marL="6005" marR="6005" marT="60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5,6</a:t>
                      </a:r>
                    </a:p>
                  </a:txBody>
                  <a:tcPr marL="6005" marR="6005" marT="60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1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12,5</a:t>
                      </a:r>
                    </a:p>
                  </a:txBody>
                  <a:tcPr marL="6005" marR="6005" marT="60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4,6</a:t>
                      </a:r>
                    </a:p>
                  </a:txBody>
                  <a:tcPr marL="6005" marR="6005" marT="60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78979733"/>
                  </a:ext>
                </a:extLst>
              </a:tr>
              <a:tr h="163726"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ru-RU" sz="11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9</a:t>
                      </a:r>
                    </a:p>
                  </a:txBody>
                  <a:tcPr marL="6005" marR="6005" marT="60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l" rtl="0" fontAlgn="ctr"/>
                      <a:r>
                        <a:rPr lang="ru-RU" sz="11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КНП Стрийської міської ради ТМО «Стрийська міська об'єднана лікарня», ВП «Лікарня інтенсивного лікування»</a:t>
                      </a:r>
                    </a:p>
                  </a:txBody>
                  <a:tcPr marL="6005" marR="6005" marT="60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ru-RU" sz="11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 -/-</a:t>
                      </a:r>
                    </a:p>
                  </a:txBody>
                  <a:tcPr marL="6005" marR="6005" marT="60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1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17</a:t>
                      </a:r>
                    </a:p>
                  </a:txBody>
                  <a:tcPr marL="6005" marR="6005" marT="60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1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64</a:t>
                      </a:r>
                    </a:p>
                  </a:txBody>
                  <a:tcPr marL="6005" marR="6005" marT="60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93</a:t>
                      </a:r>
                    </a:p>
                  </a:txBody>
                  <a:tcPr marL="6005" marR="6005" marT="60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00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ru-RU" sz="11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-/- </a:t>
                      </a:r>
                    </a:p>
                  </a:txBody>
                  <a:tcPr marL="6005" marR="6005" marT="60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1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5</a:t>
                      </a:r>
                    </a:p>
                  </a:txBody>
                  <a:tcPr marL="6005" marR="6005" marT="60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1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10</a:t>
                      </a:r>
                    </a:p>
                  </a:txBody>
                  <a:tcPr marL="6005" marR="6005" marT="60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3</a:t>
                      </a:r>
                    </a:p>
                  </a:txBody>
                  <a:tcPr marL="6005" marR="6005" marT="60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00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ru-RU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-/-</a:t>
                      </a:r>
                    </a:p>
                  </a:txBody>
                  <a:tcPr marL="6005" marR="6005" marT="60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ru-RU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-/-</a:t>
                      </a:r>
                    </a:p>
                  </a:txBody>
                  <a:tcPr marL="6005" marR="6005" marT="60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ru-RU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-/-</a:t>
                      </a:r>
                    </a:p>
                  </a:txBody>
                  <a:tcPr marL="6005" marR="6005" marT="60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ru-RU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-/- </a:t>
                      </a:r>
                    </a:p>
                  </a:txBody>
                  <a:tcPr marL="6005" marR="6005" marT="60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04630634"/>
                  </a:ext>
                </a:extLst>
              </a:tr>
              <a:tr h="334399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1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2,6</a:t>
                      </a:r>
                    </a:p>
                  </a:txBody>
                  <a:tcPr marL="6005" marR="6005" marT="60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1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9,7 </a:t>
                      </a:r>
                    </a:p>
                  </a:txBody>
                  <a:tcPr marL="6005" marR="6005" marT="60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13,9</a:t>
                      </a:r>
                    </a:p>
                  </a:txBody>
                  <a:tcPr marL="6005" marR="6005" marT="60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1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29,4</a:t>
                      </a:r>
                    </a:p>
                  </a:txBody>
                  <a:tcPr marL="6005" marR="6005" marT="60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1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15,6 </a:t>
                      </a:r>
                    </a:p>
                  </a:txBody>
                  <a:tcPr marL="6005" marR="6005" marT="60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3,2</a:t>
                      </a:r>
                    </a:p>
                  </a:txBody>
                  <a:tcPr marL="6005" marR="6005" marT="60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rtl="0" fontAlgn="ctr"/>
                      <a:endParaRPr lang="ru-RU" sz="1100" b="0" i="0" u="none" strike="noStrike" dirty="0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005" marR="6005" marT="60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rtl="0" fontAlgn="ctr"/>
                      <a:endParaRPr lang="ru-RU" sz="1100" b="0" i="0" u="none" strike="noStrike" dirty="0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005" marR="6005" marT="60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rtl="0" fontAlgn="ctr"/>
                      <a:endParaRPr lang="ru-RU" sz="1100" b="0" i="0" u="none" strike="noStrike" dirty="0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005" marR="6005" marT="60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rtl="0" fontAlgn="ctr"/>
                      <a:endParaRPr lang="ru-RU" sz="1100" b="0" i="0" u="none" strike="noStrike" dirty="0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005" marR="6005" marT="60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35486761"/>
                  </a:ext>
                </a:extLst>
              </a:tr>
              <a:tr h="215201"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ru-RU" sz="11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10</a:t>
                      </a:r>
                    </a:p>
                  </a:txBody>
                  <a:tcPr marL="6005" marR="6005" marT="60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l" rtl="0" fontAlgn="ctr"/>
                      <a:r>
                        <a:rPr lang="ru-RU" sz="11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КП «Центральна міська лікарня Червоноградської міської ради»</a:t>
                      </a:r>
                    </a:p>
                  </a:txBody>
                  <a:tcPr marL="6005" marR="6005" marT="60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1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1</a:t>
                      </a:r>
                    </a:p>
                  </a:txBody>
                  <a:tcPr marL="6005" marR="6005" marT="60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1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14</a:t>
                      </a:r>
                    </a:p>
                  </a:txBody>
                  <a:tcPr marL="6005" marR="6005" marT="60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1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26</a:t>
                      </a:r>
                    </a:p>
                  </a:txBody>
                  <a:tcPr marL="6005" marR="6005" marT="60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47</a:t>
                      </a:r>
                    </a:p>
                  </a:txBody>
                  <a:tcPr marL="6005" marR="6005" marT="60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00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ru-RU" sz="11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-/-</a:t>
                      </a:r>
                    </a:p>
                  </a:txBody>
                  <a:tcPr marL="6005" marR="6005" marT="60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1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1</a:t>
                      </a:r>
                    </a:p>
                  </a:txBody>
                  <a:tcPr marL="6005" marR="6005" marT="60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1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2</a:t>
                      </a:r>
                    </a:p>
                  </a:txBody>
                  <a:tcPr marL="6005" marR="6005" marT="60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2</a:t>
                      </a:r>
                    </a:p>
                  </a:txBody>
                  <a:tcPr marL="6005" marR="6005" marT="60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00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ru-RU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 -/-</a:t>
                      </a:r>
                    </a:p>
                  </a:txBody>
                  <a:tcPr marL="6005" marR="6005" marT="60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ru-RU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 -/- </a:t>
                      </a:r>
                    </a:p>
                  </a:txBody>
                  <a:tcPr marL="6005" marR="6005" marT="60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ru-RU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-/- </a:t>
                      </a:r>
                    </a:p>
                  </a:txBody>
                  <a:tcPr marL="6005" marR="6005" marT="60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ru-RU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 -/-</a:t>
                      </a:r>
                    </a:p>
                  </a:txBody>
                  <a:tcPr marL="6005" marR="6005" marT="60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54670476"/>
                  </a:ext>
                </a:extLst>
              </a:tr>
              <a:tr h="163726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1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0,3</a:t>
                      </a:r>
                    </a:p>
                  </a:txBody>
                  <a:tcPr marL="6005" marR="6005" marT="60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1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2,7</a:t>
                      </a:r>
                    </a:p>
                  </a:txBody>
                  <a:tcPr marL="6005" marR="6005" marT="60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1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6,0</a:t>
                      </a:r>
                    </a:p>
                  </a:txBody>
                  <a:tcPr marL="6005" marR="6005" marT="60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8,9</a:t>
                      </a:r>
                    </a:p>
                  </a:txBody>
                  <a:tcPr marL="6005" marR="6005" marT="60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1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7,1</a:t>
                      </a:r>
                    </a:p>
                  </a:txBody>
                  <a:tcPr marL="6005" marR="6005" marT="60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1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7,7</a:t>
                      </a:r>
                    </a:p>
                  </a:txBody>
                  <a:tcPr marL="6005" marR="6005" marT="60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4,3</a:t>
                      </a:r>
                    </a:p>
                  </a:txBody>
                  <a:tcPr marL="6005" marR="6005" marT="60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rtl="0" fontAlgn="ctr"/>
                      <a:endParaRPr lang="ru-RU" sz="1100" b="0" i="0" u="none" strike="noStrike" dirty="0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005" marR="6005" marT="60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rtl="0" fontAlgn="ctr"/>
                      <a:endParaRPr lang="ru-RU" sz="1100" b="0" i="0" u="none" strike="noStrike" dirty="0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005" marR="6005" marT="60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rtl="0" fontAlgn="ctr"/>
                      <a:endParaRPr lang="ru-RU" sz="1100" b="0" i="0" u="none" strike="noStrike" dirty="0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005" marR="6005" marT="60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rtl="0" fontAlgn="ctr"/>
                      <a:endParaRPr lang="ru-RU" sz="1100" b="0" i="0" u="none" strike="noStrike" dirty="0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005" marR="6005" marT="60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336619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1058014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Діаграма 8">
            <a:extLst>
              <a:ext uri="{FF2B5EF4-FFF2-40B4-BE49-F238E27FC236}">
                <a16:creationId xmlns:a16="http://schemas.microsoft.com/office/drawing/2014/main" id="{0B95930D-FD48-4618-9861-A2572D5687C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723228967"/>
              </p:ext>
            </p:extLst>
          </p:nvPr>
        </p:nvGraphicFramePr>
        <p:xfrm>
          <a:off x="1819469" y="1439333"/>
          <a:ext cx="7846009" cy="541866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0" name="Title 1">
            <a:extLst>
              <a:ext uri="{FF2B5EF4-FFF2-40B4-BE49-F238E27FC236}">
                <a16:creationId xmlns:a16="http://schemas.microsoft.com/office/drawing/2014/main" id="{FB9390E6-1FCB-4ABC-8DF8-FA7D327DA2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946" y="218355"/>
            <a:ext cx="9803655" cy="929309"/>
          </a:xfrm>
        </p:spPr>
        <p:txBody>
          <a:bodyPr>
            <a:noAutofit/>
          </a:bodyPr>
          <a:lstStyle/>
          <a:p>
            <a:pPr algn="ctr"/>
            <a:r>
              <a:rPr lang="ru-RU" sz="28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Частка</a:t>
            </a:r>
            <a:r>
              <a:rPr lang="ru-RU" sz="2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пацієнтів</a:t>
            </a:r>
            <a:r>
              <a:rPr lang="ru-RU" sz="2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8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яким</a:t>
            </a:r>
            <a:r>
              <a:rPr lang="ru-RU" sz="2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проведено </a:t>
            </a:r>
            <a:r>
              <a:rPr lang="ru-RU" sz="28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тромболітичну</a:t>
            </a:r>
            <a:r>
              <a:rPr lang="ru-RU" sz="2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терапію</a:t>
            </a:r>
            <a:r>
              <a:rPr lang="ru-RU" sz="2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(ТЛТ) </a:t>
            </a:r>
            <a:r>
              <a:rPr lang="ru-RU" sz="28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від</a:t>
            </a:r>
            <a:r>
              <a:rPr lang="ru-RU" sz="2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кількості</a:t>
            </a:r>
            <a:r>
              <a:rPr lang="ru-RU" sz="2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ГМІ </a:t>
            </a:r>
            <a:r>
              <a:rPr lang="uk-UA" sz="2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 </a:t>
            </a:r>
            <a:r>
              <a:rPr lang="en-US" sz="2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2023 </a:t>
            </a:r>
            <a:r>
              <a:rPr lang="uk-UA" sz="2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р.</a:t>
            </a:r>
            <a:r>
              <a:rPr lang="ru-RU" sz="2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2800" dirty="0"/>
          </a:p>
        </p:txBody>
      </p:sp>
      <p:sp>
        <p:nvSpPr>
          <p:cNvPr id="4" name="TextBox 3"/>
          <p:cNvSpPr txBox="1"/>
          <p:nvPr/>
        </p:nvSpPr>
        <p:spPr>
          <a:xfrm rot="10800000" flipV="1">
            <a:off x="9829800" y="3979646"/>
            <a:ext cx="197510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sz="3200" b="1" dirty="0" smtClean="0">
                <a:solidFill>
                  <a:srgbClr val="FF0000"/>
                </a:solidFill>
              </a:rPr>
              <a:t>КПІ ≥ 15%</a:t>
            </a:r>
            <a:endParaRPr lang="uk-UA" sz="32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7522503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5" name="Google Shape;849;p82"/>
          <p:cNvSpPr txBox="1">
            <a:spLocks noChangeArrowheads="1"/>
          </p:cNvSpPr>
          <p:nvPr/>
        </p:nvSpPr>
        <p:spPr bwMode="auto">
          <a:xfrm>
            <a:off x="4706938" y="3135313"/>
            <a:ext cx="2263775" cy="1354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121867" tIns="121867" rIns="121867" bIns="121867">
            <a:spAutoFit/>
          </a:bodyPr>
          <a:lstStyle/>
          <a:p>
            <a:pPr>
              <a:buClr>
                <a:srgbClr val="FFFFFF"/>
              </a:buClr>
              <a:buSzPts val="5400"/>
            </a:pPr>
            <a:r>
              <a:rPr lang="uk-UA" sz="7200" b="1">
                <a:solidFill>
                  <a:srgbClr val="FFFFFF"/>
                </a:solidFill>
                <a:latin typeface="Arial Narrow" pitchFamily="34" charset="0"/>
                <a:sym typeface="Arial Narrow" pitchFamily="34" charset="0"/>
              </a:rPr>
              <a:t>ЦБД</a:t>
            </a:r>
            <a:endParaRPr lang="uk-UA">
              <a:solidFill>
                <a:srgbClr val="000000"/>
              </a:solidFill>
              <a:latin typeface="Calibri" pitchFamily="34" charset="0"/>
              <a:sym typeface="Calibri" pitchFamily="34" charset="0"/>
            </a:endParaRPr>
          </a:p>
        </p:txBody>
      </p:sp>
      <p:sp>
        <p:nvSpPr>
          <p:cNvPr id="5" name="Google Shape;850;p82">
            <a:extLst>
              <a:ext uri="{FF2B5EF4-FFF2-40B4-BE49-F238E27FC236}">
                <a16:creationId xmlns:a16="http://schemas.microsoft.com/office/drawing/2014/main" id="{110BCEEF-89D7-4416-96B8-081DC06410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2575" y="-89209"/>
            <a:ext cx="11626850" cy="8745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2700" rIns="0" bIns="0">
            <a:spAutoFit/>
          </a:bodyPr>
          <a:lstStyle/>
          <a:p>
            <a:pPr algn="ctr"/>
            <a:r>
              <a:rPr lang="uk-UA" sz="2800" b="1" dirty="0">
                <a:solidFill>
                  <a:srgbClr val="002060"/>
                </a:solidFill>
                <a:latin typeface="Times New Roman" pitchFamily="18" charset="0"/>
                <a:ea typeface="Calibri" pitchFamily="34" charset="0"/>
                <a:cs typeface="Times New Roman" pitchFamily="18" charset="0"/>
                <a:sym typeface="Calibri" pitchFamily="34" charset="0"/>
              </a:rPr>
              <a:t>Забезпеченість медичними препаратами </a:t>
            </a:r>
          </a:p>
          <a:p>
            <a:pPr algn="ctr"/>
            <a:r>
              <a:rPr lang="uk-UA" sz="2800" b="1" dirty="0">
                <a:solidFill>
                  <a:srgbClr val="002060"/>
                </a:solidFill>
                <a:latin typeface="Times New Roman" pitchFamily="18" charset="0"/>
                <a:ea typeface="Calibri" pitchFamily="34" charset="0"/>
                <a:cs typeface="Times New Roman" pitchFamily="18" charset="0"/>
                <a:sym typeface="Calibri" pitchFamily="34" charset="0"/>
              </a:rPr>
              <a:t>для проведення </a:t>
            </a:r>
            <a:r>
              <a:rPr lang="uk-UA" sz="2800" b="1" dirty="0" err="1">
                <a:solidFill>
                  <a:srgbClr val="002060"/>
                </a:solidFill>
                <a:latin typeface="Times New Roman" pitchFamily="18" charset="0"/>
                <a:ea typeface="Calibri" pitchFamily="34" charset="0"/>
                <a:cs typeface="Times New Roman" pitchFamily="18" charset="0"/>
                <a:sym typeface="Calibri" pitchFamily="34" charset="0"/>
              </a:rPr>
              <a:t>тромболітичної</a:t>
            </a:r>
            <a:r>
              <a:rPr lang="uk-UA" sz="2800" b="1" dirty="0">
                <a:solidFill>
                  <a:srgbClr val="002060"/>
                </a:solidFill>
                <a:latin typeface="Times New Roman" pitchFamily="18" charset="0"/>
                <a:ea typeface="Calibri" pitchFamily="34" charset="0"/>
                <a:cs typeface="Times New Roman" pitchFamily="18" charset="0"/>
                <a:sym typeface="Calibri" pitchFamily="34" charset="0"/>
              </a:rPr>
              <a:t> терапії (</a:t>
            </a:r>
            <a:r>
              <a:rPr lang="uk-UA" sz="2800" b="1" dirty="0" err="1">
                <a:solidFill>
                  <a:srgbClr val="002060"/>
                </a:solidFill>
                <a:latin typeface="Times New Roman" pitchFamily="18" charset="0"/>
                <a:ea typeface="Calibri" pitchFamily="34" charset="0"/>
                <a:cs typeface="Times New Roman" pitchFamily="18" charset="0"/>
                <a:sym typeface="Calibri" pitchFamily="34" charset="0"/>
              </a:rPr>
              <a:t>альтеплаза</a:t>
            </a:r>
            <a:r>
              <a:rPr lang="uk-UA" sz="2800" b="1" dirty="0">
                <a:solidFill>
                  <a:srgbClr val="002060"/>
                </a:solidFill>
                <a:latin typeface="Times New Roman" pitchFamily="18" charset="0"/>
                <a:ea typeface="Calibri" pitchFamily="34" charset="0"/>
                <a:cs typeface="Times New Roman" pitchFamily="18" charset="0"/>
                <a:sym typeface="Calibri" pitchFamily="34" charset="0"/>
              </a:rPr>
              <a:t>)</a:t>
            </a:r>
          </a:p>
        </p:txBody>
      </p:sp>
      <p:graphicFrame>
        <p:nvGraphicFramePr>
          <p:cNvPr id="4" name="Таблиця 3">
            <a:extLst>
              <a:ext uri="{FF2B5EF4-FFF2-40B4-BE49-F238E27FC236}">
                <a16:creationId xmlns:a16="http://schemas.microsoft.com/office/drawing/2014/main" id="{44E129AC-5412-437F-934E-FCF207645AB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69964378"/>
              </p:ext>
            </p:extLst>
          </p:nvPr>
        </p:nvGraphicFramePr>
        <p:xfrm>
          <a:off x="282575" y="785389"/>
          <a:ext cx="11804260" cy="6045637"/>
        </p:xfrm>
        <a:graphic>
          <a:graphicData uri="http://schemas.openxmlformats.org/drawingml/2006/table">
            <a:tbl>
              <a:tblPr/>
              <a:tblGrid>
                <a:gridCol w="455433">
                  <a:extLst>
                    <a:ext uri="{9D8B030D-6E8A-4147-A177-3AD203B41FA5}">
                      <a16:colId xmlns:a16="http://schemas.microsoft.com/office/drawing/2014/main" val="1438280020"/>
                    </a:ext>
                  </a:extLst>
                </a:gridCol>
                <a:gridCol w="5371259">
                  <a:extLst>
                    <a:ext uri="{9D8B030D-6E8A-4147-A177-3AD203B41FA5}">
                      <a16:colId xmlns:a16="http://schemas.microsoft.com/office/drawing/2014/main" val="1165849327"/>
                    </a:ext>
                  </a:extLst>
                </a:gridCol>
                <a:gridCol w="843169">
                  <a:extLst>
                    <a:ext uri="{9D8B030D-6E8A-4147-A177-3AD203B41FA5}">
                      <a16:colId xmlns:a16="http://schemas.microsoft.com/office/drawing/2014/main" val="908397115"/>
                    </a:ext>
                  </a:extLst>
                </a:gridCol>
                <a:gridCol w="893509">
                  <a:extLst>
                    <a:ext uri="{9D8B030D-6E8A-4147-A177-3AD203B41FA5}">
                      <a16:colId xmlns:a16="http://schemas.microsoft.com/office/drawing/2014/main" val="3523436132"/>
                    </a:ext>
                  </a:extLst>
                </a:gridCol>
                <a:gridCol w="994187">
                  <a:extLst>
                    <a:ext uri="{9D8B030D-6E8A-4147-A177-3AD203B41FA5}">
                      <a16:colId xmlns:a16="http://schemas.microsoft.com/office/drawing/2014/main" val="3027884610"/>
                    </a:ext>
                  </a:extLst>
                </a:gridCol>
                <a:gridCol w="994187">
                  <a:extLst>
                    <a:ext uri="{9D8B030D-6E8A-4147-A177-3AD203B41FA5}">
                      <a16:colId xmlns:a16="http://schemas.microsoft.com/office/drawing/2014/main" val="2079064325"/>
                    </a:ext>
                  </a:extLst>
                </a:gridCol>
                <a:gridCol w="792831">
                  <a:extLst>
                    <a:ext uri="{9D8B030D-6E8A-4147-A177-3AD203B41FA5}">
                      <a16:colId xmlns:a16="http://schemas.microsoft.com/office/drawing/2014/main" val="544505554"/>
                    </a:ext>
                  </a:extLst>
                </a:gridCol>
                <a:gridCol w="742493">
                  <a:extLst>
                    <a:ext uri="{9D8B030D-6E8A-4147-A177-3AD203B41FA5}">
                      <a16:colId xmlns:a16="http://schemas.microsoft.com/office/drawing/2014/main" val="2041625132"/>
                    </a:ext>
                  </a:extLst>
                </a:gridCol>
                <a:gridCol w="717192">
                  <a:extLst>
                    <a:ext uri="{9D8B030D-6E8A-4147-A177-3AD203B41FA5}">
                      <a16:colId xmlns:a16="http://schemas.microsoft.com/office/drawing/2014/main" val="238071916"/>
                    </a:ext>
                  </a:extLst>
                </a:gridCol>
              </a:tblGrid>
              <a:tr h="129011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№ з/п</a:t>
                      </a:r>
                    </a:p>
                  </a:txBody>
                  <a:tcPr marL="6288" marR="6288" marT="62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0" u="none" strike="noStrike" dirty="0" err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Назва</a:t>
                      </a:r>
                      <a:r>
                        <a:rPr lang="ru-RU" sz="900" b="1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 установи</a:t>
                      </a:r>
                    </a:p>
                  </a:txBody>
                  <a:tcPr marL="6288" marR="6288" marT="62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ru-RU" sz="900" b="1" i="0" u="none" strike="noStrike" dirty="0" err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Період</a:t>
                      </a:r>
                      <a:r>
                        <a:rPr lang="ru-RU" sz="900" b="1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lang="ru-RU" sz="900" b="1" i="0" u="none" strike="noStrike" dirty="0" err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поступлення</a:t>
                      </a:r>
                      <a:r>
                        <a:rPr lang="ru-RU" sz="900" b="1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 препарату</a:t>
                      </a:r>
                    </a:p>
                  </a:txBody>
                  <a:tcPr marL="6288" marR="6288" marT="62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ru-RU" sz="900" b="1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Залишок на перше число звітного місяця </a:t>
                      </a:r>
                    </a:p>
                  </a:txBody>
                  <a:tcPr marL="6288" marR="6288" marT="62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ru-RU" sz="900" b="1" i="0" u="none" strike="noStrike" dirty="0" err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Загальна</a:t>
                      </a:r>
                      <a:r>
                        <a:rPr lang="ru-RU" sz="900" b="1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lang="ru-RU" sz="900" b="1" i="0" u="none" strike="noStrike" dirty="0" err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кіл-ть</a:t>
                      </a:r>
                      <a:r>
                        <a:rPr lang="ru-RU" sz="900" b="1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lang="ru-RU" sz="900" b="1" i="0" u="none" strike="noStrike" dirty="0" err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отриманого</a:t>
                      </a:r>
                      <a:r>
                        <a:rPr lang="ru-RU" sz="900" b="1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 препарату</a:t>
                      </a:r>
                    </a:p>
                  </a:txBody>
                  <a:tcPr marL="6288" marR="6288" marT="62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 rtl="0" fontAlgn="ctr"/>
                      <a:r>
                        <a:rPr lang="ru-RU" sz="700" b="1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з них   (флакони)</a:t>
                      </a:r>
                    </a:p>
                  </a:txBody>
                  <a:tcPr marL="6288" marR="6288" marT="62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93176270"/>
                  </a:ext>
                </a:extLst>
              </a:tr>
              <a:tr h="557036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900" b="1" i="0" u="none" strike="noStrike" dirty="0" err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придбання</a:t>
                      </a:r>
                      <a:r>
                        <a:rPr lang="ru-RU" sz="900" b="1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 за </a:t>
                      </a:r>
                      <a:r>
                        <a:rPr lang="ru-RU" sz="900" b="1" i="0" u="none" strike="noStrike" dirty="0" err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кошти</a:t>
                      </a:r>
                      <a:r>
                        <a:rPr lang="ru-RU" sz="900" b="1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,  </a:t>
                      </a:r>
                      <a:r>
                        <a:rPr lang="ru-RU" sz="900" b="1" i="0" u="none" strike="noStrike" dirty="0" err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передбачені</a:t>
                      </a:r>
                      <a:r>
                        <a:rPr lang="ru-RU" sz="900" b="1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 договором ПМГ</a:t>
                      </a:r>
                    </a:p>
                  </a:txBody>
                  <a:tcPr marL="6288" marR="6288" marT="62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900" b="1" i="0" u="none" strike="noStrike" dirty="0" err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централізовані</a:t>
                      </a:r>
                      <a:r>
                        <a:rPr lang="ru-RU" sz="900" b="1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lang="ru-RU" sz="900" b="1" i="0" u="none" strike="noStrike" dirty="0" err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закупівлі</a:t>
                      </a:r>
                      <a:r>
                        <a:rPr lang="ru-RU" sz="900" b="1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</a:p>
                  </a:txBody>
                  <a:tcPr marL="6288" marR="6288" marT="62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900" b="1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регіональні/ місцеві програми </a:t>
                      </a:r>
                    </a:p>
                  </a:txBody>
                  <a:tcPr marL="6288" marR="6288" marT="62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900" b="1" i="0" u="none" strike="noStrike" dirty="0" err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благодійна</a:t>
                      </a:r>
                      <a:r>
                        <a:rPr lang="ru-RU" sz="900" b="1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lang="ru-RU" sz="900" b="1" i="0" u="none" strike="noStrike" dirty="0" err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гуманітарна</a:t>
                      </a:r>
                      <a:r>
                        <a:rPr lang="ru-RU" sz="900" b="1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lang="ru-RU" sz="900" b="1" i="0" u="none" strike="noStrike" dirty="0" err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допомога</a:t>
                      </a:r>
                      <a:endParaRPr lang="ru-RU" sz="900" b="1" i="0" u="none" strike="noStrike" dirty="0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288" marR="6288" marT="62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5283193"/>
                  </a:ext>
                </a:extLst>
              </a:tr>
              <a:tr h="159291"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ru-RU" sz="1000" b="1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</a:p>
                  </a:txBody>
                  <a:tcPr marL="6288" marR="6288" marT="62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>
                  <a:txBody>
                    <a:bodyPr/>
                    <a:lstStyle/>
                    <a:p>
                      <a:pPr algn="l" fontAlgn="ctr"/>
                      <a:r>
                        <a:rPr lang="ru-RU" sz="1200" b="1" i="0" u="none" strike="noStrike" dirty="0" err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Всього</a:t>
                      </a:r>
                      <a:endParaRPr lang="ru-RU" sz="1200" b="1" i="0" u="none" strike="noStrike" dirty="0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288" marR="6288" marT="62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1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2021</a:t>
                      </a:r>
                    </a:p>
                  </a:txBody>
                  <a:tcPr marL="6288" marR="6288" marT="62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1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9</a:t>
                      </a:r>
                    </a:p>
                  </a:txBody>
                  <a:tcPr marL="6288" marR="6288" marT="62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1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1336</a:t>
                      </a:r>
                    </a:p>
                  </a:txBody>
                  <a:tcPr marL="6288" marR="6288" marT="62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1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337</a:t>
                      </a:r>
                    </a:p>
                  </a:txBody>
                  <a:tcPr marL="6288" marR="6288" marT="62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1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990</a:t>
                      </a:r>
                    </a:p>
                  </a:txBody>
                  <a:tcPr marL="6288" marR="6288" marT="62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1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8</a:t>
                      </a:r>
                    </a:p>
                  </a:txBody>
                  <a:tcPr marL="6288" marR="6288" marT="62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1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1</a:t>
                      </a:r>
                    </a:p>
                  </a:txBody>
                  <a:tcPr marL="6288" marR="6288" marT="62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01155160"/>
                  </a:ext>
                </a:extLst>
              </a:tr>
              <a:tr h="159291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1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2022</a:t>
                      </a:r>
                    </a:p>
                  </a:txBody>
                  <a:tcPr marL="6288" marR="6288" marT="62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1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624</a:t>
                      </a:r>
                    </a:p>
                  </a:txBody>
                  <a:tcPr marL="6288" marR="6288" marT="62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1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655</a:t>
                      </a:r>
                    </a:p>
                  </a:txBody>
                  <a:tcPr marL="6288" marR="6288" marT="62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1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510</a:t>
                      </a:r>
                    </a:p>
                  </a:txBody>
                  <a:tcPr marL="6288" marR="6288" marT="62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1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119</a:t>
                      </a:r>
                    </a:p>
                  </a:txBody>
                  <a:tcPr marL="6288" marR="6288" marT="62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1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26</a:t>
                      </a:r>
                    </a:p>
                  </a:txBody>
                  <a:tcPr marL="6288" marR="6288" marT="62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1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0</a:t>
                      </a:r>
                    </a:p>
                  </a:txBody>
                  <a:tcPr marL="6288" marR="6288" marT="62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11126836"/>
                  </a:ext>
                </a:extLst>
              </a:tr>
              <a:tr h="159291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1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2023</a:t>
                      </a:r>
                    </a:p>
                  </a:txBody>
                  <a:tcPr marL="6288" marR="6288" marT="62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1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159</a:t>
                      </a:r>
                    </a:p>
                  </a:txBody>
                  <a:tcPr marL="6288" marR="6288" marT="62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1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1215</a:t>
                      </a:r>
                    </a:p>
                  </a:txBody>
                  <a:tcPr marL="6288" marR="6288" marT="62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1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1203</a:t>
                      </a:r>
                    </a:p>
                  </a:txBody>
                  <a:tcPr marL="6288" marR="6288" marT="62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1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0</a:t>
                      </a:r>
                    </a:p>
                  </a:txBody>
                  <a:tcPr marL="6288" marR="6288" marT="62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1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0</a:t>
                      </a:r>
                    </a:p>
                  </a:txBody>
                  <a:tcPr marL="6288" marR="6288" marT="62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1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12</a:t>
                      </a:r>
                    </a:p>
                  </a:txBody>
                  <a:tcPr marL="6288" marR="6288" marT="62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28318189"/>
                  </a:ext>
                </a:extLst>
              </a:tr>
              <a:tr h="159291"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ru-RU" sz="10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1</a:t>
                      </a:r>
                    </a:p>
                  </a:txBody>
                  <a:tcPr marL="6288" marR="6288" marT="62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>
                  <a:txBody>
                    <a:bodyPr/>
                    <a:lstStyle/>
                    <a:p>
                      <a:pPr algn="l" fontAlgn="ctr"/>
                      <a:r>
                        <a:rPr lang="ru-RU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 КНП ЛОР «</a:t>
                      </a:r>
                      <a:r>
                        <a:rPr lang="ru-RU" sz="1100" b="0" i="0" u="none" strike="noStrike" dirty="0" err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Львівська</a:t>
                      </a:r>
                      <a:r>
                        <a:rPr lang="ru-RU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lang="ru-RU" sz="1100" b="0" i="0" u="none" strike="noStrike" dirty="0" err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обласна</a:t>
                      </a:r>
                      <a:r>
                        <a:rPr lang="ru-RU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lang="ru-RU" sz="1100" b="0" i="0" u="none" strike="noStrike" dirty="0" err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клінічна</a:t>
                      </a:r>
                      <a:r>
                        <a:rPr lang="ru-RU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lang="ru-RU" sz="1100" b="0" i="0" u="none" strike="noStrike" dirty="0" err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лікарня</a:t>
                      </a:r>
                      <a:r>
                        <a:rPr lang="ru-RU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»</a:t>
                      </a:r>
                    </a:p>
                  </a:txBody>
                  <a:tcPr marL="6288" marR="6288" marT="62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1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2021</a:t>
                      </a:r>
                    </a:p>
                  </a:txBody>
                  <a:tcPr marL="6288" marR="6288" marT="62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</a:p>
                  </a:txBody>
                  <a:tcPr marL="6288" marR="6288" marT="62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663</a:t>
                      </a:r>
                    </a:p>
                  </a:txBody>
                  <a:tcPr marL="6288" marR="6288" marT="62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44</a:t>
                      </a:r>
                    </a:p>
                  </a:txBody>
                  <a:tcPr marL="6288" marR="6288" marT="62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618</a:t>
                      </a:r>
                    </a:p>
                  </a:txBody>
                  <a:tcPr marL="6288" marR="6288" marT="62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</a:p>
                  </a:txBody>
                  <a:tcPr marL="6288" marR="6288" marT="62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1</a:t>
                      </a:r>
                    </a:p>
                  </a:txBody>
                  <a:tcPr marL="6288" marR="6288" marT="62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95552392"/>
                  </a:ext>
                </a:extLst>
              </a:tr>
              <a:tr h="159291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1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2022</a:t>
                      </a:r>
                    </a:p>
                  </a:txBody>
                  <a:tcPr marL="6288" marR="6288" marT="62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120</a:t>
                      </a:r>
                    </a:p>
                  </a:txBody>
                  <a:tcPr marL="6288" marR="6288" marT="62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26</a:t>
                      </a:r>
                    </a:p>
                  </a:txBody>
                  <a:tcPr marL="6288" marR="6288" marT="62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26</a:t>
                      </a:r>
                    </a:p>
                  </a:txBody>
                  <a:tcPr marL="6288" marR="6288" marT="62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</a:p>
                  </a:txBody>
                  <a:tcPr marL="6288" marR="6288" marT="62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</a:p>
                  </a:txBody>
                  <a:tcPr marL="6288" marR="6288" marT="62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</a:p>
                  </a:txBody>
                  <a:tcPr marL="6288" marR="6288" marT="62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29216749"/>
                  </a:ext>
                </a:extLst>
              </a:tr>
              <a:tr h="159291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1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2023</a:t>
                      </a:r>
                    </a:p>
                  </a:txBody>
                  <a:tcPr marL="6288" marR="6288" marT="62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</a:p>
                  </a:txBody>
                  <a:tcPr marL="6288" marR="6288" marT="62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103</a:t>
                      </a:r>
                    </a:p>
                  </a:txBody>
                  <a:tcPr marL="6288" marR="6288" marT="62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103</a:t>
                      </a:r>
                    </a:p>
                  </a:txBody>
                  <a:tcPr marL="6288" marR="6288" marT="62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</a:p>
                  </a:txBody>
                  <a:tcPr marL="6288" marR="6288" marT="62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</a:p>
                  </a:txBody>
                  <a:tcPr marL="6288" marR="6288" marT="62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</a:p>
                  </a:txBody>
                  <a:tcPr marL="6288" marR="6288" marT="62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56248005"/>
                  </a:ext>
                </a:extLst>
              </a:tr>
              <a:tr h="159291"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ru-RU" sz="1000" b="1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2</a:t>
                      </a:r>
                    </a:p>
                  </a:txBody>
                  <a:tcPr marL="6288" marR="6288" marT="62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>
                  <a:txBody>
                    <a:bodyPr/>
                    <a:lstStyle/>
                    <a:p>
                      <a:pPr algn="l" fontAlgn="ctr"/>
                      <a:r>
                        <a:rPr lang="ru-RU" sz="1100" b="0" i="0" u="none" strike="noStrike" dirty="0" err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Відокремлений</a:t>
                      </a:r>
                      <a:r>
                        <a:rPr lang="ru-RU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lang="ru-RU" sz="1100" b="0" i="0" u="none" strike="noStrike" dirty="0" err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підрозділ</a:t>
                      </a:r>
                      <a:r>
                        <a:rPr lang="ru-RU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 «</a:t>
                      </a:r>
                      <a:r>
                        <a:rPr lang="ru-RU" sz="1100" b="0" i="0" u="none" strike="noStrike" dirty="0" err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Лікарня</a:t>
                      </a:r>
                      <a:r>
                        <a:rPr lang="ru-RU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 Святого Пантелеймона «КНП  «</a:t>
                      </a:r>
                      <a:r>
                        <a:rPr lang="ru-RU" sz="1100" b="0" i="0" u="none" strike="noStrike" dirty="0" err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Львівське</a:t>
                      </a:r>
                      <a:r>
                        <a:rPr lang="ru-RU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lang="ru-RU" sz="1100" b="0" i="0" u="none" strike="noStrike" dirty="0" err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територіальне</a:t>
                      </a:r>
                      <a:r>
                        <a:rPr lang="ru-RU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lang="ru-RU" sz="1100" b="0" i="0" u="none" strike="noStrike" dirty="0" err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медичне</a:t>
                      </a:r>
                      <a:r>
                        <a:rPr lang="ru-RU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lang="ru-RU" sz="1100" b="0" i="0" u="none" strike="noStrike" dirty="0" err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об'єднання</a:t>
                      </a:r>
                      <a:r>
                        <a:rPr lang="ru-RU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» </a:t>
                      </a:r>
                      <a:r>
                        <a:rPr lang="ru-RU" sz="1100" b="0" i="0" u="none" strike="noStrike" dirty="0" err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Багатопрофільна</a:t>
                      </a:r>
                      <a:r>
                        <a:rPr lang="ru-RU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lang="ru-RU" sz="1100" b="0" i="0" u="none" strike="noStrike" dirty="0" err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клінічна</a:t>
                      </a:r>
                      <a:r>
                        <a:rPr lang="ru-RU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lang="ru-RU" sz="1100" b="0" i="0" u="none" strike="noStrike" dirty="0" err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лікарня</a:t>
                      </a:r>
                      <a:r>
                        <a:rPr lang="ru-RU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lang="ru-RU" sz="1100" b="0" i="0" u="none" strike="noStrike" dirty="0" err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інтенсивних</a:t>
                      </a:r>
                      <a:r>
                        <a:rPr lang="ru-RU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lang="ru-RU" sz="1100" b="0" i="0" u="none" strike="noStrike" dirty="0" err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методів</a:t>
                      </a:r>
                      <a:r>
                        <a:rPr lang="ru-RU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lang="ru-RU" sz="1100" b="0" i="0" u="none" strike="noStrike" dirty="0" err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лікування</a:t>
                      </a:r>
                      <a:r>
                        <a:rPr lang="ru-RU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 та </a:t>
                      </a:r>
                      <a:r>
                        <a:rPr lang="ru-RU" sz="1100" b="0" i="0" u="none" strike="noStrike" dirty="0" err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швидкої</a:t>
                      </a:r>
                      <a:r>
                        <a:rPr lang="ru-RU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lang="ru-RU" sz="1100" b="0" i="0" u="none" strike="noStrike" dirty="0" err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медичної</a:t>
                      </a:r>
                      <a:r>
                        <a:rPr lang="ru-RU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lang="ru-RU" sz="1100" b="0" i="0" u="none" strike="noStrike" dirty="0" err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допомоги</a:t>
                      </a:r>
                      <a:r>
                        <a:rPr lang="ru-RU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»</a:t>
                      </a:r>
                    </a:p>
                  </a:txBody>
                  <a:tcPr marL="6288" marR="6288" marT="62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1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2021</a:t>
                      </a:r>
                    </a:p>
                  </a:txBody>
                  <a:tcPr marL="6288" marR="6288" marT="62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</a:p>
                  </a:txBody>
                  <a:tcPr marL="6288" marR="6288" marT="62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469</a:t>
                      </a:r>
                    </a:p>
                  </a:txBody>
                  <a:tcPr marL="6288" marR="6288" marT="62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269</a:t>
                      </a:r>
                    </a:p>
                  </a:txBody>
                  <a:tcPr marL="6288" marR="6288" marT="62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200</a:t>
                      </a:r>
                    </a:p>
                  </a:txBody>
                  <a:tcPr marL="6288" marR="6288" marT="62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</a:p>
                  </a:txBody>
                  <a:tcPr marL="6288" marR="6288" marT="62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</a:p>
                  </a:txBody>
                  <a:tcPr marL="6288" marR="6288" marT="62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64798381"/>
                  </a:ext>
                </a:extLst>
              </a:tr>
              <a:tr h="159291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1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2022</a:t>
                      </a:r>
                    </a:p>
                  </a:txBody>
                  <a:tcPr marL="6288" marR="6288" marT="62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202</a:t>
                      </a:r>
                    </a:p>
                  </a:txBody>
                  <a:tcPr marL="6288" marR="6288" marT="62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174</a:t>
                      </a:r>
                    </a:p>
                  </a:txBody>
                  <a:tcPr marL="6288" marR="6288" marT="62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124</a:t>
                      </a:r>
                    </a:p>
                  </a:txBody>
                  <a:tcPr marL="6288" marR="6288" marT="62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50</a:t>
                      </a:r>
                    </a:p>
                  </a:txBody>
                  <a:tcPr marL="6288" marR="6288" marT="62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</a:p>
                  </a:txBody>
                  <a:tcPr marL="6288" marR="6288" marT="62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</a:p>
                  </a:txBody>
                  <a:tcPr marL="6288" marR="6288" marT="62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92545697"/>
                  </a:ext>
                </a:extLst>
              </a:tr>
              <a:tr h="229611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1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2023</a:t>
                      </a:r>
                    </a:p>
                  </a:txBody>
                  <a:tcPr marL="6288" marR="6288" marT="62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</a:p>
                  </a:txBody>
                  <a:tcPr marL="6288" marR="6288" marT="62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242</a:t>
                      </a:r>
                    </a:p>
                  </a:txBody>
                  <a:tcPr marL="6288" marR="6288" marT="62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242</a:t>
                      </a:r>
                    </a:p>
                  </a:txBody>
                  <a:tcPr marL="6288" marR="6288" marT="62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</a:p>
                  </a:txBody>
                  <a:tcPr marL="6288" marR="6288" marT="62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</a:p>
                  </a:txBody>
                  <a:tcPr marL="6288" marR="6288" marT="62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</a:p>
                  </a:txBody>
                  <a:tcPr marL="6288" marR="6288" marT="62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65700852"/>
                  </a:ext>
                </a:extLst>
              </a:tr>
              <a:tr h="159291"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ru-RU" sz="1000" b="1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3</a:t>
                      </a:r>
                    </a:p>
                  </a:txBody>
                  <a:tcPr marL="6288" marR="6288" marT="62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>
                  <a:txBody>
                    <a:bodyPr/>
                    <a:lstStyle/>
                    <a:p>
                      <a:pPr algn="l" fontAlgn="ctr"/>
                      <a:r>
                        <a:rPr lang="ru-RU" sz="1100" b="0" i="0" u="none" strike="noStrike" dirty="0" err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Відокремлений</a:t>
                      </a:r>
                      <a:r>
                        <a:rPr lang="ru-RU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lang="ru-RU" sz="1100" b="0" i="0" u="none" strike="noStrike" dirty="0" err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підрозділ</a:t>
                      </a:r>
                      <a:r>
                        <a:rPr lang="ru-RU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 «</a:t>
                      </a:r>
                      <a:r>
                        <a:rPr lang="ru-RU" sz="1100" b="0" i="0" u="none" strike="noStrike" dirty="0" err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Лікарня</a:t>
                      </a:r>
                      <a:r>
                        <a:rPr lang="ru-RU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 Святого Луки» КНП  «</a:t>
                      </a:r>
                      <a:r>
                        <a:rPr lang="ru-RU" sz="1100" b="0" i="0" u="none" strike="noStrike" dirty="0" err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Львівське</a:t>
                      </a:r>
                      <a:r>
                        <a:rPr lang="ru-RU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lang="ru-RU" sz="1100" b="0" i="0" u="none" strike="noStrike" dirty="0" err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територіальне</a:t>
                      </a:r>
                      <a:r>
                        <a:rPr lang="ru-RU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lang="ru-RU" sz="1100" b="0" i="0" u="none" strike="noStrike" dirty="0" err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медичне</a:t>
                      </a:r>
                      <a:r>
                        <a:rPr lang="ru-RU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lang="ru-RU" sz="1100" b="0" i="0" u="none" strike="noStrike" dirty="0" err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об'єднання</a:t>
                      </a:r>
                      <a:r>
                        <a:rPr lang="ru-RU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» </a:t>
                      </a:r>
                      <a:r>
                        <a:rPr lang="ru-RU" sz="1100" b="0" i="0" u="none" strike="noStrike" dirty="0" err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Багатопрофільна</a:t>
                      </a:r>
                      <a:r>
                        <a:rPr lang="ru-RU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lang="ru-RU" sz="1100" b="0" i="0" u="none" strike="noStrike" dirty="0" err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клінічна</a:t>
                      </a:r>
                      <a:r>
                        <a:rPr lang="ru-RU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lang="ru-RU" sz="1100" b="0" i="0" u="none" strike="noStrike" dirty="0" err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лікарня</a:t>
                      </a:r>
                      <a:r>
                        <a:rPr lang="ru-RU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lang="ru-RU" sz="1100" b="0" i="0" u="none" strike="noStrike" dirty="0" err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інтенсивних</a:t>
                      </a:r>
                      <a:r>
                        <a:rPr lang="ru-RU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lang="ru-RU" sz="1100" b="0" i="0" u="none" strike="noStrike" dirty="0" err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методів</a:t>
                      </a:r>
                      <a:r>
                        <a:rPr lang="ru-RU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lang="ru-RU" sz="1100" b="0" i="0" u="none" strike="noStrike" dirty="0" err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лікування</a:t>
                      </a:r>
                      <a:r>
                        <a:rPr lang="ru-RU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 та </a:t>
                      </a:r>
                      <a:r>
                        <a:rPr lang="ru-RU" sz="1100" b="0" i="0" u="none" strike="noStrike" dirty="0" err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швидкої</a:t>
                      </a:r>
                      <a:r>
                        <a:rPr lang="ru-RU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lang="ru-RU" sz="1100" b="0" i="0" u="none" strike="noStrike" dirty="0" err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медичної</a:t>
                      </a:r>
                      <a:r>
                        <a:rPr lang="ru-RU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lang="ru-RU" sz="1100" b="0" i="0" u="none" strike="noStrike" dirty="0" err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допомоги</a:t>
                      </a:r>
                      <a:r>
                        <a:rPr lang="ru-RU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»</a:t>
                      </a:r>
                    </a:p>
                  </a:txBody>
                  <a:tcPr marL="6288" marR="6288" marT="62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1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2021</a:t>
                      </a:r>
                    </a:p>
                  </a:txBody>
                  <a:tcPr marL="6288" marR="6288" marT="62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</a:p>
                  </a:txBody>
                  <a:tcPr marL="6288" marR="6288" marT="62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20</a:t>
                      </a:r>
                    </a:p>
                  </a:txBody>
                  <a:tcPr marL="6288" marR="6288" marT="62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</a:p>
                  </a:txBody>
                  <a:tcPr marL="6288" marR="6288" marT="62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20</a:t>
                      </a:r>
                    </a:p>
                  </a:txBody>
                  <a:tcPr marL="6288" marR="6288" marT="62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</a:p>
                  </a:txBody>
                  <a:tcPr marL="6288" marR="6288" marT="62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</a:p>
                  </a:txBody>
                  <a:tcPr marL="6288" marR="6288" marT="62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26328761"/>
                  </a:ext>
                </a:extLst>
              </a:tr>
              <a:tr h="159291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1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2022</a:t>
                      </a:r>
                    </a:p>
                  </a:txBody>
                  <a:tcPr marL="6288" marR="6288" marT="62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232</a:t>
                      </a:r>
                    </a:p>
                  </a:txBody>
                  <a:tcPr marL="6288" marR="6288" marT="62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130</a:t>
                      </a:r>
                    </a:p>
                  </a:txBody>
                  <a:tcPr marL="6288" marR="6288" marT="62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100</a:t>
                      </a:r>
                    </a:p>
                  </a:txBody>
                  <a:tcPr marL="6288" marR="6288" marT="62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30</a:t>
                      </a:r>
                    </a:p>
                  </a:txBody>
                  <a:tcPr marL="6288" marR="6288" marT="62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</a:p>
                  </a:txBody>
                  <a:tcPr marL="6288" marR="6288" marT="62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</a:p>
                  </a:txBody>
                  <a:tcPr marL="6288" marR="6288" marT="62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58178134"/>
                  </a:ext>
                </a:extLst>
              </a:tr>
              <a:tr h="192561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1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2023</a:t>
                      </a:r>
                    </a:p>
                  </a:txBody>
                  <a:tcPr marL="6288" marR="6288" marT="62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48</a:t>
                      </a:r>
                    </a:p>
                  </a:txBody>
                  <a:tcPr marL="6288" marR="6288" marT="62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195</a:t>
                      </a:r>
                    </a:p>
                  </a:txBody>
                  <a:tcPr marL="6288" marR="6288" marT="62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195</a:t>
                      </a:r>
                    </a:p>
                  </a:txBody>
                  <a:tcPr marL="6288" marR="6288" marT="62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</a:p>
                  </a:txBody>
                  <a:tcPr marL="6288" marR="6288" marT="62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</a:p>
                  </a:txBody>
                  <a:tcPr marL="6288" marR="6288" marT="62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</a:p>
                  </a:txBody>
                  <a:tcPr marL="6288" marR="6288" marT="62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34148122"/>
                  </a:ext>
                </a:extLst>
              </a:tr>
              <a:tr h="159291"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ru-RU" sz="1000" b="1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4</a:t>
                      </a:r>
                    </a:p>
                  </a:txBody>
                  <a:tcPr marL="6288" marR="6288" marT="62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>
                  <a:txBody>
                    <a:bodyPr/>
                    <a:lstStyle/>
                    <a:p>
                      <a:pPr algn="l" fontAlgn="ctr"/>
                      <a:r>
                        <a:rPr lang="ru-RU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 КНП ЛОР «</a:t>
                      </a:r>
                      <a:r>
                        <a:rPr lang="ru-RU" sz="1100" b="0" i="0" u="none" strike="noStrike" dirty="0" err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Львівський</a:t>
                      </a:r>
                      <a:r>
                        <a:rPr lang="ru-RU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lang="ru-RU" sz="1100" b="0" i="0" u="none" strike="noStrike" dirty="0" err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обласний</a:t>
                      </a:r>
                      <a:r>
                        <a:rPr lang="ru-RU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lang="ru-RU" sz="1100" b="0" i="0" u="none" strike="noStrike" dirty="0" err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госпіталь</a:t>
                      </a:r>
                      <a:r>
                        <a:rPr lang="ru-RU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lang="ru-RU" sz="1100" b="0" i="0" u="none" strike="noStrike" dirty="0" err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ветеранів</a:t>
                      </a:r>
                      <a:r>
                        <a:rPr lang="ru-RU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lang="ru-RU" sz="1100" b="0" i="0" u="none" strike="noStrike" dirty="0" err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війн</a:t>
                      </a:r>
                      <a:r>
                        <a:rPr lang="ru-RU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 та </a:t>
                      </a:r>
                      <a:r>
                        <a:rPr lang="ru-RU" sz="1100" b="0" i="0" u="none" strike="noStrike" dirty="0" err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репресованих</a:t>
                      </a:r>
                      <a:r>
                        <a:rPr lang="ru-RU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lang="ru-RU" sz="1100" b="0" i="0" u="none" strike="noStrike" dirty="0" err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ім</a:t>
                      </a:r>
                      <a:r>
                        <a:rPr lang="ru-RU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. Ю. </a:t>
                      </a:r>
                      <a:r>
                        <a:rPr lang="ru-RU" sz="1100" b="0" i="0" u="none" strike="noStrike" dirty="0" err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Липи</a:t>
                      </a:r>
                      <a:r>
                        <a:rPr lang="ru-RU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»</a:t>
                      </a:r>
                    </a:p>
                  </a:txBody>
                  <a:tcPr marL="6288" marR="6288" marT="62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1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2021</a:t>
                      </a:r>
                    </a:p>
                  </a:txBody>
                  <a:tcPr marL="6288" marR="6288" marT="62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</a:p>
                  </a:txBody>
                  <a:tcPr marL="6288" marR="6288" marT="62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20</a:t>
                      </a:r>
                    </a:p>
                  </a:txBody>
                  <a:tcPr marL="6288" marR="6288" marT="62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</a:p>
                  </a:txBody>
                  <a:tcPr marL="6288" marR="6288" marT="62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20</a:t>
                      </a:r>
                    </a:p>
                  </a:txBody>
                  <a:tcPr marL="6288" marR="6288" marT="62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</a:p>
                  </a:txBody>
                  <a:tcPr marL="6288" marR="6288" marT="62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</a:p>
                  </a:txBody>
                  <a:tcPr marL="6288" marR="6288" marT="62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0122025"/>
                  </a:ext>
                </a:extLst>
              </a:tr>
              <a:tr h="159291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1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2022</a:t>
                      </a:r>
                    </a:p>
                  </a:txBody>
                  <a:tcPr marL="6288" marR="6288" marT="62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13</a:t>
                      </a:r>
                    </a:p>
                  </a:txBody>
                  <a:tcPr marL="6288" marR="6288" marT="62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42</a:t>
                      </a:r>
                    </a:p>
                  </a:txBody>
                  <a:tcPr marL="6288" marR="6288" marT="62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20</a:t>
                      </a:r>
                    </a:p>
                  </a:txBody>
                  <a:tcPr marL="6288" marR="6288" marT="62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</a:p>
                  </a:txBody>
                  <a:tcPr marL="6288" marR="6288" marT="62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22</a:t>
                      </a:r>
                    </a:p>
                  </a:txBody>
                  <a:tcPr marL="6288" marR="6288" marT="62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</a:p>
                  </a:txBody>
                  <a:tcPr marL="6288" marR="6288" marT="62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62941822"/>
                  </a:ext>
                </a:extLst>
              </a:tr>
              <a:tr h="159291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1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2023</a:t>
                      </a:r>
                    </a:p>
                  </a:txBody>
                  <a:tcPr marL="6288" marR="6288" marT="62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40</a:t>
                      </a:r>
                    </a:p>
                  </a:txBody>
                  <a:tcPr marL="6288" marR="6288" marT="62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120</a:t>
                      </a:r>
                    </a:p>
                  </a:txBody>
                  <a:tcPr marL="6288" marR="6288" marT="62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120</a:t>
                      </a:r>
                    </a:p>
                  </a:txBody>
                  <a:tcPr marL="6288" marR="6288" marT="62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</a:p>
                  </a:txBody>
                  <a:tcPr marL="6288" marR="6288" marT="62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</a:p>
                  </a:txBody>
                  <a:tcPr marL="6288" marR="6288" marT="62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</a:p>
                  </a:txBody>
                  <a:tcPr marL="6288" marR="6288" marT="62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3337843"/>
                  </a:ext>
                </a:extLst>
              </a:tr>
              <a:tr h="159291"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ru-RU" sz="1000" b="1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5</a:t>
                      </a:r>
                    </a:p>
                  </a:txBody>
                  <a:tcPr marL="6288" marR="6288" marT="62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>
                  <a:txBody>
                    <a:bodyPr/>
                    <a:lstStyle/>
                    <a:p>
                      <a:pPr algn="l" fontAlgn="ctr"/>
                      <a:r>
                        <a:rPr lang="ru-RU" sz="11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КНП Буської міської ради «Буська центральна районна лiкарня»</a:t>
                      </a:r>
                    </a:p>
                  </a:txBody>
                  <a:tcPr marL="6288" marR="6288" marT="62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1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2021</a:t>
                      </a:r>
                    </a:p>
                  </a:txBody>
                  <a:tcPr marL="6288" marR="6288" marT="62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</a:p>
                  </a:txBody>
                  <a:tcPr marL="6288" marR="6288" marT="62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</a:p>
                  </a:txBody>
                  <a:tcPr marL="6288" marR="6288" marT="62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</a:p>
                  </a:txBody>
                  <a:tcPr marL="6288" marR="6288" marT="62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</a:p>
                  </a:txBody>
                  <a:tcPr marL="6288" marR="6288" marT="62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</a:p>
                  </a:txBody>
                  <a:tcPr marL="6288" marR="6288" marT="62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</a:p>
                  </a:txBody>
                  <a:tcPr marL="6288" marR="6288" marT="62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7826878"/>
                  </a:ext>
                </a:extLst>
              </a:tr>
              <a:tr h="129141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1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2022</a:t>
                      </a:r>
                    </a:p>
                  </a:txBody>
                  <a:tcPr marL="6288" marR="6288" marT="62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</a:p>
                  </a:txBody>
                  <a:tcPr marL="6288" marR="6288" marT="62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</a:p>
                  </a:txBody>
                  <a:tcPr marL="6288" marR="6288" marT="62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</a:p>
                  </a:txBody>
                  <a:tcPr marL="6288" marR="6288" marT="62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</a:p>
                  </a:txBody>
                  <a:tcPr marL="6288" marR="6288" marT="62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</a:p>
                  </a:txBody>
                  <a:tcPr marL="6288" marR="6288" marT="62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</a:p>
                  </a:txBody>
                  <a:tcPr marL="6288" marR="6288" marT="62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35211591"/>
                  </a:ext>
                </a:extLst>
              </a:tr>
              <a:tr h="159291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1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2023</a:t>
                      </a:r>
                    </a:p>
                  </a:txBody>
                  <a:tcPr marL="6288" marR="6288" marT="62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ru-RU" sz="1000" b="0" i="0" u="none" strike="noStrike" dirty="0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288" marR="6288" marT="62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40</a:t>
                      </a:r>
                    </a:p>
                  </a:txBody>
                  <a:tcPr marL="6288" marR="6288" marT="62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40</a:t>
                      </a:r>
                    </a:p>
                  </a:txBody>
                  <a:tcPr marL="6288" marR="6288" marT="62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</a:p>
                  </a:txBody>
                  <a:tcPr marL="6288" marR="6288" marT="62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</a:p>
                  </a:txBody>
                  <a:tcPr marL="6288" marR="6288" marT="62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</a:p>
                  </a:txBody>
                  <a:tcPr marL="6288" marR="6288" marT="62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18282425"/>
                  </a:ext>
                </a:extLst>
              </a:tr>
              <a:tr h="159291"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ru-RU" sz="1000" b="1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6</a:t>
                      </a:r>
                    </a:p>
                  </a:txBody>
                  <a:tcPr marL="6288" marR="6288" marT="62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>
                  <a:txBody>
                    <a:bodyPr/>
                    <a:lstStyle/>
                    <a:p>
                      <a:pPr algn="l" fontAlgn="ctr"/>
                      <a:r>
                        <a:rPr lang="ru-RU" sz="11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КНП «Дрогобицька міська лікарня № 1» Дрогобицької міської ради</a:t>
                      </a:r>
                    </a:p>
                  </a:txBody>
                  <a:tcPr marL="6288" marR="6288" marT="62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1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2021</a:t>
                      </a:r>
                    </a:p>
                  </a:txBody>
                  <a:tcPr marL="6288" marR="6288" marT="62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1</a:t>
                      </a:r>
                    </a:p>
                  </a:txBody>
                  <a:tcPr marL="6288" marR="6288" marT="62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60</a:t>
                      </a:r>
                    </a:p>
                  </a:txBody>
                  <a:tcPr marL="6288" marR="6288" marT="62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</a:p>
                  </a:txBody>
                  <a:tcPr marL="6288" marR="6288" marT="62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60</a:t>
                      </a:r>
                    </a:p>
                  </a:txBody>
                  <a:tcPr marL="6288" marR="6288" marT="62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</a:p>
                  </a:txBody>
                  <a:tcPr marL="6288" marR="6288" marT="62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</a:p>
                  </a:txBody>
                  <a:tcPr marL="6288" marR="6288" marT="62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78624669"/>
                  </a:ext>
                </a:extLst>
              </a:tr>
              <a:tr h="159291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1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2022</a:t>
                      </a:r>
                    </a:p>
                  </a:txBody>
                  <a:tcPr marL="6288" marR="6288" marT="62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37</a:t>
                      </a:r>
                    </a:p>
                  </a:txBody>
                  <a:tcPr marL="6288" marR="6288" marT="62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33</a:t>
                      </a:r>
                    </a:p>
                  </a:txBody>
                  <a:tcPr marL="6288" marR="6288" marT="62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19</a:t>
                      </a:r>
                    </a:p>
                  </a:txBody>
                  <a:tcPr marL="6288" marR="6288" marT="62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10</a:t>
                      </a:r>
                    </a:p>
                  </a:txBody>
                  <a:tcPr marL="6288" marR="6288" marT="62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4</a:t>
                      </a:r>
                    </a:p>
                  </a:txBody>
                  <a:tcPr marL="6288" marR="6288" marT="62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</a:p>
                  </a:txBody>
                  <a:tcPr marL="6288" marR="6288" marT="62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20692362"/>
                  </a:ext>
                </a:extLst>
              </a:tr>
              <a:tr h="159291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1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2023</a:t>
                      </a:r>
                    </a:p>
                  </a:txBody>
                  <a:tcPr marL="6288" marR="6288" marT="62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14</a:t>
                      </a:r>
                    </a:p>
                  </a:txBody>
                  <a:tcPr marL="6288" marR="6288" marT="62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102</a:t>
                      </a:r>
                    </a:p>
                  </a:txBody>
                  <a:tcPr marL="6288" marR="6288" marT="62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102</a:t>
                      </a:r>
                    </a:p>
                  </a:txBody>
                  <a:tcPr marL="6288" marR="6288" marT="62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</a:p>
                  </a:txBody>
                  <a:tcPr marL="6288" marR="6288" marT="62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</a:p>
                  </a:txBody>
                  <a:tcPr marL="6288" marR="6288" marT="62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</a:p>
                  </a:txBody>
                  <a:tcPr marL="6288" marR="6288" marT="62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79021117"/>
                  </a:ext>
                </a:extLst>
              </a:tr>
              <a:tr h="159291"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ru-RU" sz="1000" b="1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7</a:t>
                      </a:r>
                    </a:p>
                  </a:txBody>
                  <a:tcPr marL="6288" marR="6288" marT="62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>
                  <a:txBody>
                    <a:bodyPr/>
                    <a:lstStyle/>
                    <a:p>
                      <a:pPr algn="l" fontAlgn="ctr"/>
                      <a:r>
                        <a:rPr lang="ru-RU" sz="11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 КНП «Новояворівська лікарня імені Юрія Липи» Новояворівської міської ради</a:t>
                      </a:r>
                    </a:p>
                  </a:txBody>
                  <a:tcPr marL="6288" marR="6288" marT="62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1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2021</a:t>
                      </a:r>
                    </a:p>
                  </a:txBody>
                  <a:tcPr marL="6288" marR="6288" marT="62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8</a:t>
                      </a:r>
                    </a:p>
                  </a:txBody>
                  <a:tcPr marL="6288" marR="6288" marT="62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38</a:t>
                      </a:r>
                    </a:p>
                  </a:txBody>
                  <a:tcPr marL="6288" marR="6288" marT="62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</a:p>
                  </a:txBody>
                  <a:tcPr marL="6288" marR="6288" marT="62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30</a:t>
                      </a:r>
                    </a:p>
                  </a:txBody>
                  <a:tcPr marL="6288" marR="6288" marT="62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8</a:t>
                      </a:r>
                    </a:p>
                  </a:txBody>
                  <a:tcPr marL="6288" marR="6288" marT="62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</a:p>
                  </a:txBody>
                  <a:tcPr marL="6288" marR="6288" marT="62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63643488"/>
                  </a:ext>
                </a:extLst>
              </a:tr>
              <a:tr h="159291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1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2022</a:t>
                      </a:r>
                    </a:p>
                  </a:txBody>
                  <a:tcPr marL="6288" marR="6288" marT="62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9</a:t>
                      </a:r>
                    </a:p>
                  </a:txBody>
                  <a:tcPr marL="6288" marR="6288" marT="62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66</a:t>
                      </a:r>
                    </a:p>
                  </a:txBody>
                  <a:tcPr marL="6288" marR="6288" marT="62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57</a:t>
                      </a:r>
                    </a:p>
                  </a:txBody>
                  <a:tcPr marL="6288" marR="6288" marT="62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9</a:t>
                      </a:r>
                    </a:p>
                  </a:txBody>
                  <a:tcPr marL="6288" marR="6288" marT="62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</a:p>
                  </a:txBody>
                  <a:tcPr marL="6288" marR="6288" marT="62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</a:p>
                  </a:txBody>
                  <a:tcPr marL="6288" marR="6288" marT="62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63267419"/>
                  </a:ext>
                </a:extLst>
              </a:tr>
              <a:tr h="159291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1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2023</a:t>
                      </a:r>
                    </a:p>
                  </a:txBody>
                  <a:tcPr marL="6288" marR="6288" marT="62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29</a:t>
                      </a:r>
                    </a:p>
                  </a:txBody>
                  <a:tcPr marL="6288" marR="6288" marT="62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89</a:t>
                      </a:r>
                    </a:p>
                  </a:txBody>
                  <a:tcPr marL="6288" marR="6288" marT="62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89</a:t>
                      </a:r>
                    </a:p>
                  </a:txBody>
                  <a:tcPr marL="6288" marR="6288" marT="62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</a:p>
                  </a:txBody>
                  <a:tcPr marL="6288" marR="6288" marT="62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</a:p>
                  </a:txBody>
                  <a:tcPr marL="6288" marR="6288" marT="62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</a:p>
                  </a:txBody>
                  <a:tcPr marL="6288" marR="6288" marT="62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7905121"/>
                  </a:ext>
                </a:extLst>
              </a:tr>
              <a:tr h="159291"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ru-RU" sz="1000" b="1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8</a:t>
                      </a:r>
                    </a:p>
                  </a:txBody>
                  <a:tcPr marL="6288" marR="6288" marT="62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>
                  <a:txBody>
                    <a:bodyPr/>
                    <a:lstStyle/>
                    <a:p>
                      <a:pPr algn="l" fontAlgn="ctr"/>
                      <a:r>
                        <a:rPr lang="ru-RU" sz="11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КНП Самбірської міської ради «Самбірська центральна лікарня»</a:t>
                      </a:r>
                    </a:p>
                  </a:txBody>
                  <a:tcPr marL="6288" marR="6288" marT="62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1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2021</a:t>
                      </a:r>
                    </a:p>
                  </a:txBody>
                  <a:tcPr marL="6288" marR="6288" marT="62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</a:p>
                  </a:txBody>
                  <a:tcPr marL="6288" marR="6288" marT="62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24</a:t>
                      </a:r>
                    </a:p>
                  </a:txBody>
                  <a:tcPr marL="6288" marR="6288" marT="62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24</a:t>
                      </a:r>
                    </a:p>
                  </a:txBody>
                  <a:tcPr marL="6288" marR="6288" marT="62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</a:p>
                  </a:txBody>
                  <a:tcPr marL="6288" marR="6288" marT="62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</a:p>
                  </a:txBody>
                  <a:tcPr marL="6288" marR="6288" marT="62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</a:p>
                  </a:txBody>
                  <a:tcPr marL="6288" marR="6288" marT="62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05669512"/>
                  </a:ext>
                </a:extLst>
              </a:tr>
              <a:tr h="159291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1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2022</a:t>
                      </a:r>
                    </a:p>
                  </a:txBody>
                  <a:tcPr marL="6288" marR="6288" marT="62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</a:p>
                  </a:txBody>
                  <a:tcPr marL="6288" marR="6288" marT="62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15</a:t>
                      </a:r>
                    </a:p>
                  </a:txBody>
                  <a:tcPr marL="6288" marR="6288" marT="62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15</a:t>
                      </a:r>
                    </a:p>
                  </a:txBody>
                  <a:tcPr marL="6288" marR="6288" marT="62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</a:p>
                  </a:txBody>
                  <a:tcPr marL="6288" marR="6288" marT="62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</a:p>
                  </a:txBody>
                  <a:tcPr marL="6288" marR="6288" marT="62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</a:p>
                  </a:txBody>
                  <a:tcPr marL="6288" marR="6288" marT="62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78411052"/>
                  </a:ext>
                </a:extLst>
              </a:tr>
              <a:tr h="159291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1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2023</a:t>
                      </a:r>
                    </a:p>
                  </a:txBody>
                  <a:tcPr marL="6288" marR="6288" marT="62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13</a:t>
                      </a:r>
                    </a:p>
                  </a:txBody>
                  <a:tcPr marL="6288" marR="6288" marT="62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73</a:t>
                      </a:r>
                    </a:p>
                  </a:txBody>
                  <a:tcPr marL="6288" marR="6288" marT="62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73</a:t>
                      </a:r>
                    </a:p>
                  </a:txBody>
                  <a:tcPr marL="6288" marR="6288" marT="62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</a:p>
                  </a:txBody>
                  <a:tcPr marL="6288" marR="6288" marT="62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</a:p>
                  </a:txBody>
                  <a:tcPr marL="6288" marR="6288" marT="62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</a:p>
                  </a:txBody>
                  <a:tcPr marL="6288" marR="6288" marT="62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34184147"/>
                  </a:ext>
                </a:extLst>
              </a:tr>
              <a:tr h="159291"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ru-RU" sz="1000" b="1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9</a:t>
                      </a:r>
                    </a:p>
                  </a:txBody>
                  <a:tcPr marL="6288" marR="6288" marT="62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>
                  <a:txBody>
                    <a:bodyPr/>
                    <a:lstStyle/>
                    <a:p>
                      <a:pPr algn="l" fontAlgn="ctr"/>
                      <a:r>
                        <a:rPr lang="ru-RU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КНП </a:t>
                      </a:r>
                      <a:r>
                        <a:rPr lang="ru-RU" sz="1100" b="0" i="0" u="none" strike="noStrike" dirty="0" err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Стрийської</a:t>
                      </a:r>
                      <a:r>
                        <a:rPr lang="ru-RU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lang="ru-RU" sz="1100" b="0" i="0" u="none" strike="noStrike" dirty="0" err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міської</a:t>
                      </a:r>
                      <a:r>
                        <a:rPr lang="ru-RU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 ради ТМО «</a:t>
                      </a:r>
                      <a:r>
                        <a:rPr lang="ru-RU" sz="1100" b="0" i="0" u="none" strike="noStrike" dirty="0" err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Стрийська</a:t>
                      </a:r>
                      <a:r>
                        <a:rPr lang="ru-RU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lang="ru-RU" sz="1100" b="0" i="0" u="none" strike="noStrike" dirty="0" err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міська</a:t>
                      </a:r>
                      <a:r>
                        <a:rPr lang="ru-RU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lang="ru-RU" sz="1100" b="0" i="0" u="none" strike="noStrike" dirty="0" err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об'єднана</a:t>
                      </a:r>
                      <a:r>
                        <a:rPr lang="ru-RU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lang="ru-RU" sz="1100" b="0" i="0" u="none" strike="noStrike" dirty="0" err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лікарня</a:t>
                      </a:r>
                      <a:r>
                        <a:rPr lang="ru-RU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», ВП «</a:t>
                      </a:r>
                      <a:r>
                        <a:rPr lang="ru-RU" sz="1100" b="0" i="0" u="none" strike="noStrike" dirty="0" err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Лікарня</a:t>
                      </a:r>
                      <a:r>
                        <a:rPr lang="ru-RU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lang="ru-RU" sz="1100" b="0" i="0" u="none" strike="noStrike" dirty="0" err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інтенсивного</a:t>
                      </a:r>
                      <a:r>
                        <a:rPr lang="ru-RU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lang="ru-RU" sz="1100" b="0" i="0" u="none" strike="noStrike" dirty="0" err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лікування</a:t>
                      </a:r>
                      <a:r>
                        <a:rPr lang="ru-RU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»</a:t>
                      </a:r>
                    </a:p>
                  </a:txBody>
                  <a:tcPr marL="6288" marR="6288" marT="62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1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2021</a:t>
                      </a:r>
                    </a:p>
                  </a:txBody>
                  <a:tcPr marL="6288" marR="6288" marT="62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</a:p>
                  </a:txBody>
                  <a:tcPr marL="6288" marR="6288" marT="62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32</a:t>
                      </a:r>
                    </a:p>
                  </a:txBody>
                  <a:tcPr marL="6288" marR="6288" marT="62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</a:p>
                  </a:txBody>
                  <a:tcPr marL="6288" marR="6288" marT="62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32</a:t>
                      </a:r>
                    </a:p>
                  </a:txBody>
                  <a:tcPr marL="6288" marR="6288" marT="62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</a:p>
                  </a:txBody>
                  <a:tcPr marL="6288" marR="6288" marT="62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</a:p>
                  </a:txBody>
                  <a:tcPr marL="6288" marR="6288" marT="62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03002390"/>
                  </a:ext>
                </a:extLst>
              </a:tr>
              <a:tr h="159291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1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2022</a:t>
                      </a:r>
                    </a:p>
                  </a:txBody>
                  <a:tcPr marL="6288" marR="6288" marT="62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4</a:t>
                      </a:r>
                    </a:p>
                  </a:txBody>
                  <a:tcPr marL="6288" marR="6288" marT="62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118</a:t>
                      </a:r>
                    </a:p>
                  </a:txBody>
                  <a:tcPr marL="6288" marR="6288" marT="62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98</a:t>
                      </a:r>
                    </a:p>
                  </a:txBody>
                  <a:tcPr marL="6288" marR="6288" marT="62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20</a:t>
                      </a:r>
                    </a:p>
                  </a:txBody>
                  <a:tcPr marL="6288" marR="6288" marT="62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</a:p>
                  </a:txBody>
                  <a:tcPr marL="6288" marR="6288" marT="62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</a:p>
                  </a:txBody>
                  <a:tcPr marL="6288" marR="6288" marT="62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36405199"/>
                  </a:ext>
                </a:extLst>
              </a:tr>
              <a:tr h="159291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1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2023</a:t>
                      </a:r>
                    </a:p>
                  </a:txBody>
                  <a:tcPr marL="6288" marR="6288" marT="62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7</a:t>
                      </a:r>
                    </a:p>
                  </a:txBody>
                  <a:tcPr marL="6288" marR="6288" marT="62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165</a:t>
                      </a:r>
                    </a:p>
                  </a:txBody>
                  <a:tcPr marL="6288" marR="6288" marT="62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153</a:t>
                      </a:r>
                    </a:p>
                  </a:txBody>
                  <a:tcPr marL="6288" marR="6288" marT="62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</a:p>
                  </a:txBody>
                  <a:tcPr marL="6288" marR="6288" marT="62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</a:p>
                  </a:txBody>
                  <a:tcPr marL="6288" marR="6288" marT="62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12</a:t>
                      </a:r>
                    </a:p>
                  </a:txBody>
                  <a:tcPr marL="6288" marR="6288" marT="62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50226995"/>
                  </a:ext>
                </a:extLst>
              </a:tr>
              <a:tr h="159291"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ru-RU" sz="1000" b="1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10</a:t>
                      </a:r>
                    </a:p>
                  </a:txBody>
                  <a:tcPr marL="6288" marR="6288" marT="62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>
                  <a:txBody>
                    <a:bodyPr/>
                    <a:lstStyle/>
                    <a:p>
                      <a:pPr algn="l" fontAlgn="ctr"/>
                      <a:r>
                        <a:rPr lang="ru-RU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КП «Центральна </a:t>
                      </a:r>
                      <a:r>
                        <a:rPr lang="ru-RU" sz="1100" b="0" i="0" u="none" strike="noStrike" dirty="0" err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міська</a:t>
                      </a:r>
                      <a:r>
                        <a:rPr lang="ru-RU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lang="ru-RU" sz="1100" b="0" i="0" u="none" strike="noStrike" dirty="0" err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лікарня</a:t>
                      </a:r>
                      <a:r>
                        <a:rPr lang="ru-RU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lang="ru-RU" sz="1100" b="0" i="0" u="none" strike="noStrike" dirty="0" err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Червоноградської</a:t>
                      </a:r>
                      <a:r>
                        <a:rPr lang="ru-RU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lang="ru-RU" sz="1100" b="0" i="0" u="none" strike="noStrike" dirty="0" err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міської</a:t>
                      </a:r>
                      <a:r>
                        <a:rPr lang="ru-RU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 ради»</a:t>
                      </a:r>
                    </a:p>
                  </a:txBody>
                  <a:tcPr marL="6288" marR="6288" marT="62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1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2021</a:t>
                      </a:r>
                    </a:p>
                  </a:txBody>
                  <a:tcPr marL="6288" marR="6288" marT="62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</a:p>
                  </a:txBody>
                  <a:tcPr marL="6288" marR="6288" marT="62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10</a:t>
                      </a:r>
                    </a:p>
                  </a:txBody>
                  <a:tcPr marL="6288" marR="6288" marT="62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</a:p>
                  </a:txBody>
                  <a:tcPr marL="6288" marR="6288" marT="62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10</a:t>
                      </a:r>
                    </a:p>
                  </a:txBody>
                  <a:tcPr marL="6288" marR="6288" marT="62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</a:p>
                  </a:txBody>
                  <a:tcPr marL="6288" marR="6288" marT="62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</a:p>
                  </a:txBody>
                  <a:tcPr marL="6288" marR="6288" marT="62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05864646"/>
                  </a:ext>
                </a:extLst>
              </a:tr>
              <a:tr h="159291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1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2022</a:t>
                      </a:r>
                    </a:p>
                  </a:txBody>
                  <a:tcPr marL="6288" marR="6288" marT="62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7</a:t>
                      </a:r>
                    </a:p>
                  </a:txBody>
                  <a:tcPr marL="6288" marR="6288" marT="62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51</a:t>
                      </a:r>
                    </a:p>
                  </a:txBody>
                  <a:tcPr marL="6288" marR="6288" marT="62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51</a:t>
                      </a:r>
                    </a:p>
                  </a:txBody>
                  <a:tcPr marL="6288" marR="6288" marT="62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</a:p>
                  </a:txBody>
                  <a:tcPr marL="6288" marR="6288" marT="62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</a:p>
                  </a:txBody>
                  <a:tcPr marL="6288" marR="6288" marT="62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</a:p>
                  </a:txBody>
                  <a:tcPr marL="6288" marR="6288" marT="62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35912688"/>
                  </a:ext>
                </a:extLst>
              </a:tr>
              <a:tr h="159291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1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2023</a:t>
                      </a:r>
                    </a:p>
                  </a:txBody>
                  <a:tcPr marL="6288" marR="6288" marT="62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8</a:t>
                      </a:r>
                    </a:p>
                  </a:txBody>
                  <a:tcPr marL="6288" marR="6288" marT="62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86</a:t>
                      </a:r>
                    </a:p>
                  </a:txBody>
                  <a:tcPr marL="6288" marR="6288" marT="62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86</a:t>
                      </a:r>
                    </a:p>
                  </a:txBody>
                  <a:tcPr marL="6288" marR="6288" marT="62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</a:p>
                  </a:txBody>
                  <a:tcPr marL="6288" marR="6288" marT="62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</a:p>
                  </a:txBody>
                  <a:tcPr marL="6288" marR="6288" marT="62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</a:p>
                  </a:txBody>
                  <a:tcPr marL="6288" marR="6288" marT="62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1376145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4585855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" name="Google Shape;849;p82"/>
          <p:cNvSpPr txBox="1"/>
          <p:nvPr/>
        </p:nvSpPr>
        <p:spPr>
          <a:xfrm>
            <a:off x="4706483" y="3135891"/>
            <a:ext cx="2264800" cy="1354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67" tIns="121867" rIns="121867" bIns="121867" anchor="t" anchorCtr="0">
            <a:spAutoFit/>
          </a:bodyPr>
          <a:lstStyle/>
          <a:p>
            <a:pPr>
              <a:buClr>
                <a:srgbClr val="FFFFFF"/>
              </a:buClr>
              <a:buSzPts val="5400"/>
            </a:pPr>
            <a:r>
              <a:rPr lang="en" sz="7200" b="1">
                <a:solidFill>
                  <a:srgbClr val="FFFFFF"/>
                </a:solidFill>
                <a:latin typeface="Arial Narrow"/>
                <a:ea typeface="Arial Narrow"/>
                <a:cs typeface="Arial Narrow"/>
                <a:sym typeface="Arial Narrow"/>
              </a:rPr>
              <a:t>ЦБД</a:t>
            </a:r>
            <a:endParaRPr sz="1867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0" name="Google Shape;850;p82"/>
          <p:cNvSpPr txBox="1"/>
          <p:nvPr/>
        </p:nvSpPr>
        <p:spPr>
          <a:xfrm>
            <a:off x="541224" y="-277"/>
            <a:ext cx="10844967" cy="9361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algn="ctr"/>
            <a:r>
              <a:rPr lang="uk-UA" sz="3000" b="1" dirty="0">
                <a:solidFill>
                  <a:srgbClr val="00206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Загальна кількість пролікованих хворих з ішемічним інсультом і летальність хворих</a:t>
            </a:r>
          </a:p>
        </p:txBody>
      </p:sp>
      <p:graphicFrame>
        <p:nvGraphicFramePr>
          <p:cNvPr id="9" name="Таблиця 8">
            <a:extLst>
              <a:ext uri="{FF2B5EF4-FFF2-40B4-BE49-F238E27FC236}">
                <a16:creationId xmlns:a16="http://schemas.microsoft.com/office/drawing/2014/main" id="{ECE00E73-D69D-45CC-A298-D6EAE2F3D2F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66388852"/>
              </p:ext>
            </p:extLst>
          </p:nvPr>
        </p:nvGraphicFramePr>
        <p:xfrm>
          <a:off x="412595" y="935877"/>
          <a:ext cx="11102227" cy="5428166"/>
        </p:xfrm>
        <a:graphic>
          <a:graphicData uri="http://schemas.openxmlformats.org/drawingml/2006/table">
            <a:tbl>
              <a:tblPr/>
              <a:tblGrid>
                <a:gridCol w="409030">
                  <a:extLst>
                    <a:ext uri="{9D8B030D-6E8A-4147-A177-3AD203B41FA5}">
                      <a16:colId xmlns:a16="http://schemas.microsoft.com/office/drawing/2014/main" val="3582385581"/>
                    </a:ext>
                  </a:extLst>
                </a:gridCol>
                <a:gridCol w="3473912">
                  <a:extLst>
                    <a:ext uri="{9D8B030D-6E8A-4147-A177-3AD203B41FA5}">
                      <a16:colId xmlns:a16="http://schemas.microsoft.com/office/drawing/2014/main" val="4279497052"/>
                    </a:ext>
                  </a:extLst>
                </a:gridCol>
                <a:gridCol w="644982">
                  <a:extLst>
                    <a:ext uri="{9D8B030D-6E8A-4147-A177-3AD203B41FA5}">
                      <a16:colId xmlns:a16="http://schemas.microsoft.com/office/drawing/2014/main" val="3766661459"/>
                    </a:ext>
                  </a:extLst>
                </a:gridCol>
                <a:gridCol w="610426">
                  <a:extLst>
                    <a:ext uri="{9D8B030D-6E8A-4147-A177-3AD203B41FA5}">
                      <a16:colId xmlns:a16="http://schemas.microsoft.com/office/drawing/2014/main" val="3663862443"/>
                    </a:ext>
                  </a:extLst>
                </a:gridCol>
                <a:gridCol w="610426">
                  <a:extLst>
                    <a:ext uri="{9D8B030D-6E8A-4147-A177-3AD203B41FA5}">
                      <a16:colId xmlns:a16="http://schemas.microsoft.com/office/drawing/2014/main" val="4076504949"/>
                    </a:ext>
                  </a:extLst>
                </a:gridCol>
                <a:gridCol w="644982">
                  <a:extLst>
                    <a:ext uri="{9D8B030D-6E8A-4147-A177-3AD203B41FA5}">
                      <a16:colId xmlns:a16="http://schemas.microsoft.com/office/drawing/2014/main" val="96449778"/>
                    </a:ext>
                  </a:extLst>
                </a:gridCol>
                <a:gridCol w="516552">
                  <a:extLst>
                    <a:ext uri="{9D8B030D-6E8A-4147-A177-3AD203B41FA5}">
                      <a16:colId xmlns:a16="http://schemas.microsoft.com/office/drawing/2014/main" val="770489332"/>
                    </a:ext>
                  </a:extLst>
                </a:gridCol>
                <a:gridCol w="610426">
                  <a:extLst>
                    <a:ext uri="{9D8B030D-6E8A-4147-A177-3AD203B41FA5}">
                      <a16:colId xmlns:a16="http://schemas.microsoft.com/office/drawing/2014/main" val="770754753"/>
                    </a:ext>
                  </a:extLst>
                </a:gridCol>
                <a:gridCol w="610426">
                  <a:extLst>
                    <a:ext uri="{9D8B030D-6E8A-4147-A177-3AD203B41FA5}">
                      <a16:colId xmlns:a16="http://schemas.microsoft.com/office/drawing/2014/main" val="2317469279"/>
                    </a:ext>
                  </a:extLst>
                </a:gridCol>
                <a:gridCol w="655848">
                  <a:extLst>
                    <a:ext uri="{9D8B030D-6E8A-4147-A177-3AD203B41FA5}">
                      <a16:colId xmlns:a16="http://schemas.microsoft.com/office/drawing/2014/main" val="385462907"/>
                    </a:ext>
                  </a:extLst>
                </a:gridCol>
                <a:gridCol w="644982">
                  <a:extLst>
                    <a:ext uri="{9D8B030D-6E8A-4147-A177-3AD203B41FA5}">
                      <a16:colId xmlns:a16="http://schemas.microsoft.com/office/drawing/2014/main" val="3168374601"/>
                    </a:ext>
                  </a:extLst>
                </a:gridCol>
                <a:gridCol w="504079">
                  <a:extLst>
                    <a:ext uri="{9D8B030D-6E8A-4147-A177-3AD203B41FA5}">
                      <a16:colId xmlns:a16="http://schemas.microsoft.com/office/drawing/2014/main" val="2195140635"/>
                    </a:ext>
                  </a:extLst>
                </a:gridCol>
                <a:gridCol w="552848">
                  <a:extLst>
                    <a:ext uri="{9D8B030D-6E8A-4147-A177-3AD203B41FA5}">
                      <a16:colId xmlns:a16="http://schemas.microsoft.com/office/drawing/2014/main" val="1713767210"/>
                    </a:ext>
                  </a:extLst>
                </a:gridCol>
                <a:gridCol w="613308">
                  <a:extLst>
                    <a:ext uri="{9D8B030D-6E8A-4147-A177-3AD203B41FA5}">
                      <a16:colId xmlns:a16="http://schemas.microsoft.com/office/drawing/2014/main" val="4057677221"/>
                    </a:ext>
                  </a:extLst>
                </a:gridCol>
              </a:tblGrid>
              <a:tr h="452072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uk-UA" sz="1100" b="1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№ </a:t>
                      </a:r>
                      <a:br>
                        <a:rPr lang="uk-UA" sz="1100" b="1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uk-UA" sz="1100" b="1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з/п</a:t>
                      </a:r>
                    </a:p>
                  </a:txBody>
                  <a:tcPr marL="6315" marR="6315" marT="63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uk-UA" sz="1100" b="1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Назва </a:t>
                      </a:r>
                      <a:r>
                        <a:rPr lang="uk-UA" sz="1100" b="1" i="0" u="none" strike="noStrike" dirty="0" err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ЗОЗ</a:t>
                      </a:r>
                      <a:r>
                        <a:rPr lang="uk-UA" sz="1100" b="1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</a:p>
                  </a:txBody>
                  <a:tcPr marL="6315" marR="6315" marT="63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err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Загальна</a:t>
                      </a:r>
                      <a:r>
                        <a:rPr lang="ru-RU" sz="1100" b="1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sz="1100" b="1" i="0" u="none" strike="noStrike" dirty="0" err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кількість</a:t>
                      </a:r>
                      <a:endParaRPr lang="ru-RU" sz="1100" b="1" i="0" u="none" strike="noStrike" dirty="0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 fontAlgn="ctr"/>
                      <a:r>
                        <a:rPr lang="ru-RU" sz="1100" b="1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sz="1100" b="1" i="0" u="none" strike="noStrike" dirty="0" err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госпіталізованих</a:t>
                      </a:r>
                      <a:r>
                        <a:rPr lang="ru-RU" sz="1100" b="1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sz="1100" b="1" i="0" u="none" strike="noStrike" dirty="0" err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хворих</a:t>
                      </a:r>
                      <a:r>
                        <a:rPr lang="ru-RU" sz="1100" b="1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(</a:t>
                      </a:r>
                      <a:r>
                        <a:rPr lang="ru-RU" sz="1100" b="1" i="0" u="none" strike="noStrike" dirty="0" err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абс.ч</a:t>
                      </a:r>
                      <a:r>
                        <a:rPr lang="ru-RU" sz="1100" b="1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.)</a:t>
                      </a:r>
                    </a:p>
                  </a:txBody>
                  <a:tcPr marL="6315" marR="6315" marT="63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uk-U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uk-U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uk-UA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uk-UA" sz="1100" b="1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Загальна л</a:t>
                      </a:r>
                      <a:r>
                        <a:rPr lang="ru-RU" sz="1100" b="1" i="0" u="none" strike="noStrike" dirty="0" err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етальність</a:t>
                      </a:r>
                      <a:r>
                        <a:rPr lang="ru-RU" sz="1100" b="1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  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100" b="1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( </a:t>
                      </a:r>
                      <a:r>
                        <a:rPr lang="ru-RU" sz="1100" b="1" i="0" u="none" strike="noStrike" dirty="0" err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абс.ч</a:t>
                      </a:r>
                      <a:r>
                        <a:rPr lang="ru-RU" sz="1100" b="1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. /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100" b="1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 % </a:t>
                      </a:r>
                      <a:r>
                        <a:rPr lang="ru-RU" sz="1100" b="1" i="0" u="none" strike="noStrike" dirty="0" err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від</a:t>
                      </a:r>
                      <a:r>
                        <a:rPr lang="ru-RU" sz="1100" b="1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lang="ru-RU" sz="1100" b="1" i="0" u="none" strike="noStrike" dirty="0" err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загальної</a:t>
                      </a:r>
                      <a:r>
                        <a:rPr lang="ru-RU" sz="1100" b="1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 к-</a:t>
                      </a:r>
                      <a:r>
                        <a:rPr lang="ru-RU" sz="1100" b="1" i="0" u="none" strike="noStrike" dirty="0" err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ті</a:t>
                      </a:r>
                      <a:r>
                        <a:rPr lang="ru-RU" sz="1100" b="1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lang="ru-RU" sz="1100" b="1" i="0" u="none" strike="noStrike" dirty="0" err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госпіт</a:t>
                      </a:r>
                      <a:r>
                        <a:rPr lang="ru-RU" sz="1100" b="1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. </a:t>
                      </a:r>
                      <a:r>
                        <a:rPr lang="ru-RU" sz="1100" b="1" i="0" u="none" strike="noStrike" dirty="0" err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хворих</a:t>
                      </a:r>
                      <a:r>
                        <a:rPr lang="ru-RU" sz="1100" b="1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uk-U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uk-U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uk-UA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uk-UA" sz="1100" b="1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Л</a:t>
                      </a:r>
                      <a:r>
                        <a:rPr lang="ru-RU" sz="1100" b="1" i="0" u="none" strike="noStrike" dirty="0" err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етальність</a:t>
                      </a:r>
                      <a:r>
                        <a:rPr lang="ru-RU" sz="1100" b="1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  до 24-х годин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100" b="1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( </a:t>
                      </a:r>
                      <a:r>
                        <a:rPr lang="ru-RU" sz="1100" b="1" i="0" u="none" strike="noStrike" dirty="0" err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абс.ч</a:t>
                      </a:r>
                      <a:r>
                        <a:rPr lang="ru-RU" sz="1100" b="1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. / 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100" b="1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% </a:t>
                      </a:r>
                      <a:r>
                        <a:rPr lang="ru-RU" sz="1100" b="1" i="0" u="none" strike="noStrike" dirty="0" err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від</a:t>
                      </a:r>
                      <a:r>
                        <a:rPr lang="ru-RU" sz="1100" b="1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lang="ru-RU" sz="1100" b="1" i="0" u="none" strike="noStrike" dirty="0" err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загальної</a:t>
                      </a:r>
                      <a:r>
                        <a:rPr lang="ru-RU" sz="1100" b="1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 к-</a:t>
                      </a:r>
                      <a:r>
                        <a:rPr lang="ru-RU" sz="1100" b="1" i="0" u="none" strike="noStrike" dirty="0" err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ті</a:t>
                      </a:r>
                      <a:r>
                        <a:rPr lang="ru-RU" sz="1100" b="1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lang="ru-RU" sz="1100" b="1" i="0" u="none" strike="noStrike" dirty="0" err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летальності</a:t>
                      </a:r>
                      <a:r>
                        <a:rPr lang="ru-RU" sz="1100" b="1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uk-U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uk-U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uk-UA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62404767"/>
                  </a:ext>
                </a:extLst>
              </a:tr>
              <a:tr h="276949">
                <a:tc vMerge="1">
                  <a:txBody>
                    <a:bodyPr/>
                    <a:lstStyle/>
                    <a:p>
                      <a:endParaRPr lang="uk-UA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uk-UA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100" b="1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2020р.</a:t>
                      </a:r>
                    </a:p>
                  </a:txBody>
                  <a:tcPr marL="6315" marR="6315" marT="63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100" b="1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2021р.</a:t>
                      </a:r>
                    </a:p>
                  </a:txBody>
                  <a:tcPr marL="6315" marR="6315" marT="63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100" b="1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2022р.</a:t>
                      </a:r>
                    </a:p>
                  </a:txBody>
                  <a:tcPr marL="6315" marR="6315" marT="63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100" b="1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2023р.</a:t>
                      </a:r>
                    </a:p>
                  </a:txBody>
                  <a:tcPr marL="6315" marR="6315" marT="63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100" b="1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2020р.</a:t>
                      </a:r>
                    </a:p>
                  </a:txBody>
                  <a:tcPr marL="6315" marR="6315" marT="63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100" b="1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2021р.</a:t>
                      </a:r>
                    </a:p>
                  </a:txBody>
                  <a:tcPr marL="6315" marR="6315" marT="63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100" b="1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2022р.</a:t>
                      </a:r>
                    </a:p>
                  </a:txBody>
                  <a:tcPr marL="6315" marR="6315" marT="63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100" b="1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2023р.</a:t>
                      </a:r>
                    </a:p>
                  </a:txBody>
                  <a:tcPr marL="6315" marR="6315" marT="63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100" b="1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2020р.</a:t>
                      </a:r>
                    </a:p>
                  </a:txBody>
                  <a:tcPr marL="6315" marR="6315" marT="63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100" b="1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2021р.</a:t>
                      </a:r>
                    </a:p>
                  </a:txBody>
                  <a:tcPr marL="6315" marR="6315" marT="63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100" b="1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2022р.</a:t>
                      </a:r>
                    </a:p>
                  </a:txBody>
                  <a:tcPr marL="6315" marR="6315" marT="63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100" b="1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2023р.</a:t>
                      </a:r>
                    </a:p>
                  </a:txBody>
                  <a:tcPr marL="6315" marR="6315" marT="63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95041511"/>
                  </a:ext>
                </a:extLst>
              </a:tr>
              <a:tr h="283266">
                <a:tc>
                  <a:txBody>
                    <a:bodyPr/>
                    <a:lstStyle/>
                    <a:p>
                      <a:pPr algn="ctr" fontAlgn="ctr"/>
                      <a:endParaRPr lang="uk-UA" sz="1000" b="0" i="0" u="none" strike="noStrike" dirty="0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15" marR="6315" marT="63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ru-RU" sz="1000" b="1" i="0" u="none" strike="noStrike" dirty="0" err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Всього</a:t>
                      </a:r>
                      <a:endParaRPr lang="ru-RU" sz="1000" b="1" i="0" u="none" strike="noStrike" dirty="0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973" marR="6973" marT="697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2917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0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5111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0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5964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6413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369</a:t>
                      </a:r>
                    </a:p>
                    <a:p>
                      <a:pPr algn="ctr" fontAlgn="ctr"/>
                      <a:r>
                        <a:rPr lang="uk-UA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12,6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668</a:t>
                      </a:r>
                    </a:p>
                    <a:p>
                      <a:pPr algn="ctr" fontAlgn="ctr"/>
                      <a:r>
                        <a:rPr lang="uk-UA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13,1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907</a:t>
                      </a:r>
                    </a:p>
                    <a:p>
                      <a:pPr algn="ctr" fontAlgn="ctr"/>
                      <a:r>
                        <a:rPr lang="uk-UA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15,2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938</a:t>
                      </a:r>
                    </a:p>
                    <a:p>
                      <a:pPr algn="ctr" fontAlgn="ctr"/>
                      <a:r>
                        <a:rPr lang="uk-UA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14,6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44</a:t>
                      </a:r>
                    </a:p>
                    <a:p>
                      <a:pPr algn="ctr" fontAlgn="ctr"/>
                      <a:r>
                        <a:rPr lang="uk-UA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11,9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80</a:t>
                      </a:r>
                    </a:p>
                    <a:p>
                      <a:pPr algn="ctr" fontAlgn="ctr"/>
                      <a:r>
                        <a:rPr lang="uk-UA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11,9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104</a:t>
                      </a:r>
                    </a:p>
                    <a:p>
                      <a:pPr algn="ctr" fontAlgn="ctr"/>
                      <a:r>
                        <a:rPr lang="uk-UA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11,5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107</a:t>
                      </a:r>
                    </a:p>
                    <a:p>
                      <a:pPr algn="ctr" fontAlgn="ctr"/>
                      <a:r>
                        <a:rPr lang="uk-UA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11,4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67865343"/>
                  </a:ext>
                </a:extLst>
              </a:tr>
              <a:tr h="283266"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6315" marR="6315" marT="63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ru-RU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sz="1000" b="0" i="0" u="none" strike="noStrike" dirty="0" err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КНП</a:t>
                      </a:r>
                      <a:r>
                        <a:rPr lang="ru-RU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ЛОР «</a:t>
                      </a:r>
                      <a:r>
                        <a:rPr lang="ru-RU" sz="1000" b="0" i="0" u="none" strike="noStrike" dirty="0" err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Львівська</a:t>
                      </a:r>
                      <a:r>
                        <a:rPr lang="ru-RU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sz="1000" b="0" i="0" u="none" strike="noStrike" dirty="0" err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обласна</a:t>
                      </a:r>
                      <a:r>
                        <a:rPr lang="ru-RU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sz="1000" b="0" i="0" u="none" strike="noStrike" dirty="0" err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клінічна</a:t>
                      </a:r>
                      <a:r>
                        <a:rPr lang="ru-RU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sz="1000" b="0" i="0" u="none" strike="noStrike" dirty="0" err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лікарня</a:t>
                      </a:r>
                      <a:r>
                        <a:rPr lang="ru-RU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»</a:t>
                      </a:r>
                    </a:p>
                  </a:txBody>
                  <a:tcPr marL="6973" marR="6973" marT="697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uk-UA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 318</a:t>
                      </a:r>
                    </a:p>
                  </a:txBody>
                  <a:tcPr marL="6315" marR="6315" marT="6315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uk-UA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674 </a:t>
                      </a:r>
                    </a:p>
                  </a:txBody>
                  <a:tcPr marL="6315" marR="6315" marT="6315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uk-UA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531 </a:t>
                      </a:r>
                    </a:p>
                  </a:txBody>
                  <a:tcPr marL="6315" marR="6315" marT="6315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uk-UA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642</a:t>
                      </a:r>
                    </a:p>
                  </a:txBody>
                  <a:tcPr marL="6315" marR="6315" marT="6315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uk-UA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21 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uk-UA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6,6 </a:t>
                      </a:r>
                    </a:p>
                  </a:txBody>
                  <a:tcPr marL="6315" marR="6315" marT="6315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uk-UA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66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uk-UA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9,8 </a:t>
                      </a:r>
                    </a:p>
                  </a:txBody>
                  <a:tcPr marL="6315" marR="6315" marT="6315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uk-UA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60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uk-UA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11,3</a:t>
                      </a:r>
                    </a:p>
                  </a:txBody>
                  <a:tcPr marL="6315" marR="6315" marT="6315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uk-UA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80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uk-UA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12,5</a:t>
                      </a:r>
                    </a:p>
                  </a:txBody>
                  <a:tcPr marL="6315" marR="6315" marT="6315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uk-UA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-/-</a:t>
                      </a:r>
                    </a:p>
                  </a:txBody>
                  <a:tcPr marL="6315" marR="6315" marT="6315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uk-UA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3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uk-UA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4,6</a:t>
                      </a:r>
                    </a:p>
                  </a:txBody>
                  <a:tcPr marL="6315" marR="6315" marT="6315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uk-UA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uk-UA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3,3</a:t>
                      </a:r>
                    </a:p>
                  </a:txBody>
                  <a:tcPr marL="6315" marR="6315" marT="6315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uk-UA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6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uk-UA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7,5</a:t>
                      </a:r>
                    </a:p>
                  </a:txBody>
                  <a:tcPr marL="6315" marR="6315" marT="6315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76521215"/>
                  </a:ext>
                </a:extLst>
              </a:tr>
              <a:tr h="630267"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0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6315" marR="6315" marT="63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kumimoji="0" lang="uk-UA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Відокремлений</a:t>
                      </a:r>
                      <a:r>
                        <a:rPr lang="uk-UA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підрозділ </a:t>
                      </a:r>
                      <a:r>
                        <a:rPr kumimoji="0" lang="ru-RU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«</a:t>
                      </a:r>
                      <a:r>
                        <a:rPr lang="uk-UA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Лікарня Святого Пантелеймона </a:t>
                      </a:r>
                      <a:r>
                        <a:rPr kumimoji="0" lang="ru-RU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«</a:t>
                      </a:r>
                      <a:r>
                        <a:rPr lang="uk-UA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КНП  "Львівське територіальне медичне об'єднання</a:t>
                      </a:r>
                      <a:r>
                        <a:rPr kumimoji="0" lang="ru-RU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»</a:t>
                      </a:r>
                      <a:r>
                        <a:rPr lang="uk-UA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Багатопрофільна клінічна лікарня інтенсивних методів лікування та швидкої медичної допомоги</a:t>
                      </a:r>
                      <a:r>
                        <a:rPr kumimoji="0" lang="ru-RU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»</a:t>
                      </a:r>
                      <a:endParaRPr lang="uk-UA" sz="1000" b="0" i="0" u="none" strike="noStrike" dirty="0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701" marR="6701" marT="670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1218 </a:t>
                      </a:r>
                    </a:p>
                  </a:txBody>
                  <a:tcPr marL="6315" marR="6315" marT="63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2044</a:t>
                      </a:r>
                    </a:p>
                  </a:txBody>
                  <a:tcPr marL="6315" marR="6315" marT="63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1824</a:t>
                      </a:r>
                    </a:p>
                  </a:txBody>
                  <a:tcPr marL="6315" marR="6315" marT="63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uk-UA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1469</a:t>
                      </a:r>
                    </a:p>
                  </a:txBody>
                  <a:tcPr marL="6315" marR="6315" marT="63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192</a:t>
                      </a:r>
                    </a:p>
                    <a:p>
                      <a:pPr algn="ctr" fontAlgn="ctr"/>
                      <a:r>
                        <a:rPr lang="uk-UA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15,7</a:t>
                      </a:r>
                    </a:p>
                  </a:txBody>
                  <a:tcPr marL="6315" marR="6315" marT="63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286</a:t>
                      </a:r>
                    </a:p>
                    <a:p>
                      <a:pPr algn="ctr" fontAlgn="ctr"/>
                      <a:r>
                        <a:rPr lang="uk-UA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14,0</a:t>
                      </a:r>
                    </a:p>
                  </a:txBody>
                  <a:tcPr marL="6315" marR="6315" marT="63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326</a:t>
                      </a:r>
                    </a:p>
                    <a:p>
                      <a:pPr algn="ctr" fontAlgn="ctr"/>
                      <a:r>
                        <a:rPr lang="uk-UA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17,9</a:t>
                      </a:r>
                    </a:p>
                  </a:txBody>
                  <a:tcPr marL="6315" marR="6315" marT="63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227</a:t>
                      </a:r>
                    </a:p>
                    <a:p>
                      <a:pPr algn="ctr" fontAlgn="ctr"/>
                      <a:r>
                        <a:rPr lang="uk-UA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15,5</a:t>
                      </a:r>
                    </a:p>
                  </a:txBody>
                  <a:tcPr marL="6315" marR="6315" marT="63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34</a:t>
                      </a:r>
                    </a:p>
                    <a:p>
                      <a:pPr algn="ctr" fontAlgn="ctr"/>
                      <a:r>
                        <a:rPr lang="uk-UA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17,7</a:t>
                      </a:r>
                    </a:p>
                  </a:txBody>
                  <a:tcPr marL="6315" marR="6315" marT="63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43</a:t>
                      </a:r>
                    </a:p>
                    <a:p>
                      <a:pPr algn="ctr" fontAlgn="ctr"/>
                      <a:r>
                        <a:rPr lang="uk-UA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15,0</a:t>
                      </a:r>
                    </a:p>
                  </a:txBody>
                  <a:tcPr marL="6315" marR="6315" marT="63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45</a:t>
                      </a:r>
                    </a:p>
                    <a:p>
                      <a:pPr algn="ctr" fontAlgn="ctr"/>
                      <a:r>
                        <a:rPr lang="uk-UA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13,8</a:t>
                      </a:r>
                    </a:p>
                  </a:txBody>
                  <a:tcPr marL="6315" marR="6315" marT="63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24</a:t>
                      </a:r>
                    </a:p>
                    <a:p>
                      <a:pPr algn="ctr" fontAlgn="ctr"/>
                      <a:r>
                        <a:rPr lang="uk-UA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10,6 </a:t>
                      </a:r>
                    </a:p>
                  </a:txBody>
                  <a:tcPr marL="6315" marR="6315" marT="63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46709805"/>
                  </a:ext>
                </a:extLst>
              </a:tr>
              <a:tr h="719643"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0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6315" marR="6315" marT="63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kumimoji="0" lang="uk-UA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Відокремлений</a:t>
                      </a:r>
                      <a:r>
                        <a:rPr lang="uk-UA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підрозділ </a:t>
                      </a:r>
                      <a:r>
                        <a:rPr kumimoji="0" lang="ru-RU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«</a:t>
                      </a:r>
                      <a:r>
                        <a:rPr lang="uk-UA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Лікарня Святого Луки </a:t>
                      </a:r>
                      <a:r>
                        <a:rPr kumimoji="0" lang="ru-RU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«</a:t>
                      </a:r>
                      <a:r>
                        <a:rPr lang="uk-UA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КНП  </a:t>
                      </a:r>
                      <a:r>
                        <a:rPr kumimoji="0" lang="ru-RU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«</a:t>
                      </a:r>
                      <a:r>
                        <a:rPr lang="uk-UA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Львівське територіальне медичне об'єднання</a:t>
                      </a:r>
                      <a:r>
                        <a:rPr kumimoji="0" lang="ru-RU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»</a:t>
                      </a:r>
                      <a:r>
                        <a:rPr lang="uk-UA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Багатопрофільна клінічна лікарня інтенсивних методів лікування та швидкої медичної допомоги</a:t>
                      </a:r>
                      <a:r>
                        <a:rPr kumimoji="0" lang="ru-RU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»</a:t>
                      </a:r>
                      <a:endParaRPr lang="uk-UA" sz="1000" b="0" i="0" u="none" strike="noStrike" dirty="0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701" marR="6701" marT="670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22</a:t>
                      </a:r>
                    </a:p>
                  </a:txBody>
                  <a:tcPr marL="6315" marR="6315" marT="63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38</a:t>
                      </a:r>
                    </a:p>
                  </a:txBody>
                  <a:tcPr marL="6315" marR="6315" marT="63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850</a:t>
                      </a:r>
                    </a:p>
                  </a:txBody>
                  <a:tcPr marL="6315" marR="6315" marT="63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1052</a:t>
                      </a:r>
                    </a:p>
                  </a:txBody>
                  <a:tcPr marL="6315" marR="6315" marT="63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5</a:t>
                      </a:r>
                    </a:p>
                    <a:p>
                      <a:pPr algn="ctr" fontAlgn="ctr"/>
                      <a:r>
                        <a:rPr lang="uk-UA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22,7 </a:t>
                      </a:r>
                    </a:p>
                  </a:txBody>
                  <a:tcPr marL="6315" marR="6315" marT="63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6</a:t>
                      </a:r>
                    </a:p>
                    <a:p>
                      <a:pPr algn="ctr" fontAlgn="ctr"/>
                      <a:r>
                        <a:rPr lang="uk-UA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15,8</a:t>
                      </a:r>
                    </a:p>
                  </a:txBody>
                  <a:tcPr marL="6315" marR="6315" marT="63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156</a:t>
                      </a:r>
                    </a:p>
                    <a:p>
                      <a:pPr algn="ctr" fontAlgn="ctr"/>
                      <a:r>
                        <a:rPr lang="uk-UA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18,4 </a:t>
                      </a:r>
                    </a:p>
                  </a:txBody>
                  <a:tcPr marL="6315" marR="6315" marT="63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160</a:t>
                      </a:r>
                    </a:p>
                    <a:p>
                      <a:pPr algn="ctr" fontAlgn="ctr"/>
                      <a:r>
                        <a:rPr lang="uk-UA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15,2 </a:t>
                      </a:r>
                    </a:p>
                  </a:txBody>
                  <a:tcPr marL="6315" marR="6315" marT="63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-/-</a:t>
                      </a:r>
                    </a:p>
                  </a:txBody>
                  <a:tcPr marL="6315" marR="6315" marT="63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-/--</a:t>
                      </a:r>
                    </a:p>
                  </a:txBody>
                  <a:tcPr marL="6315" marR="6315" marT="63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20</a:t>
                      </a:r>
                    </a:p>
                    <a:p>
                      <a:pPr algn="ctr" fontAlgn="ctr"/>
                      <a:r>
                        <a:rPr lang="uk-UA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12,8</a:t>
                      </a:r>
                    </a:p>
                  </a:txBody>
                  <a:tcPr marL="6315" marR="6315" marT="63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29</a:t>
                      </a:r>
                    </a:p>
                    <a:p>
                      <a:pPr algn="ctr" fontAlgn="ctr"/>
                      <a:r>
                        <a:rPr lang="uk-UA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18,1</a:t>
                      </a:r>
                    </a:p>
                  </a:txBody>
                  <a:tcPr marL="6315" marR="6315" marT="63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79020532"/>
                  </a:ext>
                </a:extLst>
              </a:tr>
              <a:tr h="424899"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0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marL="6315" marR="6315" marT="63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ru-RU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sz="1000" b="0" i="0" u="none" strike="noStrike" dirty="0" err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КНП</a:t>
                      </a:r>
                      <a:r>
                        <a:rPr lang="ru-RU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ЛОР «</a:t>
                      </a:r>
                      <a:r>
                        <a:rPr lang="ru-RU" sz="1000" b="0" i="0" u="none" strike="noStrike" dirty="0" err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Львівський</a:t>
                      </a:r>
                      <a:r>
                        <a:rPr lang="ru-RU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sz="1000" b="0" i="0" u="none" strike="noStrike" dirty="0" err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обласний</a:t>
                      </a:r>
                      <a:r>
                        <a:rPr lang="ru-RU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sz="1000" b="0" i="0" u="none" strike="noStrike" dirty="0" err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госпіталь</a:t>
                      </a:r>
                      <a:r>
                        <a:rPr lang="ru-RU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sz="1000" b="0" i="0" u="none" strike="noStrike" dirty="0" err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ветеранів</a:t>
                      </a:r>
                      <a:r>
                        <a:rPr lang="ru-RU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sz="1000" b="0" i="0" u="none" strike="noStrike" dirty="0" err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війн</a:t>
                      </a:r>
                      <a:r>
                        <a:rPr lang="ru-RU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та </a:t>
                      </a:r>
                      <a:r>
                        <a:rPr lang="ru-RU" sz="1000" b="0" i="0" u="none" strike="noStrike" dirty="0" err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репресованих</a:t>
                      </a:r>
                      <a:r>
                        <a:rPr lang="ru-RU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sz="1000" b="0" i="0" u="none" strike="noStrike" dirty="0" err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ім</a:t>
                      </a:r>
                      <a:r>
                        <a:rPr lang="ru-RU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 Ю. </a:t>
                      </a:r>
                      <a:r>
                        <a:rPr lang="ru-RU" sz="1000" b="0" i="0" u="none" strike="noStrike" dirty="0" err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Липи</a:t>
                      </a:r>
                      <a:r>
                        <a:rPr lang="ru-RU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»</a:t>
                      </a:r>
                    </a:p>
                  </a:txBody>
                  <a:tcPr marL="6973" marR="6973" marT="697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14</a:t>
                      </a:r>
                    </a:p>
                  </a:txBody>
                  <a:tcPr marL="6315" marR="6315" marT="63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28</a:t>
                      </a:r>
                    </a:p>
                  </a:txBody>
                  <a:tcPr marL="6315" marR="6315" marT="63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342 </a:t>
                      </a:r>
                    </a:p>
                  </a:txBody>
                  <a:tcPr marL="6315" marR="6315" marT="63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509</a:t>
                      </a:r>
                    </a:p>
                  </a:txBody>
                  <a:tcPr marL="6315" marR="6315" marT="63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-/-</a:t>
                      </a:r>
                    </a:p>
                  </a:txBody>
                  <a:tcPr marL="6315" marR="6315" marT="63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4</a:t>
                      </a:r>
                    </a:p>
                    <a:p>
                      <a:pPr algn="ctr" fontAlgn="ctr"/>
                      <a:r>
                        <a:rPr lang="uk-UA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14.3</a:t>
                      </a:r>
                    </a:p>
                  </a:txBody>
                  <a:tcPr marL="6315" marR="6315" marT="63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49</a:t>
                      </a:r>
                    </a:p>
                    <a:p>
                      <a:pPr algn="ctr" fontAlgn="ctr"/>
                      <a:r>
                        <a:rPr lang="uk-UA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14,3</a:t>
                      </a:r>
                    </a:p>
                  </a:txBody>
                  <a:tcPr marL="6315" marR="6315" marT="63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90</a:t>
                      </a:r>
                    </a:p>
                    <a:p>
                      <a:pPr algn="ctr" fontAlgn="ctr"/>
                      <a:r>
                        <a:rPr lang="uk-UA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17,7</a:t>
                      </a:r>
                    </a:p>
                  </a:txBody>
                  <a:tcPr marL="6315" marR="6315" marT="63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-/-</a:t>
                      </a:r>
                    </a:p>
                  </a:txBody>
                  <a:tcPr marL="6315" marR="6315" marT="63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-/-</a:t>
                      </a:r>
                    </a:p>
                  </a:txBody>
                  <a:tcPr marL="6315" marR="6315" marT="63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2</a:t>
                      </a:r>
                    </a:p>
                    <a:p>
                      <a:pPr algn="ctr" fontAlgn="ctr"/>
                      <a:r>
                        <a:rPr lang="uk-UA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4,1</a:t>
                      </a:r>
                    </a:p>
                  </a:txBody>
                  <a:tcPr marL="6315" marR="6315" marT="63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</a:p>
                    <a:p>
                      <a:pPr algn="ctr" fontAlgn="ctr"/>
                      <a:r>
                        <a:rPr lang="uk-UA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10,0</a:t>
                      </a:r>
                    </a:p>
                  </a:txBody>
                  <a:tcPr marL="6315" marR="6315" marT="63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71670513"/>
                  </a:ext>
                </a:extLst>
              </a:tr>
              <a:tr h="291797"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0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 marL="6315" marR="6315" marT="63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ru-RU" sz="1000" b="0" i="0" u="none" strike="noStrike" dirty="0" err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КНП</a:t>
                      </a:r>
                      <a:r>
                        <a:rPr lang="ru-RU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sz="1000" b="0" i="0" u="none" strike="noStrike" dirty="0" err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Буської</a:t>
                      </a:r>
                      <a:r>
                        <a:rPr lang="ru-RU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sz="1000" b="0" i="0" u="none" strike="noStrike" dirty="0" err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міської</a:t>
                      </a:r>
                      <a:r>
                        <a:rPr lang="ru-RU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ради «</a:t>
                      </a:r>
                      <a:r>
                        <a:rPr lang="ru-RU" sz="1000" b="0" i="0" u="none" strike="noStrike" dirty="0" err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Буська</a:t>
                      </a:r>
                      <a:r>
                        <a:rPr lang="ru-RU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центральна </a:t>
                      </a:r>
                      <a:r>
                        <a:rPr lang="ru-RU" sz="1000" b="0" i="0" u="none" strike="noStrike" dirty="0" err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районна</a:t>
                      </a:r>
                      <a:r>
                        <a:rPr lang="ru-RU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sz="1000" b="0" i="0" u="none" strike="noStrike" dirty="0" err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лiкарня</a:t>
                      </a:r>
                      <a:r>
                        <a:rPr lang="ru-RU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»</a:t>
                      </a:r>
                    </a:p>
                  </a:txBody>
                  <a:tcPr marL="6973" marR="6973" marT="697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27</a:t>
                      </a:r>
                    </a:p>
                  </a:txBody>
                  <a:tcPr marL="6315" marR="6315" marT="63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53</a:t>
                      </a:r>
                    </a:p>
                  </a:txBody>
                  <a:tcPr marL="6315" marR="6315" marT="63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90</a:t>
                      </a:r>
                    </a:p>
                  </a:txBody>
                  <a:tcPr marL="6315" marR="6315" marT="63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347</a:t>
                      </a:r>
                    </a:p>
                  </a:txBody>
                  <a:tcPr marL="6315" marR="6315" marT="63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4</a:t>
                      </a:r>
                    </a:p>
                    <a:p>
                      <a:pPr algn="ctr" fontAlgn="ctr"/>
                      <a:r>
                        <a:rPr lang="uk-UA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14,8</a:t>
                      </a:r>
                    </a:p>
                  </a:txBody>
                  <a:tcPr marL="6315" marR="6315" marT="63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10</a:t>
                      </a:r>
                    </a:p>
                    <a:p>
                      <a:pPr algn="ctr" fontAlgn="ctr"/>
                      <a:r>
                        <a:rPr lang="uk-UA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18,9</a:t>
                      </a:r>
                    </a:p>
                  </a:txBody>
                  <a:tcPr marL="6315" marR="6315" marT="63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8</a:t>
                      </a:r>
                    </a:p>
                    <a:p>
                      <a:pPr algn="ctr" fontAlgn="ctr"/>
                      <a:r>
                        <a:rPr lang="uk-UA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8,9</a:t>
                      </a:r>
                    </a:p>
                  </a:txBody>
                  <a:tcPr marL="6315" marR="6315" marT="63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41</a:t>
                      </a:r>
                    </a:p>
                    <a:p>
                      <a:pPr algn="ctr" fontAlgn="ctr"/>
                      <a:r>
                        <a:rPr lang="uk-UA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11,8</a:t>
                      </a:r>
                    </a:p>
                  </a:txBody>
                  <a:tcPr marL="6315" marR="6315" marT="63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uk-UA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-/-</a:t>
                      </a:r>
                      <a:endParaRPr kumimoji="0" lang="uk-UA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2060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315" marR="6315" marT="63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uk-UA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-/-</a:t>
                      </a:r>
                      <a:endParaRPr kumimoji="0" lang="uk-UA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2060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315" marR="6315" marT="63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uk-UA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-/-</a:t>
                      </a:r>
                    </a:p>
                  </a:txBody>
                  <a:tcPr marL="6315" marR="6315" marT="63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uk-UA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6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uk-UA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14,6</a:t>
                      </a:r>
                    </a:p>
                  </a:txBody>
                  <a:tcPr marL="6315" marR="6315" marT="63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71933546"/>
                  </a:ext>
                </a:extLst>
              </a:tr>
              <a:tr h="424899"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0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</a:p>
                  </a:txBody>
                  <a:tcPr marL="6315" marR="6315" marT="63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uk-UA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КНП «Дрогобицька міська лікарня № 1» Дрогобицької міської ради</a:t>
                      </a:r>
                    </a:p>
                  </a:txBody>
                  <a:tcPr marL="6973" marR="6973" marT="697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390</a:t>
                      </a:r>
                    </a:p>
                  </a:txBody>
                  <a:tcPr marL="6315" marR="6315" marT="63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619</a:t>
                      </a:r>
                    </a:p>
                  </a:txBody>
                  <a:tcPr marL="6315" marR="6315" marT="63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670</a:t>
                      </a:r>
                    </a:p>
                  </a:txBody>
                  <a:tcPr marL="6315" marR="6315" marT="63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762</a:t>
                      </a:r>
                    </a:p>
                  </a:txBody>
                  <a:tcPr marL="6315" marR="6315" marT="63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44</a:t>
                      </a:r>
                    </a:p>
                    <a:p>
                      <a:pPr algn="ctr" fontAlgn="ctr"/>
                      <a:r>
                        <a:rPr lang="uk-UA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11,3</a:t>
                      </a:r>
                    </a:p>
                  </a:txBody>
                  <a:tcPr marL="6315" marR="6315" marT="63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82</a:t>
                      </a:r>
                    </a:p>
                    <a:p>
                      <a:pPr algn="ctr" fontAlgn="ctr"/>
                      <a:r>
                        <a:rPr lang="uk-UA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13,2</a:t>
                      </a:r>
                    </a:p>
                  </a:txBody>
                  <a:tcPr marL="6315" marR="6315" marT="63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85</a:t>
                      </a:r>
                    </a:p>
                    <a:p>
                      <a:pPr algn="ctr" fontAlgn="ctr"/>
                      <a:r>
                        <a:rPr lang="uk-UA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12,7</a:t>
                      </a:r>
                    </a:p>
                  </a:txBody>
                  <a:tcPr marL="6315" marR="6315" marT="63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117</a:t>
                      </a:r>
                    </a:p>
                    <a:p>
                      <a:pPr algn="ctr" fontAlgn="ctr"/>
                      <a:r>
                        <a:rPr lang="uk-UA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15,4</a:t>
                      </a:r>
                    </a:p>
                  </a:txBody>
                  <a:tcPr marL="6315" marR="6315" marT="63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3</a:t>
                      </a:r>
                    </a:p>
                    <a:p>
                      <a:pPr algn="ctr" fontAlgn="ctr"/>
                      <a:r>
                        <a:rPr lang="uk-UA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6,8</a:t>
                      </a:r>
                    </a:p>
                  </a:txBody>
                  <a:tcPr marL="6315" marR="6315" marT="63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13</a:t>
                      </a:r>
                    </a:p>
                    <a:p>
                      <a:pPr algn="ctr" fontAlgn="ctr"/>
                      <a:r>
                        <a:rPr lang="uk-UA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15,9</a:t>
                      </a:r>
                    </a:p>
                  </a:txBody>
                  <a:tcPr marL="6315" marR="6315" marT="63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12</a:t>
                      </a:r>
                    </a:p>
                    <a:p>
                      <a:pPr algn="ctr" fontAlgn="ctr"/>
                      <a:r>
                        <a:rPr lang="uk-UA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14,1</a:t>
                      </a:r>
                    </a:p>
                  </a:txBody>
                  <a:tcPr marL="6315" marR="6315" marT="63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14</a:t>
                      </a:r>
                    </a:p>
                    <a:p>
                      <a:pPr algn="ctr" fontAlgn="ctr"/>
                      <a:r>
                        <a:rPr lang="uk-UA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12,0</a:t>
                      </a:r>
                    </a:p>
                  </a:txBody>
                  <a:tcPr marL="6315" marR="6315" marT="63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38072336"/>
                  </a:ext>
                </a:extLst>
              </a:tr>
              <a:tr h="291797"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0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</a:p>
                  </a:txBody>
                  <a:tcPr marL="6315" marR="6315" marT="63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uk-UA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КНП «</a:t>
                      </a:r>
                      <a:r>
                        <a:rPr lang="uk-UA" sz="1000" b="0" i="0" u="none" strike="noStrike" dirty="0" err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Новояворівська</a:t>
                      </a:r>
                      <a:r>
                        <a:rPr lang="uk-UA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лікарня імені Юрія Липи» </a:t>
                      </a:r>
                      <a:r>
                        <a:rPr lang="uk-UA" sz="1000" b="0" i="0" u="none" strike="noStrike" dirty="0" err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Новояворівської</a:t>
                      </a:r>
                      <a:r>
                        <a:rPr lang="uk-UA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міської ради</a:t>
                      </a:r>
                    </a:p>
                  </a:txBody>
                  <a:tcPr marL="6973" marR="6973" marT="697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196</a:t>
                      </a:r>
                    </a:p>
                  </a:txBody>
                  <a:tcPr marL="6315" marR="6315" marT="63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326</a:t>
                      </a:r>
                    </a:p>
                  </a:txBody>
                  <a:tcPr marL="6315" marR="6315" marT="63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421</a:t>
                      </a:r>
                    </a:p>
                  </a:txBody>
                  <a:tcPr marL="6315" marR="6315" marT="63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275</a:t>
                      </a:r>
                    </a:p>
                  </a:txBody>
                  <a:tcPr marL="6315" marR="6315" marT="63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18</a:t>
                      </a:r>
                    </a:p>
                    <a:p>
                      <a:pPr algn="ctr" fontAlgn="ctr"/>
                      <a:r>
                        <a:rPr lang="uk-UA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9,2</a:t>
                      </a:r>
                    </a:p>
                  </a:txBody>
                  <a:tcPr marL="6315" marR="6315" marT="63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45</a:t>
                      </a:r>
                    </a:p>
                    <a:p>
                      <a:pPr algn="ctr" fontAlgn="ctr"/>
                      <a:r>
                        <a:rPr lang="uk-UA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13,8</a:t>
                      </a:r>
                    </a:p>
                  </a:txBody>
                  <a:tcPr marL="6315" marR="6315" marT="63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40</a:t>
                      </a:r>
                    </a:p>
                    <a:p>
                      <a:pPr algn="ctr" fontAlgn="ctr"/>
                      <a:r>
                        <a:rPr lang="uk-UA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9,5</a:t>
                      </a:r>
                    </a:p>
                  </a:txBody>
                  <a:tcPr marL="6315" marR="6315" marT="63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34</a:t>
                      </a:r>
                    </a:p>
                    <a:p>
                      <a:pPr algn="ctr" fontAlgn="ctr"/>
                      <a:r>
                        <a:rPr lang="uk-UA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12,4</a:t>
                      </a:r>
                    </a:p>
                  </a:txBody>
                  <a:tcPr marL="6315" marR="6315" marT="63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2</a:t>
                      </a:r>
                    </a:p>
                    <a:p>
                      <a:pPr algn="ctr" fontAlgn="ctr"/>
                      <a:r>
                        <a:rPr lang="uk-UA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11,1</a:t>
                      </a:r>
                    </a:p>
                  </a:txBody>
                  <a:tcPr marL="6315" marR="6315" marT="63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39</a:t>
                      </a:r>
                    </a:p>
                    <a:p>
                      <a:pPr algn="ctr" fontAlgn="ctr"/>
                      <a:r>
                        <a:rPr lang="uk-UA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6,7</a:t>
                      </a:r>
                    </a:p>
                  </a:txBody>
                  <a:tcPr marL="6315" marR="6315" marT="63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4</a:t>
                      </a:r>
                    </a:p>
                    <a:p>
                      <a:pPr algn="ctr" fontAlgn="ctr"/>
                      <a:r>
                        <a:rPr lang="uk-UA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10,0</a:t>
                      </a:r>
                    </a:p>
                  </a:txBody>
                  <a:tcPr marL="6315" marR="6315" marT="63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  <a:p>
                      <a:pPr algn="ctr" fontAlgn="ctr"/>
                      <a:r>
                        <a:rPr lang="uk-UA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5,9</a:t>
                      </a:r>
                    </a:p>
                  </a:txBody>
                  <a:tcPr marL="6315" marR="6315" marT="63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48727973"/>
                  </a:ext>
                </a:extLst>
              </a:tr>
              <a:tr h="291797"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0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</a:p>
                  </a:txBody>
                  <a:tcPr marL="6315" marR="6315" marT="63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ru-RU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sz="1000" b="0" i="0" u="none" strike="noStrike" dirty="0" err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КНП</a:t>
                      </a:r>
                      <a:r>
                        <a:rPr lang="ru-RU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sz="1000" b="0" i="0" u="none" strike="noStrike" dirty="0" err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Самбірської</a:t>
                      </a:r>
                      <a:r>
                        <a:rPr lang="ru-RU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sz="1000" b="0" i="0" u="none" strike="noStrike" dirty="0" err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міської</a:t>
                      </a:r>
                      <a:r>
                        <a:rPr lang="ru-RU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ради «</a:t>
                      </a:r>
                      <a:r>
                        <a:rPr lang="ru-RU" sz="1000" b="0" i="0" u="none" strike="noStrike" dirty="0" err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Самбірська</a:t>
                      </a:r>
                      <a:r>
                        <a:rPr lang="ru-RU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центральна </a:t>
                      </a:r>
                      <a:r>
                        <a:rPr lang="ru-RU" sz="1000" b="0" i="0" u="none" strike="noStrike" dirty="0" err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лікарня</a:t>
                      </a:r>
                      <a:r>
                        <a:rPr lang="ru-RU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»</a:t>
                      </a:r>
                    </a:p>
                  </a:txBody>
                  <a:tcPr marL="6973" marR="6973" marT="697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179</a:t>
                      </a:r>
                    </a:p>
                  </a:txBody>
                  <a:tcPr marL="6315" marR="6315" marT="63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365</a:t>
                      </a:r>
                    </a:p>
                  </a:txBody>
                  <a:tcPr marL="6315" marR="6315" marT="63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326 </a:t>
                      </a:r>
                    </a:p>
                  </a:txBody>
                  <a:tcPr marL="6315" marR="6315" marT="63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361</a:t>
                      </a:r>
                    </a:p>
                  </a:txBody>
                  <a:tcPr marL="6315" marR="6315" marT="63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5</a:t>
                      </a:r>
                    </a:p>
                    <a:p>
                      <a:pPr algn="ctr" fontAlgn="ctr"/>
                      <a:r>
                        <a:rPr lang="uk-UA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2,8</a:t>
                      </a:r>
                    </a:p>
                  </a:txBody>
                  <a:tcPr marL="6315" marR="6315" marT="63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11</a:t>
                      </a:r>
                    </a:p>
                    <a:p>
                      <a:pPr algn="ctr" fontAlgn="ctr"/>
                      <a:r>
                        <a:rPr lang="uk-UA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3,0</a:t>
                      </a:r>
                    </a:p>
                  </a:txBody>
                  <a:tcPr marL="6315" marR="6315" marT="63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18</a:t>
                      </a:r>
                    </a:p>
                    <a:p>
                      <a:pPr algn="ctr" fontAlgn="ctr"/>
                      <a:r>
                        <a:rPr lang="uk-UA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5,5</a:t>
                      </a:r>
                    </a:p>
                  </a:txBody>
                  <a:tcPr marL="6315" marR="6315" marT="63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32</a:t>
                      </a:r>
                    </a:p>
                    <a:p>
                      <a:pPr algn="ctr" fontAlgn="ctr"/>
                      <a:r>
                        <a:rPr lang="uk-UA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8,9</a:t>
                      </a:r>
                    </a:p>
                  </a:txBody>
                  <a:tcPr marL="6315" marR="6315" marT="63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-/-</a:t>
                      </a:r>
                    </a:p>
                  </a:txBody>
                  <a:tcPr marL="6315" marR="6315" marT="63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-/-</a:t>
                      </a:r>
                    </a:p>
                  </a:txBody>
                  <a:tcPr marL="6315" marR="6315" marT="63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algn="ctr" fontAlgn="ctr"/>
                      <a:r>
                        <a:rPr lang="uk-UA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5,6</a:t>
                      </a:r>
                    </a:p>
                  </a:txBody>
                  <a:tcPr marL="6315" marR="6315" marT="63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1</a:t>
                      </a:r>
                    </a:p>
                    <a:p>
                      <a:pPr algn="ctr" fontAlgn="ctr"/>
                      <a:r>
                        <a:rPr lang="uk-UA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3,1</a:t>
                      </a:r>
                    </a:p>
                  </a:txBody>
                  <a:tcPr marL="6315" marR="6315" marT="63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82273924"/>
                  </a:ext>
                </a:extLst>
              </a:tr>
              <a:tr h="566532"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0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</a:p>
                  </a:txBody>
                  <a:tcPr marL="6315" marR="6315" marT="63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uk-UA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КНП Стрийської міської ради ТМО «Стрийська міська об'єднана лікарня», ВП «Лікарня інтенсивного лікування»</a:t>
                      </a:r>
                      <a:endParaRPr kumimoji="0" lang="ru-RU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2060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973" marR="6973" marT="697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248</a:t>
                      </a:r>
                    </a:p>
                  </a:txBody>
                  <a:tcPr marL="6315" marR="6315" marT="63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559</a:t>
                      </a:r>
                    </a:p>
                  </a:txBody>
                  <a:tcPr marL="6315" marR="6315" marT="63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551</a:t>
                      </a:r>
                    </a:p>
                  </a:txBody>
                  <a:tcPr marL="6315" marR="6315" marT="63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561</a:t>
                      </a:r>
                    </a:p>
                  </a:txBody>
                  <a:tcPr marL="6315" marR="6315" marT="63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49</a:t>
                      </a:r>
                    </a:p>
                    <a:p>
                      <a:pPr algn="ctr" fontAlgn="ctr"/>
                      <a:r>
                        <a:rPr lang="uk-UA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19,8</a:t>
                      </a:r>
                    </a:p>
                  </a:txBody>
                  <a:tcPr marL="6315" marR="6315" marT="63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112</a:t>
                      </a:r>
                    </a:p>
                    <a:p>
                      <a:pPr algn="ctr" fontAlgn="ctr"/>
                      <a:r>
                        <a:rPr lang="uk-UA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20,0</a:t>
                      </a:r>
                    </a:p>
                  </a:txBody>
                  <a:tcPr marL="6315" marR="6315" marT="63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117</a:t>
                      </a:r>
                    </a:p>
                    <a:p>
                      <a:pPr algn="ctr" fontAlgn="ctr"/>
                      <a:r>
                        <a:rPr lang="uk-UA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21,2</a:t>
                      </a:r>
                    </a:p>
                  </a:txBody>
                  <a:tcPr marL="6315" marR="6315" marT="63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94</a:t>
                      </a:r>
                    </a:p>
                    <a:p>
                      <a:pPr algn="ctr" fontAlgn="ctr"/>
                      <a:r>
                        <a:rPr lang="uk-UA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16,8</a:t>
                      </a:r>
                    </a:p>
                  </a:txBody>
                  <a:tcPr marL="6315" marR="6315" marT="63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  <a:p>
                      <a:pPr algn="ctr" fontAlgn="ctr"/>
                      <a:r>
                        <a:rPr lang="uk-UA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4,1</a:t>
                      </a:r>
                    </a:p>
                  </a:txBody>
                  <a:tcPr marL="6315" marR="6315" marT="63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13</a:t>
                      </a:r>
                    </a:p>
                    <a:p>
                      <a:pPr algn="ctr" fontAlgn="ctr"/>
                      <a:r>
                        <a:rPr lang="uk-UA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11,6</a:t>
                      </a:r>
                    </a:p>
                  </a:txBody>
                  <a:tcPr marL="6315" marR="6315" marT="63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</a:t>
                      </a:r>
                    </a:p>
                    <a:p>
                      <a:pPr algn="ctr" fontAlgn="ctr"/>
                      <a:r>
                        <a:rPr lang="uk-UA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10,3</a:t>
                      </a:r>
                    </a:p>
                  </a:txBody>
                  <a:tcPr marL="6315" marR="6315" marT="63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</a:p>
                    <a:p>
                      <a:pPr algn="ctr" fontAlgn="ctr"/>
                      <a:r>
                        <a:rPr lang="uk-UA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8,5</a:t>
                      </a:r>
                    </a:p>
                  </a:txBody>
                  <a:tcPr marL="6315" marR="6315" marT="63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13000457"/>
                  </a:ext>
                </a:extLst>
              </a:tr>
              <a:tr h="291797"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</a:p>
                  </a:txBody>
                  <a:tcPr marL="6315" marR="6315" marT="63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ru-RU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КП «Центральна </a:t>
                      </a:r>
                      <a:r>
                        <a:rPr lang="ru-RU" sz="1000" b="0" i="0" u="none" strike="noStrike" dirty="0" err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міська</a:t>
                      </a:r>
                      <a:r>
                        <a:rPr lang="ru-RU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sz="1000" b="0" i="0" u="none" strike="noStrike" dirty="0" err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лікарня</a:t>
                      </a:r>
                      <a:r>
                        <a:rPr lang="ru-RU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sz="1000" b="0" i="0" u="none" strike="noStrike" dirty="0" err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Червоноградської</a:t>
                      </a:r>
                      <a:r>
                        <a:rPr lang="ru-RU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sz="1000" b="0" i="0" u="none" strike="noStrike" dirty="0" err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міської</a:t>
                      </a:r>
                      <a:r>
                        <a:rPr lang="ru-RU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ради»</a:t>
                      </a:r>
                    </a:p>
                  </a:txBody>
                  <a:tcPr marL="6973" marR="6973" marT="697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305</a:t>
                      </a:r>
                    </a:p>
                  </a:txBody>
                  <a:tcPr marL="6315" marR="6315" marT="63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405</a:t>
                      </a:r>
                    </a:p>
                  </a:txBody>
                  <a:tcPr marL="6315" marR="6315" marT="63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359</a:t>
                      </a:r>
                    </a:p>
                  </a:txBody>
                  <a:tcPr marL="6315" marR="6315" marT="63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435</a:t>
                      </a:r>
                    </a:p>
                  </a:txBody>
                  <a:tcPr marL="6315" marR="6315" marT="63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31</a:t>
                      </a:r>
                    </a:p>
                    <a:p>
                      <a:pPr algn="ctr" fontAlgn="ctr"/>
                      <a:r>
                        <a:rPr lang="uk-UA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10,2</a:t>
                      </a:r>
                    </a:p>
                  </a:txBody>
                  <a:tcPr marL="6315" marR="6315" marT="63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46</a:t>
                      </a:r>
                    </a:p>
                    <a:p>
                      <a:pPr algn="ctr" fontAlgn="ctr"/>
                      <a:r>
                        <a:rPr lang="uk-UA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11,4</a:t>
                      </a:r>
                    </a:p>
                  </a:txBody>
                  <a:tcPr marL="6315" marR="6315" marT="63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48</a:t>
                      </a:r>
                    </a:p>
                    <a:p>
                      <a:pPr algn="ctr" fontAlgn="ctr"/>
                      <a:r>
                        <a:rPr lang="uk-UA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13,4</a:t>
                      </a:r>
                    </a:p>
                  </a:txBody>
                  <a:tcPr marL="6315" marR="6315" marT="63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63</a:t>
                      </a:r>
                    </a:p>
                    <a:p>
                      <a:pPr algn="ctr" fontAlgn="ctr"/>
                      <a:r>
                        <a:rPr lang="uk-UA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14,5</a:t>
                      </a:r>
                    </a:p>
                  </a:txBody>
                  <a:tcPr marL="6315" marR="6315" marT="63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  <a:p>
                      <a:pPr algn="ctr" fontAlgn="ctr"/>
                      <a:r>
                        <a:rPr lang="uk-UA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9,7</a:t>
                      </a:r>
                    </a:p>
                  </a:txBody>
                  <a:tcPr marL="6315" marR="6315" marT="63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</a:p>
                    <a:p>
                      <a:pPr algn="ctr" fontAlgn="ctr"/>
                      <a:r>
                        <a:rPr lang="uk-UA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10,9</a:t>
                      </a:r>
                    </a:p>
                  </a:txBody>
                  <a:tcPr marL="6315" marR="6315" marT="63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</a:p>
                    <a:p>
                      <a:pPr algn="ctr" fontAlgn="ctr"/>
                      <a:r>
                        <a:rPr lang="uk-UA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12,5</a:t>
                      </a:r>
                    </a:p>
                  </a:txBody>
                  <a:tcPr marL="6315" marR="6315" marT="63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</a:p>
                    <a:p>
                      <a:pPr algn="ctr" fontAlgn="ctr"/>
                      <a:r>
                        <a:rPr lang="uk-UA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12,7</a:t>
                      </a:r>
                    </a:p>
                  </a:txBody>
                  <a:tcPr marL="6315" marR="6315" marT="63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6404958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8614885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460522-E79F-B582-4062-C4D8975F2D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114" y="293915"/>
            <a:ext cx="11821884" cy="1396774"/>
          </a:xfrm>
        </p:spPr>
        <p:txBody>
          <a:bodyPr>
            <a:normAutofit fontScale="90000"/>
          </a:bodyPr>
          <a:lstStyle/>
          <a:p>
            <a:pPr algn="ctr"/>
            <a:r>
              <a:rPr lang="ru-RU" sz="33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Загальна кількість пролікованих хворих з </a:t>
            </a:r>
            <a:r>
              <a:rPr lang="ru-RU" sz="33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ішемічним</a:t>
            </a:r>
            <a:r>
              <a:rPr lang="ru-RU" sz="33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3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інсультом</a:t>
            </a:r>
            <a:r>
              <a:rPr lang="ru-RU" sz="33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у Львівській області у </a:t>
            </a:r>
            <a:r>
              <a:rPr lang="ru-RU" sz="33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період</a:t>
            </a:r>
            <a:r>
              <a:rPr lang="ru-RU" sz="33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з 2021</a:t>
            </a:r>
            <a:r>
              <a:rPr lang="en-US" sz="33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uk-UA" sz="33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по</a:t>
            </a:r>
            <a:r>
              <a:rPr lang="ru-RU" sz="33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3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2023 </a:t>
            </a:r>
            <a:r>
              <a:rPr lang="uk-UA" sz="33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рр.</a:t>
            </a:r>
            <a:r>
              <a:rPr lang="ru-RU" sz="33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uk-UA" sz="4400" dirty="0"/>
              <a:t/>
            </a:r>
            <a:br>
              <a:rPr lang="uk-UA" sz="4400" dirty="0"/>
            </a:br>
            <a:endParaRPr lang="en-US" dirty="0"/>
          </a:p>
        </p:txBody>
      </p:sp>
      <p:graphicFrame>
        <p:nvGraphicFramePr>
          <p:cNvPr id="12" name="Місце для вмісту 11">
            <a:extLst>
              <a:ext uri="{FF2B5EF4-FFF2-40B4-BE49-F238E27FC236}">
                <a16:creationId xmlns:a16="http://schemas.microsoft.com/office/drawing/2014/main" id="{0C72048C-C526-42FA-9FA6-31D1EA1726D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66297560"/>
              </p:ext>
            </p:extLst>
          </p:nvPr>
        </p:nvGraphicFramePr>
        <p:xfrm>
          <a:off x="637674" y="1316516"/>
          <a:ext cx="12191998" cy="554148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90698004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" name="Google Shape;849;p82"/>
          <p:cNvSpPr txBox="1"/>
          <p:nvPr/>
        </p:nvSpPr>
        <p:spPr>
          <a:xfrm>
            <a:off x="4706483" y="3135891"/>
            <a:ext cx="2264800" cy="1354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67" tIns="121867" rIns="121867" bIns="121867" anchor="t" anchorCtr="0">
            <a:spAutoFit/>
          </a:bodyPr>
          <a:lstStyle/>
          <a:p>
            <a:pPr>
              <a:buClr>
                <a:srgbClr val="FFFFFF"/>
              </a:buClr>
              <a:buSzPts val="5400"/>
            </a:pPr>
            <a:r>
              <a:rPr lang="en" sz="7200" b="1">
                <a:solidFill>
                  <a:srgbClr val="FFFFFF"/>
                </a:solidFill>
                <a:latin typeface="Arial Narrow"/>
                <a:ea typeface="Arial Narrow"/>
                <a:cs typeface="Arial Narrow"/>
                <a:sym typeface="Arial Narrow"/>
              </a:rPr>
              <a:t>ЦБД</a:t>
            </a:r>
            <a:endParaRPr sz="1867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8" name="Таблиця 7">
            <a:extLst>
              <a:ext uri="{FF2B5EF4-FFF2-40B4-BE49-F238E27FC236}">
                <a16:creationId xmlns:a16="http://schemas.microsoft.com/office/drawing/2014/main" id="{FA30CF20-BE77-4C8E-B66F-DCB3EBF54B1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27409498"/>
              </p:ext>
            </p:extLst>
          </p:nvPr>
        </p:nvGraphicFramePr>
        <p:xfrm>
          <a:off x="225629" y="961796"/>
          <a:ext cx="11549428" cy="5778348"/>
        </p:xfrm>
        <a:graphic>
          <a:graphicData uri="http://schemas.openxmlformats.org/drawingml/2006/table">
            <a:tbl>
              <a:tblPr/>
              <a:tblGrid>
                <a:gridCol w="352706">
                  <a:extLst>
                    <a:ext uri="{9D8B030D-6E8A-4147-A177-3AD203B41FA5}">
                      <a16:colId xmlns:a16="http://schemas.microsoft.com/office/drawing/2014/main" val="3582385581"/>
                    </a:ext>
                  </a:extLst>
                </a:gridCol>
                <a:gridCol w="3612194">
                  <a:extLst>
                    <a:ext uri="{9D8B030D-6E8A-4147-A177-3AD203B41FA5}">
                      <a16:colId xmlns:a16="http://schemas.microsoft.com/office/drawing/2014/main" val="4279497052"/>
                    </a:ext>
                  </a:extLst>
                </a:gridCol>
                <a:gridCol w="670655">
                  <a:extLst>
                    <a:ext uri="{9D8B030D-6E8A-4147-A177-3AD203B41FA5}">
                      <a16:colId xmlns:a16="http://schemas.microsoft.com/office/drawing/2014/main" val="3766661459"/>
                    </a:ext>
                  </a:extLst>
                </a:gridCol>
                <a:gridCol w="634728">
                  <a:extLst>
                    <a:ext uri="{9D8B030D-6E8A-4147-A177-3AD203B41FA5}">
                      <a16:colId xmlns:a16="http://schemas.microsoft.com/office/drawing/2014/main" val="3663862443"/>
                    </a:ext>
                  </a:extLst>
                </a:gridCol>
                <a:gridCol w="634728">
                  <a:extLst>
                    <a:ext uri="{9D8B030D-6E8A-4147-A177-3AD203B41FA5}">
                      <a16:colId xmlns:a16="http://schemas.microsoft.com/office/drawing/2014/main" val="4076504949"/>
                    </a:ext>
                  </a:extLst>
                </a:gridCol>
                <a:gridCol w="670655">
                  <a:extLst>
                    <a:ext uri="{9D8B030D-6E8A-4147-A177-3AD203B41FA5}">
                      <a16:colId xmlns:a16="http://schemas.microsoft.com/office/drawing/2014/main" val="96449778"/>
                    </a:ext>
                  </a:extLst>
                </a:gridCol>
                <a:gridCol w="575457">
                  <a:extLst>
                    <a:ext uri="{9D8B030D-6E8A-4147-A177-3AD203B41FA5}">
                      <a16:colId xmlns:a16="http://schemas.microsoft.com/office/drawing/2014/main" val="770489332"/>
                    </a:ext>
                  </a:extLst>
                </a:gridCol>
                <a:gridCol w="634728">
                  <a:extLst>
                    <a:ext uri="{9D8B030D-6E8A-4147-A177-3AD203B41FA5}">
                      <a16:colId xmlns:a16="http://schemas.microsoft.com/office/drawing/2014/main" val="770754753"/>
                    </a:ext>
                  </a:extLst>
                </a:gridCol>
                <a:gridCol w="634728">
                  <a:extLst>
                    <a:ext uri="{9D8B030D-6E8A-4147-A177-3AD203B41FA5}">
                      <a16:colId xmlns:a16="http://schemas.microsoft.com/office/drawing/2014/main" val="2317469279"/>
                    </a:ext>
                  </a:extLst>
                </a:gridCol>
                <a:gridCol w="718004">
                  <a:extLst>
                    <a:ext uri="{9D8B030D-6E8A-4147-A177-3AD203B41FA5}">
                      <a16:colId xmlns:a16="http://schemas.microsoft.com/office/drawing/2014/main" val="385462907"/>
                    </a:ext>
                  </a:extLst>
                </a:gridCol>
                <a:gridCol w="621776">
                  <a:extLst>
                    <a:ext uri="{9D8B030D-6E8A-4147-A177-3AD203B41FA5}">
                      <a16:colId xmlns:a16="http://schemas.microsoft.com/office/drawing/2014/main" val="3168374601"/>
                    </a:ext>
                  </a:extLst>
                </a:gridCol>
                <a:gridCol w="510008">
                  <a:extLst>
                    <a:ext uri="{9D8B030D-6E8A-4147-A177-3AD203B41FA5}">
                      <a16:colId xmlns:a16="http://schemas.microsoft.com/office/drawing/2014/main" val="2195140635"/>
                    </a:ext>
                  </a:extLst>
                </a:gridCol>
                <a:gridCol w="634728">
                  <a:extLst>
                    <a:ext uri="{9D8B030D-6E8A-4147-A177-3AD203B41FA5}">
                      <a16:colId xmlns:a16="http://schemas.microsoft.com/office/drawing/2014/main" val="1713767210"/>
                    </a:ext>
                  </a:extLst>
                </a:gridCol>
                <a:gridCol w="644333">
                  <a:extLst>
                    <a:ext uri="{9D8B030D-6E8A-4147-A177-3AD203B41FA5}">
                      <a16:colId xmlns:a16="http://schemas.microsoft.com/office/drawing/2014/main" val="4057677221"/>
                    </a:ext>
                  </a:extLst>
                </a:gridCol>
              </a:tblGrid>
              <a:tr h="385958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uk-UA" sz="1100" b="1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№ з/п</a:t>
                      </a:r>
                    </a:p>
                  </a:txBody>
                  <a:tcPr marL="6315" marR="6315" marT="63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uk-UA" sz="1100" b="1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Назва </a:t>
                      </a:r>
                      <a:r>
                        <a:rPr lang="uk-UA" sz="1100" b="1" i="0" u="none" strike="noStrike" dirty="0" err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ЗОЗ</a:t>
                      </a:r>
                      <a:r>
                        <a:rPr lang="uk-UA" sz="1100" b="1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</a:p>
                  </a:txBody>
                  <a:tcPr marL="6315" marR="6315" marT="63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err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Загальна</a:t>
                      </a:r>
                      <a:r>
                        <a:rPr lang="ru-RU" sz="1100" b="1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sz="1100" b="1" i="0" u="none" strike="noStrike" dirty="0" err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кількість</a:t>
                      </a:r>
                      <a:endParaRPr lang="ru-RU" sz="1100" b="1" i="0" u="none" strike="noStrike" dirty="0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 fontAlgn="ctr"/>
                      <a:r>
                        <a:rPr lang="ru-RU" sz="1100" b="1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sz="1100" b="1" i="0" u="none" strike="noStrike" dirty="0" err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госпіталізованих</a:t>
                      </a:r>
                      <a:r>
                        <a:rPr lang="ru-RU" sz="1100" b="1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sz="1100" b="1" i="0" u="none" strike="noStrike" dirty="0" err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хворих</a:t>
                      </a:r>
                      <a:r>
                        <a:rPr lang="ru-RU" sz="1100" b="1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(</a:t>
                      </a:r>
                      <a:r>
                        <a:rPr lang="ru-RU" sz="1100" b="1" i="0" u="none" strike="noStrike" dirty="0" err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абс.ч</a:t>
                      </a:r>
                      <a:r>
                        <a:rPr lang="ru-RU" sz="1100" b="1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.)</a:t>
                      </a:r>
                    </a:p>
                  </a:txBody>
                  <a:tcPr marL="6315" marR="6315" marT="63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uk-U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uk-U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uk-UA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uk-UA" sz="1100" b="1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Загальна л</a:t>
                      </a:r>
                      <a:r>
                        <a:rPr lang="ru-RU" sz="1100" b="1" i="0" u="none" strike="noStrike" dirty="0" err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етальність</a:t>
                      </a:r>
                      <a:r>
                        <a:rPr lang="ru-RU" sz="1100" b="1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  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100" b="1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( </a:t>
                      </a:r>
                      <a:r>
                        <a:rPr lang="ru-RU" sz="1100" b="1" i="0" u="none" strike="noStrike" dirty="0" err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абс.ч</a:t>
                      </a:r>
                      <a:r>
                        <a:rPr lang="ru-RU" sz="1100" b="1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. /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100" b="1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 % </a:t>
                      </a:r>
                      <a:r>
                        <a:rPr lang="ru-RU" sz="1100" b="1" i="0" u="none" strike="noStrike" dirty="0" err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від</a:t>
                      </a:r>
                      <a:r>
                        <a:rPr lang="ru-RU" sz="1100" b="1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lang="ru-RU" sz="1100" b="1" i="0" u="none" strike="noStrike" dirty="0" err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загальної</a:t>
                      </a:r>
                      <a:r>
                        <a:rPr lang="ru-RU" sz="1100" b="1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 к-</a:t>
                      </a:r>
                      <a:r>
                        <a:rPr lang="ru-RU" sz="1100" b="1" i="0" u="none" strike="noStrike" dirty="0" err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ті</a:t>
                      </a:r>
                      <a:r>
                        <a:rPr lang="ru-RU" sz="1100" b="1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lang="ru-RU" sz="1100" b="1" i="0" u="none" strike="noStrike" dirty="0" err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госпіт</a:t>
                      </a:r>
                      <a:r>
                        <a:rPr lang="ru-RU" sz="1100" b="1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. </a:t>
                      </a:r>
                      <a:r>
                        <a:rPr lang="ru-RU" sz="1100" b="1" i="0" u="none" strike="noStrike" dirty="0" err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хворих</a:t>
                      </a:r>
                      <a:r>
                        <a:rPr lang="ru-RU" sz="1100" b="1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uk-U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uk-U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uk-UA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uk-UA" sz="1100" b="1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Л</a:t>
                      </a:r>
                      <a:r>
                        <a:rPr lang="ru-RU" sz="1100" b="1" i="0" u="none" strike="noStrike" dirty="0" err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етальність</a:t>
                      </a:r>
                      <a:r>
                        <a:rPr lang="ru-RU" sz="1100" b="1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  до 24-х годин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100" b="1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( </a:t>
                      </a:r>
                      <a:r>
                        <a:rPr lang="ru-RU" sz="1100" b="1" i="0" u="none" strike="noStrike" dirty="0" err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абс.ч</a:t>
                      </a:r>
                      <a:r>
                        <a:rPr lang="ru-RU" sz="1100" b="1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. / 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100" b="1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% </a:t>
                      </a:r>
                      <a:r>
                        <a:rPr lang="ru-RU" sz="1100" b="1" i="0" u="none" strike="noStrike" dirty="0" err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від</a:t>
                      </a:r>
                      <a:r>
                        <a:rPr lang="ru-RU" sz="1100" b="1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lang="ru-RU" sz="1100" b="1" i="0" u="none" strike="noStrike" dirty="0" err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загальної</a:t>
                      </a:r>
                      <a:r>
                        <a:rPr lang="ru-RU" sz="1100" b="1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 к-</a:t>
                      </a:r>
                      <a:r>
                        <a:rPr lang="ru-RU" sz="1100" b="1" i="0" u="none" strike="noStrike" dirty="0" err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ті</a:t>
                      </a:r>
                      <a:r>
                        <a:rPr lang="ru-RU" sz="1100" b="1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lang="ru-RU" sz="1100" b="1" i="0" u="none" strike="noStrike" dirty="0" err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летальності</a:t>
                      </a:r>
                      <a:r>
                        <a:rPr lang="ru-RU" sz="1100" b="1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uk-U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uk-U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uk-UA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62404767"/>
                  </a:ext>
                </a:extLst>
              </a:tr>
              <a:tr h="297429">
                <a:tc vMerge="1">
                  <a:txBody>
                    <a:bodyPr/>
                    <a:lstStyle/>
                    <a:p>
                      <a:endParaRPr lang="uk-UA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uk-UA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100" b="1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2020р.</a:t>
                      </a:r>
                    </a:p>
                  </a:txBody>
                  <a:tcPr marL="6315" marR="6315" marT="63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100" b="1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2021р.</a:t>
                      </a:r>
                    </a:p>
                  </a:txBody>
                  <a:tcPr marL="6315" marR="6315" marT="63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100" b="1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2022р.</a:t>
                      </a:r>
                    </a:p>
                  </a:txBody>
                  <a:tcPr marL="6315" marR="6315" marT="63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100" b="1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2023р.</a:t>
                      </a:r>
                    </a:p>
                  </a:txBody>
                  <a:tcPr marL="6315" marR="6315" marT="63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100" b="1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2020р.</a:t>
                      </a:r>
                    </a:p>
                  </a:txBody>
                  <a:tcPr marL="6315" marR="6315" marT="63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100" b="1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2021р.</a:t>
                      </a:r>
                    </a:p>
                  </a:txBody>
                  <a:tcPr marL="6315" marR="6315" marT="63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100" b="1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2022р.</a:t>
                      </a:r>
                    </a:p>
                  </a:txBody>
                  <a:tcPr marL="6315" marR="6315" marT="63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100" b="1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2023р.</a:t>
                      </a:r>
                    </a:p>
                  </a:txBody>
                  <a:tcPr marL="6315" marR="6315" marT="63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100" b="1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2020р.</a:t>
                      </a:r>
                    </a:p>
                  </a:txBody>
                  <a:tcPr marL="6315" marR="6315" marT="63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100" b="1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2021р.</a:t>
                      </a:r>
                    </a:p>
                  </a:txBody>
                  <a:tcPr marL="6315" marR="6315" marT="63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100" b="1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2022р.</a:t>
                      </a:r>
                    </a:p>
                  </a:txBody>
                  <a:tcPr marL="6315" marR="6315" marT="63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100" b="1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2023р.</a:t>
                      </a:r>
                    </a:p>
                  </a:txBody>
                  <a:tcPr marL="6315" marR="6315" marT="63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95041511"/>
                  </a:ext>
                </a:extLst>
              </a:tr>
              <a:tr h="283266">
                <a:tc>
                  <a:txBody>
                    <a:bodyPr/>
                    <a:lstStyle/>
                    <a:p>
                      <a:pPr algn="ctr" fontAlgn="ctr"/>
                      <a:endParaRPr lang="uk-UA" sz="1100" b="0" i="0" u="none" strike="noStrike" dirty="0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15" marR="6315" marT="63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ru-RU" sz="1100" b="1" i="0" u="none" strike="noStrike" dirty="0" err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Всього</a:t>
                      </a:r>
                      <a:endParaRPr lang="ru-RU" sz="1100" b="1" i="0" u="none" strike="noStrike" dirty="0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973" marR="6973" marT="697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Calibri" panose="020F0502020204030204" pitchFamily="34" charset="0"/>
                        </a:rPr>
                        <a:t>514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Calibri" panose="020F0502020204030204" pitchFamily="34" charset="0"/>
                        </a:rPr>
                        <a:t>900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Calibri" panose="020F0502020204030204" pitchFamily="34" charset="0"/>
                        </a:rPr>
                        <a:t>1025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Calibri" panose="020F0502020204030204" pitchFamily="34" charset="0"/>
                        </a:rPr>
                        <a:t>1112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207</a:t>
                      </a:r>
                    </a:p>
                    <a:p>
                      <a:pPr algn="ctr" fontAlgn="ctr"/>
                      <a:r>
                        <a:rPr lang="uk-UA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40,3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335</a:t>
                      </a:r>
                    </a:p>
                    <a:p>
                      <a:pPr algn="ctr" fontAlgn="ctr"/>
                      <a:r>
                        <a:rPr lang="uk-UA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37,1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395</a:t>
                      </a:r>
                    </a:p>
                    <a:p>
                      <a:pPr algn="ctr" fontAlgn="ctr"/>
                      <a:r>
                        <a:rPr lang="uk-UA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38,5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457</a:t>
                      </a:r>
                    </a:p>
                    <a:p>
                      <a:pPr algn="ctr" fontAlgn="ctr"/>
                      <a:r>
                        <a:rPr lang="uk-UA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41,1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46</a:t>
                      </a:r>
                    </a:p>
                    <a:p>
                      <a:pPr algn="ctr" fontAlgn="ctr"/>
                      <a:r>
                        <a:rPr lang="uk-UA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22,2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76</a:t>
                      </a:r>
                    </a:p>
                    <a:p>
                      <a:pPr algn="ctr" fontAlgn="ctr"/>
                      <a:r>
                        <a:rPr lang="uk-UA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22,8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84</a:t>
                      </a:r>
                    </a:p>
                    <a:p>
                      <a:pPr algn="ctr" fontAlgn="ctr"/>
                      <a:r>
                        <a:rPr lang="uk-UA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21,3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91</a:t>
                      </a:r>
                    </a:p>
                    <a:p>
                      <a:pPr algn="ctr" fontAlgn="ctr"/>
                      <a:r>
                        <a:rPr lang="uk-UA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19,9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17769379"/>
                  </a:ext>
                </a:extLst>
              </a:tr>
              <a:tr h="283266"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6315" marR="6315" marT="63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ru-RU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sz="1100" b="0" i="0" u="none" strike="noStrike" dirty="0" err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КНП</a:t>
                      </a:r>
                      <a:r>
                        <a:rPr lang="ru-RU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ЛОР «</a:t>
                      </a:r>
                      <a:r>
                        <a:rPr lang="ru-RU" sz="1100" b="0" i="0" u="none" strike="noStrike" dirty="0" err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Львівська</a:t>
                      </a:r>
                      <a:r>
                        <a:rPr lang="ru-RU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sz="1100" b="0" i="0" u="none" strike="noStrike" dirty="0" err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обласна</a:t>
                      </a:r>
                      <a:r>
                        <a:rPr lang="ru-RU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sz="1100" b="0" i="0" u="none" strike="noStrike" dirty="0" err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клінічна</a:t>
                      </a:r>
                      <a:r>
                        <a:rPr lang="ru-RU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sz="1100" b="0" i="0" u="none" strike="noStrike" dirty="0" err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лікарня</a:t>
                      </a:r>
                      <a:r>
                        <a:rPr lang="ru-RU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»</a:t>
                      </a:r>
                    </a:p>
                  </a:txBody>
                  <a:tcPr marL="6973" marR="6973" marT="697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uk-UA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 51</a:t>
                      </a:r>
                    </a:p>
                  </a:txBody>
                  <a:tcPr marL="6315" marR="6315" marT="6315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uk-UA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110</a:t>
                      </a:r>
                    </a:p>
                  </a:txBody>
                  <a:tcPr marL="6315" marR="6315" marT="6315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uk-UA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51</a:t>
                      </a:r>
                    </a:p>
                  </a:txBody>
                  <a:tcPr marL="6315" marR="6315" marT="6315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uk-UA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79</a:t>
                      </a:r>
                    </a:p>
                  </a:txBody>
                  <a:tcPr marL="6315" marR="6315" marT="6315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uk-UA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13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uk-UA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25,5 </a:t>
                      </a:r>
                    </a:p>
                  </a:txBody>
                  <a:tcPr marL="6315" marR="6315" marT="6315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uk-UA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34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uk-UA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30,9 </a:t>
                      </a:r>
                    </a:p>
                  </a:txBody>
                  <a:tcPr marL="6315" marR="6315" marT="6315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uk-UA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21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uk-UA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41,2 </a:t>
                      </a:r>
                    </a:p>
                  </a:txBody>
                  <a:tcPr marL="6315" marR="6315" marT="6315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uk-UA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23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uk-UA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29,1</a:t>
                      </a:r>
                    </a:p>
                  </a:txBody>
                  <a:tcPr marL="6315" marR="6315" marT="6315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uk-UA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-/-</a:t>
                      </a:r>
                    </a:p>
                  </a:txBody>
                  <a:tcPr marL="6315" marR="6315" marT="6315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uk-UA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uk-UA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5,9</a:t>
                      </a:r>
                    </a:p>
                  </a:txBody>
                  <a:tcPr marL="6315" marR="6315" marT="6315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uk-UA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 1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uk-UA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4,8</a:t>
                      </a:r>
                      <a:endParaRPr kumimoji="0" lang="uk-UA" sz="1100" b="0" i="0" u="none" strike="noStrike" cap="none" normalizeH="0" baseline="0" dirty="0">
                        <a:ln>
                          <a:noFill/>
                        </a:ln>
                        <a:solidFill>
                          <a:srgbClr val="002060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315" marR="6315" marT="6315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uk-UA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5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uk-UA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21,7</a:t>
                      </a:r>
                    </a:p>
                  </a:txBody>
                  <a:tcPr marL="6315" marR="6315" marT="6315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6521215"/>
                  </a:ext>
                </a:extLst>
              </a:tr>
              <a:tr h="630267"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1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6315" marR="6315" marT="63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kumimoji="0" lang="uk-UA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Відокремлений</a:t>
                      </a:r>
                      <a:r>
                        <a:rPr lang="uk-UA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підрозділ </a:t>
                      </a:r>
                      <a:r>
                        <a:rPr kumimoji="0" lang="ru-RU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«</a:t>
                      </a:r>
                      <a:r>
                        <a:rPr lang="uk-UA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Лікарня Святого Пантелеймона </a:t>
                      </a:r>
                      <a:r>
                        <a:rPr kumimoji="0" lang="ru-RU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«</a:t>
                      </a:r>
                      <a:r>
                        <a:rPr lang="uk-UA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КНП  "Львівське територіальне медичне об'єднання</a:t>
                      </a:r>
                      <a:r>
                        <a:rPr kumimoji="0" lang="ru-RU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»</a:t>
                      </a:r>
                      <a:r>
                        <a:rPr lang="uk-UA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Багатопрофільна клінічна лікарня інтенсивних методів лікування та швидкої медичної допомоги</a:t>
                      </a:r>
                      <a:r>
                        <a:rPr kumimoji="0" lang="ru-RU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»</a:t>
                      </a:r>
                      <a:endParaRPr lang="uk-UA" sz="1100" b="0" i="0" u="none" strike="noStrike" dirty="0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701" marR="6701" marT="670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257</a:t>
                      </a:r>
                    </a:p>
                  </a:txBody>
                  <a:tcPr marL="6315" marR="6315" marT="63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406</a:t>
                      </a:r>
                    </a:p>
                  </a:txBody>
                  <a:tcPr marL="6315" marR="6315" marT="63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389</a:t>
                      </a:r>
                    </a:p>
                  </a:txBody>
                  <a:tcPr marL="6315" marR="6315" marT="63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348</a:t>
                      </a:r>
                    </a:p>
                  </a:txBody>
                  <a:tcPr marL="6315" marR="6315" marT="63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110</a:t>
                      </a:r>
                    </a:p>
                    <a:p>
                      <a:pPr algn="ctr" fontAlgn="ctr"/>
                      <a:r>
                        <a:rPr lang="uk-UA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42,8</a:t>
                      </a:r>
                    </a:p>
                  </a:txBody>
                  <a:tcPr marL="6315" marR="6315" marT="63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145</a:t>
                      </a:r>
                    </a:p>
                    <a:p>
                      <a:pPr algn="ctr" fontAlgn="ctr"/>
                      <a:r>
                        <a:rPr lang="uk-UA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35,7</a:t>
                      </a:r>
                    </a:p>
                  </a:txBody>
                  <a:tcPr marL="6315" marR="6315" marT="63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151</a:t>
                      </a:r>
                    </a:p>
                    <a:p>
                      <a:pPr algn="ctr" fontAlgn="ctr"/>
                      <a:r>
                        <a:rPr lang="uk-UA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38,8</a:t>
                      </a:r>
                    </a:p>
                  </a:txBody>
                  <a:tcPr marL="6315" marR="6315" marT="63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154</a:t>
                      </a:r>
                    </a:p>
                    <a:p>
                      <a:pPr algn="ctr" fontAlgn="ctr"/>
                      <a:r>
                        <a:rPr lang="uk-UA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44,3</a:t>
                      </a:r>
                    </a:p>
                  </a:txBody>
                  <a:tcPr marL="6315" marR="6315" marT="63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31</a:t>
                      </a:r>
                    </a:p>
                    <a:p>
                      <a:pPr algn="ctr" fontAlgn="ctr"/>
                      <a:r>
                        <a:rPr lang="uk-UA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28,2</a:t>
                      </a:r>
                    </a:p>
                  </a:txBody>
                  <a:tcPr marL="6315" marR="6315" marT="63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37</a:t>
                      </a:r>
                    </a:p>
                    <a:p>
                      <a:pPr algn="ctr" fontAlgn="ctr"/>
                      <a:r>
                        <a:rPr lang="uk-UA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25,5</a:t>
                      </a:r>
                    </a:p>
                  </a:txBody>
                  <a:tcPr marL="6315" marR="6315" marT="63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38</a:t>
                      </a:r>
                    </a:p>
                    <a:p>
                      <a:pPr algn="ctr" fontAlgn="ctr"/>
                      <a:r>
                        <a:rPr lang="uk-UA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25,2</a:t>
                      </a:r>
                    </a:p>
                  </a:txBody>
                  <a:tcPr marL="6315" marR="6315" marT="63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18</a:t>
                      </a:r>
                    </a:p>
                    <a:p>
                      <a:pPr algn="ctr" fontAlgn="ctr"/>
                      <a:r>
                        <a:rPr lang="uk-UA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11,7</a:t>
                      </a:r>
                    </a:p>
                  </a:txBody>
                  <a:tcPr marL="6315" marR="6315" marT="63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6709805"/>
                  </a:ext>
                </a:extLst>
              </a:tr>
              <a:tr h="719643"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1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6315" marR="6315" marT="63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kumimoji="0" lang="uk-UA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Відокремлений</a:t>
                      </a:r>
                      <a:r>
                        <a:rPr lang="uk-UA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підрозділ </a:t>
                      </a:r>
                      <a:r>
                        <a:rPr kumimoji="0" lang="ru-RU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«</a:t>
                      </a:r>
                      <a:r>
                        <a:rPr lang="uk-UA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Лікарня Святого Луки </a:t>
                      </a:r>
                      <a:r>
                        <a:rPr kumimoji="0" lang="ru-RU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«</a:t>
                      </a:r>
                      <a:r>
                        <a:rPr lang="uk-UA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КНП  </a:t>
                      </a:r>
                      <a:r>
                        <a:rPr kumimoji="0" lang="ru-RU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«</a:t>
                      </a:r>
                      <a:r>
                        <a:rPr lang="uk-UA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Львівське територіальне медичне об'єднання</a:t>
                      </a:r>
                      <a:r>
                        <a:rPr kumimoji="0" lang="ru-RU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»</a:t>
                      </a:r>
                      <a:r>
                        <a:rPr lang="uk-UA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Багатопрофільна клінічна лікарня інтенсивних методів лікування та швидкої медичної допомоги</a:t>
                      </a:r>
                      <a:r>
                        <a:rPr kumimoji="0" lang="ru-RU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»</a:t>
                      </a:r>
                      <a:endParaRPr lang="uk-UA" sz="1100" b="0" i="0" u="none" strike="noStrike" dirty="0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701" marR="6701" marT="670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1</a:t>
                      </a:r>
                    </a:p>
                  </a:txBody>
                  <a:tcPr marL="6315" marR="6315" marT="63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7</a:t>
                      </a:r>
                    </a:p>
                  </a:txBody>
                  <a:tcPr marL="6315" marR="6315" marT="63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130</a:t>
                      </a:r>
                    </a:p>
                  </a:txBody>
                  <a:tcPr marL="6315" marR="6315" marT="63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178</a:t>
                      </a:r>
                    </a:p>
                  </a:txBody>
                  <a:tcPr marL="6315" marR="6315" marT="63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-/-</a:t>
                      </a:r>
                    </a:p>
                  </a:txBody>
                  <a:tcPr marL="6315" marR="6315" marT="63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2</a:t>
                      </a:r>
                    </a:p>
                    <a:p>
                      <a:pPr algn="ctr" fontAlgn="ctr"/>
                      <a:r>
                        <a:rPr lang="uk-UA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28,6</a:t>
                      </a:r>
                    </a:p>
                  </a:txBody>
                  <a:tcPr marL="6315" marR="6315" marT="63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49</a:t>
                      </a:r>
                    </a:p>
                    <a:p>
                      <a:pPr algn="ctr" fontAlgn="ctr"/>
                      <a:r>
                        <a:rPr lang="uk-UA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37,7</a:t>
                      </a:r>
                    </a:p>
                  </a:txBody>
                  <a:tcPr marL="6315" marR="6315" marT="63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83</a:t>
                      </a:r>
                    </a:p>
                    <a:p>
                      <a:pPr algn="ctr" fontAlgn="ctr"/>
                      <a:r>
                        <a:rPr lang="uk-UA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46,6</a:t>
                      </a:r>
                    </a:p>
                  </a:txBody>
                  <a:tcPr marL="6315" marR="6315" marT="63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-/-</a:t>
                      </a:r>
                    </a:p>
                  </a:txBody>
                  <a:tcPr marL="6315" marR="6315" marT="63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algn="ctr" fontAlgn="ctr"/>
                      <a:r>
                        <a:rPr lang="uk-UA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50,0</a:t>
                      </a:r>
                    </a:p>
                  </a:txBody>
                  <a:tcPr marL="6315" marR="6315" marT="63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</a:p>
                    <a:p>
                      <a:pPr algn="ctr" fontAlgn="ctr"/>
                      <a:r>
                        <a:rPr lang="uk-UA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14,3</a:t>
                      </a:r>
                    </a:p>
                  </a:txBody>
                  <a:tcPr marL="6315" marR="6315" marT="63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26</a:t>
                      </a:r>
                    </a:p>
                    <a:p>
                      <a:pPr algn="ctr" fontAlgn="ctr"/>
                      <a:r>
                        <a:rPr lang="uk-UA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31,3</a:t>
                      </a:r>
                    </a:p>
                  </a:txBody>
                  <a:tcPr marL="6315" marR="6315" marT="63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79020532"/>
                  </a:ext>
                </a:extLst>
              </a:tr>
              <a:tr h="517407"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1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marL="6315" marR="6315" marT="63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ru-RU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sz="1100" b="0" i="0" u="none" strike="noStrike" dirty="0" err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КНП</a:t>
                      </a:r>
                      <a:r>
                        <a:rPr lang="ru-RU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ЛОР «</a:t>
                      </a:r>
                      <a:r>
                        <a:rPr lang="ru-RU" sz="1100" b="0" i="0" u="none" strike="noStrike" dirty="0" err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Львівський</a:t>
                      </a:r>
                      <a:r>
                        <a:rPr lang="ru-RU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sz="1100" b="0" i="0" u="none" strike="noStrike" dirty="0" err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обласний</a:t>
                      </a:r>
                      <a:r>
                        <a:rPr lang="ru-RU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sz="1100" b="0" i="0" u="none" strike="noStrike" dirty="0" err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госпіталь</a:t>
                      </a:r>
                      <a:r>
                        <a:rPr lang="ru-RU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sz="1100" b="0" i="0" u="none" strike="noStrike" dirty="0" err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ветеранів</a:t>
                      </a:r>
                      <a:r>
                        <a:rPr lang="ru-RU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sz="1100" b="0" i="0" u="none" strike="noStrike" dirty="0" err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війн</a:t>
                      </a:r>
                      <a:r>
                        <a:rPr lang="ru-RU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та </a:t>
                      </a:r>
                      <a:r>
                        <a:rPr lang="ru-RU" sz="1100" b="0" i="0" u="none" strike="noStrike" dirty="0" err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репресованих</a:t>
                      </a:r>
                      <a:r>
                        <a:rPr lang="ru-RU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sz="1100" b="0" i="0" u="none" strike="noStrike" dirty="0" err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ім</a:t>
                      </a:r>
                      <a:r>
                        <a:rPr lang="ru-RU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 Ю. </a:t>
                      </a:r>
                      <a:r>
                        <a:rPr lang="ru-RU" sz="1100" b="0" i="0" u="none" strike="noStrike" dirty="0" err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Липи</a:t>
                      </a:r>
                      <a:r>
                        <a:rPr lang="ru-RU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»</a:t>
                      </a:r>
                    </a:p>
                  </a:txBody>
                  <a:tcPr marL="6973" marR="6973" marT="697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-</a:t>
                      </a:r>
                    </a:p>
                  </a:txBody>
                  <a:tcPr marL="6315" marR="6315" marT="63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6</a:t>
                      </a:r>
                    </a:p>
                  </a:txBody>
                  <a:tcPr marL="6315" marR="6315" marT="63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41</a:t>
                      </a:r>
                    </a:p>
                  </a:txBody>
                  <a:tcPr marL="6315" marR="6315" marT="63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51</a:t>
                      </a:r>
                    </a:p>
                  </a:txBody>
                  <a:tcPr marL="6315" marR="6315" marT="63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-/-</a:t>
                      </a:r>
                    </a:p>
                  </a:txBody>
                  <a:tcPr marL="6315" marR="6315" marT="63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5</a:t>
                      </a:r>
                    </a:p>
                    <a:p>
                      <a:pPr algn="ctr" fontAlgn="ctr"/>
                      <a:r>
                        <a:rPr lang="uk-UA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83,3</a:t>
                      </a:r>
                    </a:p>
                  </a:txBody>
                  <a:tcPr marL="6315" marR="6315" marT="63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7</a:t>
                      </a:r>
                    </a:p>
                    <a:p>
                      <a:pPr algn="ctr" fontAlgn="ctr"/>
                      <a:r>
                        <a:rPr lang="uk-UA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17,1</a:t>
                      </a:r>
                    </a:p>
                  </a:txBody>
                  <a:tcPr marL="6315" marR="6315" marT="63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23</a:t>
                      </a:r>
                    </a:p>
                    <a:p>
                      <a:pPr algn="ctr" fontAlgn="ctr"/>
                      <a:r>
                        <a:rPr lang="uk-UA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45,1</a:t>
                      </a:r>
                    </a:p>
                  </a:txBody>
                  <a:tcPr marL="6315" marR="6315" marT="63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-/-</a:t>
                      </a:r>
                    </a:p>
                  </a:txBody>
                  <a:tcPr marL="6315" marR="6315" marT="63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-/-</a:t>
                      </a:r>
                    </a:p>
                  </a:txBody>
                  <a:tcPr marL="6315" marR="6315" marT="63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3</a:t>
                      </a:r>
                    </a:p>
                    <a:p>
                      <a:pPr algn="ctr" fontAlgn="ctr"/>
                      <a:r>
                        <a:rPr lang="uk-UA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42,9</a:t>
                      </a:r>
                    </a:p>
                  </a:txBody>
                  <a:tcPr marL="6315" marR="6315" marT="63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  <a:p>
                      <a:pPr algn="ctr" fontAlgn="ctr"/>
                      <a:r>
                        <a:rPr lang="uk-UA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13,0</a:t>
                      </a:r>
                    </a:p>
                  </a:txBody>
                  <a:tcPr marL="6315" marR="6315" marT="63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71670513"/>
                  </a:ext>
                </a:extLst>
              </a:tr>
              <a:tr h="157331"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1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 marL="6315" marR="6315" marT="63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ru-RU" sz="1100" b="0" i="0" u="none" strike="noStrike" dirty="0" err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КНП</a:t>
                      </a:r>
                      <a:r>
                        <a:rPr lang="ru-RU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sz="1100" b="0" i="0" u="none" strike="noStrike" dirty="0" err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Буської</a:t>
                      </a:r>
                      <a:r>
                        <a:rPr lang="ru-RU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sz="1100" b="0" i="0" u="none" strike="noStrike" dirty="0" err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міської</a:t>
                      </a:r>
                      <a:r>
                        <a:rPr lang="ru-RU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ради «</a:t>
                      </a:r>
                      <a:r>
                        <a:rPr lang="ru-RU" sz="1100" b="0" i="0" u="none" strike="noStrike" dirty="0" err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Буська</a:t>
                      </a:r>
                      <a:r>
                        <a:rPr lang="ru-RU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центральна </a:t>
                      </a:r>
                      <a:r>
                        <a:rPr lang="ru-RU" sz="1100" b="0" i="0" u="none" strike="noStrike" dirty="0" err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районна</a:t>
                      </a:r>
                      <a:r>
                        <a:rPr lang="ru-RU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sz="1100" b="0" i="0" u="none" strike="noStrike" dirty="0" err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лiкарня</a:t>
                      </a:r>
                      <a:r>
                        <a:rPr lang="ru-RU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»</a:t>
                      </a:r>
                    </a:p>
                  </a:txBody>
                  <a:tcPr marL="6973" marR="6973" marT="697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4</a:t>
                      </a:r>
                    </a:p>
                  </a:txBody>
                  <a:tcPr marL="6315" marR="6315" marT="63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</a:p>
                  </a:txBody>
                  <a:tcPr marL="6315" marR="6315" marT="63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</a:p>
                  </a:txBody>
                  <a:tcPr marL="6315" marR="6315" marT="63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49</a:t>
                      </a:r>
                    </a:p>
                  </a:txBody>
                  <a:tcPr marL="6315" marR="6315" marT="63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algn="ctr" fontAlgn="ctr"/>
                      <a:r>
                        <a:rPr lang="uk-UA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25,0</a:t>
                      </a:r>
                    </a:p>
                  </a:txBody>
                  <a:tcPr marL="6315" marR="6315" marT="63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-/-</a:t>
                      </a:r>
                    </a:p>
                  </a:txBody>
                  <a:tcPr marL="6315" marR="6315" marT="63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2</a:t>
                      </a:r>
                    </a:p>
                    <a:p>
                      <a:pPr algn="ctr" fontAlgn="ctr"/>
                      <a:r>
                        <a:rPr lang="uk-UA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20,0</a:t>
                      </a:r>
                    </a:p>
                  </a:txBody>
                  <a:tcPr marL="6315" marR="6315" marT="63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</a:p>
                    <a:p>
                      <a:pPr algn="ctr" fontAlgn="ctr"/>
                      <a:r>
                        <a:rPr lang="uk-UA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20,4</a:t>
                      </a:r>
                    </a:p>
                  </a:txBody>
                  <a:tcPr marL="6315" marR="6315" marT="63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uk-UA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-/-</a:t>
                      </a:r>
                      <a:endParaRPr kumimoji="0" lang="uk-UA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2060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315" marR="6315" marT="63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uk-UA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-/-</a:t>
                      </a:r>
                    </a:p>
                  </a:txBody>
                  <a:tcPr marL="6315" marR="6315" marT="63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uk-UA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-/-</a:t>
                      </a:r>
                      <a:endParaRPr kumimoji="0" lang="uk-UA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2060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315" marR="6315" marT="63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uk-UA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uk-UA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20,0</a:t>
                      </a:r>
                    </a:p>
                  </a:txBody>
                  <a:tcPr marL="6315" marR="6315" marT="63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71933546"/>
                  </a:ext>
                </a:extLst>
              </a:tr>
              <a:tr h="424899"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1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</a:p>
                  </a:txBody>
                  <a:tcPr marL="6315" marR="6315" marT="63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uk-UA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КНП «Дрогобицька міська лікарня № 1» Дрогобицької міської ради</a:t>
                      </a:r>
                    </a:p>
                  </a:txBody>
                  <a:tcPr marL="6973" marR="6973" marT="697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66</a:t>
                      </a:r>
                    </a:p>
                  </a:txBody>
                  <a:tcPr marL="6315" marR="6315" marT="63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52</a:t>
                      </a:r>
                    </a:p>
                  </a:txBody>
                  <a:tcPr marL="6315" marR="6315" marT="63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98</a:t>
                      </a:r>
                    </a:p>
                  </a:txBody>
                  <a:tcPr marL="6315" marR="6315" marT="63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117</a:t>
                      </a:r>
                    </a:p>
                  </a:txBody>
                  <a:tcPr marL="6315" marR="6315" marT="63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24</a:t>
                      </a:r>
                    </a:p>
                    <a:p>
                      <a:pPr algn="ctr" fontAlgn="ctr"/>
                      <a:r>
                        <a:rPr lang="uk-UA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36,4</a:t>
                      </a:r>
                    </a:p>
                  </a:txBody>
                  <a:tcPr marL="6315" marR="6315" marT="63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33</a:t>
                      </a:r>
                    </a:p>
                    <a:p>
                      <a:pPr algn="ctr" fontAlgn="ctr"/>
                      <a:r>
                        <a:rPr lang="uk-UA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63,5</a:t>
                      </a:r>
                    </a:p>
                  </a:txBody>
                  <a:tcPr marL="6315" marR="6315" marT="63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41</a:t>
                      </a:r>
                    </a:p>
                    <a:p>
                      <a:pPr algn="ctr" fontAlgn="ctr"/>
                      <a:r>
                        <a:rPr lang="uk-UA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41,8</a:t>
                      </a:r>
                    </a:p>
                  </a:txBody>
                  <a:tcPr marL="6315" marR="6315" marT="63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41</a:t>
                      </a:r>
                    </a:p>
                    <a:p>
                      <a:pPr algn="ctr" fontAlgn="ctr"/>
                      <a:r>
                        <a:rPr lang="uk-UA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35,0</a:t>
                      </a:r>
                    </a:p>
                  </a:txBody>
                  <a:tcPr marL="6315" marR="6315" marT="63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5</a:t>
                      </a:r>
                    </a:p>
                    <a:p>
                      <a:pPr algn="ctr" fontAlgn="ctr"/>
                      <a:r>
                        <a:rPr lang="uk-UA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20,1</a:t>
                      </a:r>
                    </a:p>
                  </a:txBody>
                  <a:tcPr marL="6315" marR="6315" marT="63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11</a:t>
                      </a:r>
                    </a:p>
                    <a:p>
                      <a:pPr algn="ctr" fontAlgn="ctr"/>
                      <a:r>
                        <a:rPr lang="uk-UA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33,3</a:t>
                      </a:r>
                    </a:p>
                  </a:txBody>
                  <a:tcPr marL="6315" marR="6315" marT="63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12</a:t>
                      </a:r>
                    </a:p>
                    <a:p>
                      <a:pPr algn="ctr" fontAlgn="ctr"/>
                      <a:r>
                        <a:rPr lang="uk-UA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29,3</a:t>
                      </a:r>
                    </a:p>
                  </a:txBody>
                  <a:tcPr marL="6315" marR="6315" marT="63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14</a:t>
                      </a:r>
                    </a:p>
                    <a:p>
                      <a:pPr algn="ctr" fontAlgn="ctr"/>
                      <a:r>
                        <a:rPr lang="uk-UA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34,1</a:t>
                      </a:r>
                    </a:p>
                  </a:txBody>
                  <a:tcPr marL="6315" marR="6315" marT="63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38072336"/>
                  </a:ext>
                </a:extLst>
              </a:tr>
              <a:tr h="291797"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1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</a:p>
                  </a:txBody>
                  <a:tcPr marL="6315" marR="6315" marT="63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uk-UA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КНП «</a:t>
                      </a:r>
                      <a:r>
                        <a:rPr lang="uk-UA" sz="1100" b="0" i="0" u="none" strike="noStrike" dirty="0" err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Новояворівська</a:t>
                      </a:r>
                      <a:r>
                        <a:rPr lang="uk-UA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лікарня імені Юрія Липи» </a:t>
                      </a:r>
                      <a:r>
                        <a:rPr lang="uk-UA" sz="1100" b="0" i="0" u="none" strike="noStrike" dirty="0" err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Новояворівської</a:t>
                      </a:r>
                      <a:r>
                        <a:rPr lang="uk-UA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міської ради</a:t>
                      </a:r>
                    </a:p>
                  </a:txBody>
                  <a:tcPr marL="6973" marR="6973" marT="697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33</a:t>
                      </a:r>
                    </a:p>
                  </a:txBody>
                  <a:tcPr marL="6315" marR="6315" marT="63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65</a:t>
                      </a:r>
                    </a:p>
                  </a:txBody>
                  <a:tcPr marL="6315" marR="6315" marT="63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53</a:t>
                      </a:r>
                    </a:p>
                  </a:txBody>
                  <a:tcPr marL="6315" marR="6315" marT="63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54</a:t>
                      </a:r>
                    </a:p>
                  </a:txBody>
                  <a:tcPr marL="6315" marR="6315" marT="63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14</a:t>
                      </a:r>
                    </a:p>
                    <a:p>
                      <a:pPr algn="ctr" fontAlgn="ctr"/>
                      <a:r>
                        <a:rPr lang="uk-UA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42,4</a:t>
                      </a:r>
                    </a:p>
                  </a:txBody>
                  <a:tcPr marL="6315" marR="6315" marT="63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22</a:t>
                      </a:r>
                    </a:p>
                    <a:p>
                      <a:pPr algn="ctr" fontAlgn="ctr"/>
                      <a:r>
                        <a:rPr lang="uk-UA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33,8</a:t>
                      </a:r>
                    </a:p>
                  </a:txBody>
                  <a:tcPr marL="6315" marR="6315" marT="63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21</a:t>
                      </a:r>
                    </a:p>
                    <a:p>
                      <a:pPr algn="ctr" fontAlgn="ctr"/>
                      <a:r>
                        <a:rPr lang="uk-UA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39,6</a:t>
                      </a:r>
                    </a:p>
                  </a:txBody>
                  <a:tcPr marL="6315" marR="6315" marT="63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25</a:t>
                      </a:r>
                    </a:p>
                    <a:p>
                      <a:pPr algn="ctr" fontAlgn="ctr"/>
                      <a:r>
                        <a:rPr lang="uk-UA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46,3</a:t>
                      </a:r>
                    </a:p>
                  </a:txBody>
                  <a:tcPr marL="6315" marR="6315" marT="63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2</a:t>
                      </a:r>
                    </a:p>
                    <a:p>
                      <a:pPr algn="ctr" fontAlgn="ctr"/>
                      <a:r>
                        <a:rPr lang="uk-UA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14,3</a:t>
                      </a:r>
                    </a:p>
                  </a:txBody>
                  <a:tcPr marL="6315" marR="6315" marT="63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8</a:t>
                      </a:r>
                    </a:p>
                    <a:p>
                      <a:pPr algn="ctr" fontAlgn="ctr"/>
                      <a:r>
                        <a:rPr lang="uk-UA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36,4</a:t>
                      </a:r>
                    </a:p>
                  </a:txBody>
                  <a:tcPr marL="6315" marR="6315" marT="63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6</a:t>
                      </a:r>
                    </a:p>
                    <a:p>
                      <a:pPr algn="ctr" fontAlgn="ctr"/>
                      <a:r>
                        <a:rPr lang="uk-UA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28,6</a:t>
                      </a:r>
                    </a:p>
                  </a:txBody>
                  <a:tcPr marL="6315" marR="6315" marT="63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</a:p>
                    <a:p>
                      <a:pPr algn="ctr" fontAlgn="ctr"/>
                      <a:r>
                        <a:rPr lang="uk-UA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24,0</a:t>
                      </a:r>
                    </a:p>
                  </a:txBody>
                  <a:tcPr marL="6315" marR="6315" marT="63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48727973"/>
                  </a:ext>
                </a:extLst>
              </a:tr>
              <a:tr h="291797"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1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</a:p>
                  </a:txBody>
                  <a:tcPr marL="6315" marR="6315" marT="63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ru-RU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sz="1100" b="0" i="0" u="none" strike="noStrike" dirty="0" err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КНП</a:t>
                      </a:r>
                      <a:r>
                        <a:rPr lang="ru-RU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sz="1100" b="0" i="0" u="none" strike="noStrike" dirty="0" err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Самбірської</a:t>
                      </a:r>
                      <a:r>
                        <a:rPr lang="ru-RU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sz="1100" b="0" i="0" u="none" strike="noStrike" dirty="0" err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міської</a:t>
                      </a:r>
                      <a:r>
                        <a:rPr lang="ru-RU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ради «</a:t>
                      </a:r>
                      <a:r>
                        <a:rPr lang="ru-RU" sz="1100" b="0" i="0" u="none" strike="noStrike" dirty="0" err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Самбірська</a:t>
                      </a:r>
                      <a:r>
                        <a:rPr lang="ru-RU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центральна </a:t>
                      </a:r>
                      <a:r>
                        <a:rPr lang="ru-RU" sz="1100" b="0" i="0" u="none" strike="noStrike" dirty="0" err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лікарня</a:t>
                      </a:r>
                      <a:r>
                        <a:rPr lang="ru-RU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»</a:t>
                      </a:r>
                    </a:p>
                  </a:txBody>
                  <a:tcPr marL="6973" marR="6973" marT="697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13</a:t>
                      </a:r>
                    </a:p>
                  </a:txBody>
                  <a:tcPr marL="6315" marR="6315" marT="63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57</a:t>
                      </a:r>
                    </a:p>
                  </a:txBody>
                  <a:tcPr marL="6315" marR="6315" marT="63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68</a:t>
                      </a:r>
                    </a:p>
                  </a:txBody>
                  <a:tcPr marL="6315" marR="6315" marT="63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32</a:t>
                      </a:r>
                    </a:p>
                  </a:txBody>
                  <a:tcPr marL="6315" marR="6315" marT="63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1 </a:t>
                      </a:r>
                    </a:p>
                    <a:p>
                      <a:pPr algn="ctr" fontAlgn="ctr"/>
                      <a:r>
                        <a:rPr lang="uk-UA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7,7</a:t>
                      </a:r>
                    </a:p>
                  </a:txBody>
                  <a:tcPr marL="6315" marR="6315" marT="63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</a:p>
                    <a:p>
                      <a:pPr algn="ctr" fontAlgn="ctr"/>
                      <a:r>
                        <a:rPr lang="uk-UA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17,5</a:t>
                      </a:r>
                    </a:p>
                  </a:txBody>
                  <a:tcPr marL="6315" marR="6315" marT="63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27 </a:t>
                      </a:r>
                    </a:p>
                    <a:p>
                      <a:pPr algn="ctr" fontAlgn="ctr"/>
                      <a:r>
                        <a:rPr lang="uk-UA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39,7</a:t>
                      </a:r>
                    </a:p>
                  </a:txBody>
                  <a:tcPr marL="6315" marR="6315" marT="63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13</a:t>
                      </a:r>
                    </a:p>
                    <a:p>
                      <a:pPr algn="ctr" fontAlgn="ctr"/>
                      <a:r>
                        <a:rPr lang="uk-UA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40,6</a:t>
                      </a:r>
                    </a:p>
                  </a:txBody>
                  <a:tcPr marL="6315" marR="6315" marT="63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1</a:t>
                      </a:r>
                    </a:p>
                    <a:p>
                      <a:pPr algn="ctr" fontAlgn="ctr"/>
                      <a:r>
                        <a:rPr lang="uk-UA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100,0</a:t>
                      </a:r>
                    </a:p>
                  </a:txBody>
                  <a:tcPr marL="6315" marR="6315" marT="63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-/-</a:t>
                      </a:r>
                    </a:p>
                  </a:txBody>
                  <a:tcPr marL="6315" marR="6315" marT="63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1</a:t>
                      </a:r>
                    </a:p>
                    <a:p>
                      <a:pPr algn="ctr" fontAlgn="ctr"/>
                      <a:r>
                        <a:rPr lang="uk-UA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3,7</a:t>
                      </a:r>
                    </a:p>
                  </a:txBody>
                  <a:tcPr marL="6315" marR="6315" marT="63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1</a:t>
                      </a:r>
                    </a:p>
                    <a:p>
                      <a:pPr algn="ctr" fontAlgn="ctr"/>
                      <a:r>
                        <a:rPr lang="uk-UA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7,7</a:t>
                      </a:r>
                    </a:p>
                  </a:txBody>
                  <a:tcPr marL="6315" marR="6315" marT="63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82273924"/>
                  </a:ext>
                </a:extLst>
              </a:tr>
              <a:tr h="573852"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1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</a:p>
                  </a:txBody>
                  <a:tcPr marL="6315" marR="6315" marT="63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ru-RU" sz="1100" b="0" i="0" u="none" strike="noStrike" dirty="0" err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КНП</a:t>
                      </a:r>
                      <a:r>
                        <a:rPr lang="ru-RU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sz="1100" b="0" i="0" u="none" strike="noStrike" dirty="0" err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Стрийської</a:t>
                      </a:r>
                      <a:r>
                        <a:rPr lang="ru-RU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sz="1100" b="0" i="0" u="none" strike="noStrike" dirty="0" err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міської</a:t>
                      </a:r>
                      <a:r>
                        <a:rPr lang="ru-RU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ради «</a:t>
                      </a:r>
                      <a:r>
                        <a:rPr lang="ru-RU" sz="1100" b="0" i="0" u="none" strike="noStrike" dirty="0" err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Стрийська</a:t>
                      </a:r>
                      <a:r>
                        <a:rPr lang="ru-RU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 центральна </a:t>
                      </a:r>
                      <a:r>
                        <a:rPr lang="ru-RU" sz="1100" b="0" i="0" u="none" strike="noStrike" dirty="0" err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районна</a:t>
                      </a:r>
                      <a:r>
                        <a:rPr lang="ru-RU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sz="1100" b="0" i="0" u="none" strike="noStrike" dirty="0" err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лiкарня</a:t>
                      </a:r>
                      <a:r>
                        <a:rPr lang="ru-RU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»</a:t>
                      </a:r>
                    </a:p>
                  </a:txBody>
                  <a:tcPr marL="6973" marR="6973" marT="697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27</a:t>
                      </a:r>
                    </a:p>
                  </a:txBody>
                  <a:tcPr marL="6315" marR="6315" marT="63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85</a:t>
                      </a:r>
                    </a:p>
                  </a:txBody>
                  <a:tcPr marL="6315" marR="6315" marT="63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112</a:t>
                      </a:r>
                    </a:p>
                  </a:txBody>
                  <a:tcPr marL="6315" marR="6315" marT="63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110</a:t>
                      </a:r>
                    </a:p>
                  </a:txBody>
                  <a:tcPr marL="6315" marR="6315" marT="63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21</a:t>
                      </a:r>
                    </a:p>
                    <a:p>
                      <a:pPr algn="ctr" fontAlgn="ctr"/>
                      <a:r>
                        <a:rPr lang="uk-UA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77,8</a:t>
                      </a:r>
                    </a:p>
                  </a:txBody>
                  <a:tcPr marL="6315" marR="6315" marT="63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43</a:t>
                      </a:r>
                    </a:p>
                    <a:p>
                      <a:pPr algn="ctr" fontAlgn="ctr"/>
                      <a:r>
                        <a:rPr lang="uk-UA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50,6</a:t>
                      </a:r>
                    </a:p>
                  </a:txBody>
                  <a:tcPr marL="6315" marR="6315" marT="63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59</a:t>
                      </a:r>
                    </a:p>
                    <a:p>
                      <a:pPr algn="ctr" fontAlgn="ctr"/>
                      <a:r>
                        <a:rPr lang="uk-UA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52,7</a:t>
                      </a:r>
                    </a:p>
                  </a:txBody>
                  <a:tcPr marL="6315" marR="6315" marT="63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43</a:t>
                      </a:r>
                    </a:p>
                    <a:p>
                      <a:pPr algn="ctr" fontAlgn="ctr"/>
                      <a:r>
                        <a:rPr lang="uk-UA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39,1</a:t>
                      </a:r>
                    </a:p>
                  </a:txBody>
                  <a:tcPr marL="6315" marR="6315" marT="63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  <a:p>
                      <a:pPr algn="ctr" fontAlgn="ctr"/>
                      <a:r>
                        <a:rPr lang="uk-UA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9,5</a:t>
                      </a:r>
                    </a:p>
                  </a:txBody>
                  <a:tcPr marL="6315" marR="6315" marT="63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  <a:p>
                      <a:pPr algn="ctr" fontAlgn="ctr"/>
                      <a:r>
                        <a:rPr lang="uk-UA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9,3</a:t>
                      </a:r>
                    </a:p>
                  </a:txBody>
                  <a:tcPr marL="6315" marR="6315" marT="63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13</a:t>
                      </a:r>
                    </a:p>
                    <a:p>
                      <a:pPr algn="ctr" fontAlgn="ctr"/>
                      <a:r>
                        <a:rPr lang="uk-UA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22,0</a:t>
                      </a:r>
                    </a:p>
                  </a:txBody>
                  <a:tcPr marL="6315" marR="6315" marT="63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  <a:p>
                      <a:pPr algn="ctr" fontAlgn="ctr"/>
                      <a:r>
                        <a:rPr lang="uk-UA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9,3</a:t>
                      </a:r>
                    </a:p>
                  </a:txBody>
                  <a:tcPr marL="6315" marR="6315" marT="63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13000457"/>
                  </a:ext>
                </a:extLst>
              </a:tr>
              <a:tr h="291797"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1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</a:p>
                  </a:txBody>
                  <a:tcPr marL="6315" marR="6315" marT="63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ru-RU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КП «Центральна </a:t>
                      </a:r>
                      <a:r>
                        <a:rPr lang="ru-RU" sz="1100" b="0" i="0" u="none" strike="noStrike" dirty="0" err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міська</a:t>
                      </a:r>
                      <a:r>
                        <a:rPr lang="ru-RU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sz="1100" b="0" i="0" u="none" strike="noStrike" dirty="0" err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лікарня</a:t>
                      </a:r>
                      <a:r>
                        <a:rPr lang="ru-RU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sz="1100" b="0" i="0" u="none" strike="noStrike" dirty="0" err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Червоноградської</a:t>
                      </a:r>
                      <a:r>
                        <a:rPr lang="ru-RU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sz="1100" b="0" i="0" u="none" strike="noStrike" dirty="0" err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міської</a:t>
                      </a:r>
                      <a:r>
                        <a:rPr lang="ru-RU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ради»</a:t>
                      </a:r>
                    </a:p>
                  </a:txBody>
                  <a:tcPr marL="6973" marR="6973" marT="697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62</a:t>
                      </a:r>
                    </a:p>
                  </a:txBody>
                  <a:tcPr marL="6315" marR="6315" marT="63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106</a:t>
                      </a:r>
                    </a:p>
                  </a:txBody>
                  <a:tcPr marL="6315" marR="6315" marT="63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73</a:t>
                      </a:r>
                    </a:p>
                  </a:txBody>
                  <a:tcPr marL="6315" marR="6315" marT="63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94</a:t>
                      </a:r>
                    </a:p>
                  </a:txBody>
                  <a:tcPr marL="6315" marR="6315" marT="63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23</a:t>
                      </a:r>
                    </a:p>
                    <a:p>
                      <a:pPr algn="ctr" fontAlgn="ctr"/>
                      <a:r>
                        <a:rPr lang="uk-UA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37,1</a:t>
                      </a:r>
                    </a:p>
                  </a:txBody>
                  <a:tcPr marL="6315" marR="6315" marT="63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40</a:t>
                      </a:r>
                    </a:p>
                    <a:p>
                      <a:pPr algn="ctr" fontAlgn="ctr"/>
                      <a:r>
                        <a:rPr lang="uk-UA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37,7</a:t>
                      </a:r>
                    </a:p>
                  </a:txBody>
                  <a:tcPr marL="6315" marR="6315" marT="63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17</a:t>
                      </a:r>
                    </a:p>
                    <a:p>
                      <a:pPr algn="ctr" fontAlgn="ctr"/>
                      <a:r>
                        <a:rPr lang="uk-UA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23,3</a:t>
                      </a:r>
                    </a:p>
                  </a:txBody>
                  <a:tcPr marL="6315" marR="6315" marT="63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42</a:t>
                      </a:r>
                    </a:p>
                    <a:p>
                      <a:pPr algn="ctr" fontAlgn="ctr"/>
                      <a:r>
                        <a:rPr lang="uk-UA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44,7</a:t>
                      </a:r>
                    </a:p>
                  </a:txBody>
                  <a:tcPr marL="6315" marR="6315" marT="63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</a:p>
                    <a:p>
                      <a:pPr algn="ctr" fontAlgn="ctr"/>
                      <a:r>
                        <a:rPr lang="uk-UA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21,7</a:t>
                      </a:r>
                    </a:p>
                  </a:txBody>
                  <a:tcPr marL="6315" marR="6315" marT="63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13</a:t>
                      </a:r>
                    </a:p>
                    <a:p>
                      <a:pPr algn="ctr" fontAlgn="ctr"/>
                      <a:r>
                        <a:rPr lang="uk-UA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32,5</a:t>
                      </a:r>
                    </a:p>
                  </a:txBody>
                  <a:tcPr marL="6315" marR="6315" marT="63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  <a:p>
                      <a:pPr algn="ctr" fontAlgn="ctr"/>
                      <a:r>
                        <a:rPr lang="uk-UA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17,64</a:t>
                      </a:r>
                    </a:p>
                  </a:txBody>
                  <a:tcPr marL="6315" marR="6315" marT="63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</a:t>
                      </a:r>
                    </a:p>
                    <a:p>
                      <a:pPr algn="ctr" fontAlgn="ctr"/>
                      <a:r>
                        <a:rPr lang="uk-UA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28,6</a:t>
                      </a:r>
                    </a:p>
                  </a:txBody>
                  <a:tcPr marL="6315" marR="6315" marT="63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64049581"/>
                  </a:ext>
                </a:extLst>
              </a:tr>
            </a:tbl>
          </a:graphicData>
        </a:graphic>
      </p:graphicFrame>
      <p:sp>
        <p:nvSpPr>
          <p:cNvPr id="5" name="Google Shape;850;p82">
            <a:extLst>
              <a:ext uri="{FF2B5EF4-FFF2-40B4-BE49-F238E27FC236}">
                <a16:creationId xmlns:a16="http://schemas.microsoft.com/office/drawing/2014/main" id="{B2E52078-59D7-4942-850D-0603116B6123}"/>
              </a:ext>
            </a:extLst>
          </p:cNvPr>
          <p:cNvSpPr txBox="1"/>
          <p:nvPr/>
        </p:nvSpPr>
        <p:spPr>
          <a:xfrm>
            <a:off x="577859" y="0"/>
            <a:ext cx="10844967" cy="9361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algn="ctr"/>
            <a:r>
              <a:rPr lang="uk-UA" sz="3000" b="1" dirty="0">
                <a:solidFill>
                  <a:srgbClr val="00206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Загальна кількість пролікованих хворих з геморагічним  інсультом та летальність хворих</a:t>
            </a:r>
          </a:p>
        </p:txBody>
      </p:sp>
    </p:spTree>
    <p:extLst>
      <p:ext uri="{BB962C8B-B14F-4D97-AF65-F5344CB8AC3E}">
        <p14:creationId xmlns:p14="http://schemas.microsoft.com/office/powerpoint/2010/main" val="332914911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460522-E79F-B582-4062-C4D8975F2D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114" y="293915"/>
            <a:ext cx="11821884" cy="1396774"/>
          </a:xfrm>
        </p:spPr>
        <p:txBody>
          <a:bodyPr>
            <a:normAutofit fontScale="90000"/>
          </a:bodyPr>
          <a:lstStyle/>
          <a:p>
            <a:pPr algn="ctr"/>
            <a:r>
              <a:rPr lang="ru-RU" sz="33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Загальна кількість пролікованих хворих з </a:t>
            </a:r>
            <a:r>
              <a:rPr lang="ru-RU" sz="33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геморагічним</a:t>
            </a:r>
            <a:r>
              <a:rPr lang="ru-RU" sz="33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3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інсультом</a:t>
            </a:r>
            <a:r>
              <a:rPr lang="ru-RU" sz="33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у Львівській області у </a:t>
            </a:r>
            <a:r>
              <a:rPr lang="ru-RU" sz="33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період</a:t>
            </a:r>
            <a:r>
              <a:rPr lang="ru-RU" sz="33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з 2020</a:t>
            </a:r>
            <a:r>
              <a:rPr lang="en-US" sz="33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uk-UA" sz="33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по</a:t>
            </a:r>
            <a:r>
              <a:rPr lang="ru-RU" sz="33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3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2023 </a:t>
            </a:r>
            <a:r>
              <a:rPr lang="uk-UA" sz="33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рр.</a:t>
            </a:r>
            <a:r>
              <a:rPr lang="ru-RU" sz="33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uk-UA" sz="4400" dirty="0"/>
              <a:t/>
            </a:r>
            <a:br>
              <a:rPr lang="uk-UA" sz="4400" dirty="0"/>
            </a:br>
            <a:endParaRPr lang="en-US" dirty="0"/>
          </a:p>
        </p:txBody>
      </p:sp>
      <p:graphicFrame>
        <p:nvGraphicFramePr>
          <p:cNvPr id="12" name="Місце для вмісту 11">
            <a:extLst>
              <a:ext uri="{FF2B5EF4-FFF2-40B4-BE49-F238E27FC236}">
                <a16:creationId xmlns:a16="http://schemas.microsoft.com/office/drawing/2014/main" id="{0C72048C-C526-42FA-9FA6-31D1EA1726D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55032009"/>
              </p:ext>
            </p:extLst>
          </p:nvPr>
        </p:nvGraphicFramePr>
        <p:xfrm>
          <a:off x="0" y="1200839"/>
          <a:ext cx="12191998" cy="554148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13710214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5C576148-EE53-4C69-BDB8-53F970CA25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7822" y="302648"/>
            <a:ext cx="11821884" cy="610860"/>
          </a:xfrm>
        </p:spPr>
        <p:txBody>
          <a:bodyPr>
            <a:normAutofit fontScale="90000"/>
          </a:bodyPr>
          <a:lstStyle/>
          <a:p>
            <a:pPr algn="ctr"/>
            <a:r>
              <a:rPr lang="uk-UA" sz="33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Летальність пацієнтів з ішемічним і геморагічним інсультами</a:t>
            </a:r>
            <a:endParaRPr lang="en-US" dirty="0"/>
          </a:p>
        </p:txBody>
      </p:sp>
      <p:graphicFrame>
        <p:nvGraphicFramePr>
          <p:cNvPr id="8" name="Діаграма 7">
            <a:extLst>
              <a:ext uri="{FF2B5EF4-FFF2-40B4-BE49-F238E27FC236}">
                <a16:creationId xmlns:a16="http://schemas.microsoft.com/office/drawing/2014/main" id="{A93AD6F4-B50F-4EED-8D78-B8E6A895BB7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26830594"/>
              </p:ext>
            </p:extLst>
          </p:nvPr>
        </p:nvGraphicFramePr>
        <p:xfrm>
          <a:off x="259769" y="2038525"/>
          <a:ext cx="5715161" cy="377826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9" name="Title 1">
            <a:extLst>
              <a:ext uri="{FF2B5EF4-FFF2-40B4-BE49-F238E27FC236}">
                <a16:creationId xmlns:a16="http://schemas.microsoft.com/office/drawing/2014/main" id="{70B700D9-0560-47D2-A473-6A06583C2776}"/>
              </a:ext>
            </a:extLst>
          </p:cNvPr>
          <p:cNvSpPr txBox="1">
            <a:spLocks/>
          </p:cNvSpPr>
          <p:nvPr/>
        </p:nvSpPr>
        <p:spPr>
          <a:xfrm>
            <a:off x="529148" y="5658266"/>
            <a:ext cx="5371072" cy="8673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14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Летальність</a:t>
            </a:r>
            <a:r>
              <a:rPr lang="ru-RU" sz="1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4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пацієнтів</a:t>
            </a:r>
            <a:r>
              <a:rPr lang="ru-RU" sz="1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з </a:t>
            </a:r>
            <a:r>
              <a:rPr lang="ru-RU" sz="14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ішемічним</a:t>
            </a:r>
            <a:r>
              <a:rPr lang="ru-RU" sz="1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4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інсультом</a:t>
            </a:r>
            <a:endParaRPr lang="en-US" sz="1400" dirty="0"/>
          </a:p>
        </p:txBody>
      </p:sp>
      <p:graphicFrame>
        <p:nvGraphicFramePr>
          <p:cNvPr id="10" name="Діаграма 9">
            <a:extLst>
              <a:ext uri="{FF2B5EF4-FFF2-40B4-BE49-F238E27FC236}">
                <a16:creationId xmlns:a16="http://schemas.microsoft.com/office/drawing/2014/main" id="{6E8179AC-54E0-458B-8404-4E955D0089C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72926541"/>
              </p:ext>
            </p:extLst>
          </p:nvPr>
        </p:nvGraphicFramePr>
        <p:xfrm>
          <a:off x="6487864" y="2038525"/>
          <a:ext cx="5491842" cy="377826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1" name="Title 1">
            <a:extLst>
              <a:ext uri="{FF2B5EF4-FFF2-40B4-BE49-F238E27FC236}">
                <a16:creationId xmlns:a16="http://schemas.microsoft.com/office/drawing/2014/main" id="{38EAB4A3-7D23-479E-AADB-86CFCBE16FB9}"/>
              </a:ext>
            </a:extLst>
          </p:cNvPr>
          <p:cNvSpPr txBox="1">
            <a:spLocks/>
          </p:cNvSpPr>
          <p:nvPr/>
        </p:nvSpPr>
        <p:spPr>
          <a:xfrm>
            <a:off x="6291782" y="5658265"/>
            <a:ext cx="5371072" cy="8673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14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Летальність</a:t>
            </a:r>
            <a:r>
              <a:rPr lang="ru-RU" sz="1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4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пацієнтів</a:t>
            </a:r>
            <a:r>
              <a:rPr lang="ru-RU" sz="1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з </a:t>
            </a:r>
            <a:r>
              <a:rPr lang="uk-UA" sz="1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геморагічним</a:t>
            </a:r>
            <a:r>
              <a:rPr lang="ru-RU" sz="1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4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інсультом</a:t>
            </a:r>
            <a:endParaRPr lang="en-US" sz="1400" dirty="0"/>
          </a:p>
        </p:txBody>
      </p:sp>
      <p:sp>
        <p:nvSpPr>
          <p:cNvPr id="13" name="Прямокутник 12">
            <a:extLst>
              <a:ext uri="{FF2B5EF4-FFF2-40B4-BE49-F238E27FC236}">
                <a16:creationId xmlns:a16="http://schemas.microsoft.com/office/drawing/2014/main" id="{9D3E8BFC-7DB9-4A53-9E35-23C36BEC8719}"/>
              </a:ext>
            </a:extLst>
          </p:cNvPr>
          <p:cNvSpPr/>
          <p:nvPr/>
        </p:nvSpPr>
        <p:spPr>
          <a:xfrm>
            <a:off x="3797580" y="1040769"/>
            <a:ext cx="493962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b="1" dirty="0">
                <a:solidFill>
                  <a:srgbClr val="002060"/>
                </a:solidFill>
                <a:latin typeface="Times New Roman" panose="02020603050405020304" pitchFamily="18" charset="0"/>
              </a:rPr>
              <a:t>% </a:t>
            </a:r>
            <a:r>
              <a:rPr lang="ru-RU" b="1" dirty="0" err="1">
                <a:solidFill>
                  <a:srgbClr val="002060"/>
                </a:solidFill>
                <a:latin typeface="Times New Roman" panose="02020603050405020304" pitchFamily="18" charset="0"/>
              </a:rPr>
              <a:t>від</a:t>
            </a:r>
            <a:r>
              <a:rPr lang="ru-RU" b="1" dirty="0">
                <a:solidFill>
                  <a:srgbClr val="002060"/>
                </a:solidFill>
                <a:latin typeface="Times New Roman" panose="02020603050405020304" pitchFamily="18" charset="0"/>
              </a:rPr>
              <a:t> </a:t>
            </a:r>
            <a:r>
              <a:rPr lang="ru-RU" b="1" dirty="0" err="1">
                <a:solidFill>
                  <a:srgbClr val="002060"/>
                </a:solidFill>
                <a:latin typeface="Times New Roman" panose="02020603050405020304" pitchFamily="18" charset="0"/>
              </a:rPr>
              <a:t>загальної</a:t>
            </a:r>
            <a:r>
              <a:rPr lang="ru-RU" b="1" dirty="0">
                <a:solidFill>
                  <a:srgbClr val="002060"/>
                </a:solidFill>
                <a:latin typeface="Times New Roman" panose="02020603050405020304" pitchFamily="18" charset="0"/>
              </a:rPr>
              <a:t> к-</a:t>
            </a:r>
            <a:r>
              <a:rPr lang="ru-RU" b="1" dirty="0" err="1">
                <a:solidFill>
                  <a:srgbClr val="002060"/>
                </a:solidFill>
                <a:latin typeface="Times New Roman" panose="02020603050405020304" pitchFamily="18" charset="0"/>
              </a:rPr>
              <a:t>ті</a:t>
            </a:r>
            <a:r>
              <a:rPr lang="ru-RU" b="1" dirty="0">
                <a:solidFill>
                  <a:srgbClr val="002060"/>
                </a:solidFill>
                <a:latin typeface="Times New Roman" panose="02020603050405020304" pitchFamily="18" charset="0"/>
              </a:rPr>
              <a:t> </a:t>
            </a:r>
            <a:r>
              <a:rPr lang="ru-RU" b="1" dirty="0" err="1">
                <a:solidFill>
                  <a:srgbClr val="002060"/>
                </a:solidFill>
                <a:latin typeface="Times New Roman" panose="02020603050405020304" pitchFamily="18" charset="0"/>
              </a:rPr>
              <a:t>госпіталізованих</a:t>
            </a:r>
            <a:r>
              <a:rPr lang="ru-RU" b="1" dirty="0">
                <a:solidFill>
                  <a:srgbClr val="002060"/>
                </a:solidFill>
                <a:latin typeface="Times New Roman" panose="02020603050405020304" pitchFamily="18" charset="0"/>
              </a:rPr>
              <a:t>  </a:t>
            </a:r>
            <a:r>
              <a:rPr lang="ru-RU" b="1" dirty="0" err="1">
                <a:solidFill>
                  <a:srgbClr val="002060"/>
                </a:solidFill>
                <a:latin typeface="Times New Roman" panose="02020603050405020304" pitchFamily="18" charset="0"/>
              </a:rPr>
              <a:t>хворих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88351585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кутник: округлені кути 1">
            <a:extLst>
              <a:ext uri="{FF2B5EF4-FFF2-40B4-BE49-F238E27FC236}">
                <a16:creationId xmlns:a16="http://schemas.microsoft.com/office/drawing/2014/main" id="{31E0C81F-0134-4D44-8DBA-278B5B6801CA}"/>
              </a:ext>
            </a:extLst>
          </p:cNvPr>
          <p:cNvSpPr/>
          <p:nvPr/>
        </p:nvSpPr>
        <p:spPr>
          <a:xfrm>
            <a:off x="8623848" y="4780290"/>
            <a:ext cx="3281149" cy="1107911"/>
          </a:xfrm>
          <a:prstGeom prst="round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49" name="Google Shape;849;p82"/>
          <p:cNvSpPr txBox="1"/>
          <p:nvPr/>
        </p:nvSpPr>
        <p:spPr>
          <a:xfrm>
            <a:off x="4706483" y="3135891"/>
            <a:ext cx="2264800" cy="1354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67" tIns="121867" rIns="121867" bIns="121867" anchor="t" anchorCtr="0">
            <a:spAutoFit/>
          </a:bodyPr>
          <a:lstStyle/>
          <a:p>
            <a:pPr>
              <a:buClr>
                <a:srgbClr val="FFFFFF"/>
              </a:buClr>
              <a:buSzPts val="5400"/>
            </a:pPr>
            <a:r>
              <a:rPr lang="en" sz="7200" b="1" dirty="0">
                <a:solidFill>
                  <a:srgbClr val="FFFFFF"/>
                </a:solidFill>
                <a:latin typeface="Arial Narrow"/>
                <a:ea typeface="Arial Narrow"/>
                <a:cs typeface="Arial Narrow"/>
                <a:sym typeface="Arial Narrow"/>
              </a:rPr>
              <a:t>ЦБД</a:t>
            </a:r>
            <a:endParaRPr sz="1867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" name="Google Shape;850;p82">
            <a:extLst>
              <a:ext uri="{FF2B5EF4-FFF2-40B4-BE49-F238E27FC236}">
                <a16:creationId xmlns:a16="http://schemas.microsoft.com/office/drawing/2014/main" id="{225EFAF5-D12B-45A4-A48A-922A2D888BCC}"/>
              </a:ext>
            </a:extLst>
          </p:cNvPr>
          <p:cNvSpPr txBox="1"/>
          <p:nvPr/>
        </p:nvSpPr>
        <p:spPr>
          <a:xfrm>
            <a:off x="502831" y="234237"/>
            <a:ext cx="10981189" cy="4744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algn="ctr"/>
            <a:r>
              <a:rPr lang="uk-UA" sz="3000" b="1" dirty="0">
                <a:solidFill>
                  <a:srgbClr val="FFFFFF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 </a:t>
            </a:r>
            <a:r>
              <a:rPr lang="uk-UA" sz="3000" b="1" dirty="0">
                <a:solidFill>
                  <a:srgbClr val="00206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Кількість проведених процедур </a:t>
            </a:r>
            <a:r>
              <a:rPr lang="uk-UA" sz="3000" b="1" dirty="0" err="1">
                <a:solidFill>
                  <a:srgbClr val="00206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тромбоекстракцій</a:t>
            </a:r>
            <a:r>
              <a:rPr lang="uk-UA" sz="3000" b="1" dirty="0">
                <a:solidFill>
                  <a:srgbClr val="00206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 (ТЕ) </a:t>
            </a:r>
          </a:p>
        </p:txBody>
      </p:sp>
      <p:graphicFrame>
        <p:nvGraphicFramePr>
          <p:cNvPr id="4" name="Таблиця 3">
            <a:extLst>
              <a:ext uri="{FF2B5EF4-FFF2-40B4-BE49-F238E27FC236}">
                <a16:creationId xmlns:a16="http://schemas.microsoft.com/office/drawing/2014/main" id="{E1C56CEB-66A4-4BD1-B841-422297F3302F}"/>
              </a:ext>
            </a:extLst>
          </p:cNvPr>
          <p:cNvGraphicFramePr>
            <a:graphicFrameLocks noGrp="1"/>
          </p:cNvGraphicFramePr>
          <p:nvPr/>
        </p:nvGraphicFramePr>
        <p:xfrm>
          <a:off x="502831" y="1090095"/>
          <a:ext cx="11367367" cy="2849266"/>
        </p:xfrm>
        <a:graphic>
          <a:graphicData uri="http://schemas.openxmlformats.org/drawingml/2006/table">
            <a:tbl>
              <a:tblPr/>
              <a:tblGrid>
                <a:gridCol w="561522">
                  <a:extLst>
                    <a:ext uri="{9D8B030D-6E8A-4147-A177-3AD203B41FA5}">
                      <a16:colId xmlns:a16="http://schemas.microsoft.com/office/drawing/2014/main" val="4163862993"/>
                    </a:ext>
                  </a:extLst>
                </a:gridCol>
                <a:gridCol w="4799008">
                  <a:extLst>
                    <a:ext uri="{9D8B030D-6E8A-4147-A177-3AD203B41FA5}">
                      <a16:colId xmlns:a16="http://schemas.microsoft.com/office/drawing/2014/main" val="2193175194"/>
                    </a:ext>
                  </a:extLst>
                </a:gridCol>
                <a:gridCol w="811646">
                  <a:extLst>
                    <a:ext uri="{9D8B030D-6E8A-4147-A177-3AD203B41FA5}">
                      <a16:colId xmlns:a16="http://schemas.microsoft.com/office/drawing/2014/main" val="1275307615"/>
                    </a:ext>
                  </a:extLst>
                </a:gridCol>
                <a:gridCol w="710189">
                  <a:extLst>
                    <a:ext uri="{9D8B030D-6E8A-4147-A177-3AD203B41FA5}">
                      <a16:colId xmlns:a16="http://schemas.microsoft.com/office/drawing/2014/main" val="639483666"/>
                    </a:ext>
                  </a:extLst>
                </a:gridCol>
                <a:gridCol w="811646">
                  <a:extLst>
                    <a:ext uri="{9D8B030D-6E8A-4147-A177-3AD203B41FA5}">
                      <a16:colId xmlns:a16="http://schemas.microsoft.com/office/drawing/2014/main" val="2433195269"/>
                    </a:ext>
                  </a:extLst>
                </a:gridCol>
                <a:gridCol w="654640">
                  <a:extLst>
                    <a:ext uri="{9D8B030D-6E8A-4147-A177-3AD203B41FA5}">
                      <a16:colId xmlns:a16="http://schemas.microsoft.com/office/drawing/2014/main" val="4149084298"/>
                    </a:ext>
                  </a:extLst>
                </a:gridCol>
                <a:gridCol w="754679">
                  <a:extLst>
                    <a:ext uri="{9D8B030D-6E8A-4147-A177-3AD203B41FA5}">
                      <a16:colId xmlns:a16="http://schemas.microsoft.com/office/drawing/2014/main" val="2270050314"/>
                    </a:ext>
                  </a:extLst>
                </a:gridCol>
                <a:gridCol w="754679">
                  <a:extLst>
                    <a:ext uri="{9D8B030D-6E8A-4147-A177-3AD203B41FA5}">
                      <a16:colId xmlns:a16="http://schemas.microsoft.com/office/drawing/2014/main" val="1139730489"/>
                    </a:ext>
                  </a:extLst>
                </a:gridCol>
                <a:gridCol w="754679">
                  <a:extLst>
                    <a:ext uri="{9D8B030D-6E8A-4147-A177-3AD203B41FA5}">
                      <a16:colId xmlns:a16="http://schemas.microsoft.com/office/drawing/2014/main" val="2991566136"/>
                    </a:ext>
                  </a:extLst>
                </a:gridCol>
                <a:gridCol w="754679">
                  <a:extLst>
                    <a:ext uri="{9D8B030D-6E8A-4147-A177-3AD203B41FA5}">
                      <a16:colId xmlns:a16="http://schemas.microsoft.com/office/drawing/2014/main" val="1949725211"/>
                    </a:ext>
                  </a:extLst>
                </a:gridCol>
              </a:tblGrid>
              <a:tr h="455605"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uk-UA" sz="1200" b="1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№ з/п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uk-UA" sz="1200" b="1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Назва </a:t>
                      </a:r>
                      <a:r>
                        <a:rPr lang="uk-UA" sz="1200" b="1" i="0" u="none" strike="noStrike" dirty="0" err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ЗОЗ</a:t>
                      </a:r>
                      <a:r>
                        <a:rPr lang="uk-UA" sz="1200" b="1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 rtl="0" fontAlgn="ctr"/>
                      <a:r>
                        <a:rPr lang="ru-RU" sz="1100" b="1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Проведено </a:t>
                      </a:r>
                      <a:r>
                        <a:rPr lang="ru-RU" sz="1100" b="1" i="0" u="none" strike="noStrike" dirty="0" err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тромбоекстракції</a:t>
                      </a:r>
                      <a:r>
                        <a:rPr lang="ru-RU" sz="1100" b="1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 (ТЕ)/</a:t>
                      </a:r>
                      <a:br>
                        <a:rPr lang="ru-RU" sz="1100" b="1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</a:br>
                      <a:r>
                        <a:rPr lang="ru-RU" sz="1100" b="1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(</a:t>
                      </a:r>
                      <a:r>
                        <a:rPr lang="ru-RU" sz="1100" b="1" i="0" u="none" strike="noStrike" dirty="0" err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абс.ч</a:t>
                      </a:r>
                      <a:r>
                        <a:rPr lang="ru-RU" sz="1100" b="1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./% </a:t>
                      </a:r>
                      <a:r>
                        <a:rPr lang="ru-RU" sz="1100" b="1" i="0" u="none" strike="noStrike" dirty="0" err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від</a:t>
                      </a:r>
                      <a:r>
                        <a:rPr lang="ru-RU" sz="1100" b="1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 к-</a:t>
                      </a:r>
                      <a:r>
                        <a:rPr lang="ru-RU" sz="1100" b="1" i="0" u="none" strike="noStrike" dirty="0" err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ті</a:t>
                      </a:r>
                      <a:r>
                        <a:rPr lang="ru-RU" sz="1100" b="1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  ГМІ)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uk-U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uk-U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uk-UA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 rtl="0" fontAlgn="ctr"/>
                      <a:r>
                        <a:rPr lang="ru-RU" sz="1100" b="1" i="0" u="none" strike="noStrike" dirty="0" err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Летальність</a:t>
                      </a:r>
                      <a:r>
                        <a:rPr lang="ru-RU" sz="1100" b="1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lang="ru-RU" sz="1100" b="1" i="0" u="none" strike="noStrike" dirty="0" err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після</a:t>
                      </a:r>
                      <a:r>
                        <a:rPr lang="ru-RU" sz="1100" b="1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lang="ru-RU" sz="1100" b="1" i="0" u="none" strike="noStrike" dirty="0" err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проведеної</a:t>
                      </a:r>
                      <a:r>
                        <a:rPr lang="ru-RU" sz="1100" b="1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 ТЕ/</a:t>
                      </a:r>
                      <a:br>
                        <a:rPr lang="ru-RU" sz="1100" b="1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</a:br>
                      <a:r>
                        <a:rPr lang="ru-RU" sz="1100" b="1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(</a:t>
                      </a:r>
                      <a:r>
                        <a:rPr lang="ru-RU" sz="1100" b="1" i="0" u="none" strike="noStrike" dirty="0" err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абс.ч</a:t>
                      </a:r>
                      <a:r>
                        <a:rPr lang="ru-RU" sz="1100" b="1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./% </a:t>
                      </a:r>
                      <a:r>
                        <a:rPr lang="ru-RU" sz="1100" b="1" i="0" u="none" strike="noStrike" dirty="0" err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від</a:t>
                      </a:r>
                      <a:r>
                        <a:rPr lang="ru-RU" sz="1100" b="1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 к-</a:t>
                      </a:r>
                      <a:r>
                        <a:rPr lang="ru-RU" sz="1100" b="1" i="0" u="none" strike="noStrike" dirty="0" err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ті</a:t>
                      </a:r>
                      <a:r>
                        <a:rPr lang="ru-RU" sz="1100" b="1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  ГМІ)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uk-U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uk-U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uk-UA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13116783"/>
                  </a:ext>
                </a:extLst>
              </a:tr>
              <a:tr h="261568">
                <a:tc vMerge="1">
                  <a:txBody>
                    <a:bodyPr/>
                    <a:lstStyle/>
                    <a:p>
                      <a:endParaRPr lang="uk-UA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uk-UA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uk-UA" sz="1200" b="1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2020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uk-UA" sz="1200" b="1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2021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uk-UA" sz="1200" b="1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2022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uk-UA" sz="1200" b="1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2023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uk-UA" sz="1200" b="1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2020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uk-UA" sz="1200" b="1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2021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uk-UA" sz="1200" b="1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2022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uk-UA" sz="1200" b="1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2023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4849323"/>
                  </a:ext>
                </a:extLst>
              </a:tr>
              <a:tr h="408269">
                <a:tc>
                  <a:txBody>
                    <a:bodyPr/>
                    <a:lstStyle/>
                    <a:p>
                      <a:pPr algn="ctr" rtl="0" fontAlgn="ctr"/>
                      <a:r>
                        <a:rPr lang="uk-UA" sz="11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uk-UA" sz="1100" b="1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Всього 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uk-UA" sz="1100" b="1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18</a:t>
                      </a:r>
                    </a:p>
                    <a:p>
                      <a:pPr algn="ctr" rtl="0" fontAlgn="ctr"/>
                      <a:r>
                        <a:rPr lang="uk-UA" sz="1100" b="1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0,5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uk-UA" sz="1100" b="1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48</a:t>
                      </a:r>
                    </a:p>
                    <a:p>
                      <a:pPr algn="ctr" rtl="0" fontAlgn="ctr"/>
                      <a:r>
                        <a:rPr lang="uk-UA" sz="1100" b="1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0,8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uk-UA" sz="1100" b="1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112</a:t>
                      </a:r>
                    </a:p>
                    <a:p>
                      <a:pPr algn="ctr" rtl="0" fontAlgn="ctr"/>
                      <a:r>
                        <a:rPr lang="uk-UA" sz="1100" b="1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1,6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uk-UA" sz="1100" b="1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172</a:t>
                      </a:r>
                    </a:p>
                    <a:p>
                      <a:pPr algn="ctr" rtl="0" fontAlgn="ctr"/>
                      <a:r>
                        <a:rPr lang="uk-UA" sz="1100" b="1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2,3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uk-UA" sz="1100" b="1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3</a:t>
                      </a:r>
                    </a:p>
                    <a:p>
                      <a:pPr algn="ctr" rtl="0" fontAlgn="ctr"/>
                      <a:r>
                        <a:rPr lang="uk-UA" sz="1100" b="1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0,1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uk-UA" sz="1100" b="1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3</a:t>
                      </a:r>
                    </a:p>
                    <a:p>
                      <a:pPr algn="ctr" rtl="0" fontAlgn="ctr"/>
                      <a:r>
                        <a:rPr lang="uk-UA" sz="1100" b="1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0,1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uk-UA" sz="1100" b="1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17</a:t>
                      </a:r>
                    </a:p>
                    <a:p>
                      <a:pPr algn="ctr" rtl="0" fontAlgn="ctr"/>
                      <a:r>
                        <a:rPr lang="uk-UA" sz="1100" b="1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0,2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uk-UA" sz="1100" b="1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31</a:t>
                      </a:r>
                    </a:p>
                    <a:p>
                      <a:pPr algn="ctr" rtl="0" fontAlgn="ctr"/>
                      <a:r>
                        <a:rPr lang="uk-UA" sz="1100" b="1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0,4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60612054"/>
                  </a:ext>
                </a:extLst>
              </a:tr>
              <a:tr h="676868">
                <a:tc>
                  <a:txBody>
                    <a:bodyPr/>
                    <a:lstStyle/>
                    <a:p>
                      <a:pPr algn="ctr" rtl="0" fontAlgn="ctr"/>
                      <a:r>
                        <a:rPr lang="uk-UA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1 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uk-UA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Відокремлений підрозділ «Лікарня Святого Пантелеймона «КНП  "Львівське територіальне медичне об'єднання» Багатопрофільна клінічна лікарня інтенсивних методів лікування та швидкої медичної допомоги»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uk-UA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18</a:t>
                      </a:r>
                    </a:p>
                    <a:p>
                      <a:pPr algn="ctr" rtl="0" fontAlgn="ctr"/>
                      <a:r>
                        <a:rPr lang="uk-UA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1,2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uk-UA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48</a:t>
                      </a:r>
                    </a:p>
                    <a:p>
                      <a:pPr algn="ctr" rtl="0" fontAlgn="ctr"/>
                      <a:r>
                        <a:rPr lang="uk-UA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2,0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uk-UA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72</a:t>
                      </a:r>
                    </a:p>
                    <a:p>
                      <a:pPr algn="ctr" rtl="0" fontAlgn="ctr"/>
                      <a:r>
                        <a:rPr lang="uk-UA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3,3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uk-UA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84</a:t>
                      </a:r>
                    </a:p>
                    <a:p>
                      <a:pPr algn="ctr" rtl="0" fontAlgn="ctr"/>
                      <a:r>
                        <a:rPr lang="uk-UA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4,6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uk-UA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3</a:t>
                      </a:r>
                    </a:p>
                    <a:p>
                      <a:pPr algn="ctr" rtl="0" fontAlgn="ctr"/>
                      <a:r>
                        <a:rPr lang="uk-UA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0,2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uk-UA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3</a:t>
                      </a:r>
                    </a:p>
                    <a:p>
                      <a:pPr algn="ctr" rtl="0" fontAlgn="ctr"/>
                      <a:r>
                        <a:rPr lang="uk-UA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0,1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uk-UA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5</a:t>
                      </a:r>
                    </a:p>
                    <a:p>
                      <a:pPr algn="ctr" rtl="0" fontAlgn="ctr"/>
                      <a:r>
                        <a:rPr lang="uk-UA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0,2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uk-UA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12</a:t>
                      </a:r>
                    </a:p>
                    <a:p>
                      <a:pPr algn="ctr" rtl="0" fontAlgn="ctr"/>
                      <a:r>
                        <a:rPr lang="uk-UA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0,7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03719844"/>
                  </a:ext>
                </a:extLst>
              </a:tr>
              <a:tr h="524451">
                <a:tc>
                  <a:txBody>
                    <a:bodyPr/>
                    <a:lstStyle/>
                    <a:p>
                      <a:pPr algn="ctr" rtl="0" fontAlgn="ctr"/>
                      <a:r>
                        <a:rPr lang="uk-UA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 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uk-UA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Відокремлений підрозділ «Лікарня Святого Луки « КНП  «Львівське територіальне медичне об'єднання» Багатопрофільна клінічна лікарня інтенсивних методів лікування та швидкої медичної допомоги»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uk-UA" sz="11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uk-UA" sz="11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uk-UA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40</a:t>
                      </a:r>
                    </a:p>
                    <a:p>
                      <a:pPr algn="ctr" rtl="0" fontAlgn="ctr"/>
                      <a:r>
                        <a:rPr lang="uk-UA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4,1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uk-UA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83</a:t>
                      </a:r>
                    </a:p>
                    <a:p>
                      <a:pPr algn="ctr" rtl="0" fontAlgn="ctr"/>
                      <a:r>
                        <a:rPr lang="uk-UA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6,7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uk-UA" sz="11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uk-UA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uk-UA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12</a:t>
                      </a:r>
                    </a:p>
                    <a:p>
                      <a:pPr algn="ctr" rtl="0" fontAlgn="ctr"/>
                      <a:r>
                        <a:rPr lang="uk-UA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1,2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uk-UA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19</a:t>
                      </a:r>
                    </a:p>
                    <a:p>
                      <a:pPr algn="ctr" rtl="0" fontAlgn="ctr"/>
                      <a:r>
                        <a:rPr lang="uk-UA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1,5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33349025"/>
                  </a:ext>
                </a:extLst>
              </a:tr>
              <a:tr h="522505">
                <a:tc>
                  <a:txBody>
                    <a:bodyPr/>
                    <a:lstStyle/>
                    <a:p>
                      <a:pPr algn="ctr" rtl="0" fontAlgn="ctr"/>
                      <a:r>
                        <a:rPr lang="uk-UA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3 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ru-RU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КП «Центральна </a:t>
                      </a:r>
                      <a:r>
                        <a:rPr lang="ru-RU" sz="1100" b="0" i="0" u="none" strike="noStrike" dirty="0" err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міська</a:t>
                      </a:r>
                      <a:r>
                        <a:rPr lang="ru-RU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lang="ru-RU" sz="1100" b="0" i="0" u="none" strike="noStrike" dirty="0" err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лікарня</a:t>
                      </a:r>
                      <a:r>
                        <a:rPr lang="ru-RU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lang="ru-RU" sz="1100" b="0" i="0" u="none" strike="noStrike" dirty="0" err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Червоноградської</a:t>
                      </a:r>
                      <a:r>
                        <a:rPr lang="ru-RU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lang="ru-RU" sz="1100" b="0" i="0" u="none" strike="noStrike" dirty="0" err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міської</a:t>
                      </a:r>
                      <a:r>
                        <a:rPr lang="ru-RU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 ради»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uk-UA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uk-UA" sz="11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uk-UA" sz="11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uk-UA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5</a:t>
                      </a:r>
                    </a:p>
                    <a:p>
                      <a:pPr algn="ctr" rtl="0" fontAlgn="ctr"/>
                      <a:r>
                        <a:rPr lang="uk-UA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0,9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uk-UA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uk-UA" sz="11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uk-UA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uk-UA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72282793"/>
                  </a:ext>
                </a:extLst>
              </a:tr>
            </a:tbl>
          </a:graphicData>
        </a:graphic>
      </p:graphicFrame>
      <p:graphicFrame>
        <p:nvGraphicFramePr>
          <p:cNvPr id="9" name="Діаграма 8">
            <a:extLst>
              <a:ext uri="{FF2B5EF4-FFF2-40B4-BE49-F238E27FC236}">
                <a16:creationId xmlns:a16="http://schemas.microsoft.com/office/drawing/2014/main" id="{401E08B9-F293-4100-9583-6EBFFD2DA61F}"/>
              </a:ext>
            </a:extLst>
          </p:cNvPr>
          <p:cNvGraphicFramePr/>
          <p:nvPr/>
        </p:nvGraphicFramePr>
        <p:xfrm>
          <a:off x="502831" y="4002717"/>
          <a:ext cx="7012852" cy="266305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Title 1">
            <a:extLst>
              <a:ext uri="{FF2B5EF4-FFF2-40B4-BE49-F238E27FC236}">
                <a16:creationId xmlns:a16="http://schemas.microsoft.com/office/drawing/2014/main" id="{E8C394A4-4074-4831-9AE6-FAF2A3372F29}"/>
              </a:ext>
            </a:extLst>
          </p:cNvPr>
          <p:cNvSpPr txBox="1">
            <a:spLocks/>
          </p:cNvSpPr>
          <p:nvPr/>
        </p:nvSpPr>
        <p:spPr>
          <a:xfrm>
            <a:off x="8623678" y="4900588"/>
            <a:ext cx="3246520" cy="8673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13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Частка</a:t>
            </a:r>
            <a:r>
              <a:rPr lang="ru-RU" sz="13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3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пацієнтів</a:t>
            </a:r>
            <a:r>
              <a:rPr lang="ru-RU" sz="13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13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яким</a:t>
            </a:r>
            <a:r>
              <a:rPr lang="ru-RU" sz="13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проведено </a:t>
            </a:r>
            <a:r>
              <a:rPr lang="ru-RU" sz="13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тромбоекстракцію</a:t>
            </a:r>
            <a:r>
              <a:rPr lang="ru-RU" sz="13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(ТЕ) у 2023р</a:t>
            </a:r>
          </a:p>
          <a:p>
            <a:pPr algn="ctr"/>
            <a:r>
              <a:rPr lang="ru-RU" sz="13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(% </a:t>
            </a:r>
            <a:r>
              <a:rPr lang="ru-RU" sz="13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від</a:t>
            </a:r>
            <a:r>
              <a:rPr lang="ru-RU" sz="13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к-</a:t>
            </a:r>
            <a:r>
              <a:rPr lang="ru-RU" sz="13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ті</a:t>
            </a:r>
            <a:r>
              <a:rPr lang="ru-RU" sz="13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ГМІ)</a:t>
            </a:r>
            <a:endParaRPr lang="en-US" dirty="0"/>
          </a:p>
        </p:txBody>
      </p:sp>
      <p:sp>
        <p:nvSpPr>
          <p:cNvPr id="3" name="Стрілка: вправо 2">
            <a:extLst>
              <a:ext uri="{FF2B5EF4-FFF2-40B4-BE49-F238E27FC236}">
                <a16:creationId xmlns:a16="http://schemas.microsoft.com/office/drawing/2014/main" id="{91D7878E-9818-4BF6-8B06-98F9883C61FD}"/>
              </a:ext>
            </a:extLst>
          </p:cNvPr>
          <p:cNvSpPr/>
          <p:nvPr/>
        </p:nvSpPr>
        <p:spPr>
          <a:xfrm rot="10800000">
            <a:off x="7515683" y="5170463"/>
            <a:ext cx="1108080" cy="327564"/>
          </a:xfrm>
          <a:prstGeom prst="rightArrow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7811552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Діаграма 4">
            <a:extLst>
              <a:ext uri="{FF2B5EF4-FFF2-40B4-BE49-F238E27FC236}">
                <a16:creationId xmlns:a16="http://schemas.microsoft.com/office/drawing/2014/main" id="{DE89D96A-C0CE-4299-8FF6-E579FC8DA548}"/>
              </a:ext>
            </a:extLst>
          </p:cNvPr>
          <p:cNvGraphicFramePr/>
          <p:nvPr/>
        </p:nvGraphicFramePr>
        <p:xfrm>
          <a:off x="1416288" y="1643063"/>
          <a:ext cx="8784988" cy="502610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Google Shape;850;p82">
            <a:extLst>
              <a:ext uri="{FF2B5EF4-FFF2-40B4-BE49-F238E27FC236}">
                <a16:creationId xmlns:a16="http://schemas.microsoft.com/office/drawing/2014/main" id="{062B0891-99A9-480D-A973-C1F78181DDBB}"/>
              </a:ext>
            </a:extLst>
          </p:cNvPr>
          <p:cNvSpPr txBox="1"/>
          <p:nvPr/>
        </p:nvSpPr>
        <p:spPr>
          <a:xfrm>
            <a:off x="303682" y="388861"/>
            <a:ext cx="10981189" cy="9361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algn="ctr"/>
            <a:r>
              <a:rPr lang="uk-UA" sz="3000" b="1" dirty="0">
                <a:solidFill>
                  <a:srgbClr val="FFFFFF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 </a:t>
            </a:r>
            <a:r>
              <a:rPr lang="uk-UA" sz="3000" b="1" dirty="0">
                <a:solidFill>
                  <a:srgbClr val="00206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Кількість проведених процедур з </a:t>
            </a:r>
            <a:r>
              <a:rPr lang="uk-UA" sz="3000" b="1" dirty="0" err="1">
                <a:solidFill>
                  <a:srgbClr val="00206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тромбоекстракції</a:t>
            </a:r>
            <a:r>
              <a:rPr lang="uk-UA" sz="3000" b="1" dirty="0">
                <a:solidFill>
                  <a:srgbClr val="00206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 (ТЕ) </a:t>
            </a:r>
          </a:p>
          <a:p>
            <a:pPr algn="ctr"/>
            <a:r>
              <a:rPr lang="uk-UA" sz="3000" b="1" dirty="0">
                <a:solidFill>
                  <a:srgbClr val="00206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та летальність  за період з 2020 по 2023рр.</a:t>
            </a:r>
          </a:p>
        </p:txBody>
      </p:sp>
    </p:spTree>
  </p:cSld>
  <p:clrMapOvr>
    <a:masterClrMapping/>
  </p:clrMapOvr>
  <p:transition>
    <p:wipe dir="r"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Діаграма 12">
            <a:extLst>
              <a:ext uri="{FF2B5EF4-FFF2-40B4-BE49-F238E27FC236}">
                <a16:creationId xmlns:a16="http://schemas.microsoft.com/office/drawing/2014/main" id="{FB2FB51D-2CA7-4D7D-8861-82A61B23516E}"/>
              </a:ext>
            </a:extLst>
          </p:cNvPr>
          <p:cNvGraphicFramePr/>
          <p:nvPr/>
        </p:nvGraphicFramePr>
        <p:xfrm>
          <a:off x="6787443" y="4377085"/>
          <a:ext cx="4542026" cy="236703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49" name="Google Shape;849;p82"/>
          <p:cNvSpPr txBox="1"/>
          <p:nvPr/>
        </p:nvSpPr>
        <p:spPr>
          <a:xfrm>
            <a:off x="4550841" y="2802733"/>
            <a:ext cx="2264800" cy="1354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67" tIns="121867" rIns="121867" bIns="121867" anchor="t" anchorCtr="0">
            <a:spAutoFit/>
          </a:bodyPr>
          <a:lstStyle/>
          <a:p>
            <a:pPr>
              <a:buClr>
                <a:srgbClr val="FFFFFF"/>
              </a:buClr>
              <a:buSzPts val="5400"/>
            </a:pPr>
            <a:r>
              <a:rPr lang="en" sz="7200" b="1" dirty="0">
                <a:solidFill>
                  <a:srgbClr val="FFFFFF"/>
                </a:solidFill>
                <a:latin typeface="Arial Narrow"/>
                <a:ea typeface="Arial Narrow"/>
                <a:cs typeface="Arial Narrow"/>
                <a:sym typeface="Arial Narrow"/>
              </a:rPr>
              <a:t>ЦБД</a:t>
            </a:r>
            <a:endParaRPr sz="1867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" name="Google Shape;850;p82">
            <a:extLst>
              <a:ext uri="{FF2B5EF4-FFF2-40B4-BE49-F238E27FC236}">
                <a16:creationId xmlns:a16="http://schemas.microsoft.com/office/drawing/2014/main" id="{225EFAF5-D12B-45A4-A48A-922A2D888BCC}"/>
              </a:ext>
            </a:extLst>
          </p:cNvPr>
          <p:cNvSpPr txBox="1"/>
          <p:nvPr/>
        </p:nvSpPr>
        <p:spPr>
          <a:xfrm>
            <a:off x="348280" y="229338"/>
            <a:ext cx="10981189" cy="4744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algn="ctr"/>
            <a:r>
              <a:rPr lang="uk-UA" sz="3000" b="1" dirty="0">
                <a:solidFill>
                  <a:srgbClr val="FFFFFF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 </a:t>
            </a:r>
            <a:r>
              <a:rPr lang="uk-UA" sz="3000" b="1" dirty="0">
                <a:solidFill>
                  <a:srgbClr val="00206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Кількість проведених процедур з </a:t>
            </a:r>
            <a:r>
              <a:rPr lang="uk-UA" sz="3000" b="1" dirty="0" err="1">
                <a:solidFill>
                  <a:srgbClr val="00206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ангіопластики</a:t>
            </a:r>
            <a:r>
              <a:rPr lang="uk-UA" sz="3000" b="1" dirty="0">
                <a:solidFill>
                  <a:srgbClr val="00206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 </a:t>
            </a:r>
          </a:p>
        </p:txBody>
      </p:sp>
      <p:graphicFrame>
        <p:nvGraphicFramePr>
          <p:cNvPr id="10" name="Діаграма 9">
            <a:extLst>
              <a:ext uri="{FF2B5EF4-FFF2-40B4-BE49-F238E27FC236}">
                <a16:creationId xmlns:a16="http://schemas.microsoft.com/office/drawing/2014/main" id="{CCAAD621-69DD-442B-80D4-FC38D8937736}"/>
              </a:ext>
            </a:extLst>
          </p:cNvPr>
          <p:cNvGraphicFramePr/>
          <p:nvPr/>
        </p:nvGraphicFramePr>
        <p:xfrm>
          <a:off x="829046" y="4377085"/>
          <a:ext cx="4542026" cy="236703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9" name="Title 1">
            <a:extLst>
              <a:ext uri="{FF2B5EF4-FFF2-40B4-BE49-F238E27FC236}">
                <a16:creationId xmlns:a16="http://schemas.microsoft.com/office/drawing/2014/main" id="{497BCF3C-903B-4C3B-BBBA-F4B0C3D724AD}"/>
              </a:ext>
            </a:extLst>
          </p:cNvPr>
          <p:cNvSpPr txBox="1">
            <a:spLocks/>
          </p:cNvSpPr>
          <p:nvPr/>
        </p:nvSpPr>
        <p:spPr>
          <a:xfrm>
            <a:off x="423519" y="3852531"/>
            <a:ext cx="5371072" cy="8673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13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Частка</a:t>
            </a:r>
            <a:r>
              <a:rPr lang="ru-RU" sz="13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3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пацієнтів</a:t>
            </a:r>
            <a:r>
              <a:rPr lang="ru-RU" sz="13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13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яким</a:t>
            </a:r>
            <a:r>
              <a:rPr lang="ru-RU" sz="13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проведено </a:t>
            </a:r>
            <a:r>
              <a:rPr lang="ru-RU" sz="13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ангіопластику</a:t>
            </a:r>
            <a:endParaRPr lang="ru-RU" sz="13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ru-RU" sz="13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за 2020-2022рр.</a:t>
            </a:r>
          </a:p>
          <a:p>
            <a:pPr algn="ctr"/>
            <a:r>
              <a:rPr lang="ru-RU" sz="13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(% </a:t>
            </a:r>
            <a:r>
              <a:rPr lang="ru-RU" sz="13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від</a:t>
            </a:r>
            <a:r>
              <a:rPr lang="ru-RU" sz="13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к-</a:t>
            </a:r>
            <a:r>
              <a:rPr lang="ru-RU" sz="13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ті</a:t>
            </a:r>
            <a:r>
              <a:rPr lang="ru-RU" sz="13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ГМІ)</a:t>
            </a:r>
            <a:endParaRPr lang="en-US" dirty="0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007DCDC4-82EC-4E89-A74F-FA6E23BB4BAC}"/>
              </a:ext>
            </a:extLst>
          </p:cNvPr>
          <p:cNvSpPr txBox="1">
            <a:spLocks/>
          </p:cNvSpPr>
          <p:nvPr/>
        </p:nvSpPr>
        <p:spPr>
          <a:xfrm>
            <a:off x="6397409" y="3863097"/>
            <a:ext cx="5371072" cy="8673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13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Частка</a:t>
            </a:r>
            <a:r>
              <a:rPr lang="ru-RU" sz="13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3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пацієнтів</a:t>
            </a:r>
            <a:r>
              <a:rPr lang="ru-RU" sz="13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13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яким</a:t>
            </a:r>
            <a:r>
              <a:rPr lang="ru-RU" sz="13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проведено </a:t>
            </a:r>
            <a:r>
              <a:rPr lang="ru-RU" sz="13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ендоваскулярні</a:t>
            </a:r>
            <a:r>
              <a:rPr lang="ru-RU" sz="13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3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втручання</a:t>
            </a:r>
            <a:r>
              <a:rPr lang="ru-RU" sz="13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ru-RU" sz="13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емболізація</a:t>
            </a:r>
            <a:r>
              <a:rPr lang="ru-RU" sz="13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аневризм)  за 2020-2022рр.</a:t>
            </a:r>
          </a:p>
          <a:p>
            <a:pPr algn="ctr"/>
            <a:r>
              <a:rPr lang="ru-RU" sz="13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(% </a:t>
            </a:r>
            <a:r>
              <a:rPr lang="ru-RU" sz="13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від</a:t>
            </a:r>
            <a:r>
              <a:rPr lang="ru-RU" sz="13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к-</a:t>
            </a:r>
            <a:r>
              <a:rPr lang="ru-RU" sz="13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ті</a:t>
            </a:r>
            <a:r>
              <a:rPr lang="ru-RU" sz="13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ГМІ)</a:t>
            </a:r>
            <a:endParaRPr lang="en-US" dirty="0"/>
          </a:p>
        </p:txBody>
      </p:sp>
      <p:graphicFrame>
        <p:nvGraphicFramePr>
          <p:cNvPr id="3" name="Таблиця 2">
            <a:extLst>
              <a:ext uri="{FF2B5EF4-FFF2-40B4-BE49-F238E27FC236}">
                <a16:creationId xmlns:a16="http://schemas.microsoft.com/office/drawing/2014/main" id="{85193C7F-7189-4E65-A5FD-51F696321C5E}"/>
              </a:ext>
            </a:extLst>
          </p:cNvPr>
          <p:cNvGraphicFramePr>
            <a:graphicFrameLocks noGrp="1"/>
          </p:cNvGraphicFramePr>
          <p:nvPr/>
        </p:nvGraphicFramePr>
        <p:xfrm>
          <a:off x="730240" y="778462"/>
          <a:ext cx="10889337" cy="3084635"/>
        </p:xfrm>
        <a:graphic>
          <a:graphicData uri="http://schemas.openxmlformats.org/drawingml/2006/table">
            <a:tbl>
              <a:tblPr/>
              <a:tblGrid>
                <a:gridCol w="645396">
                  <a:extLst>
                    <a:ext uri="{9D8B030D-6E8A-4147-A177-3AD203B41FA5}">
                      <a16:colId xmlns:a16="http://schemas.microsoft.com/office/drawing/2014/main" val="2766691892"/>
                    </a:ext>
                  </a:extLst>
                </a:gridCol>
                <a:gridCol w="2966073">
                  <a:extLst>
                    <a:ext uri="{9D8B030D-6E8A-4147-A177-3AD203B41FA5}">
                      <a16:colId xmlns:a16="http://schemas.microsoft.com/office/drawing/2014/main" val="3744536794"/>
                    </a:ext>
                  </a:extLst>
                </a:gridCol>
                <a:gridCol w="648829">
                  <a:extLst>
                    <a:ext uri="{9D8B030D-6E8A-4147-A177-3AD203B41FA5}">
                      <a16:colId xmlns:a16="http://schemas.microsoft.com/office/drawing/2014/main" val="3676525812"/>
                    </a:ext>
                  </a:extLst>
                </a:gridCol>
                <a:gridCol w="648829">
                  <a:extLst>
                    <a:ext uri="{9D8B030D-6E8A-4147-A177-3AD203B41FA5}">
                      <a16:colId xmlns:a16="http://schemas.microsoft.com/office/drawing/2014/main" val="1191871623"/>
                    </a:ext>
                  </a:extLst>
                </a:gridCol>
                <a:gridCol w="648829">
                  <a:extLst>
                    <a:ext uri="{9D8B030D-6E8A-4147-A177-3AD203B41FA5}">
                      <a16:colId xmlns:a16="http://schemas.microsoft.com/office/drawing/2014/main" val="3932509536"/>
                    </a:ext>
                  </a:extLst>
                </a:gridCol>
                <a:gridCol w="648829">
                  <a:extLst>
                    <a:ext uri="{9D8B030D-6E8A-4147-A177-3AD203B41FA5}">
                      <a16:colId xmlns:a16="http://schemas.microsoft.com/office/drawing/2014/main" val="3334347135"/>
                    </a:ext>
                  </a:extLst>
                </a:gridCol>
                <a:gridCol w="607633">
                  <a:extLst>
                    <a:ext uri="{9D8B030D-6E8A-4147-A177-3AD203B41FA5}">
                      <a16:colId xmlns:a16="http://schemas.microsoft.com/office/drawing/2014/main" val="2265515327"/>
                    </a:ext>
                  </a:extLst>
                </a:gridCol>
                <a:gridCol w="607633">
                  <a:extLst>
                    <a:ext uri="{9D8B030D-6E8A-4147-A177-3AD203B41FA5}">
                      <a16:colId xmlns:a16="http://schemas.microsoft.com/office/drawing/2014/main" val="2718123896"/>
                    </a:ext>
                  </a:extLst>
                </a:gridCol>
                <a:gridCol w="607633">
                  <a:extLst>
                    <a:ext uri="{9D8B030D-6E8A-4147-A177-3AD203B41FA5}">
                      <a16:colId xmlns:a16="http://schemas.microsoft.com/office/drawing/2014/main" val="1663669594"/>
                    </a:ext>
                  </a:extLst>
                </a:gridCol>
                <a:gridCol w="607633">
                  <a:extLst>
                    <a:ext uri="{9D8B030D-6E8A-4147-A177-3AD203B41FA5}">
                      <a16:colId xmlns:a16="http://schemas.microsoft.com/office/drawing/2014/main" val="92679569"/>
                    </a:ext>
                  </a:extLst>
                </a:gridCol>
                <a:gridCol w="563005">
                  <a:extLst>
                    <a:ext uri="{9D8B030D-6E8A-4147-A177-3AD203B41FA5}">
                      <a16:colId xmlns:a16="http://schemas.microsoft.com/office/drawing/2014/main" val="408393165"/>
                    </a:ext>
                  </a:extLst>
                </a:gridCol>
                <a:gridCol w="563005">
                  <a:extLst>
                    <a:ext uri="{9D8B030D-6E8A-4147-A177-3AD203B41FA5}">
                      <a16:colId xmlns:a16="http://schemas.microsoft.com/office/drawing/2014/main" val="332769762"/>
                    </a:ext>
                  </a:extLst>
                </a:gridCol>
                <a:gridCol w="563005">
                  <a:extLst>
                    <a:ext uri="{9D8B030D-6E8A-4147-A177-3AD203B41FA5}">
                      <a16:colId xmlns:a16="http://schemas.microsoft.com/office/drawing/2014/main" val="1494711847"/>
                    </a:ext>
                  </a:extLst>
                </a:gridCol>
                <a:gridCol w="563005">
                  <a:extLst>
                    <a:ext uri="{9D8B030D-6E8A-4147-A177-3AD203B41FA5}">
                      <a16:colId xmlns:a16="http://schemas.microsoft.com/office/drawing/2014/main" val="517356695"/>
                    </a:ext>
                  </a:extLst>
                </a:gridCol>
              </a:tblGrid>
              <a:tr h="327129">
                <a:tc rowSpan="3">
                  <a:txBody>
                    <a:bodyPr/>
                    <a:lstStyle/>
                    <a:p>
                      <a:pPr algn="ctr" rtl="0" fontAlgn="ctr"/>
                      <a:r>
                        <a:rPr lang="ru-RU" sz="1100" b="1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№ з/п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ctr" rtl="0" fontAlgn="ctr"/>
                      <a:r>
                        <a:rPr lang="ru-RU" sz="1100" b="1" i="0" u="none" strike="noStrike" dirty="0" err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Назва</a:t>
                      </a:r>
                      <a:r>
                        <a:rPr lang="ru-RU" sz="1100" b="1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 ЗОЗ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 rtl="0" fontAlgn="ctr"/>
                      <a:r>
                        <a:rPr lang="ru-RU" sz="1000" b="1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Проведено ангіопластики/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B4C6E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 rtl="0" fontAlgn="ctr"/>
                      <a:r>
                        <a:rPr lang="ru-RU" sz="1000" b="1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Летальність після проведеної ангіопластики/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B4C6E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 rtl="0" fontAlgn="ctr"/>
                      <a:r>
                        <a:rPr lang="ru-RU" sz="1000" b="1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Ендоваскулярне відновлення (емболізація аневризм)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B4C6E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2167947"/>
                  </a:ext>
                </a:extLst>
              </a:tr>
              <a:tr h="192429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 rtl="0" fontAlgn="ctr"/>
                      <a:r>
                        <a:rPr lang="ru-RU" sz="1100" b="1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(</a:t>
                      </a:r>
                      <a:r>
                        <a:rPr lang="ru-RU" sz="1100" b="1" i="0" u="none" strike="noStrike" dirty="0" err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абс.ч</a:t>
                      </a:r>
                      <a:r>
                        <a:rPr lang="ru-RU" sz="1100" b="1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./% </a:t>
                      </a:r>
                      <a:r>
                        <a:rPr lang="ru-RU" sz="1100" b="1" i="0" u="none" strike="noStrike" dirty="0" err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від</a:t>
                      </a:r>
                      <a:r>
                        <a:rPr lang="ru-RU" sz="1100" b="1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 к-</a:t>
                      </a:r>
                      <a:r>
                        <a:rPr lang="ru-RU" sz="1100" b="1" i="0" u="none" strike="noStrike" dirty="0" err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ті</a:t>
                      </a:r>
                      <a:r>
                        <a:rPr lang="ru-RU" sz="1100" b="1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 ГМІ)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 rtl="0" fontAlgn="ctr"/>
                      <a:r>
                        <a:rPr lang="ru-RU" sz="1100" b="1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(</a:t>
                      </a:r>
                      <a:r>
                        <a:rPr lang="ru-RU" sz="1100" b="1" i="0" u="none" strike="noStrike" dirty="0" err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абс.ч</a:t>
                      </a:r>
                      <a:r>
                        <a:rPr lang="ru-RU" sz="1100" b="1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./% </a:t>
                      </a:r>
                      <a:r>
                        <a:rPr lang="ru-RU" sz="1100" b="1" i="0" u="none" strike="noStrike" dirty="0" err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від</a:t>
                      </a:r>
                      <a:r>
                        <a:rPr lang="ru-RU" sz="1100" b="1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 к-</a:t>
                      </a:r>
                      <a:r>
                        <a:rPr lang="ru-RU" sz="1100" b="1" i="0" u="none" strike="noStrike" dirty="0" err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ті</a:t>
                      </a:r>
                      <a:r>
                        <a:rPr lang="ru-RU" sz="1100" b="1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 ГМІ)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 rtl="0" fontAlgn="ctr"/>
                      <a:r>
                        <a:rPr lang="ru-RU" sz="1100" b="1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(</a:t>
                      </a:r>
                      <a:r>
                        <a:rPr lang="ru-RU" sz="1100" b="1" i="0" u="none" strike="noStrike" dirty="0" err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абс.ч</a:t>
                      </a:r>
                      <a:r>
                        <a:rPr lang="ru-RU" sz="1100" b="1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./% </a:t>
                      </a:r>
                      <a:r>
                        <a:rPr lang="ru-RU" sz="1100" b="1" i="0" u="none" strike="noStrike" dirty="0" err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від</a:t>
                      </a:r>
                      <a:r>
                        <a:rPr lang="ru-RU" sz="1100" b="1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 к-</a:t>
                      </a:r>
                      <a:r>
                        <a:rPr lang="ru-RU" sz="1100" b="1" i="0" u="none" strike="noStrike" dirty="0" err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ті</a:t>
                      </a:r>
                      <a:r>
                        <a:rPr lang="ru-RU" sz="1100" b="1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  ГМІ)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19705128"/>
                  </a:ext>
                </a:extLst>
              </a:tr>
              <a:tr h="192429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100" b="1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2020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100" b="1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2021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100" b="1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2022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100" b="1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2023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100" b="1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2020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100" b="1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2021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100" b="1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2022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100" b="1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2023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100" b="1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2020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100" b="1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2021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100" b="1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2022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100" b="1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2023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7717527"/>
                  </a:ext>
                </a:extLst>
              </a:tr>
              <a:tr h="298265"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ru-RU" sz="11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l" rtl="0" fontAlgn="ctr"/>
                      <a:r>
                        <a:rPr lang="ru-RU" sz="1100" b="1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Всього 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ru-RU" sz="1100" b="1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100" b="1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17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100" b="1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34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100" b="1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58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ru-RU" sz="1100" b="1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ru-RU" sz="1100" b="1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 -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100" b="1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100" b="1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ru-RU" sz="1100" b="1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100" b="1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76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100" b="1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84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100" b="1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78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64434077"/>
                  </a:ext>
                </a:extLst>
              </a:tr>
              <a:tr h="192429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0,3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0,5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0,8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0,01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0,01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1,3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1,2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1,0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58361142"/>
                  </a:ext>
                </a:extLst>
              </a:tr>
              <a:tr h="259779"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ru-RU" sz="11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1 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l" rtl="0" fontAlgn="ctr"/>
                      <a:r>
                        <a:rPr lang="ru-RU" sz="11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Відокремлений підрозділ «Лікарня Святого Пантелеймона «КНП  "Львівське територіальне медичне об'єднання» Багатопрофільна клінічна лікарня інтенсивних методів лікування та швидкої медичної допомоги»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ru-RU" sz="1100" b="1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1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17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1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29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1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50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ru-RU" sz="11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 -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ru-RU" sz="11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-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ru-RU" sz="11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 -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ru-RU" sz="11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-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ru-RU" sz="11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 -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1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76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76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1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61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2366604"/>
                  </a:ext>
                </a:extLst>
              </a:tr>
              <a:tr h="765867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0,7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1,3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2,8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3,1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3,4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3,4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85722409"/>
                  </a:ext>
                </a:extLst>
              </a:tr>
              <a:tr h="307886"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ru-RU" sz="11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 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l" rtl="0" fontAlgn="ctr"/>
                      <a:r>
                        <a:rPr lang="ru-RU" sz="11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Відокремлений підрозділ «Лікарня Святого Луки « КНП  «Львівське територіальне медичне об'єднання» Багатопрофільна клінічна лікарня інтенсивних методів лікування та швидкої медичної допомоги»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ru-RU" sz="1100" b="1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ru-RU" sz="11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1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1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ru-RU" sz="11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 -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ru-RU" sz="11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 -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1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1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ru-RU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 -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ru-RU" sz="11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 -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1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17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57504712"/>
                  </a:ext>
                </a:extLst>
              </a:tr>
              <a:tr h="548422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0,5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0,7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0,1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0,1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0,8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1,4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3312183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8272624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460522-E79F-B582-4062-C4D8975F2D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20787" y="640634"/>
            <a:ext cx="6195909" cy="553109"/>
          </a:xfrm>
        </p:spPr>
        <p:txBody>
          <a:bodyPr>
            <a:noAutofit/>
          </a:bodyPr>
          <a:lstStyle/>
          <a:p>
            <a:pPr algn="ctr"/>
            <a:r>
              <a:rPr lang="ru-RU" sz="14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Частка</a:t>
            </a:r>
            <a:r>
              <a:rPr lang="ru-RU" sz="1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4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пацієнтів</a:t>
            </a:r>
            <a:r>
              <a:rPr lang="ru-RU" sz="1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14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яким</a:t>
            </a:r>
            <a:r>
              <a:rPr lang="ru-RU" sz="1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проведено </a:t>
            </a:r>
            <a:r>
              <a:rPr lang="ru-RU" sz="14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тромболітичну</a:t>
            </a:r>
            <a:r>
              <a:rPr lang="ru-RU" sz="1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4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терапію</a:t>
            </a:r>
            <a:r>
              <a:rPr lang="ru-RU" sz="1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(ТЛТ)</a:t>
            </a:r>
            <a:br>
              <a:rPr lang="ru-RU" sz="1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1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(% </a:t>
            </a:r>
            <a:r>
              <a:rPr lang="ru-RU" sz="14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від</a:t>
            </a:r>
            <a:r>
              <a:rPr lang="ru-RU" sz="1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к-</a:t>
            </a:r>
            <a:r>
              <a:rPr lang="ru-RU" sz="14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ті</a:t>
            </a:r>
            <a:r>
              <a:rPr lang="ru-RU" sz="1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ГМІ)</a:t>
            </a:r>
            <a:endParaRPr lang="en-US" sz="1400" dirty="0"/>
          </a:p>
        </p:txBody>
      </p:sp>
      <p:graphicFrame>
        <p:nvGraphicFramePr>
          <p:cNvPr id="12" name="Місце для вмісту 11">
            <a:extLst>
              <a:ext uri="{FF2B5EF4-FFF2-40B4-BE49-F238E27FC236}">
                <a16:creationId xmlns:a16="http://schemas.microsoft.com/office/drawing/2014/main" id="{0C72048C-C526-42FA-9FA6-31D1EA1726D6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344569" y="734617"/>
          <a:ext cx="10148344" cy="344786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4" name="Місце для вмісту 11">
            <a:extLst>
              <a:ext uri="{FF2B5EF4-FFF2-40B4-BE49-F238E27FC236}">
                <a16:creationId xmlns:a16="http://schemas.microsoft.com/office/drawing/2014/main" id="{00F92A99-A38F-42E2-89EF-26C86ED0FEB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967141063"/>
              </p:ext>
            </p:extLst>
          </p:nvPr>
        </p:nvGraphicFramePr>
        <p:xfrm>
          <a:off x="1161789" y="4321269"/>
          <a:ext cx="3816000" cy="2628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itle 1">
            <a:extLst>
              <a:ext uri="{FF2B5EF4-FFF2-40B4-BE49-F238E27FC236}">
                <a16:creationId xmlns:a16="http://schemas.microsoft.com/office/drawing/2014/main" id="{6F507D60-15AE-4F7D-815A-61E6566E205A}"/>
              </a:ext>
            </a:extLst>
          </p:cNvPr>
          <p:cNvSpPr txBox="1">
            <a:spLocks/>
          </p:cNvSpPr>
          <p:nvPr/>
        </p:nvSpPr>
        <p:spPr>
          <a:xfrm>
            <a:off x="457007" y="3551649"/>
            <a:ext cx="5371072" cy="8673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13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Частка</a:t>
            </a:r>
            <a:r>
              <a:rPr lang="ru-RU" sz="13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3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пацієнтів</a:t>
            </a:r>
            <a:r>
              <a:rPr lang="ru-RU" sz="13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13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яким</a:t>
            </a:r>
            <a:r>
              <a:rPr lang="ru-RU" sz="13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проведено </a:t>
            </a:r>
            <a:r>
              <a:rPr lang="ru-RU" sz="13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тромбоекстракцію</a:t>
            </a:r>
            <a:r>
              <a:rPr lang="ru-RU" sz="13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(ТЕ)</a:t>
            </a:r>
          </a:p>
          <a:p>
            <a:pPr algn="ctr"/>
            <a:r>
              <a:rPr lang="ru-RU" sz="13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за 2020р-2023рр.</a:t>
            </a:r>
          </a:p>
          <a:p>
            <a:pPr algn="ctr"/>
            <a:r>
              <a:rPr lang="ru-RU" sz="13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(% </a:t>
            </a:r>
            <a:r>
              <a:rPr lang="ru-RU" sz="13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від</a:t>
            </a:r>
            <a:r>
              <a:rPr lang="ru-RU" sz="13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к-</a:t>
            </a:r>
            <a:r>
              <a:rPr lang="ru-RU" sz="13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ті</a:t>
            </a:r>
            <a:r>
              <a:rPr lang="ru-RU" sz="13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ГМІ)</a:t>
            </a:r>
            <a:endParaRPr lang="en-US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2E784FBC-81C9-4074-9E59-A8F81B346137}"/>
              </a:ext>
            </a:extLst>
          </p:cNvPr>
          <p:cNvSpPr txBox="1">
            <a:spLocks/>
          </p:cNvSpPr>
          <p:nvPr/>
        </p:nvSpPr>
        <p:spPr>
          <a:xfrm>
            <a:off x="1240998" y="184703"/>
            <a:ext cx="8217797" cy="553108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30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Якість</a:t>
            </a:r>
            <a:r>
              <a:rPr lang="ru-RU" sz="3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0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послуг</a:t>
            </a:r>
            <a:r>
              <a:rPr lang="ru-RU" sz="3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у 2023р.</a:t>
            </a:r>
          </a:p>
        </p:txBody>
      </p:sp>
      <p:graphicFrame>
        <p:nvGraphicFramePr>
          <p:cNvPr id="8" name="Місце для вмісту 11">
            <a:extLst>
              <a:ext uri="{FF2B5EF4-FFF2-40B4-BE49-F238E27FC236}">
                <a16:creationId xmlns:a16="http://schemas.microsoft.com/office/drawing/2014/main" id="{2DBD824E-A8EC-41C2-AA97-9E5CE1527AE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056561295"/>
              </p:ext>
            </p:extLst>
          </p:nvPr>
        </p:nvGraphicFramePr>
        <p:xfrm>
          <a:off x="7160789" y="4182481"/>
          <a:ext cx="3869422" cy="240077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9" name="Title 1">
            <a:extLst>
              <a:ext uri="{FF2B5EF4-FFF2-40B4-BE49-F238E27FC236}">
                <a16:creationId xmlns:a16="http://schemas.microsoft.com/office/drawing/2014/main" id="{C72F69F4-2672-40CA-9377-14D95B65A835}"/>
              </a:ext>
            </a:extLst>
          </p:cNvPr>
          <p:cNvSpPr txBox="1">
            <a:spLocks/>
          </p:cNvSpPr>
          <p:nvPr/>
        </p:nvSpPr>
        <p:spPr>
          <a:xfrm>
            <a:off x="6678369" y="3551649"/>
            <a:ext cx="5371072" cy="8673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13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Частка</a:t>
            </a:r>
            <a:r>
              <a:rPr lang="ru-RU" sz="13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3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пацієнтів</a:t>
            </a:r>
            <a:r>
              <a:rPr lang="ru-RU" sz="13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13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яким</a:t>
            </a:r>
            <a:r>
              <a:rPr lang="ru-RU" sz="13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проведено тромбоекстракцію, </a:t>
            </a:r>
            <a:r>
              <a:rPr lang="ru-RU" sz="13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ангіопластику</a:t>
            </a:r>
            <a:r>
              <a:rPr lang="ru-RU" sz="13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13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ендоваскулярні</a:t>
            </a:r>
            <a:r>
              <a:rPr lang="ru-RU" sz="13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3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втручання</a:t>
            </a:r>
            <a:r>
              <a:rPr lang="ru-RU" sz="13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ru-RU" sz="13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емболізація</a:t>
            </a:r>
            <a:r>
              <a:rPr lang="ru-RU" sz="13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аневризм)  у 2023р</a:t>
            </a:r>
          </a:p>
          <a:p>
            <a:pPr algn="ctr"/>
            <a:r>
              <a:rPr lang="ru-RU" sz="13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(% </a:t>
            </a:r>
            <a:r>
              <a:rPr lang="ru-RU" sz="13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від</a:t>
            </a:r>
            <a:r>
              <a:rPr lang="ru-RU" sz="13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ГМІ)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830982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606F607-A866-400F-825E-4954E7F54B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32454" y="153561"/>
            <a:ext cx="9727092" cy="763600"/>
          </a:xfrm>
        </p:spPr>
        <p:txBody>
          <a:bodyPr>
            <a:normAutofit fontScale="90000"/>
          </a:bodyPr>
          <a:lstStyle/>
          <a:p>
            <a:r>
              <a:rPr lang="uk-UA" sz="3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Кількість пацієнтів з </a:t>
            </a:r>
            <a:r>
              <a:rPr lang="uk-UA" sz="30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ГМІ</a:t>
            </a:r>
            <a:r>
              <a:rPr lang="uk-UA" sz="3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що пройшли реабілітацію у 2023р.</a:t>
            </a:r>
          </a:p>
        </p:txBody>
      </p:sp>
      <p:graphicFrame>
        <p:nvGraphicFramePr>
          <p:cNvPr id="4" name="Таблиця 3">
            <a:extLst>
              <a:ext uri="{FF2B5EF4-FFF2-40B4-BE49-F238E27FC236}">
                <a16:creationId xmlns:a16="http://schemas.microsoft.com/office/drawing/2014/main" id="{85929BA4-AC34-4ED5-A283-F2360511CC9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95358601"/>
              </p:ext>
            </p:extLst>
          </p:nvPr>
        </p:nvGraphicFramePr>
        <p:xfrm>
          <a:off x="450011" y="983411"/>
          <a:ext cx="11514828" cy="5443267"/>
        </p:xfrm>
        <a:graphic>
          <a:graphicData uri="http://schemas.openxmlformats.org/drawingml/2006/table">
            <a:tbl>
              <a:tblPr/>
              <a:tblGrid>
                <a:gridCol w="287056">
                  <a:extLst>
                    <a:ext uri="{9D8B030D-6E8A-4147-A177-3AD203B41FA5}">
                      <a16:colId xmlns:a16="http://schemas.microsoft.com/office/drawing/2014/main" val="1457432428"/>
                    </a:ext>
                  </a:extLst>
                </a:gridCol>
                <a:gridCol w="3469117">
                  <a:extLst>
                    <a:ext uri="{9D8B030D-6E8A-4147-A177-3AD203B41FA5}">
                      <a16:colId xmlns:a16="http://schemas.microsoft.com/office/drawing/2014/main" val="908382153"/>
                    </a:ext>
                  </a:extLst>
                </a:gridCol>
                <a:gridCol w="710253">
                  <a:extLst>
                    <a:ext uri="{9D8B030D-6E8A-4147-A177-3AD203B41FA5}">
                      <a16:colId xmlns:a16="http://schemas.microsoft.com/office/drawing/2014/main" val="4156283981"/>
                    </a:ext>
                  </a:extLst>
                </a:gridCol>
                <a:gridCol w="722678">
                  <a:extLst>
                    <a:ext uri="{9D8B030D-6E8A-4147-A177-3AD203B41FA5}">
                      <a16:colId xmlns:a16="http://schemas.microsoft.com/office/drawing/2014/main" val="3002756548"/>
                    </a:ext>
                  </a:extLst>
                </a:gridCol>
                <a:gridCol w="775030">
                  <a:extLst>
                    <a:ext uri="{9D8B030D-6E8A-4147-A177-3AD203B41FA5}">
                      <a16:colId xmlns:a16="http://schemas.microsoft.com/office/drawing/2014/main" val="2357070050"/>
                    </a:ext>
                  </a:extLst>
                </a:gridCol>
                <a:gridCol w="536597">
                  <a:extLst>
                    <a:ext uri="{9D8B030D-6E8A-4147-A177-3AD203B41FA5}">
                      <a16:colId xmlns:a16="http://schemas.microsoft.com/office/drawing/2014/main" val="1186314265"/>
                    </a:ext>
                  </a:extLst>
                </a:gridCol>
                <a:gridCol w="390337">
                  <a:extLst>
                    <a:ext uri="{9D8B030D-6E8A-4147-A177-3AD203B41FA5}">
                      <a16:colId xmlns:a16="http://schemas.microsoft.com/office/drawing/2014/main" val="2533899591"/>
                    </a:ext>
                  </a:extLst>
                </a:gridCol>
                <a:gridCol w="698740">
                  <a:extLst>
                    <a:ext uri="{9D8B030D-6E8A-4147-A177-3AD203B41FA5}">
                      <a16:colId xmlns:a16="http://schemas.microsoft.com/office/drawing/2014/main" val="4051849299"/>
                    </a:ext>
                  </a:extLst>
                </a:gridCol>
                <a:gridCol w="344779">
                  <a:extLst>
                    <a:ext uri="{9D8B030D-6E8A-4147-A177-3AD203B41FA5}">
                      <a16:colId xmlns:a16="http://schemas.microsoft.com/office/drawing/2014/main" val="2293356311"/>
                    </a:ext>
                  </a:extLst>
                </a:gridCol>
                <a:gridCol w="668547">
                  <a:extLst>
                    <a:ext uri="{9D8B030D-6E8A-4147-A177-3AD203B41FA5}">
                      <a16:colId xmlns:a16="http://schemas.microsoft.com/office/drawing/2014/main" val="810245467"/>
                    </a:ext>
                  </a:extLst>
                </a:gridCol>
                <a:gridCol w="519002">
                  <a:extLst>
                    <a:ext uri="{9D8B030D-6E8A-4147-A177-3AD203B41FA5}">
                      <a16:colId xmlns:a16="http://schemas.microsoft.com/office/drawing/2014/main" val="2932621439"/>
                    </a:ext>
                  </a:extLst>
                </a:gridCol>
                <a:gridCol w="686140">
                  <a:extLst>
                    <a:ext uri="{9D8B030D-6E8A-4147-A177-3AD203B41FA5}">
                      <a16:colId xmlns:a16="http://schemas.microsoft.com/office/drawing/2014/main" val="3802801323"/>
                    </a:ext>
                  </a:extLst>
                </a:gridCol>
                <a:gridCol w="351866">
                  <a:extLst>
                    <a:ext uri="{9D8B030D-6E8A-4147-A177-3AD203B41FA5}">
                      <a16:colId xmlns:a16="http://schemas.microsoft.com/office/drawing/2014/main" val="2848406949"/>
                    </a:ext>
                  </a:extLst>
                </a:gridCol>
                <a:gridCol w="809294">
                  <a:extLst>
                    <a:ext uri="{9D8B030D-6E8A-4147-A177-3AD203B41FA5}">
                      <a16:colId xmlns:a16="http://schemas.microsoft.com/office/drawing/2014/main" val="268461404"/>
                    </a:ext>
                  </a:extLst>
                </a:gridCol>
                <a:gridCol w="545392">
                  <a:extLst>
                    <a:ext uri="{9D8B030D-6E8A-4147-A177-3AD203B41FA5}">
                      <a16:colId xmlns:a16="http://schemas.microsoft.com/office/drawing/2014/main" val="3855140063"/>
                    </a:ext>
                  </a:extLst>
                </a:gridCol>
              </a:tblGrid>
              <a:tr h="199790">
                <a:tc rowSpan="3">
                  <a:txBody>
                    <a:bodyPr/>
                    <a:lstStyle/>
                    <a:p>
                      <a:pPr algn="ctr" rtl="0" fontAlgn="ctr"/>
                      <a:r>
                        <a:rPr lang="uk-UA" sz="1000" b="1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№ з/п</a:t>
                      </a:r>
                    </a:p>
                  </a:txBody>
                  <a:tcPr marL="7131" marR="7131" marT="713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ctr" rtl="0" fontAlgn="ctr"/>
                      <a:r>
                        <a:rPr lang="uk-UA" sz="1000" b="1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Назва установи</a:t>
                      </a:r>
                    </a:p>
                  </a:txBody>
                  <a:tcPr marL="7131" marR="7131" marT="713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ctr" rtl="0" fontAlgn="ctr"/>
                      <a:r>
                        <a:rPr lang="uk-UA" sz="1000" b="1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Кількість пацієнтів з </a:t>
                      </a:r>
                      <a:r>
                        <a:rPr lang="uk-UA" sz="1000" b="1" i="0" u="none" strike="noStrike" dirty="0" err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ГМІ</a:t>
                      </a:r>
                      <a:endParaRPr lang="uk-UA" sz="1000" b="1" i="0" u="none" strike="noStrike" dirty="0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131" marR="7131" marT="713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uk-UA" sz="800" b="1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з них</a:t>
                      </a:r>
                    </a:p>
                  </a:txBody>
                  <a:tcPr marL="7131" marR="7131" marT="713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uk-UA"/>
                    </a:p>
                  </a:txBody>
                  <a:tcPr/>
                </a:tc>
                <a:tc gridSpan="10">
                  <a:txBody>
                    <a:bodyPr/>
                    <a:lstStyle/>
                    <a:p>
                      <a:pPr algn="ctr" rtl="0" fontAlgn="ctr"/>
                      <a:r>
                        <a:rPr lang="uk-UA" sz="1100" b="1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Реабілітаційна допомога</a:t>
                      </a:r>
                    </a:p>
                  </a:txBody>
                  <a:tcPr marL="7131" marR="7131" marT="713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uk-U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uk-U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uk-U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uk-U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uk-U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uk-U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uk-U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uk-U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uk-UA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55712652"/>
                  </a:ext>
                </a:extLst>
              </a:tr>
              <a:tr h="258481">
                <a:tc vMerge="1">
                  <a:txBody>
                    <a:bodyPr/>
                    <a:lstStyle/>
                    <a:p>
                      <a:endParaRPr lang="uk-UA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uk-UA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uk-UA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uk-UA" sz="1000" b="1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з ішемічним інсультом</a:t>
                      </a:r>
                    </a:p>
                  </a:txBody>
                  <a:tcPr marL="7131" marR="7131" marT="713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uk-UA" sz="1000" b="1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з геморагічним інсультом</a:t>
                      </a:r>
                    </a:p>
                  </a:txBody>
                  <a:tcPr marL="7131" marR="7131" marT="713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uk-UA" sz="1000" b="1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Всього</a:t>
                      </a:r>
                    </a:p>
                  </a:txBody>
                  <a:tcPr marL="7131" marR="7131" marT="713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uk-UA" sz="1000" b="1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% від к-ті </a:t>
                      </a:r>
                      <a:r>
                        <a:rPr lang="uk-UA" sz="1000" b="1" i="0" u="none" strike="noStrike" dirty="0" err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ГМІ</a:t>
                      </a:r>
                      <a:endParaRPr lang="uk-UA" sz="1000" b="1" i="0" u="none" strike="noStrike" dirty="0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131" marR="7131" marT="713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 rtl="0" fontAlgn="ctr"/>
                      <a:r>
                        <a:rPr lang="uk-UA" sz="1000" b="1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амбулаторна</a:t>
                      </a:r>
                    </a:p>
                  </a:txBody>
                  <a:tcPr marL="7131" marR="7131" marT="713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uk-U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uk-U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uk-UA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 rtl="0" fontAlgn="ctr"/>
                      <a:r>
                        <a:rPr lang="uk-UA" sz="1000" b="1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стаціонарна</a:t>
                      </a:r>
                    </a:p>
                  </a:txBody>
                  <a:tcPr marL="7131" marR="7131" marT="713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uk-U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uk-U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uk-UA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82501185"/>
                  </a:ext>
                </a:extLst>
              </a:tr>
              <a:tr h="659127">
                <a:tc vMerge="1">
                  <a:txBody>
                    <a:bodyPr/>
                    <a:lstStyle/>
                    <a:p>
                      <a:endParaRPr lang="uk-UA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uk-UA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uk-UA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uk-UA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uk-UA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uk-UA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uk-UA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uk-UA" sz="1000" b="1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з ішемічним інсультом</a:t>
                      </a:r>
                    </a:p>
                  </a:txBody>
                  <a:tcPr marL="7131" marR="7131" marT="713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uk-UA" sz="1000" b="1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% від к-ті </a:t>
                      </a:r>
                      <a:r>
                        <a:rPr lang="uk-UA" sz="1000" b="1" i="0" u="none" strike="noStrike" dirty="0" err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ГМІ</a:t>
                      </a:r>
                      <a:endParaRPr lang="uk-UA" sz="1000" b="1" i="0" u="none" strike="noStrike" dirty="0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131" marR="7131" marT="713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uk-UA" sz="1000" b="1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з геморагічним інсультом</a:t>
                      </a:r>
                    </a:p>
                  </a:txBody>
                  <a:tcPr marL="7131" marR="7131" marT="713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uk-UA" sz="1000" b="1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% від к-ті ГМІ</a:t>
                      </a:r>
                    </a:p>
                  </a:txBody>
                  <a:tcPr marL="7131" marR="7131" marT="713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uk-UA" sz="1000" b="1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з ішемічним інсультом</a:t>
                      </a:r>
                    </a:p>
                  </a:txBody>
                  <a:tcPr marL="7131" marR="7131" marT="713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uk-UA" sz="1000" b="1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% від к-ті ГМІ</a:t>
                      </a:r>
                    </a:p>
                  </a:txBody>
                  <a:tcPr marL="7131" marR="7131" marT="713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uk-UA" sz="1000" b="1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з геморагічним інсультом</a:t>
                      </a:r>
                    </a:p>
                  </a:txBody>
                  <a:tcPr marL="7131" marR="7131" marT="713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uk-UA" sz="1000" b="1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% від к-ті </a:t>
                      </a:r>
                      <a:r>
                        <a:rPr lang="uk-UA" sz="1000" b="1" i="0" u="none" strike="noStrike" dirty="0" err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ГМІ</a:t>
                      </a:r>
                      <a:endParaRPr lang="uk-UA" sz="1000" b="1" i="0" u="none" strike="noStrike" dirty="0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131" marR="7131" marT="713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09899386"/>
                  </a:ext>
                </a:extLst>
              </a:tr>
              <a:tr h="184630">
                <a:tc>
                  <a:txBody>
                    <a:bodyPr/>
                    <a:lstStyle/>
                    <a:p>
                      <a:pPr algn="ctr" rtl="0" fontAlgn="ctr"/>
                      <a:r>
                        <a:rPr lang="uk-UA" sz="10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</a:p>
                  </a:txBody>
                  <a:tcPr marL="7131" marR="7131" marT="713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uk-UA" sz="1000" b="1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Всього</a:t>
                      </a:r>
                    </a:p>
                  </a:txBody>
                  <a:tcPr marL="7131" marR="7131" marT="713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uk-UA" sz="1000" b="1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7525</a:t>
                      </a:r>
                    </a:p>
                  </a:txBody>
                  <a:tcPr marL="7131" marR="7131" marT="713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uk-UA" sz="1000" b="1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6413</a:t>
                      </a:r>
                    </a:p>
                  </a:txBody>
                  <a:tcPr marL="7131" marR="7131" marT="713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uk-UA" sz="1000" b="1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1112</a:t>
                      </a:r>
                    </a:p>
                  </a:txBody>
                  <a:tcPr marL="7131" marR="7131" marT="713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uk-UA" sz="1000" b="1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4836</a:t>
                      </a:r>
                    </a:p>
                  </a:txBody>
                  <a:tcPr marL="7131" marR="7131" marT="713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000" b="1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64,3</a:t>
                      </a:r>
                    </a:p>
                  </a:txBody>
                  <a:tcPr marL="7131" marR="7131" marT="713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uk-UA" sz="1000" b="1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342</a:t>
                      </a:r>
                    </a:p>
                  </a:txBody>
                  <a:tcPr marL="7131" marR="7131" marT="713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000" b="1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4,5</a:t>
                      </a:r>
                    </a:p>
                  </a:txBody>
                  <a:tcPr marL="7131" marR="7131" marT="713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uk-UA" sz="1000" b="1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14</a:t>
                      </a:r>
                    </a:p>
                  </a:txBody>
                  <a:tcPr marL="7131" marR="7131" marT="713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000" b="1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0,2</a:t>
                      </a:r>
                    </a:p>
                  </a:txBody>
                  <a:tcPr marL="7131" marR="7131" marT="713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uk-UA" sz="1000" b="1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3931</a:t>
                      </a:r>
                    </a:p>
                  </a:txBody>
                  <a:tcPr marL="7131" marR="7131" marT="713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000" b="1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52,2</a:t>
                      </a:r>
                    </a:p>
                  </a:txBody>
                  <a:tcPr marL="7131" marR="7131" marT="713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uk-UA" sz="1000" b="1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549</a:t>
                      </a:r>
                    </a:p>
                  </a:txBody>
                  <a:tcPr marL="7131" marR="7131" marT="713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000" b="1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7,3</a:t>
                      </a:r>
                    </a:p>
                  </a:txBody>
                  <a:tcPr marL="7131" marR="7131" marT="713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16507285"/>
                  </a:ext>
                </a:extLst>
              </a:tr>
              <a:tr h="184630">
                <a:tc>
                  <a:txBody>
                    <a:bodyPr/>
                    <a:lstStyle/>
                    <a:p>
                      <a:pPr algn="ctr" rtl="0" fontAlgn="ctr"/>
                      <a:r>
                        <a:rPr lang="uk-UA" sz="10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1</a:t>
                      </a:r>
                    </a:p>
                  </a:txBody>
                  <a:tcPr marL="7131" marR="7131" marT="713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ru-RU" sz="10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 КНП ЛОР «Львівська обласна клінічна лікарня»</a:t>
                      </a:r>
                    </a:p>
                  </a:txBody>
                  <a:tcPr marL="7131" marR="7131" marT="713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uk-UA" sz="10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721</a:t>
                      </a:r>
                    </a:p>
                  </a:txBody>
                  <a:tcPr marL="7131" marR="7131" marT="713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uk-UA" sz="10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642</a:t>
                      </a:r>
                    </a:p>
                  </a:txBody>
                  <a:tcPr marL="7131" marR="7131" marT="713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uk-UA" sz="10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79</a:t>
                      </a:r>
                    </a:p>
                  </a:txBody>
                  <a:tcPr marL="7131" marR="7131" marT="713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uk-UA" sz="10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49</a:t>
                      </a:r>
                    </a:p>
                  </a:txBody>
                  <a:tcPr marL="7131" marR="7131" marT="713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6,8</a:t>
                      </a:r>
                    </a:p>
                  </a:txBody>
                  <a:tcPr marL="7131" marR="7131" marT="713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0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-</a:t>
                      </a:r>
                    </a:p>
                  </a:txBody>
                  <a:tcPr marL="7131" marR="7131" marT="713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0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-</a:t>
                      </a:r>
                    </a:p>
                  </a:txBody>
                  <a:tcPr marL="7131" marR="7131" marT="713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0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-</a:t>
                      </a:r>
                    </a:p>
                  </a:txBody>
                  <a:tcPr marL="7131" marR="7131" marT="713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0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-</a:t>
                      </a:r>
                    </a:p>
                  </a:txBody>
                  <a:tcPr marL="7131" marR="7131" marT="713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uk-UA" sz="10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46</a:t>
                      </a:r>
                    </a:p>
                  </a:txBody>
                  <a:tcPr marL="7131" marR="7131" marT="713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0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6,4</a:t>
                      </a:r>
                    </a:p>
                  </a:txBody>
                  <a:tcPr marL="7131" marR="7131" marT="713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uk-UA" sz="10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3</a:t>
                      </a:r>
                    </a:p>
                  </a:txBody>
                  <a:tcPr marL="7131" marR="7131" marT="713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0,4</a:t>
                      </a:r>
                    </a:p>
                  </a:txBody>
                  <a:tcPr marL="7131" marR="7131" marT="713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82385823"/>
                  </a:ext>
                </a:extLst>
              </a:tr>
              <a:tr h="738518">
                <a:tc>
                  <a:txBody>
                    <a:bodyPr/>
                    <a:lstStyle/>
                    <a:p>
                      <a:pPr algn="ctr" rtl="0" fontAlgn="ctr"/>
                      <a:r>
                        <a:rPr lang="uk-UA" sz="10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2</a:t>
                      </a:r>
                    </a:p>
                  </a:txBody>
                  <a:tcPr marL="7131" marR="7131" marT="713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uk-UA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Відокремлений підрозділ «Лікарня Святого Пантелеймона «КНП  «Львівське територіальне медичне об'єднання» Багатопрофільна клінічна лікарня інтенсивних методів лікування та швидкої медичної допомоги»</a:t>
                      </a:r>
                    </a:p>
                  </a:txBody>
                  <a:tcPr marL="7131" marR="7131" marT="713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uk-UA" sz="10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1817</a:t>
                      </a:r>
                    </a:p>
                  </a:txBody>
                  <a:tcPr marL="7131" marR="7131" marT="713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uk-UA" sz="10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1469</a:t>
                      </a:r>
                    </a:p>
                  </a:txBody>
                  <a:tcPr marL="7131" marR="7131" marT="713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uk-UA" sz="10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348</a:t>
                      </a:r>
                    </a:p>
                  </a:txBody>
                  <a:tcPr marL="7131" marR="7131" marT="713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uk-UA" sz="10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1337</a:t>
                      </a:r>
                    </a:p>
                  </a:txBody>
                  <a:tcPr marL="7131" marR="7131" marT="713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73,6</a:t>
                      </a:r>
                    </a:p>
                  </a:txBody>
                  <a:tcPr marL="7131" marR="7131" marT="713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uk-UA" sz="10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- </a:t>
                      </a:r>
                    </a:p>
                  </a:txBody>
                  <a:tcPr marL="7131" marR="7131" marT="713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uk-UA" sz="10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- </a:t>
                      </a:r>
                    </a:p>
                  </a:txBody>
                  <a:tcPr marL="7131" marR="7131" marT="713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uk-UA" sz="10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- </a:t>
                      </a:r>
                    </a:p>
                  </a:txBody>
                  <a:tcPr marL="7131" marR="7131" marT="713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uk-UA" sz="10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- </a:t>
                      </a:r>
                    </a:p>
                  </a:txBody>
                  <a:tcPr marL="7131" marR="7131" marT="713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uk-UA" sz="10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1143</a:t>
                      </a:r>
                    </a:p>
                  </a:txBody>
                  <a:tcPr marL="7131" marR="7131" marT="713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0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62,9</a:t>
                      </a:r>
                    </a:p>
                  </a:txBody>
                  <a:tcPr marL="7131" marR="7131" marT="713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uk-UA" sz="10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194</a:t>
                      </a:r>
                    </a:p>
                  </a:txBody>
                  <a:tcPr marL="7131" marR="7131" marT="713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10,7</a:t>
                      </a:r>
                    </a:p>
                  </a:txBody>
                  <a:tcPr marL="7131" marR="7131" marT="713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24412339"/>
                  </a:ext>
                </a:extLst>
              </a:tr>
              <a:tr h="738518">
                <a:tc>
                  <a:txBody>
                    <a:bodyPr/>
                    <a:lstStyle/>
                    <a:p>
                      <a:pPr algn="ctr" rtl="0" fontAlgn="ctr"/>
                      <a:r>
                        <a:rPr lang="uk-UA" sz="10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3</a:t>
                      </a:r>
                    </a:p>
                  </a:txBody>
                  <a:tcPr marL="7131" marR="7131" marT="713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uk-UA" sz="10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Відокремлений підрозділ «Лікарня Святого Луки» КНП  «Львівське територіальне медичне об'єднання» Багатопрофільна клінічна лікарня інтенсивних методів лікування та швидкої медичної допомоги»</a:t>
                      </a:r>
                    </a:p>
                  </a:txBody>
                  <a:tcPr marL="7131" marR="7131" marT="713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uk-UA" sz="10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1230</a:t>
                      </a:r>
                    </a:p>
                  </a:txBody>
                  <a:tcPr marL="7131" marR="7131" marT="713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uk-UA" sz="10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1052</a:t>
                      </a:r>
                    </a:p>
                  </a:txBody>
                  <a:tcPr marL="7131" marR="7131" marT="713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uk-UA" sz="10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178</a:t>
                      </a:r>
                    </a:p>
                  </a:txBody>
                  <a:tcPr marL="7131" marR="7131" marT="713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uk-UA" sz="10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1168</a:t>
                      </a:r>
                    </a:p>
                  </a:txBody>
                  <a:tcPr marL="7131" marR="7131" marT="713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95,0</a:t>
                      </a:r>
                    </a:p>
                  </a:txBody>
                  <a:tcPr marL="7131" marR="7131" marT="713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uk-UA" sz="10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 -</a:t>
                      </a:r>
                    </a:p>
                  </a:txBody>
                  <a:tcPr marL="7131" marR="7131" marT="713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uk-UA" sz="10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 -</a:t>
                      </a:r>
                    </a:p>
                  </a:txBody>
                  <a:tcPr marL="7131" marR="7131" marT="713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uk-UA" sz="10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 -</a:t>
                      </a:r>
                    </a:p>
                  </a:txBody>
                  <a:tcPr marL="7131" marR="7131" marT="713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uk-UA" sz="10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 -</a:t>
                      </a:r>
                    </a:p>
                  </a:txBody>
                  <a:tcPr marL="7131" marR="7131" marT="713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uk-UA" sz="10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1016</a:t>
                      </a:r>
                    </a:p>
                  </a:txBody>
                  <a:tcPr marL="7131" marR="7131" marT="713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0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82,6</a:t>
                      </a:r>
                    </a:p>
                  </a:txBody>
                  <a:tcPr marL="7131" marR="7131" marT="713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uk-UA" sz="10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152</a:t>
                      </a:r>
                    </a:p>
                  </a:txBody>
                  <a:tcPr marL="7131" marR="7131" marT="713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12,4</a:t>
                      </a:r>
                    </a:p>
                  </a:txBody>
                  <a:tcPr marL="7131" marR="7131" marT="713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39968683"/>
                  </a:ext>
                </a:extLst>
              </a:tr>
              <a:tr h="369259">
                <a:tc>
                  <a:txBody>
                    <a:bodyPr/>
                    <a:lstStyle/>
                    <a:p>
                      <a:pPr algn="ctr" rtl="0" fontAlgn="ctr"/>
                      <a:r>
                        <a:rPr lang="uk-UA" sz="10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4</a:t>
                      </a:r>
                    </a:p>
                  </a:txBody>
                  <a:tcPr marL="7131" marR="7131" marT="713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ru-RU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 КНП ЛОР «</a:t>
                      </a:r>
                      <a:r>
                        <a:rPr lang="ru-RU" sz="1000" b="0" i="0" u="none" strike="noStrike" dirty="0" err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Львівський</a:t>
                      </a:r>
                      <a:r>
                        <a:rPr lang="ru-RU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lang="ru-RU" sz="1000" b="0" i="0" u="none" strike="noStrike" dirty="0" err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обласний</a:t>
                      </a:r>
                      <a:r>
                        <a:rPr lang="ru-RU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lang="ru-RU" sz="1000" b="0" i="0" u="none" strike="noStrike" dirty="0" err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госпіталь</a:t>
                      </a:r>
                      <a:r>
                        <a:rPr lang="ru-RU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lang="ru-RU" sz="1000" b="0" i="0" u="none" strike="noStrike" dirty="0" err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ветеранів</a:t>
                      </a:r>
                      <a:r>
                        <a:rPr lang="ru-RU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lang="ru-RU" sz="1000" b="0" i="0" u="none" strike="noStrike" dirty="0" err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війн</a:t>
                      </a:r>
                      <a:r>
                        <a:rPr lang="ru-RU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 та </a:t>
                      </a:r>
                      <a:r>
                        <a:rPr lang="ru-RU" sz="1000" b="0" i="0" u="none" strike="noStrike" dirty="0" err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репресованих</a:t>
                      </a:r>
                      <a:r>
                        <a:rPr lang="ru-RU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lang="ru-RU" sz="1000" b="0" i="0" u="none" strike="noStrike" dirty="0" err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ім</a:t>
                      </a:r>
                      <a:r>
                        <a:rPr lang="ru-RU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. Ю. </a:t>
                      </a:r>
                      <a:r>
                        <a:rPr lang="ru-RU" sz="1000" b="0" i="0" u="none" strike="noStrike" dirty="0" err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Липи</a:t>
                      </a:r>
                      <a:r>
                        <a:rPr lang="ru-RU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»</a:t>
                      </a:r>
                    </a:p>
                  </a:txBody>
                  <a:tcPr marL="7131" marR="7131" marT="713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uk-UA" sz="10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560</a:t>
                      </a:r>
                    </a:p>
                  </a:txBody>
                  <a:tcPr marL="7131" marR="7131" marT="713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uk-UA" sz="10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509</a:t>
                      </a:r>
                    </a:p>
                  </a:txBody>
                  <a:tcPr marL="7131" marR="7131" marT="713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uk-UA" sz="10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51</a:t>
                      </a:r>
                    </a:p>
                  </a:txBody>
                  <a:tcPr marL="7131" marR="7131" marT="713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uk-UA" sz="10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548</a:t>
                      </a:r>
                    </a:p>
                  </a:txBody>
                  <a:tcPr marL="7131" marR="7131" marT="713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97,9</a:t>
                      </a:r>
                    </a:p>
                  </a:txBody>
                  <a:tcPr marL="7131" marR="7131" marT="713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uk-UA" sz="10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- </a:t>
                      </a:r>
                    </a:p>
                  </a:txBody>
                  <a:tcPr marL="7131" marR="7131" marT="713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uk-UA" sz="10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- </a:t>
                      </a:r>
                    </a:p>
                  </a:txBody>
                  <a:tcPr marL="7131" marR="7131" marT="713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uk-UA" sz="10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- </a:t>
                      </a:r>
                    </a:p>
                  </a:txBody>
                  <a:tcPr marL="7131" marR="7131" marT="713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uk-UA" sz="10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- </a:t>
                      </a:r>
                    </a:p>
                  </a:txBody>
                  <a:tcPr marL="7131" marR="7131" marT="713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uk-UA" sz="10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502</a:t>
                      </a:r>
                    </a:p>
                  </a:txBody>
                  <a:tcPr marL="7131" marR="7131" marT="713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0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89,6</a:t>
                      </a:r>
                    </a:p>
                  </a:txBody>
                  <a:tcPr marL="7131" marR="7131" marT="713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uk-UA" sz="10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46</a:t>
                      </a:r>
                    </a:p>
                  </a:txBody>
                  <a:tcPr marL="7131" marR="7131" marT="713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8,2</a:t>
                      </a:r>
                    </a:p>
                  </a:txBody>
                  <a:tcPr marL="7131" marR="7131" marT="713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67317016"/>
                  </a:ext>
                </a:extLst>
              </a:tr>
              <a:tr h="334179">
                <a:tc>
                  <a:txBody>
                    <a:bodyPr/>
                    <a:lstStyle/>
                    <a:p>
                      <a:pPr algn="ctr" rtl="0" fontAlgn="ctr"/>
                      <a:r>
                        <a:rPr lang="uk-UA" sz="10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5</a:t>
                      </a:r>
                    </a:p>
                  </a:txBody>
                  <a:tcPr marL="7131" marR="7131" marT="713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ru-RU" sz="10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КНП Буської міської ради «Буська центральна районна лiкарня»</a:t>
                      </a:r>
                    </a:p>
                  </a:txBody>
                  <a:tcPr marL="7131" marR="7131" marT="713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uk-UA" sz="10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396</a:t>
                      </a:r>
                    </a:p>
                  </a:txBody>
                  <a:tcPr marL="7131" marR="7131" marT="713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uk-UA" sz="10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347</a:t>
                      </a:r>
                    </a:p>
                  </a:txBody>
                  <a:tcPr marL="7131" marR="7131" marT="713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uk-UA" sz="10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49</a:t>
                      </a:r>
                    </a:p>
                  </a:txBody>
                  <a:tcPr marL="7131" marR="7131" marT="713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uk-UA" sz="10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300</a:t>
                      </a:r>
                    </a:p>
                  </a:txBody>
                  <a:tcPr marL="7131" marR="7131" marT="713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75,8</a:t>
                      </a:r>
                    </a:p>
                  </a:txBody>
                  <a:tcPr marL="7131" marR="7131" marT="713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uk-UA" sz="10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300</a:t>
                      </a:r>
                    </a:p>
                  </a:txBody>
                  <a:tcPr marL="7131" marR="7131" marT="713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0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75,8</a:t>
                      </a:r>
                    </a:p>
                  </a:txBody>
                  <a:tcPr marL="7131" marR="7131" marT="713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uk-UA" sz="10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 -</a:t>
                      </a:r>
                    </a:p>
                  </a:txBody>
                  <a:tcPr marL="7131" marR="7131" marT="713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uk-UA" sz="10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 -</a:t>
                      </a:r>
                    </a:p>
                  </a:txBody>
                  <a:tcPr marL="7131" marR="7131" marT="713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uk-UA" sz="10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 -</a:t>
                      </a:r>
                    </a:p>
                  </a:txBody>
                  <a:tcPr marL="7131" marR="7131" marT="713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uk-UA" sz="10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 -</a:t>
                      </a:r>
                    </a:p>
                  </a:txBody>
                  <a:tcPr marL="7131" marR="7131" marT="713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uk-UA" sz="10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</a:p>
                  </a:txBody>
                  <a:tcPr marL="7131" marR="7131" marT="713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uk-UA" sz="10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 -</a:t>
                      </a:r>
                    </a:p>
                  </a:txBody>
                  <a:tcPr marL="7131" marR="7131" marT="713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32711507"/>
                  </a:ext>
                </a:extLst>
              </a:tr>
              <a:tr h="369259">
                <a:tc>
                  <a:txBody>
                    <a:bodyPr/>
                    <a:lstStyle/>
                    <a:p>
                      <a:pPr algn="ctr" rtl="0" fontAlgn="ctr"/>
                      <a:r>
                        <a:rPr lang="uk-UA" sz="10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6</a:t>
                      </a:r>
                    </a:p>
                  </a:txBody>
                  <a:tcPr marL="7131" marR="7131" marT="713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uk-UA" sz="10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КНП «Дрогобицька міська лікарня № 1» Дрогобицької міської ради</a:t>
                      </a:r>
                    </a:p>
                  </a:txBody>
                  <a:tcPr marL="7131" marR="7131" marT="713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uk-UA" sz="10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879</a:t>
                      </a:r>
                    </a:p>
                  </a:txBody>
                  <a:tcPr marL="7131" marR="7131" marT="713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uk-UA" sz="10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762</a:t>
                      </a:r>
                    </a:p>
                  </a:txBody>
                  <a:tcPr marL="7131" marR="7131" marT="713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uk-UA" sz="10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117</a:t>
                      </a:r>
                    </a:p>
                  </a:txBody>
                  <a:tcPr marL="7131" marR="7131" marT="713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uk-UA" sz="10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212</a:t>
                      </a:r>
                    </a:p>
                  </a:txBody>
                  <a:tcPr marL="7131" marR="7131" marT="713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24,1</a:t>
                      </a:r>
                    </a:p>
                  </a:txBody>
                  <a:tcPr marL="7131" marR="7131" marT="713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uk-UA" sz="10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29</a:t>
                      </a:r>
                    </a:p>
                  </a:txBody>
                  <a:tcPr marL="7131" marR="7131" marT="713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0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3,3</a:t>
                      </a:r>
                    </a:p>
                  </a:txBody>
                  <a:tcPr marL="7131" marR="7131" marT="713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uk-UA" sz="10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7</a:t>
                      </a:r>
                    </a:p>
                  </a:txBody>
                  <a:tcPr marL="7131" marR="7131" marT="713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0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0,8</a:t>
                      </a:r>
                    </a:p>
                  </a:txBody>
                  <a:tcPr marL="7131" marR="7131" marT="713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uk-UA" sz="10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153</a:t>
                      </a:r>
                    </a:p>
                  </a:txBody>
                  <a:tcPr marL="7131" marR="7131" marT="713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0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17,4</a:t>
                      </a:r>
                    </a:p>
                  </a:txBody>
                  <a:tcPr marL="7131" marR="7131" marT="713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uk-UA" sz="10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23</a:t>
                      </a:r>
                    </a:p>
                  </a:txBody>
                  <a:tcPr marL="7131" marR="7131" marT="713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2,6</a:t>
                      </a:r>
                    </a:p>
                  </a:txBody>
                  <a:tcPr marL="7131" marR="7131" marT="713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02050885"/>
                  </a:ext>
                </a:extLst>
              </a:tr>
              <a:tr h="369259">
                <a:tc>
                  <a:txBody>
                    <a:bodyPr/>
                    <a:lstStyle/>
                    <a:p>
                      <a:pPr algn="ctr" rtl="0" fontAlgn="ctr"/>
                      <a:r>
                        <a:rPr lang="uk-UA" sz="10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7</a:t>
                      </a:r>
                    </a:p>
                  </a:txBody>
                  <a:tcPr marL="7131" marR="7131" marT="713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uk-UA" sz="10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 КНП «Новояворівська лікарня імені Юрія Липи» Новояворівської міської ради</a:t>
                      </a:r>
                    </a:p>
                  </a:txBody>
                  <a:tcPr marL="7131" marR="7131" marT="713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uk-UA" sz="10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329</a:t>
                      </a:r>
                    </a:p>
                  </a:txBody>
                  <a:tcPr marL="7131" marR="7131" marT="713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uk-UA" sz="10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275</a:t>
                      </a:r>
                    </a:p>
                  </a:txBody>
                  <a:tcPr marL="7131" marR="7131" marT="713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uk-UA" sz="10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54</a:t>
                      </a:r>
                    </a:p>
                  </a:txBody>
                  <a:tcPr marL="7131" marR="7131" marT="713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uk-UA" sz="10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291</a:t>
                      </a:r>
                    </a:p>
                  </a:txBody>
                  <a:tcPr marL="7131" marR="7131" marT="713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0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88,5</a:t>
                      </a:r>
                    </a:p>
                  </a:txBody>
                  <a:tcPr marL="7131" marR="7131" marT="713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uk-UA" sz="10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 -</a:t>
                      </a:r>
                    </a:p>
                  </a:txBody>
                  <a:tcPr marL="7131" marR="7131" marT="713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uk-UA" sz="10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 -</a:t>
                      </a:r>
                    </a:p>
                  </a:txBody>
                  <a:tcPr marL="7131" marR="7131" marT="713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uk-UA" sz="10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 -</a:t>
                      </a:r>
                    </a:p>
                  </a:txBody>
                  <a:tcPr marL="7131" marR="7131" marT="713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uk-UA" sz="10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 -</a:t>
                      </a:r>
                    </a:p>
                  </a:txBody>
                  <a:tcPr marL="7131" marR="7131" marT="713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uk-UA" sz="10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263</a:t>
                      </a:r>
                    </a:p>
                  </a:txBody>
                  <a:tcPr marL="7131" marR="7131" marT="713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0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79,9</a:t>
                      </a:r>
                    </a:p>
                  </a:txBody>
                  <a:tcPr marL="7131" marR="7131" marT="713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uk-UA" sz="10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28</a:t>
                      </a:r>
                    </a:p>
                  </a:txBody>
                  <a:tcPr marL="7131" marR="7131" marT="713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0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8,5</a:t>
                      </a:r>
                    </a:p>
                  </a:txBody>
                  <a:tcPr marL="7131" marR="7131" marT="713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411227"/>
                  </a:ext>
                </a:extLst>
              </a:tr>
              <a:tr h="334179">
                <a:tc>
                  <a:txBody>
                    <a:bodyPr/>
                    <a:lstStyle/>
                    <a:p>
                      <a:pPr algn="ctr" rtl="0" fontAlgn="ctr"/>
                      <a:r>
                        <a:rPr lang="uk-UA" sz="10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8</a:t>
                      </a:r>
                    </a:p>
                  </a:txBody>
                  <a:tcPr marL="7131" marR="7131" marT="713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ru-RU" sz="10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 КНП Самбірської міської ради «Самбірська центральна лікарня»</a:t>
                      </a:r>
                    </a:p>
                  </a:txBody>
                  <a:tcPr marL="7131" marR="7131" marT="713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uk-UA" sz="10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393</a:t>
                      </a:r>
                    </a:p>
                  </a:txBody>
                  <a:tcPr marL="7131" marR="7131" marT="713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uk-UA" sz="10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361</a:t>
                      </a:r>
                    </a:p>
                  </a:txBody>
                  <a:tcPr marL="7131" marR="7131" marT="713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uk-UA" sz="10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32</a:t>
                      </a:r>
                    </a:p>
                  </a:txBody>
                  <a:tcPr marL="7131" marR="7131" marT="713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uk-UA" sz="10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393</a:t>
                      </a:r>
                    </a:p>
                  </a:txBody>
                  <a:tcPr marL="7131" marR="7131" marT="713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0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100,0</a:t>
                      </a:r>
                    </a:p>
                  </a:txBody>
                  <a:tcPr marL="7131" marR="7131" marT="713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uk-UA" sz="10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 -</a:t>
                      </a:r>
                    </a:p>
                  </a:txBody>
                  <a:tcPr marL="7131" marR="7131" marT="713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uk-UA" sz="10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 -</a:t>
                      </a:r>
                    </a:p>
                  </a:txBody>
                  <a:tcPr marL="7131" marR="7131" marT="713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uk-UA" sz="10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 -</a:t>
                      </a:r>
                    </a:p>
                  </a:txBody>
                  <a:tcPr marL="7131" marR="7131" marT="713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uk-UA" sz="10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 -</a:t>
                      </a:r>
                    </a:p>
                  </a:txBody>
                  <a:tcPr marL="7131" marR="7131" marT="713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uk-UA" sz="10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361</a:t>
                      </a:r>
                    </a:p>
                  </a:txBody>
                  <a:tcPr marL="7131" marR="7131" marT="713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0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91,9</a:t>
                      </a:r>
                    </a:p>
                  </a:txBody>
                  <a:tcPr marL="7131" marR="7131" marT="713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uk-UA" sz="10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32</a:t>
                      </a:r>
                    </a:p>
                  </a:txBody>
                  <a:tcPr marL="7131" marR="7131" marT="713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0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8,1</a:t>
                      </a:r>
                    </a:p>
                  </a:txBody>
                  <a:tcPr marL="7131" marR="7131" marT="713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47894139"/>
                  </a:ext>
                </a:extLst>
              </a:tr>
              <a:tr h="369259">
                <a:tc>
                  <a:txBody>
                    <a:bodyPr/>
                    <a:lstStyle/>
                    <a:p>
                      <a:pPr algn="ctr" rtl="0" fontAlgn="ctr"/>
                      <a:r>
                        <a:rPr lang="uk-UA" sz="10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9</a:t>
                      </a:r>
                    </a:p>
                  </a:txBody>
                  <a:tcPr marL="7131" marR="7131" marT="713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uk-UA" sz="10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КНП Стрийської міської ради ТМО «Стрийська міська об'єднана лікарня», ВП «Лікарня інтенсивного лікування»</a:t>
                      </a:r>
                    </a:p>
                  </a:txBody>
                  <a:tcPr marL="7131" marR="7131" marT="713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uk-UA" sz="10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671</a:t>
                      </a:r>
                    </a:p>
                  </a:txBody>
                  <a:tcPr marL="7131" marR="7131" marT="713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uk-UA" sz="10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561</a:t>
                      </a:r>
                    </a:p>
                  </a:txBody>
                  <a:tcPr marL="7131" marR="7131" marT="713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uk-UA" sz="10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110</a:t>
                      </a:r>
                    </a:p>
                  </a:txBody>
                  <a:tcPr marL="7131" marR="7131" marT="713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uk-UA" sz="10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152</a:t>
                      </a:r>
                    </a:p>
                  </a:txBody>
                  <a:tcPr marL="7131" marR="7131" marT="713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22,7</a:t>
                      </a:r>
                    </a:p>
                  </a:txBody>
                  <a:tcPr marL="7131" marR="7131" marT="713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uk-UA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13</a:t>
                      </a:r>
                    </a:p>
                  </a:txBody>
                  <a:tcPr marL="7131" marR="7131" marT="713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0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1,9</a:t>
                      </a:r>
                    </a:p>
                  </a:txBody>
                  <a:tcPr marL="7131" marR="7131" marT="713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uk-UA" sz="10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7</a:t>
                      </a:r>
                    </a:p>
                  </a:txBody>
                  <a:tcPr marL="7131" marR="7131" marT="713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0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1,0</a:t>
                      </a:r>
                    </a:p>
                  </a:txBody>
                  <a:tcPr marL="7131" marR="7131" marT="713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uk-UA" sz="10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100</a:t>
                      </a:r>
                    </a:p>
                  </a:txBody>
                  <a:tcPr marL="7131" marR="7131" marT="713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0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14,9</a:t>
                      </a:r>
                    </a:p>
                  </a:txBody>
                  <a:tcPr marL="7131" marR="7131" marT="713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uk-UA" sz="10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32</a:t>
                      </a:r>
                    </a:p>
                  </a:txBody>
                  <a:tcPr marL="7131" marR="7131" marT="713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4,8</a:t>
                      </a:r>
                    </a:p>
                  </a:txBody>
                  <a:tcPr marL="7131" marR="7131" marT="713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4709869"/>
                  </a:ext>
                </a:extLst>
              </a:tr>
              <a:tr h="334179">
                <a:tc>
                  <a:txBody>
                    <a:bodyPr/>
                    <a:lstStyle/>
                    <a:p>
                      <a:pPr algn="ctr" rtl="0" fontAlgn="ctr"/>
                      <a:r>
                        <a:rPr lang="uk-UA" sz="10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10</a:t>
                      </a:r>
                    </a:p>
                  </a:txBody>
                  <a:tcPr marL="7131" marR="7131" marT="713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ru-RU" sz="10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КП «Центральна міська лікарня Червоноградської міської ради»</a:t>
                      </a:r>
                    </a:p>
                  </a:txBody>
                  <a:tcPr marL="7131" marR="7131" marT="713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uk-UA" sz="10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529</a:t>
                      </a:r>
                    </a:p>
                  </a:txBody>
                  <a:tcPr marL="7131" marR="7131" marT="713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uk-UA" sz="10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435</a:t>
                      </a:r>
                    </a:p>
                  </a:txBody>
                  <a:tcPr marL="7131" marR="7131" marT="713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uk-UA" sz="10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94</a:t>
                      </a:r>
                    </a:p>
                  </a:txBody>
                  <a:tcPr marL="7131" marR="7131" marT="713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uk-UA" sz="10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386</a:t>
                      </a:r>
                    </a:p>
                  </a:txBody>
                  <a:tcPr marL="7131" marR="7131" marT="713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0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73,0</a:t>
                      </a:r>
                    </a:p>
                  </a:txBody>
                  <a:tcPr marL="7131" marR="7131" marT="713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uk-UA" sz="10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- </a:t>
                      </a:r>
                    </a:p>
                  </a:txBody>
                  <a:tcPr marL="7131" marR="7131" marT="713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uk-UA" sz="10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- </a:t>
                      </a:r>
                    </a:p>
                  </a:txBody>
                  <a:tcPr marL="7131" marR="7131" marT="713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uk-UA" sz="10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- </a:t>
                      </a:r>
                    </a:p>
                  </a:txBody>
                  <a:tcPr marL="7131" marR="7131" marT="713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uk-UA" sz="10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- </a:t>
                      </a:r>
                    </a:p>
                  </a:txBody>
                  <a:tcPr marL="7131" marR="7131" marT="713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uk-UA" sz="10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347</a:t>
                      </a:r>
                    </a:p>
                  </a:txBody>
                  <a:tcPr marL="7131" marR="7131" marT="713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0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65,6</a:t>
                      </a:r>
                    </a:p>
                  </a:txBody>
                  <a:tcPr marL="7131" marR="7131" marT="713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uk-UA" sz="10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39</a:t>
                      </a:r>
                    </a:p>
                  </a:txBody>
                  <a:tcPr marL="7131" marR="7131" marT="713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7,4</a:t>
                      </a:r>
                    </a:p>
                  </a:txBody>
                  <a:tcPr marL="7131" marR="7131" marT="713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305578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8041331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3">
                <a:lumMod val="0"/>
                <a:lumOff val="100000"/>
              </a:schemeClr>
            </a:gs>
            <a:gs pos="35000">
              <a:schemeClr val="accent3">
                <a:lumMod val="0"/>
                <a:lumOff val="100000"/>
              </a:schemeClr>
            </a:gs>
            <a:gs pos="100000">
              <a:schemeClr val="accent3">
                <a:lumMod val="100000"/>
              </a:schemeClr>
            </a:gs>
          </a:gsLst>
          <a:path path="circle">
            <a:fillToRect l="50000" t="-80000" r="50000" b="18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Діаграма 3">
            <a:extLst>
              <a:ext uri="{FF2B5EF4-FFF2-40B4-BE49-F238E27FC236}">
                <a16:creationId xmlns:a16="http://schemas.microsoft.com/office/drawing/2014/main" id="{3901A28D-67CC-4BF8-A720-C0F1136244B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991895268"/>
              </p:ext>
            </p:extLst>
          </p:nvPr>
        </p:nvGraphicFramePr>
        <p:xfrm>
          <a:off x="6646873" y="3137321"/>
          <a:ext cx="4944455" cy="35562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4927AC84-7FF8-4F87-9EB4-5FF70BB4B7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32454" y="384367"/>
            <a:ext cx="9727092" cy="763600"/>
          </a:xfrm>
        </p:spPr>
        <p:txBody>
          <a:bodyPr>
            <a:normAutofit fontScale="90000"/>
          </a:bodyPr>
          <a:lstStyle/>
          <a:p>
            <a:r>
              <a:rPr lang="uk-UA" sz="3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Кількість пацієнтів з ГМІ, що пройшли реабілітацію у </a:t>
            </a:r>
            <a:r>
              <a:rPr lang="uk-UA" sz="3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2023</a:t>
            </a:r>
            <a:endParaRPr lang="uk-UA" sz="30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Прямокутник 5">
            <a:extLst>
              <a:ext uri="{FF2B5EF4-FFF2-40B4-BE49-F238E27FC236}">
                <a16:creationId xmlns:a16="http://schemas.microsoft.com/office/drawing/2014/main" id="{01CB31F3-D8AD-4885-9C5C-821AC5393F28}"/>
              </a:ext>
            </a:extLst>
          </p:cNvPr>
          <p:cNvSpPr/>
          <p:nvPr/>
        </p:nvSpPr>
        <p:spPr>
          <a:xfrm>
            <a:off x="6646873" y="2513392"/>
            <a:ext cx="4944455" cy="41301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uk-UA" sz="1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% </a:t>
            </a:r>
            <a:r>
              <a:rPr lang="uk-UA" sz="14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реабілітораних</a:t>
            </a:r>
            <a:r>
              <a:rPr lang="uk-UA" sz="1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хворих від загальної кількості пролікованих</a:t>
            </a:r>
          </a:p>
        </p:txBody>
      </p:sp>
      <p:graphicFrame>
        <p:nvGraphicFramePr>
          <p:cNvPr id="7" name="Діаграма 6">
            <a:extLst>
              <a:ext uri="{FF2B5EF4-FFF2-40B4-BE49-F238E27FC236}">
                <a16:creationId xmlns:a16="http://schemas.microsoft.com/office/drawing/2014/main" id="{F466F376-D60D-427C-8F1A-8E5051D80E1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02222278"/>
              </p:ext>
            </p:extLst>
          </p:nvPr>
        </p:nvGraphicFramePr>
        <p:xfrm>
          <a:off x="600670" y="2167498"/>
          <a:ext cx="5230741" cy="345033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Прямокутник 7">
            <a:extLst>
              <a:ext uri="{FF2B5EF4-FFF2-40B4-BE49-F238E27FC236}">
                <a16:creationId xmlns:a16="http://schemas.microsoft.com/office/drawing/2014/main" id="{343A3D6D-A0F0-4A41-B3A3-CECAFAAE2AFA}"/>
              </a:ext>
            </a:extLst>
          </p:cNvPr>
          <p:cNvSpPr/>
          <p:nvPr/>
        </p:nvSpPr>
        <p:spPr>
          <a:xfrm>
            <a:off x="743812" y="1523123"/>
            <a:ext cx="4944455" cy="41301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uk-UA" sz="1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Кількість реабілітованих хворих </a:t>
            </a:r>
          </a:p>
          <a:p>
            <a:pPr algn="ctr"/>
            <a:r>
              <a:rPr lang="uk-UA" sz="1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 амбулаторних умовах  та стаціонарах</a:t>
            </a:r>
          </a:p>
        </p:txBody>
      </p:sp>
    </p:spTree>
    <p:extLst>
      <p:ext uri="{BB962C8B-B14F-4D97-AF65-F5344CB8AC3E}">
        <p14:creationId xmlns:p14="http://schemas.microsoft.com/office/powerpoint/2010/main" val="423322317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Заголовок 1">
            <a:extLst>
              <a:ext uri="{FF2B5EF4-FFF2-40B4-BE49-F238E27FC236}">
                <a16:creationId xmlns:a16="http://schemas.microsoft.com/office/drawing/2014/main" id="{FE5345AD-C236-4777-8A0B-881AA9AFC1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" y="170550"/>
            <a:ext cx="11713522" cy="763600"/>
          </a:xfrm>
        </p:spPr>
        <p:txBody>
          <a:bodyPr>
            <a:normAutofit fontScale="90000"/>
          </a:bodyPr>
          <a:lstStyle/>
          <a:p>
            <a:pPr algn="ctr"/>
            <a:r>
              <a:rPr lang="uk-UA" sz="3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Кількість пацієнтів з ГМІ, </a:t>
            </a:r>
            <a:r>
              <a:rPr lang="uk-UA" sz="3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яким надана паліативна допомога у </a:t>
            </a:r>
            <a:r>
              <a:rPr lang="uk-UA" sz="3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2023р.</a:t>
            </a:r>
          </a:p>
        </p:txBody>
      </p:sp>
      <p:graphicFrame>
        <p:nvGraphicFramePr>
          <p:cNvPr id="4" name="Таблиця 3">
            <a:extLst>
              <a:ext uri="{FF2B5EF4-FFF2-40B4-BE49-F238E27FC236}">
                <a16:creationId xmlns:a16="http://schemas.microsoft.com/office/drawing/2014/main" id="{D7BD1045-8E1E-476F-BAC3-0C9F49EFA8A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6491551"/>
              </p:ext>
            </p:extLst>
          </p:nvPr>
        </p:nvGraphicFramePr>
        <p:xfrm>
          <a:off x="204158" y="944490"/>
          <a:ext cx="11783684" cy="5673684"/>
        </p:xfrm>
        <a:graphic>
          <a:graphicData uri="http://schemas.openxmlformats.org/drawingml/2006/table">
            <a:tbl>
              <a:tblPr/>
              <a:tblGrid>
                <a:gridCol w="618817">
                  <a:extLst>
                    <a:ext uri="{9D8B030D-6E8A-4147-A177-3AD203B41FA5}">
                      <a16:colId xmlns:a16="http://schemas.microsoft.com/office/drawing/2014/main" val="1236424448"/>
                    </a:ext>
                  </a:extLst>
                </a:gridCol>
                <a:gridCol w="3076165">
                  <a:extLst>
                    <a:ext uri="{9D8B030D-6E8A-4147-A177-3AD203B41FA5}">
                      <a16:colId xmlns:a16="http://schemas.microsoft.com/office/drawing/2014/main" val="56471775"/>
                    </a:ext>
                  </a:extLst>
                </a:gridCol>
                <a:gridCol w="608168">
                  <a:extLst>
                    <a:ext uri="{9D8B030D-6E8A-4147-A177-3AD203B41FA5}">
                      <a16:colId xmlns:a16="http://schemas.microsoft.com/office/drawing/2014/main" val="3002684316"/>
                    </a:ext>
                  </a:extLst>
                </a:gridCol>
                <a:gridCol w="723539">
                  <a:extLst>
                    <a:ext uri="{9D8B030D-6E8A-4147-A177-3AD203B41FA5}">
                      <a16:colId xmlns:a16="http://schemas.microsoft.com/office/drawing/2014/main" val="3247303455"/>
                    </a:ext>
                  </a:extLst>
                </a:gridCol>
                <a:gridCol w="876655">
                  <a:extLst>
                    <a:ext uri="{9D8B030D-6E8A-4147-A177-3AD203B41FA5}">
                      <a16:colId xmlns:a16="http://schemas.microsoft.com/office/drawing/2014/main" val="3949108726"/>
                    </a:ext>
                  </a:extLst>
                </a:gridCol>
                <a:gridCol w="552090">
                  <a:extLst>
                    <a:ext uri="{9D8B030D-6E8A-4147-A177-3AD203B41FA5}">
                      <a16:colId xmlns:a16="http://schemas.microsoft.com/office/drawing/2014/main" val="2315038049"/>
                    </a:ext>
                  </a:extLst>
                </a:gridCol>
                <a:gridCol w="379563">
                  <a:extLst>
                    <a:ext uri="{9D8B030D-6E8A-4147-A177-3AD203B41FA5}">
                      <a16:colId xmlns:a16="http://schemas.microsoft.com/office/drawing/2014/main" val="3559651720"/>
                    </a:ext>
                  </a:extLst>
                </a:gridCol>
                <a:gridCol w="750498">
                  <a:extLst>
                    <a:ext uri="{9D8B030D-6E8A-4147-A177-3AD203B41FA5}">
                      <a16:colId xmlns:a16="http://schemas.microsoft.com/office/drawing/2014/main" val="3701624816"/>
                    </a:ext>
                  </a:extLst>
                </a:gridCol>
                <a:gridCol w="359149">
                  <a:extLst>
                    <a:ext uri="{9D8B030D-6E8A-4147-A177-3AD203B41FA5}">
                      <a16:colId xmlns:a16="http://schemas.microsoft.com/office/drawing/2014/main" val="4178470487"/>
                    </a:ext>
                  </a:extLst>
                </a:gridCol>
                <a:gridCol w="908934">
                  <a:extLst>
                    <a:ext uri="{9D8B030D-6E8A-4147-A177-3AD203B41FA5}">
                      <a16:colId xmlns:a16="http://schemas.microsoft.com/office/drawing/2014/main" val="1356878691"/>
                    </a:ext>
                  </a:extLst>
                </a:gridCol>
                <a:gridCol w="461981">
                  <a:extLst>
                    <a:ext uri="{9D8B030D-6E8A-4147-A177-3AD203B41FA5}">
                      <a16:colId xmlns:a16="http://schemas.microsoft.com/office/drawing/2014/main" val="1168396592"/>
                    </a:ext>
                  </a:extLst>
                </a:gridCol>
                <a:gridCol w="797475">
                  <a:extLst>
                    <a:ext uri="{9D8B030D-6E8A-4147-A177-3AD203B41FA5}">
                      <a16:colId xmlns:a16="http://schemas.microsoft.com/office/drawing/2014/main" val="1787012776"/>
                    </a:ext>
                  </a:extLst>
                </a:gridCol>
                <a:gridCol w="422695">
                  <a:extLst>
                    <a:ext uri="{9D8B030D-6E8A-4147-A177-3AD203B41FA5}">
                      <a16:colId xmlns:a16="http://schemas.microsoft.com/office/drawing/2014/main" val="3518179945"/>
                    </a:ext>
                  </a:extLst>
                </a:gridCol>
                <a:gridCol w="876665">
                  <a:extLst>
                    <a:ext uri="{9D8B030D-6E8A-4147-A177-3AD203B41FA5}">
                      <a16:colId xmlns:a16="http://schemas.microsoft.com/office/drawing/2014/main" val="3158398081"/>
                    </a:ext>
                  </a:extLst>
                </a:gridCol>
                <a:gridCol w="371290">
                  <a:extLst>
                    <a:ext uri="{9D8B030D-6E8A-4147-A177-3AD203B41FA5}">
                      <a16:colId xmlns:a16="http://schemas.microsoft.com/office/drawing/2014/main" val="2570064399"/>
                    </a:ext>
                  </a:extLst>
                </a:gridCol>
              </a:tblGrid>
              <a:tr h="311776">
                <a:tc rowSpan="3">
                  <a:txBody>
                    <a:bodyPr/>
                    <a:lstStyle/>
                    <a:p>
                      <a:pPr algn="ctr" rtl="0" fontAlgn="ctr"/>
                      <a:r>
                        <a:rPr lang="uk-UA" sz="1000" b="1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№ з/п</a:t>
                      </a:r>
                    </a:p>
                  </a:txBody>
                  <a:tcPr marL="7202" marR="7202" marT="72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ctr" rtl="0" fontAlgn="ctr"/>
                      <a:r>
                        <a:rPr lang="uk-UA" sz="1000" b="1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Назва установи</a:t>
                      </a:r>
                    </a:p>
                  </a:txBody>
                  <a:tcPr marL="7202" marR="7202" marT="72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ctr" rtl="0" fontAlgn="ctr"/>
                      <a:r>
                        <a:rPr lang="uk-UA" sz="1000" b="1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Кількість пацієнтів з ГМІ</a:t>
                      </a:r>
                    </a:p>
                  </a:txBody>
                  <a:tcPr marL="7202" marR="7202" marT="72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uk-UA" sz="1000" b="1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з них</a:t>
                      </a:r>
                    </a:p>
                  </a:txBody>
                  <a:tcPr marL="7202" marR="7202" marT="72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uk-UA"/>
                    </a:p>
                  </a:txBody>
                  <a:tcPr/>
                </a:tc>
                <a:tc gridSpan="10">
                  <a:txBody>
                    <a:bodyPr/>
                    <a:lstStyle/>
                    <a:p>
                      <a:pPr algn="ctr" rtl="0" fontAlgn="ctr"/>
                      <a:r>
                        <a:rPr lang="uk-UA" sz="1000" b="1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Паліативна допомога</a:t>
                      </a:r>
                    </a:p>
                  </a:txBody>
                  <a:tcPr marL="7202" marR="7202" marT="72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uk-U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uk-U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uk-U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uk-U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uk-U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uk-U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uk-U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uk-U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uk-UA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04887667"/>
                  </a:ext>
                </a:extLst>
              </a:tr>
              <a:tr h="178158">
                <a:tc vMerge="1">
                  <a:txBody>
                    <a:bodyPr/>
                    <a:lstStyle/>
                    <a:p>
                      <a:endParaRPr lang="uk-UA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uk-UA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uk-UA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uk-UA" sz="1000" b="1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з ішемічним інсультом</a:t>
                      </a:r>
                    </a:p>
                  </a:txBody>
                  <a:tcPr marL="7202" marR="7202" marT="72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uk-UA" sz="1000" b="1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з геморагічним інсультом</a:t>
                      </a:r>
                    </a:p>
                  </a:txBody>
                  <a:tcPr marL="7202" marR="7202" marT="72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uk-UA" sz="1000" b="1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Всього</a:t>
                      </a:r>
                    </a:p>
                  </a:txBody>
                  <a:tcPr marL="7202" marR="7202" marT="72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uk-UA" sz="1000" b="1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% від к-ті ГМІ</a:t>
                      </a:r>
                    </a:p>
                  </a:txBody>
                  <a:tcPr marL="7202" marR="7202" marT="72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 rtl="0" fontAlgn="ctr"/>
                      <a:r>
                        <a:rPr lang="uk-UA" sz="1000" b="1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мобільна </a:t>
                      </a:r>
                    </a:p>
                  </a:txBody>
                  <a:tcPr marL="7202" marR="7202" marT="72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uk-U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uk-U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uk-UA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 rtl="0" fontAlgn="ctr"/>
                      <a:r>
                        <a:rPr lang="uk-UA" sz="1000" b="1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стаціонарна</a:t>
                      </a:r>
                    </a:p>
                  </a:txBody>
                  <a:tcPr marL="7202" marR="7202" marT="72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uk-U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uk-U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uk-UA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92345719"/>
                  </a:ext>
                </a:extLst>
              </a:tr>
              <a:tr h="746868">
                <a:tc vMerge="1">
                  <a:txBody>
                    <a:bodyPr/>
                    <a:lstStyle/>
                    <a:p>
                      <a:endParaRPr lang="uk-UA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uk-UA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uk-UA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uk-UA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uk-UA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uk-UA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uk-UA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uk-UA" sz="1000" b="1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з ішемічним інсультом</a:t>
                      </a:r>
                    </a:p>
                  </a:txBody>
                  <a:tcPr marL="7202" marR="7202" marT="72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uk-UA" sz="1000" b="1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% від к-ті ГМІ</a:t>
                      </a:r>
                    </a:p>
                  </a:txBody>
                  <a:tcPr marL="7202" marR="7202" marT="72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uk-UA" sz="1000" b="1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з геморагічним інсультом</a:t>
                      </a:r>
                    </a:p>
                  </a:txBody>
                  <a:tcPr marL="7202" marR="7202" marT="72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uk-UA" sz="1000" b="1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% від к-ті </a:t>
                      </a:r>
                      <a:r>
                        <a:rPr lang="uk-UA" sz="1000" b="1" i="0" u="none" strike="noStrike" dirty="0" err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ГМІ</a:t>
                      </a:r>
                      <a:endParaRPr lang="uk-UA" sz="1000" b="1" i="0" u="none" strike="noStrike" dirty="0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202" marR="7202" marT="72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uk-UA" sz="1000" b="1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з ішемічним інсультом</a:t>
                      </a:r>
                    </a:p>
                  </a:txBody>
                  <a:tcPr marL="7202" marR="7202" marT="72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uk-UA" sz="1000" b="1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% від к-ті ГМІ</a:t>
                      </a:r>
                    </a:p>
                  </a:txBody>
                  <a:tcPr marL="7202" marR="7202" marT="72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uk-UA" sz="1000" b="1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з геморагічним інсультом</a:t>
                      </a:r>
                    </a:p>
                  </a:txBody>
                  <a:tcPr marL="7202" marR="7202" marT="72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uk-UA" sz="1000" b="1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% від к-ті ГМІ</a:t>
                      </a:r>
                    </a:p>
                  </a:txBody>
                  <a:tcPr marL="7202" marR="7202" marT="72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4449974"/>
                  </a:ext>
                </a:extLst>
              </a:tr>
              <a:tr h="222698">
                <a:tc>
                  <a:txBody>
                    <a:bodyPr/>
                    <a:lstStyle/>
                    <a:p>
                      <a:pPr algn="ctr" rtl="0" fontAlgn="ctr"/>
                      <a:r>
                        <a:rPr lang="uk-UA" sz="10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</a:p>
                  </a:txBody>
                  <a:tcPr marL="7202" marR="7202" marT="72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uk-UA" sz="1000" b="1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Всього</a:t>
                      </a:r>
                    </a:p>
                  </a:txBody>
                  <a:tcPr marL="7202" marR="7202" marT="72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uk-UA" sz="1000" b="1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7525</a:t>
                      </a:r>
                    </a:p>
                  </a:txBody>
                  <a:tcPr marL="7202" marR="7202" marT="72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uk-UA" sz="1000" b="1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6413</a:t>
                      </a:r>
                    </a:p>
                  </a:txBody>
                  <a:tcPr marL="7202" marR="7202" marT="72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uk-UA" sz="1000" b="1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1112</a:t>
                      </a:r>
                    </a:p>
                  </a:txBody>
                  <a:tcPr marL="7202" marR="7202" marT="72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uk-UA" sz="1000" b="1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260</a:t>
                      </a:r>
                    </a:p>
                  </a:txBody>
                  <a:tcPr marL="7202" marR="7202" marT="72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000" b="1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3,5</a:t>
                      </a:r>
                    </a:p>
                  </a:txBody>
                  <a:tcPr marL="7202" marR="7202" marT="72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uk-UA" sz="1000" b="1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48</a:t>
                      </a:r>
                    </a:p>
                  </a:txBody>
                  <a:tcPr marL="7202" marR="7202" marT="72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000" b="1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0,6</a:t>
                      </a:r>
                    </a:p>
                  </a:txBody>
                  <a:tcPr marL="7202" marR="7202" marT="72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uk-UA" sz="1000" b="1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15</a:t>
                      </a:r>
                    </a:p>
                  </a:txBody>
                  <a:tcPr marL="7202" marR="7202" marT="72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000" b="1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0,2</a:t>
                      </a:r>
                    </a:p>
                  </a:txBody>
                  <a:tcPr marL="7202" marR="7202" marT="72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uk-UA" sz="1000" b="1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157</a:t>
                      </a:r>
                    </a:p>
                  </a:txBody>
                  <a:tcPr marL="7202" marR="7202" marT="72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000" b="1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2,1</a:t>
                      </a:r>
                    </a:p>
                  </a:txBody>
                  <a:tcPr marL="7202" marR="7202" marT="72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uk-UA" sz="1000" b="1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40</a:t>
                      </a:r>
                    </a:p>
                  </a:txBody>
                  <a:tcPr marL="7202" marR="7202" marT="72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000" b="1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0,5</a:t>
                      </a:r>
                    </a:p>
                  </a:txBody>
                  <a:tcPr marL="7202" marR="7202" marT="72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66997324"/>
                  </a:ext>
                </a:extLst>
              </a:tr>
              <a:tr h="231606">
                <a:tc>
                  <a:txBody>
                    <a:bodyPr/>
                    <a:lstStyle/>
                    <a:p>
                      <a:pPr algn="ctr" rtl="0" fontAlgn="ctr"/>
                      <a:r>
                        <a:rPr lang="uk-UA" sz="10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1</a:t>
                      </a:r>
                    </a:p>
                  </a:txBody>
                  <a:tcPr marL="7202" marR="7202" marT="72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ru-RU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 КНП ЛОР «</a:t>
                      </a:r>
                      <a:r>
                        <a:rPr lang="ru-RU" sz="1000" b="0" i="0" u="none" strike="noStrike" dirty="0" err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Львівська</a:t>
                      </a:r>
                      <a:r>
                        <a:rPr lang="ru-RU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lang="ru-RU" sz="1000" b="0" i="0" u="none" strike="noStrike" dirty="0" err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обласна</a:t>
                      </a:r>
                      <a:r>
                        <a:rPr lang="ru-RU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lang="ru-RU" sz="1000" b="0" i="0" u="none" strike="noStrike" dirty="0" err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клінічна</a:t>
                      </a:r>
                      <a:r>
                        <a:rPr lang="ru-RU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lang="ru-RU" sz="1000" b="0" i="0" u="none" strike="noStrike" dirty="0" err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лікарня</a:t>
                      </a:r>
                      <a:r>
                        <a:rPr lang="ru-RU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»</a:t>
                      </a:r>
                    </a:p>
                  </a:txBody>
                  <a:tcPr marL="7202" marR="7202" marT="72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uk-UA" sz="10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721</a:t>
                      </a:r>
                    </a:p>
                  </a:txBody>
                  <a:tcPr marL="7202" marR="7202" marT="72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uk-UA" sz="10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642</a:t>
                      </a:r>
                    </a:p>
                  </a:txBody>
                  <a:tcPr marL="7202" marR="7202" marT="72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uk-UA" sz="10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79</a:t>
                      </a:r>
                    </a:p>
                  </a:txBody>
                  <a:tcPr marL="7202" marR="7202" marT="72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uk-UA" sz="10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8</a:t>
                      </a:r>
                    </a:p>
                  </a:txBody>
                  <a:tcPr marL="7202" marR="7202" marT="72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0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1,1</a:t>
                      </a:r>
                    </a:p>
                  </a:txBody>
                  <a:tcPr marL="7202" marR="7202" marT="72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uk-UA" sz="10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-</a:t>
                      </a:r>
                    </a:p>
                  </a:txBody>
                  <a:tcPr marL="7202" marR="7202" marT="72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uk-UA" sz="10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-</a:t>
                      </a:r>
                    </a:p>
                  </a:txBody>
                  <a:tcPr marL="7202" marR="7202" marT="72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uk-UA" sz="10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-</a:t>
                      </a:r>
                    </a:p>
                  </a:txBody>
                  <a:tcPr marL="7202" marR="7202" marT="72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uk-UA" sz="10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-</a:t>
                      </a:r>
                    </a:p>
                  </a:txBody>
                  <a:tcPr marL="7202" marR="7202" marT="72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uk-UA" sz="10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6</a:t>
                      </a:r>
                    </a:p>
                  </a:txBody>
                  <a:tcPr marL="7202" marR="7202" marT="72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000" b="1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0,8</a:t>
                      </a:r>
                    </a:p>
                  </a:txBody>
                  <a:tcPr marL="7202" marR="7202" marT="72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uk-UA" sz="10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2</a:t>
                      </a:r>
                    </a:p>
                  </a:txBody>
                  <a:tcPr marL="7202" marR="7202" marT="72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000" b="1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0,3</a:t>
                      </a:r>
                    </a:p>
                  </a:txBody>
                  <a:tcPr marL="7202" marR="7202" marT="72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55922005"/>
                  </a:ext>
                </a:extLst>
              </a:tr>
              <a:tr h="746868">
                <a:tc>
                  <a:txBody>
                    <a:bodyPr/>
                    <a:lstStyle/>
                    <a:p>
                      <a:pPr algn="ctr" rtl="0" fontAlgn="ctr"/>
                      <a:r>
                        <a:rPr lang="uk-UA" sz="10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2</a:t>
                      </a:r>
                    </a:p>
                  </a:txBody>
                  <a:tcPr marL="7202" marR="7202" marT="72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uk-UA" sz="10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Відокремлений підрозділ «Лікарня Святого Пантелеймона «КНП  «Львівське територіальне медичне об'єднання» Багатопрофільна клінічна лікарня інтенсивних методів лікування та швидкої медичної допомоги»</a:t>
                      </a:r>
                    </a:p>
                  </a:txBody>
                  <a:tcPr marL="7202" marR="7202" marT="72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uk-UA" sz="10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1817</a:t>
                      </a:r>
                    </a:p>
                  </a:txBody>
                  <a:tcPr marL="7202" marR="7202" marT="72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uk-UA" sz="10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1469</a:t>
                      </a:r>
                    </a:p>
                  </a:txBody>
                  <a:tcPr marL="7202" marR="7202" marT="72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uk-UA" sz="10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348</a:t>
                      </a:r>
                    </a:p>
                  </a:txBody>
                  <a:tcPr marL="7202" marR="7202" marT="72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uk-UA" sz="10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39</a:t>
                      </a:r>
                    </a:p>
                  </a:txBody>
                  <a:tcPr marL="7202" marR="7202" marT="72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0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2,1</a:t>
                      </a:r>
                    </a:p>
                  </a:txBody>
                  <a:tcPr marL="7202" marR="7202" marT="72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uk-UA" sz="10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-</a:t>
                      </a:r>
                    </a:p>
                  </a:txBody>
                  <a:tcPr marL="7202" marR="7202" marT="72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uk-UA" sz="10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-</a:t>
                      </a:r>
                    </a:p>
                  </a:txBody>
                  <a:tcPr marL="7202" marR="7202" marT="72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uk-UA" sz="10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-</a:t>
                      </a:r>
                    </a:p>
                  </a:txBody>
                  <a:tcPr marL="7202" marR="7202" marT="72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uk-UA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-</a:t>
                      </a:r>
                    </a:p>
                  </a:txBody>
                  <a:tcPr marL="7202" marR="7202" marT="72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uk-UA" sz="10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25</a:t>
                      </a:r>
                    </a:p>
                  </a:txBody>
                  <a:tcPr marL="7202" marR="7202" marT="72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000" b="1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1,4</a:t>
                      </a:r>
                    </a:p>
                  </a:txBody>
                  <a:tcPr marL="7202" marR="7202" marT="72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uk-UA" sz="10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14</a:t>
                      </a:r>
                    </a:p>
                  </a:txBody>
                  <a:tcPr marL="7202" marR="7202" marT="72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000" b="1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0,8</a:t>
                      </a:r>
                    </a:p>
                  </a:txBody>
                  <a:tcPr marL="7202" marR="7202" marT="72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84042343"/>
                  </a:ext>
                </a:extLst>
              </a:tr>
              <a:tr h="712631">
                <a:tc>
                  <a:txBody>
                    <a:bodyPr/>
                    <a:lstStyle/>
                    <a:p>
                      <a:pPr algn="ctr" rtl="0" fontAlgn="ctr"/>
                      <a:r>
                        <a:rPr lang="uk-UA" sz="10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3</a:t>
                      </a:r>
                    </a:p>
                  </a:txBody>
                  <a:tcPr marL="7202" marR="7202" marT="72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uk-UA" sz="10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Відокремлений підрозділ «Лікарня Святого Луки» КНП  «Львівське територіальне медичне об'єднання» Багатопрофільна клінічна лікарня інтенсивних методів лікування та швидкої медичної допомоги»</a:t>
                      </a:r>
                    </a:p>
                  </a:txBody>
                  <a:tcPr marL="7202" marR="7202" marT="72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uk-UA" sz="10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1230</a:t>
                      </a:r>
                    </a:p>
                  </a:txBody>
                  <a:tcPr marL="7202" marR="7202" marT="72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uk-UA" sz="10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1052</a:t>
                      </a:r>
                    </a:p>
                  </a:txBody>
                  <a:tcPr marL="7202" marR="7202" marT="72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uk-UA" sz="10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178</a:t>
                      </a:r>
                    </a:p>
                  </a:txBody>
                  <a:tcPr marL="7202" marR="7202" marT="72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uk-UA" sz="10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28</a:t>
                      </a:r>
                    </a:p>
                  </a:txBody>
                  <a:tcPr marL="7202" marR="7202" marT="72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0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2,3</a:t>
                      </a:r>
                    </a:p>
                  </a:txBody>
                  <a:tcPr marL="7202" marR="7202" marT="72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uk-UA" sz="10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-</a:t>
                      </a:r>
                    </a:p>
                  </a:txBody>
                  <a:tcPr marL="7202" marR="7202" marT="72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uk-UA" sz="10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-</a:t>
                      </a:r>
                    </a:p>
                  </a:txBody>
                  <a:tcPr marL="7202" marR="7202" marT="72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uk-UA" sz="10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-</a:t>
                      </a:r>
                    </a:p>
                  </a:txBody>
                  <a:tcPr marL="7202" marR="7202" marT="72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uk-UA" sz="10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-</a:t>
                      </a:r>
                    </a:p>
                  </a:txBody>
                  <a:tcPr marL="7202" marR="7202" marT="72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uk-UA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21</a:t>
                      </a:r>
                    </a:p>
                  </a:txBody>
                  <a:tcPr marL="7202" marR="7202" marT="72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000" b="1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1,7</a:t>
                      </a:r>
                    </a:p>
                  </a:txBody>
                  <a:tcPr marL="7202" marR="7202" marT="72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uk-UA" sz="10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7</a:t>
                      </a:r>
                    </a:p>
                  </a:txBody>
                  <a:tcPr marL="7202" marR="7202" marT="72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000" b="1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0,6</a:t>
                      </a:r>
                    </a:p>
                  </a:txBody>
                  <a:tcPr marL="7202" marR="7202" marT="72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07367339"/>
                  </a:ext>
                </a:extLst>
              </a:tr>
              <a:tr h="356316">
                <a:tc>
                  <a:txBody>
                    <a:bodyPr/>
                    <a:lstStyle/>
                    <a:p>
                      <a:pPr algn="ctr" rtl="0" fontAlgn="ctr"/>
                      <a:r>
                        <a:rPr lang="uk-UA" sz="10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4</a:t>
                      </a:r>
                    </a:p>
                  </a:txBody>
                  <a:tcPr marL="7202" marR="7202" marT="72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ru-RU" sz="10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 КНП ЛОР «Львівський обласний госпіталь ветеранів війн та репресованих ім. Ю. Липи»</a:t>
                      </a:r>
                    </a:p>
                  </a:txBody>
                  <a:tcPr marL="7202" marR="7202" marT="72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uk-UA" sz="10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560</a:t>
                      </a:r>
                    </a:p>
                  </a:txBody>
                  <a:tcPr marL="7202" marR="7202" marT="72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uk-UA" sz="10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509</a:t>
                      </a:r>
                    </a:p>
                  </a:txBody>
                  <a:tcPr marL="7202" marR="7202" marT="72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uk-UA" sz="10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51</a:t>
                      </a:r>
                    </a:p>
                  </a:txBody>
                  <a:tcPr marL="7202" marR="7202" marT="72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uk-UA" sz="10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-</a:t>
                      </a:r>
                    </a:p>
                  </a:txBody>
                  <a:tcPr marL="7202" marR="7202" marT="72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uk-UA" sz="10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-</a:t>
                      </a:r>
                    </a:p>
                  </a:txBody>
                  <a:tcPr marL="7202" marR="7202" marT="72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uk-UA" sz="10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- </a:t>
                      </a:r>
                    </a:p>
                  </a:txBody>
                  <a:tcPr marL="7202" marR="7202" marT="72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uk-UA" sz="10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- </a:t>
                      </a:r>
                    </a:p>
                  </a:txBody>
                  <a:tcPr marL="7202" marR="7202" marT="72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uk-UA" sz="10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- </a:t>
                      </a:r>
                    </a:p>
                  </a:txBody>
                  <a:tcPr marL="7202" marR="7202" marT="72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uk-UA" sz="10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- </a:t>
                      </a:r>
                    </a:p>
                  </a:txBody>
                  <a:tcPr marL="7202" marR="7202" marT="72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uk-UA" sz="10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 -</a:t>
                      </a:r>
                    </a:p>
                  </a:txBody>
                  <a:tcPr marL="7202" marR="7202" marT="72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uk-UA" sz="10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 -</a:t>
                      </a:r>
                    </a:p>
                  </a:txBody>
                  <a:tcPr marL="7202" marR="7202" marT="72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uk-UA" sz="10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 -</a:t>
                      </a:r>
                    </a:p>
                  </a:txBody>
                  <a:tcPr marL="7202" marR="7202" marT="72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uk-UA" sz="10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 -</a:t>
                      </a:r>
                    </a:p>
                  </a:txBody>
                  <a:tcPr marL="7202" marR="7202" marT="72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23740987"/>
                  </a:ext>
                </a:extLst>
              </a:tr>
              <a:tr h="322465">
                <a:tc>
                  <a:txBody>
                    <a:bodyPr/>
                    <a:lstStyle/>
                    <a:p>
                      <a:pPr algn="ctr" rtl="0" fontAlgn="ctr"/>
                      <a:r>
                        <a:rPr lang="uk-UA" sz="10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5</a:t>
                      </a:r>
                    </a:p>
                  </a:txBody>
                  <a:tcPr marL="7202" marR="7202" marT="72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ru-RU" sz="10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КНП Буської міської ради «Буська центральна районна лiкарня»</a:t>
                      </a:r>
                    </a:p>
                  </a:txBody>
                  <a:tcPr marL="7202" marR="7202" marT="72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uk-UA" sz="10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396</a:t>
                      </a:r>
                    </a:p>
                  </a:txBody>
                  <a:tcPr marL="7202" marR="7202" marT="72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uk-UA" sz="10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347</a:t>
                      </a:r>
                    </a:p>
                  </a:txBody>
                  <a:tcPr marL="7202" marR="7202" marT="72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uk-UA" sz="10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49</a:t>
                      </a:r>
                    </a:p>
                  </a:txBody>
                  <a:tcPr marL="7202" marR="7202" marT="72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uk-UA" sz="10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17</a:t>
                      </a:r>
                    </a:p>
                  </a:txBody>
                  <a:tcPr marL="7202" marR="7202" marT="72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0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4,3</a:t>
                      </a:r>
                    </a:p>
                  </a:txBody>
                  <a:tcPr marL="7202" marR="7202" marT="72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uk-UA" sz="10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 -</a:t>
                      </a:r>
                    </a:p>
                  </a:txBody>
                  <a:tcPr marL="7202" marR="7202" marT="72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uk-UA" sz="10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 -</a:t>
                      </a:r>
                    </a:p>
                  </a:txBody>
                  <a:tcPr marL="7202" marR="7202" marT="72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uk-UA" sz="10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 -</a:t>
                      </a:r>
                    </a:p>
                  </a:txBody>
                  <a:tcPr marL="7202" marR="7202" marT="72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uk-UA" sz="10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 -</a:t>
                      </a:r>
                    </a:p>
                  </a:txBody>
                  <a:tcPr marL="7202" marR="7202" marT="72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uk-UA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17</a:t>
                      </a:r>
                    </a:p>
                  </a:txBody>
                  <a:tcPr marL="7202" marR="7202" marT="72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000" b="1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4,3</a:t>
                      </a:r>
                    </a:p>
                  </a:txBody>
                  <a:tcPr marL="7202" marR="7202" marT="72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uk-UA" sz="10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- </a:t>
                      </a:r>
                    </a:p>
                  </a:txBody>
                  <a:tcPr marL="7202" marR="7202" marT="72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uk-UA" sz="10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- </a:t>
                      </a:r>
                    </a:p>
                  </a:txBody>
                  <a:tcPr marL="7202" marR="7202" marT="72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10809477"/>
                  </a:ext>
                </a:extLst>
              </a:tr>
              <a:tr h="356316">
                <a:tc>
                  <a:txBody>
                    <a:bodyPr/>
                    <a:lstStyle/>
                    <a:p>
                      <a:pPr algn="ctr" rtl="0" fontAlgn="ctr"/>
                      <a:r>
                        <a:rPr lang="uk-UA" sz="10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6</a:t>
                      </a:r>
                    </a:p>
                  </a:txBody>
                  <a:tcPr marL="7202" marR="7202" marT="72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uk-UA" sz="10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КНП «Дрогобицька міська лікарня № 1» Дрогобицької міської ради</a:t>
                      </a:r>
                    </a:p>
                  </a:txBody>
                  <a:tcPr marL="7202" marR="7202" marT="72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uk-UA" sz="10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879</a:t>
                      </a:r>
                    </a:p>
                  </a:txBody>
                  <a:tcPr marL="7202" marR="7202" marT="72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uk-UA" sz="10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762</a:t>
                      </a:r>
                    </a:p>
                  </a:txBody>
                  <a:tcPr marL="7202" marR="7202" marT="72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uk-UA" sz="10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117</a:t>
                      </a:r>
                    </a:p>
                  </a:txBody>
                  <a:tcPr marL="7202" marR="7202" marT="72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uk-UA" sz="10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34</a:t>
                      </a:r>
                    </a:p>
                  </a:txBody>
                  <a:tcPr marL="7202" marR="7202" marT="72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0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3,9</a:t>
                      </a:r>
                    </a:p>
                  </a:txBody>
                  <a:tcPr marL="7202" marR="7202" marT="72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uk-UA" sz="10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22</a:t>
                      </a:r>
                    </a:p>
                  </a:txBody>
                  <a:tcPr marL="7202" marR="7202" marT="72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000" b="1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2,5</a:t>
                      </a:r>
                    </a:p>
                  </a:txBody>
                  <a:tcPr marL="7202" marR="7202" marT="72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uk-UA" sz="10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5</a:t>
                      </a:r>
                    </a:p>
                  </a:txBody>
                  <a:tcPr marL="7202" marR="7202" marT="72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000" b="1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0,6</a:t>
                      </a:r>
                    </a:p>
                  </a:txBody>
                  <a:tcPr marL="7202" marR="7202" marT="72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uk-UA" sz="10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5</a:t>
                      </a:r>
                    </a:p>
                  </a:txBody>
                  <a:tcPr marL="7202" marR="7202" marT="72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000" b="1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0,6</a:t>
                      </a:r>
                    </a:p>
                  </a:txBody>
                  <a:tcPr marL="7202" marR="7202" marT="72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uk-UA" sz="10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2</a:t>
                      </a:r>
                    </a:p>
                  </a:txBody>
                  <a:tcPr marL="7202" marR="7202" marT="72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000" b="1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0,2</a:t>
                      </a:r>
                    </a:p>
                  </a:txBody>
                  <a:tcPr marL="7202" marR="7202" marT="72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90930110"/>
                  </a:ext>
                </a:extLst>
              </a:tr>
              <a:tr h="356316">
                <a:tc>
                  <a:txBody>
                    <a:bodyPr/>
                    <a:lstStyle/>
                    <a:p>
                      <a:pPr algn="ctr" rtl="0" fontAlgn="ctr"/>
                      <a:r>
                        <a:rPr lang="uk-UA" sz="10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7</a:t>
                      </a:r>
                    </a:p>
                  </a:txBody>
                  <a:tcPr marL="7202" marR="7202" marT="72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uk-UA" sz="10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 КНП «Новояворівська лікарня імені Юрія Липи» Новояворівської міської ради</a:t>
                      </a:r>
                    </a:p>
                  </a:txBody>
                  <a:tcPr marL="7202" marR="7202" marT="72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uk-UA" sz="10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329</a:t>
                      </a:r>
                    </a:p>
                  </a:txBody>
                  <a:tcPr marL="7202" marR="7202" marT="72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uk-UA" sz="10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275</a:t>
                      </a:r>
                    </a:p>
                  </a:txBody>
                  <a:tcPr marL="7202" marR="7202" marT="72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uk-UA" sz="10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54</a:t>
                      </a:r>
                    </a:p>
                  </a:txBody>
                  <a:tcPr marL="7202" marR="7202" marT="72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uk-UA" sz="10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76</a:t>
                      </a:r>
                    </a:p>
                  </a:txBody>
                  <a:tcPr marL="7202" marR="7202" marT="72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0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23,1</a:t>
                      </a:r>
                    </a:p>
                  </a:txBody>
                  <a:tcPr marL="7202" marR="7202" marT="72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uk-UA" sz="10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7</a:t>
                      </a:r>
                    </a:p>
                  </a:txBody>
                  <a:tcPr marL="7202" marR="7202" marT="72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000" b="1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2,1</a:t>
                      </a:r>
                    </a:p>
                  </a:txBody>
                  <a:tcPr marL="7202" marR="7202" marT="72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uk-UA" sz="10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5</a:t>
                      </a:r>
                    </a:p>
                  </a:txBody>
                  <a:tcPr marL="7202" marR="7202" marT="72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000" b="1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1,5</a:t>
                      </a:r>
                    </a:p>
                  </a:txBody>
                  <a:tcPr marL="7202" marR="7202" marT="72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uk-UA" sz="10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56</a:t>
                      </a:r>
                    </a:p>
                  </a:txBody>
                  <a:tcPr marL="7202" marR="7202" marT="72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000" b="1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17,0</a:t>
                      </a:r>
                    </a:p>
                  </a:txBody>
                  <a:tcPr marL="7202" marR="7202" marT="72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uk-UA" sz="10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8</a:t>
                      </a:r>
                    </a:p>
                  </a:txBody>
                  <a:tcPr marL="7202" marR="7202" marT="72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000" b="1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2,4</a:t>
                      </a:r>
                    </a:p>
                  </a:txBody>
                  <a:tcPr marL="7202" marR="7202" marT="72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96371686"/>
                  </a:ext>
                </a:extLst>
              </a:tr>
              <a:tr h="322465">
                <a:tc>
                  <a:txBody>
                    <a:bodyPr/>
                    <a:lstStyle/>
                    <a:p>
                      <a:pPr algn="ctr" rtl="0" fontAlgn="ctr"/>
                      <a:r>
                        <a:rPr lang="uk-UA" sz="10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8</a:t>
                      </a:r>
                    </a:p>
                  </a:txBody>
                  <a:tcPr marL="7202" marR="7202" marT="72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ru-RU" sz="10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 КНП Самбірської міської ради «Самбірська центральна лікарня»</a:t>
                      </a:r>
                    </a:p>
                  </a:txBody>
                  <a:tcPr marL="7202" marR="7202" marT="72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uk-UA" sz="10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393</a:t>
                      </a:r>
                    </a:p>
                  </a:txBody>
                  <a:tcPr marL="7202" marR="7202" marT="72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uk-UA" sz="10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361</a:t>
                      </a:r>
                    </a:p>
                  </a:txBody>
                  <a:tcPr marL="7202" marR="7202" marT="72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uk-UA" sz="10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32</a:t>
                      </a:r>
                    </a:p>
                  </a:txBody>
                  <a:tcPr marL="7202" marR="7202" marT="72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uk-UA" sz="10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-</a:t>
                      </a:r>
                    </a:p>
                  </a:txBody>
                  <a:tcPr marL="7202" marR="7202" marT="72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uk-UA" sz="10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-</a:t>
                      </a:r>
                    </a:p>
                  </a:txBody>
                  <a:tcPr marL="7202" marR="7202" marT="72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uk-UA" sz="10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-</a:t>
                      </a:r>
                    </a:p>
                  </a:txBody>
                  <a:tcPr marL="7202" marR="7202" marT="72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uk-UA" sz="10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-</a:t>
                      </a:r>
                    </a:p>
                  </a:txBody>
                  <a:tcPr marL="7202" marR="7202" marT="72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uk-UA" sz="10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-</a:t>
                      </a:r>
                    </a:p>
                  </a:txBody>
                  <a:tcPr marL="7202" marR="7202" marT="72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uk-UA" sz="10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-</a:t>
                      </a:r>
                    </a:p>
                  </a:txBody>
                  <a:tcPr marL="7202" marR="7202" marT="72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uk-UA" sz="10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-</a:t>
                      </a:r>
                    </a:p>
                  </a:txBody>
                  <a:tcPr marL="7202" marR="7202" marT="72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uk-UA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-</a:t>
                      </a:r>
                    </a:p>
                  </a:txBody>
                  <a:tcPr marL="7202" marR="7202" marT="72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uk-UA" sz="10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-</a:t>
                      </a:r>
                    </a:p>
                  </a:txBody>
                  <a:tcPr marL="7202" marR="7202" marT="72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uk-UA" sz="10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-</a:t>
                      </a:r>
                    </a:p>
                  </a:txBody>
                  <a:tcPr marL="7202" marR="7202" marT="72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49583458"/>
                  </a:ext>
                </a:extLst>
              </a:tr>
              <a:tr h="450918">
                <a:tc>
                  <a:txBody>
                    <a:bodyPr/>
                    <a:lstStyle/>
                    <a:p>
                      <a:pPr algn="ctr" rtl="0" fontAlgn="ctr"/>
                      <a:r>
                        <a:rPr lang="uk-UA" sz="10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9</a:t>
                      </a:r>
                    </a:p>
                  </a:txBody>
                  <a:tcPr marL="7202" marR="7202" marT="72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uk-UA" sz="10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КНП Стрийської міської ради ТМО «Стрийська міська об'єднана лікарня», ВП «Лікарня інтенсивного лікування»</a:t>
                      </a:r>
                    </a:p>
                  </a:txBody>
                  <a:tcPr marL="7202" marR="7202" marT="72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uk-UA" sz="10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671</a:t>
                      </a:r>
                    </a:p>
                  </a:txBody>
                  <a:tcPr marL="7202" marR="7202" marT="72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uk-UA" sz="10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561</a:t>
                      </a:r>
                    </a:p>
                  </a:txBody>
                  <a:tcPr marL="7202" marR="7202" marT="72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uk-UA" sz="10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110</a:t>
                      </a:r>
                    </a:p>
                  </a:txBody>
                  <a:tcPr marL="7202" marR="7202" marT="72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uk-UA" sz="10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58</a:t>
                      </a:r>
                    </a:p>
                  </a:txBody>
                  <a:tcPr marL="7202" marR="7202" marT="72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0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8,6</a:t>
                      </a:r>
                    </a:p>
                  </a:txBody>
                  <a:tcPr marL="7202" marR="7202" marT="72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uk-UA" sz="10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19</a:t>
                      </a:r>
                    </a:p>
                  </a:txBody>
                  <a:tcPr marL="7202" marR="7202" marT="72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000" b="1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2,8</a:t>
                      </a:r>
                    </a:p>
                  </a:txBody>
                  <a:tcPr marL="7202" marR="7202" marT="72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uk-UA" sz="10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5</a:t>
                      </a:r>
                    </a:p>
                  </a:txBody>
                  <a:tcPr marL="7202" marR="7202" marT="72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000" b="1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0,7</a:t>
                      </a:r>
                    </a:p>
                  </a:txBody>
                  <a:tcPr marL="7202" marR="7202" marT="72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uk-UA" sz="10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27</a:t>
                      </a:r>
                    </a:p>
                  </a:txBody>
                  <a:tcPr marL="7202" marR="7202" marT="72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000" b="1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4,0</a:t>
                      </a:r>
                    </a:p>
                  </a:txBody>
                  <a:tcPr marL="7202" marR="7202" marT="72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uk-UA" sz="10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7</a:t>
                      </a:r>
                    </a:p>
                  </a:txBody>
                  <a:tcPr marL="7202" marR="7202" marT="72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000" b="1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1,0</a:t>
                      </a:r>
                    </a:p>
                  </a:txBody>
                  <a:tcPr marL="7202" marR="7202" marT="72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19324069"/>
                  </a:ext>
                </a:extLst>
              </a:tr>
              <a:tr h="322465">
                <a:tc>
                  <a:txBody>
                    <a:bodyPr/>
                    <a:lstStyle/>
                    <a:p>
                      <a:pPr algn="ctr" rtl="0" fontAlgn="ctr"/>
                      <a:r>
                        <a:rPr lang="uk-UA" sz="10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10</a:t>
                      </a:r>
                    </a:p>
                  </a:txBody>
                  <a:tcPr marL="7202" marR="7202" marT="72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ru-RU" sz="10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КП «Центральна міська лікарня Червоноградської міської ради»</a:t>
                      </a:r>
                    </a:p>
                  </a:txBody>
                  <a:tcPr marL="7202" marR="7202" marT="72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uk-UA" sz="10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529</a:t>
                      </a:r>
                    </a:p>
                  </a:txBody>
                  <a:tcPr marL="7202" marR="7202" marT="72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uk-UA" sz="10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435</a:t>
                      </a:r>
                    </a:p>
                  </a:txBody>
                  <a:tcPr marL="7202" marR="7202" marT="72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uk-UA" sz="10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94</a:t>
                      </a:r>
                    </a:p>
                  </a:txBody>
                  <a:tcPr marL="7202" marR="7202" marT="72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uk-UA" sz="10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-</a:t>
                      </a:r>
                    </a:p>
                  </a:txBody>
                  <a:tcPr marL="7202" marR="7202" marT="72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uk-UA" sz="10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-</a:t>
                      </a:r>
                    </a:p>
                  </a:txBody>
                  <a:tcPr marL="7202" marR="7202" marT="72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uk-UA" sz="10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-</a:t>
                      </a:r>
                    </a:p>
                  </a:txBody>
                  <a:tcPr marL="7202" marR="7202" marT="72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uk-UA" sz="10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-</a:t>
                      </a:r>
                    </a:p>
                  </a:txBody>
                  <a:tcPr marL="7202" marR="7202" marT="72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uk-UA" sz="10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-</a:t>
                      </a:r>
                    </a:p>
                  </a:txBody>
                  <a:tcPr marL="7202" marR="7202" marT="72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uk-UA" sz="10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-</a:t>
                      </a:r>
                    </a:p>
                  </a:txBody>
                  <a:tcPr marL="7202" marR="7202" marT="72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uk-UA" sz="10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-</a:t>
                      </a:r>
                    </a:p>
                  </a:txBody>
                  <a:tcPr marL="7202" marR="7202" marT="72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uk-UA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-</a:t>
                      </a:r>
                    </a:p>
                  </a:txBody>
                  <a:tcPr marL="7202" marR="7202" marT="72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uk-UA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-</a:t>
                      </a:r>
                    </a:p>
                  </a:txBody>
                  <a:tcPr marL="7202" marR="7202" marT="72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uk-UA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-</a:t>
                      </a:r>
                    </a:p>
                  </a:txBody>
                  <a:tcPr marL="7202" marR="7202" marT="72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464258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4356834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3">
                <a:lumMod val="0"/>
                <a:lumOff val="100000"/>
              </a:schemeClr>
            </a:gs>
            <a:gs pos="35000">
              <a:schemeClr val="accent3">
                <a:lumMod val="0"/>
                <a:lumOff val="100000"/>
              </a:schemeClr>
            </a:gs>
            <a:gs pos="100000">
              <a:schemeClr val="accent3">
                <a:lumMod val="100000"/>
              </a:schemeClr>
            </a:gs>
          </a:gsLst>
          <a:path path="circle">
            <a:fillToRect l="50000" t="-80000" r="50000" b="18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Діаграма 7">
            <a:extLst>
              <a:ext uri="{FF2B5EF4-FFF2-40B4-BE49-F238E27FC236}">
                <a16:creationId xmlns:a16="http://schemas.microsoft.com/office/drawing/2014/main" id="{A93AD6F4-B50F-4EED-8D78-B8E6A895BB7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350872717"/>
              </p:ext>
            </p:extLst>
          </p:nvPr>
        </p:nvGraphicFramePr>
        <p:xfrm>
          <a:off x="1926900" y="2089639"/>
          <a:ext cx="7885916" cy="409493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3" name="Прямокутник 12">
            <a:extLst>
              <a:ext uri="{FF2B5EF4-FFF2-40B4-BE49-F238E27FC236}">
                <a16:creationId xmlns:a16="http://schemas.microsoft.com/office/drawing/2014/main" id="{9D3E8BFC-7DB9-4A53-9E35-23C36BEC8719}"/>
              </a:ext>
            </a:extLst>
          </p:cNvPr>
          <p:cNvSpPr/>
          <p:nvPr/>
        </p:nvSpPr>
        <p:spPr>
          <a:xfrm>
            <a:off x="4009648" y="1633098"/>
            <a:ext cx="3425040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1600" b="1" dirty="0">
                <a:solidFill>
                  <a:srgbClr val="002060"/>
                </a:solidFill>
                <a:latin typeface="Times New Roman" panose="02020603050405020304" pitchFamily="18" charset="0"/>
              </a:rPr>
              <a:t>% </a:t>
            </a:r>
            <a:r>
              <a:rPr lang="ru-RU" sz="1600" b="1" dirty="0" err="1">
                <a:solidFill>
                  <a:srgbClr val="002060"/>
                </a:solidFill>
                <a:latin typeface="Times New Roman" panose="02020603050405020304" pitchFamily="18" charset="0"/>
              </a:rPr>
              <a:t>від</a:t>
            </a:r>
            <a:r>
              <a:rPr lang="ru-RU" sz="1600" b="1" dirty="0">
                <a:solidFill>
                  <a:srgbClr val="002060"/>
                </a:solidFill>
                <a:latin typeface="Times New Roman" panose="02020603050405020304" pitchFamily="18" charset="0"/>
              </a:rPr>
              <a:t> </a:t>
            </a:r>
            <a:r>
              <a:rPr lang="ru-RU" sz="1600" b="1" dirty="0" err="1">
                <a:solidFill>
                  <a:srgbClr val="002060"/>
                </a:solidFill>
                <a:latin typeface="Times New Roman" panose="02020603050405020304" pitchFamily="18" charset="0"/>
              </a:rPr>
              <a:t>загальної</a:t>
            </a:r>
            <a:r>
              <a:rPr lang="ru-RU" sz="1600" b="1" dirty="0">
                <a:solidFill>
                  <a:srgbClr val="002060"/>
                </a:solidFill>
                <a:latin typeface="Times New Roman" panose="02020603050405020304" pitchFamily="18" charset="0"/>
              </a:rPr>
              <a:t> к-</a:t>
            </a:r>
            <a:r>
              <a:rPr lang="ru-RU" sz="1600" b="1" dirty="0" err="1">
                <a:solidFill>
                  <a:srgbClr val="002060"/>
                </a:solidFill>
                <a:latin typeface="Times New Roman" panose="02020603050405020304" pitchFamily="18" charset="0"/>
              </a:rPr>
              <a:t>ті</a:t>
            </a:r>
            <a:r>
              <a:rPr lang="ru-RU" sz="1600" b="1" dirty="0">
                <a:solidFill>
                  <a:srgbClr val="002060"/>
                </a:solidFill>
                <a:latin typeface="Times New Roman" panose="02020603050405020304" pitchFamily="18" charset="0"/>
              </a:rPr>
              <a:t> </a:t>
            </a:r>
            <a:r>
              <a:rPr lang="ru-RU" sz="1600" b="1" dirty="0" err="1">
                <a:solidFill>
                  <a:srgbClr val="002060"/>
                </a:solidFill>
                <a:latin typeface="Times New Roman" panose="02020603050405020304" pitchFamily="18" charset="0"/>
              </a:rPr>
              <a:t>пацієнтів</a:t>
            </a:r>
            <a:r>
              <a:rPr lang="ru-RU" sz="1600" b="1" dirty="0">
                <a:solidFill>
                  <a:srgbClr val="002060"/>
                </a:solidFill>
                <a:latin typeface="Times New Roman" panose="02020603050405020304" pitchFamily="18" charset="0"/>
              </a:rPr>
              <a:t> ГМІ</a:t>
            </a:r>
            <a:endParaRPr lang="ru-RU" sz="1600" dirty="0"/>
          </a:p>
        </p:txBody>
      </p:sp>
      <p:sp>
        <p:nvSpPr>
          <p:cNvPr id="12" name="Заголовок 1">
            <a:extLst>
              <a:ext uri="{FF2B5EF4-FFF2-40B4-BE49-F238E27FC236}">
                <a16:creationId xmlns:a16="http://schemas.microsoft.com/office/drawing/2014/main" id="{7C525320-CD4D-4EA5-82C8-AC3A2B7B85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0312" y="384367"/>
            <a:ext cx="11695176" cy="763600"/>
          </a:xfrm>
        </p:spPr>
        <p:txBody>
          <a:bodyPr>
            <a:normAutofit fontScale="90000"/>
          </a:bodyPr>
          <a:lstStyle/>
          <a:p>
            <a:r>
              <a:rPr lang="uk-UA" sz="3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Кількість пацієнтів з ГМІ, </a:t>
            </a:r>
            <a:r>
              <a:rPr lang="uk-UA" sz="3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яким надана паліативна допомога у </a:t>
            </a:r>
            <a:r>
              <a:rPr lang="uk-UA" sz="3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2023р.</a:t>
            </a:r>
          </a:p>
        </p:txBody>
      </p:sp>
    </p:spTree>
    <p:extLst>
      <p:ext uri="{BB962C8B-B14F-4D97-AF65-F5344CB8AC3E}">
        <p14:creationId xmlns:p14="http://schemas.microsoft.com/office/powerpoint/2010/main" val="159136869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3">
                <a:lumMod val="0"/>
                <a:lumOff val="100000"/>
              </a:schemeClr>
            </a:gs>
            <a:gs pos="35000">
              <a:schemeClr val="accent3">
                <a:lumMod val="0"/>
                <a:lumOff val="100000"/>
              </a:schemeClr>
            </a:gs>
            <a:gs pos="100000">
              <a:schemeClr val="accent3">
                <a:lumMod val="100000"/>
              </a:schemeClr>
            </a:gs>
          </a:gsLst>
          <a:path path="circle">
            <a:fillToRect l="50000" t="-80000" r="50000" b="18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кутник 8">
            <a:extLst>
              <a:ext uri="{FF2B5EF4-FFF2-40B4-BE49-F238E27FC236}">
                <a16:creationId xmlns:a16="http://schemas.microsoft.com/office/drawing/2014/main" id="{98FA1777-F268-4A17-AE85-F6AC0B284B2C}"/>
              </a:ext>
            </a:extLst>
          </p:cNvPr>
          <p:cNvSpPr/>
          <p:nvPr/>
        </p:nvSpPr>
        <p:spPr>
          <a:xfrm>
            <a:off x="-1142694" y="183356"/>
            <a:ext cx="8253878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/>
            <a:r>
              <a:rPr lang="uk-UA" sz="3000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Комплексний результат</a:t>
            </a:r>
          </a:p>
        </p:txBody>
      </p:sp>
      <p:sp>
        <p:nvSpPr>
          <p:cNvPr id="2" name="Стрілка: вправо 1">
            <a:extLst>
              <a:ext uri="{FF2B5EF4-FFF2-40B4-BE49-F238E27FC236}">
                <a16:creationId xmlns:a16="http://schemas.microsoft.com/office/drawing/2014/main" id="{1BEB74EE-88D4-4C04-AA6A-85595DC658D1}"/>
              </a:ext>
            </a:extLst>
          </p:cNvPr>
          <p:cNvSpPr/>
          <p:nvPr/>
        </p:nvSpPr>
        <p:spPr>
          <a:xfrm rot="20801636" flipV="1">
            <a:off x="157888" y="1124549"/>
            <a:ext cx="10284490" cy="118784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7" name="Прямокутник 6">
            <a:extLst>
              <a:ext uri="{FF2B5EF4-FFF2-40B4-BE49-F238E27FC236}">
                <a16:creationId xmlns:a16="http://schemas.microsoft.com/office/drawing/2014/main" id="{F08FC34A-D9DE-42F7-9EB1-15C456A5BD18}"/>
              </a:ext>
            </a:extLst>
          </p:cNvPr>
          <p:cNvSpPr/>
          <p:nvPr/>
        </p:nvSpPr>
        <p:spPr>
          <a:xfrm>
            <a:off x="9994142" y="183356"/>
            <a:ext cx="2461024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/>
            <a:r>
              <a:rPr lang="uk-UA" sz="2800" b="1" i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Україна</a:t>
            </a:r>
          </a:p>
        </p:txBody>
      </p:sp>
      <p:sp>
        <p:nvSpPr>
          <p:cNvPr id="8" name="Прямокутник 7">
            <a:extLst>
              <a:ext uri="{FF2B5EF4-FFF2-40B4-BE49-F238E27FC236}">
                <a16:creationId xmlns:a16="http://schemas.microsoft.com/office/drawing/2014/main" id="{F8340004-C021-4208-A157-725087C25444}"/>
              </a:ext>
            </a:extLst>
          </p:cNvPr>
          <p:cNvSpPr/>
          <p:nvPr/>
        </p:nvSpPr>
        <p:spPr>
          <a:xfrm>
            <a:off x="10434917" y="2451258"/>
            <a:ext cx="1842637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/>
            <a:r>
              <a:rPr lang="uk-UA" sz="2400" b="1" i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Львівська</a:t>
            </a:r>
          </a:p>
          <a:p>
            <a:pPr lvl="0" algn="ctr"/>
            <a:r>
              <a:rPr lang="uk-UA" sz="2400" b="1" i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область</a:t>
            </a:r>
          </a:p>
        </p:txBody>
      </p:sp>
      <p:sp>
        <p:nvSpPr>
          <p:cNvPr id="3" name="Прямокутник: округлені кути 2">
            <a:extLst>
              <a:ext uri="{FF2B5EF4-FFF2-40B4-BE49-F238E27FC236}">
                <a16:creationId xmlns:a16="http://schemas.microsoft.com/office/drawing/2014/main" id="{034427EF-1977-4788-A706-555C09071A66}"/>
              </a:ext>
            </a:extLst>
          </p:cNvPr>
          <p:cNvSpPr/>
          <p:nvPr/>
        </p:nvSpPr>
        <p:spPr>
          <a:xfrm>
            <a:off x="198771" y="2328148"/>
            <a:ext cx="1514146" cy="954107"/>
          </a:xfrm>
          <a:prstGeom prst="roundRect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0" scaled="1"/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uk-UA" sz="1400" b="1" dirty="0">
                <a:solidFill>
                  <a:srgbClr val="002060"/>
                </a:solidFill>
              </a:rPr>
              <a:t>Госпіталізація за маршрутом і в спроможний заклад</a:t>
            </a:r>
          </a:p>
        </p:txBody>
      </p:sp>
      <p:sp>
        <p:nvSpPr>
          <p:cNvPr id="13" name="Прямокутник: округлені кути 12">
            <a:extLst>
              <a:ext uri="{FF2B5EF4-FFF2-40B4-BE49-F238E27FC236}">
                <a16:creationId xmlns:a16="http://schemas.microsoft.com/office/drawing/2014/main" id="{DD7E144E-09AD-4435-BA52-827A944CAFC9}"/>
              </a:ext>
            </a:extLst>
          </p:cNvPr>
          <p:cNvSpPr/>
          <p:nvPr/>
        </p:nvSpPr>
        <p:spPr>
          <a:xfrm>
            <a:off x="2069269" y="1717990"/>
            <a:ext cx="1514147" cy="954107"/>
          </a:xfrm>
          <a:prstGeom prst="roundRect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0" scaled="1"/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uk-UA" sz="1400" b="1" dirty="0">
                <a:solidFill>
                  <a:srgbClr val="002060"/>
                </a:solidFill>
              </a:rPr>
              <a:t>Ангіографія</a:t>
            </a:r>
          </a:p>
        </p:txBody>
      </p:sp>
      <p:sp>
        <p:nvSpPr>
          <p:cNvPr id="14" name="Прямокутник: округлені кути 13">
            <a:extLst>
              <a:ext uri="{FF2B5EF4-FFF2-40B4-BE49-F238E27FC236}">
                <a16:creationId xmlns:a16="http://schemas.microsoft.com/office/drawing/2014/main" id="{163A7D19-428E-41AD-B25C-9D42B1EB408D}"/>
              </a:ext>
            </a:extLst>
          </p:cNvPr>
          <p:cNvSpPr/>
          <p:nvPr/>
        </p:nvSpPr>
        <p:spPr>
          <a:xfrm>
            <a:off x="4051780" y="1191310"/>
            <a:ext cx="1514147" cy="954107"/>
          </a:xfrm>
          <a:prstGeom prst="roundRect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0" scaled="1"/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uk-UA" sz="1400" b="1" dirty="0" err="1">
                <a:solidFill>
                  <a:srgbClr val="002060"/>
                </a:solidFill>
              </a:rPr>
              <a:t>Тромболітична</a:t>
            </a:r>
            <a:r>
              <a:rPr lang="uk-UA" sz="1400" b="1" dirty="0">
                <a:solidFill>
                  <a:srgbClr val="002060"/>
                </a:solidFill>
              </a:rPr>
              <a:t> терапія</a:t>
            </a:r>
          </a:p>
        </p:txBody>
      </p:sp>
      <p:sp>
        <p:nvSpPr>
          <p:cNvPr id="15" name="Прямокутник: округлені кути 14">
            <a:extLst>
              <a:ext uri="{FF2B5EF4-FFF2-40B4-BE49-F238E27FC236}">
                <a16:creationId xmlns:a16="http://schemas.microsoft.com/office/drawing/2014/main" id="{34183A1E-35D9-4CE9-B434-EB68BC2C38AB}"/>
              </a:ext>
            </a:extLst>
          </p:cNvPr>
          <p:cNvSpPr/>
          <p:nvPr/>
        </p:nvSpPr>
        <p:spPr>
          <a:xfrm>
            <a:off x="5925249" y="737354"/>
            <a:ext cx="1514147" cy="954107"/>
          </a:xfrm>
          <a:prstGeom prst="roundRect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0" scaled="1"/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uk-UA" sz="1400" b="1" dirty="0" err="1">
                <a:solidFill>
                  <a:srgbClr val="002060"/>
                </a:solidFill>
              </a:rPr>
              <a:t>Ендоваскулярні</a:t>
            </a:r>
            <a:r>
              <a:rPr lang="uk-UA" sz="1400" b="1" dirty="0">
                <a:solidFill>
                  <a:srgbClr val="002060"/>
                </a:solidFill>
              </a:rPr>
              <a:t> втручання</a:t>
            </a:r>
          </a:p>
        </p:txBody>
      </p:sp>
      <p:sp>
        <p:nvSpPr>
          <p:cNvPr id="16" name="Прямокутник 15">
            <a:extLst>
              <a:ext uri="{FF2B5EF4-FFF2-40B4-BE49-F238E27FC236}">
                <a16:creationId xmlns:a16="http://schemas.microsoft.com/office/drawing/2014/main" id="{590945B4-7B38-4FE5-AF1F-D30B5695ECEC}"/>
              </a:ext>
            </a:extLst>
          </p:cNvPr>
          <p:cNvSpPr/>
          <p:nvPr/>
        </p:nvSpPr>
        <p:spPr>
          <a:xfrm>
            <a:off x="0" y="3323418"/>
            <a:ext cx="2388944" cy="8925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/>
            <a:r>
              <a:rPr lang="uk-UA" sz="1300" b="1" i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44% надавачів проводять </a:t>
            </a:r>
            <a:r>
              <a:rPr lang="uk-UA" sz="1300" b="1" i="1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тромболітичну</a:t>
            </a:r>
            <a:r>
              <a:rPr lang="uk-UA" sz="1300" b="1" i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терапію</a:t>
            </a:r>
          </a:p>
          <a:p>
            <a:pPr lvl="0" algn="ctr"/>
            <a:r>
              <a:rPr lang="uk-UA" sz="1300" b="1" i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6,6% - проводять </a:t>
            </a:r>
            <a:r>
              <a:rPr lang="uk-UA" sz="1300" b="1" i="1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ендоваскулярні</a:t>
            </a:r>
            <a:r>
              <a:rPr lang="uk-UA" sz="1300" b="1" i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втручання</a:t>
            </a:r>
          </a:p>
        </p:txBody>
      </p:sp>
      <p:sp>
        <p:nvSpPr>
          <p:cNvPr id="17" name="Прямокутник: округлені кути 16">
            <a:extLst>
              <a:ext uri="{FF2B5EF4-FFF2-40B4-BE49-F238E27FC236}">
                <a16:creationId xmlns:a16="http://schemas.microsoft.com/office/drawing/2014/main" id="{BD1E6715-2F5E-4002-A8AD-307263AD9731}"/>
              </a:ext>
            </a:extLst>
          </p:cNvPr>
          <p:cNvSpPr/>
          <p:nvPr/>
        </p:nvSpPr>
        <p:spPr>
          <a:xfrm>
            <a:off x="7829827" y="305760"/>
            <a:ext cx="1514147" cy="954107"/>
          </a:xfrm>
          <a:prstGeom prst="roundRect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0" scaled="1"/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uk-UA" sz="1600" b="1" dirty="0">
                <a:solidFill>
                  <a:srgbClr val="002060"/>
                </a:solidFill>
              </a:rPr>
              <a:t>Реабілітація</a:t>
            </a:r>
          </a:p>
        </p:txBody>
      </p:sp>
      <p:sp>
        <p:nvSpPr>
          <p:cNvPr id="18" name="Прямокутник 17">
            <a:extLst>
              <a:ext uri="{FF2B5EF4-FFF2-40B4-BE49-F238E27FC236}">
                <a16:creationId xmlns:a16="http://schemas.microsoft.com/office/drawing/2014/main" id="{D8D53171-780D-403E-972A-9CB176179E14}"/>
              </a:ext>
            </a:extLst>
          </p:cNvPr>
          <p:cNvSpPr/>
          <p:nvPr/>
        </p:nvSpPr>
        <p:spPr>
          <a:xfrm>
            <a:off x="1901952" y="2836007"/>
            <a:ext cx="23889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/>
            <a:r>
              <a:rPr lang="uk-UA" sz="1300" b="1" i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30,9% пацієнтів </a:t>
            </a:r>
          </a:p>
          <a:p>
            <a:pPr lvl="0" algn="ctr"/>
            <a:r>
              <a:rPr lang="uk-UA" sz="1300" b="1" i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проходять ангіографію</a:t>
            </a:r>
          </a:p>
        </p:txBody>
      </p:sp>
      <p:sp>
        <p:nvSpPr>
          <p:cNvPr id="19" name="Прямокутник 18">
            <a:extLst>
              <a:ext uri="{FF2B5EF4-FFF2-40B4-BE49-F238E27FC236}">
                <a16:creationId xmlns:a16="http://schemas.microsoft.com/office/drawing/2014/main" id="{2268C979-D729-4682-8DF8-44B0F6941CE0}"/>
              </a:ext>
            </a:extLst>
          </p:cNvPr>
          <p:cNvSpPr/>
          <p:nvPr/>
        </p:nvSpPr>
        <p:spPr>
          <a:xfrm>
            <a:off x="3993246" y="2259333"/>
            <a:ext cx="2189383" cy="6924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/>
            <a:r>
              <a:rPr lang="uk-UA" sz="1300" b="1" i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7,9% пацієнтів </a:t>
            </a:r>
          </a:p>
          <a:p>
            <a:pPr lvl="0" algn="ctr"/>
            <a:r>
              <a:rPr lang="uk-UA" sz="1300" b="1" i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отримують</a:t>
            </a:r>
          </a:p>
          <a:p>
            <a:pPr lvl="0" algn="ctr"/>
            <a:r>
              <a:rPr lang="uk-UA" sz="1300" b="1" i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uk-UA" sz="1300" b="1" i="1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тромболітичну</a:t>
            </a:r>
            <a:r>
              <a:rPr lang="uk-UA" sz="1300" b="1" i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терапію</a:t>
            </a:r>
          </a:p>
        </p:txBody>
      </p:sp>
      <p:sp>
        <p:nvSpPr>
          <p:cNvPr id="20" name="Прямокутник 19">
            <a:extLst>
              <a:ext uri="{FF2B5EF4-FFF2-40B4-BE49-F238E27FC236}">
                <a16:creationId xmlns:a16="http://schemas.microsoft.com/office/drawing/2014/main" id="{7252E3DF-9A7A-4866-960E-E0C8D02291D4}"/>
              </a:ext>
            </a:extLst>
          </p:cNvPr>
          <p:cNvSpPr/>
          <p:nvPr/>
        </p:nvSpPr>
        <p:spPr>
          <a:xfrm>
            <a:off x="1901952" y="5444588"/>
            <a:ext cx="23889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/>
            <a:r>
              <a:rPr lang="uk-UA" sz="1300" b="1" i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24,9% </a:t>
            </a:r>
            <a:r>
              <a:rPr lang="uk-UA" sz="1300" b="1" i="1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націєнтів</a:t>
            </a:r>
            <a:r>
              <a:rPr lang="uk-UA" sz="1300" b="1" i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проходять ангіографію</a:t>
            </a:r>
          </a:p>
        </p:txBody>
      </p:sp>
      <p:sp>
        <p:nvSpPr>
          <p:cNvPr id="21" name="Прямокутник 20">
            <a:extLst>
              <a:ext uri="{FF2B5EF4-FFF2-40B4-BE49-F238E27FC236}">
                <a16:creationId xmlns:a16="http://schemas.microsoft.com/office/drawing/2014/main" id="{89EBED29-DC3D-45A1-9AAE-406D5D9D4CCB}"/>
              </a:ext>
            </a:extLst>
          </p:cNvPr>
          <p:cNvSpPr/>
          <p:nvPr/>
        </p:nvSpPr>
        <p:spPr>
          <a:xfrm>
            <a:off x="82428" y="5783777"/>
            <a:ext cx="2388944" cy="8925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/>
            <a:r>
              <a:rPr lang="uk-UA" sz="1300" b="1" i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100% надавачів проводять </a:t>
            </a:r>
            <a:r>
              <a:rPr lang="uk-UA" sz="1300" b="1" i="1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тромболітичну</a:t>
            </a:r>
            <a:r>
              <a:rPr lang="uk-UA" sz="1300" b="1" i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терапію</a:t>
            </a:r>
          </a:p>
          <a:p>
            <a:pPr lvl="0" algn="ctr"/>
            <a:r>
              <a:rPr lang="uk-UA" sz="1300" b="1" i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30% - проводять </a:t>
            </a:r>
            <a:r>
              <a:rPr lang="uk-UA" sz="1300" b="1" i="1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ендоваскулярні</a:t>
            </a:r>
            <a:r>
              <a:rPr lang="uk-UA" sz="1300" b="1" i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втручання</a:t>
            </a:r>
          </a:p>
        </p:txBody>
      </p:sp>
      <p:sp>
        <p:nvSpPr>
          <p:cNvPr id="22" name="Прямокутник 21">
            <a:extLst>
              <a:ext uri="{FF2B5EF4-FFF2-40B4-BE49-F238E27FC236}">
                <a16:creationId xmlns:a16="http://schemas.microsoft.com/office/drawing/2014/main" id="{F4C711FE-52D1-4CD7-8062-2275CF93E509}"/>
              </a:ext>
            </a:extLst>
          </p:cNvPr>
          <p:cNvSpPr/>
          <p:nvPr/>
        </p:nvSpPr>
        <p:spPr>
          <a:xfrm>
            <a:off x="5850482" y="1817424"/>
            <a:ext cx="2189383" cy="6924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/>
            <a:r>
              <a:rPr lang="uk-UA" sz="1300" b="1" i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3,8% пацієнтів </a:t>
            </a:r>
          </a:p>
          <a:p>
            <a:pPr lvl="0" algn="ctr"/>
            <a:r>
              <a:rPr lang="uk-UA" sz="1300" b="1" i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проходять </a:t>
            </a:r>
            <a:r>
              <a:rPr lang="uk-UA" sz="1300" b="1" i="1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ендоваскулярні</a:t>
            </a:r>
            <a:r>
              <a:rPr lang="uk-UA" sz="1300" b="1" i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втручання</a:t>
            </a:r>
          </a:p>
        </p:txBody>
      </p:sp>
      <p:sp>
        <p:nvSpPr>
          <p:cNvPr id="23" name="Прямокутник 22">
            <a:extLst>
              <a:ext uri="{FF2B5EF4-FFF2-40B4-BE49-F238E27FC236}">
                <a16:creationId xmlns:a16="http://schemas.microsoft.com/office/drawing/2014/main" id="{39B47630-5CEF-4C0B-A245-B079E93B4E45}"/>
              </a:ext>
            </a:extLst>
          </p:cNvPr>
          <p:cNvSpPr/>
          <p:nvPr/>
        </p:nvSpPr>
        <p:spPr>
          <a:xfrm>
            <a:off x="8060168" y="1440704"/>
            <a:ext cx="1851128" cy="6924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/>
            <a:r>
              <a:rPr lang="uk-UA" sz="1300" b="1" i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5,7% пацієнтів </a:t>
            </a:r>
          </a:p>
          <a:p>
            <a:pPr lvl="0" algn="ctr"/>
            <a:r>
              <a:rPr lang="uk-UA" sz="1300" b="1" i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проходять реабілітацію</a:t>
            </a:r>
          </a:p>
        </p:txBody>
      </p:sp>
      <p:sp>
        <p:nvSpPr>
          <p:cNvPr id="24" name="Стрілка: вправо 23">
            <a:extLst>
              <a:ext uri="{FF2B5EF4-FFF2-40B4-BE49-F238E27FC236}">
                <a16:creationId xmlns:a16="http://schemas.microsoft.com/office/drawing/2014/main" id="{429E8598-8068-4C1B-BDB2-240D1E99DCA6}"/>
              </a:ext>
            </a:extLst>
          </p:cNvPr>
          <p:cNvSpPr/>
          <p:nvPr/>
        </p:nvSpPr>
        <p:spPr>
          <a:xfrm rot="20801636" flipV="1">
            <a:off x="611565" y="3600401"/>
            <a:ext cx="9962881" cy="118784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25" name="Прямокутник: округлені кути 24">
            <a:extLst>
              <a:ext uri="{FF2B5EF4-FFF2-40B4-BE49-F238E27FC236}">
                <a16:creationId xmlns:a16="http://schemas.microsoft.com/office/drawing/2014/main" id="{289A72DB-E7B0-4970-9E74-5BAEA7215C47}"/>
              </a:ext>
            </a:extLst>
          </p:cNvPr>
          <p:cNvSpPr/>
          <p:nvPr/>
        </p:nvSpPr>
        <p:spPr>
          <a:xfrm>
            <a:off x="2182758" y="4257133"/>
            <a:ext cx="1514147" cy="954107"/>
          </a:xfrm>
          <a:prstGeom prst="roundRect">
            <a:avLst/>
          </a:prstGeom>
          <a:gradFill flip="none" rotWithShape="1">
            <a:gsLst>
              <a:gs pos="0">
                <a:schemeClr val="accent4">
                  <a:lumMod val="0"/>
                  <a:lumOff val="100000"/>
                </a:schemeClr>
              </a:gs>
              <a:gs pos="35000">
                <a:schemeClr val="accent4">
                  <a:lumMod val="0"/>
                  <a:lumOff val="100000"/>
                </a:schemeClr>
              </a:gs>
              <a:gs pos="100000">
                <a:schemeClr val="accent4">
                  <a:lumMod val="100000"/>
                </a:schemeClr>
              </a:gs>
            </a:gsLst>
            <a:path path="circle">
              <a:fillToRect l="50000" t="-80000" r="50000" b="180000"/>
            </a:path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uk-UA" sz="1400" b="1" dirty="0">
                <a:solidFill>
                  <a:srgbClr val="002060"/>
                </a:solidFill>
              </a:rPr>
              <a:t>Ангіографія</a:t>
            </a:r>
          </a:p>
        </p:txBody>
      </p:sp>
      <p:sp>
        <p:nvSpPr>
          <p:cNvPr id="26" name="Прямокутник: округлені кути 25">
            <a:extLst>
              <a:ext uri="{FF2B5EF4-FFF2-40B4-BE49-F238E27FC236}">
                <a16:creationId xmlns:a16="http://schemas.microsoft.com/office/drawing/2014/main" id="{509FBC65-9915-48AE-B871-D6D7B525C559}"/>
              </a:ext>
            </a:extLst>
          </p:cNvPr>
          <p:cNvSpPr/>
          <p:nvPr/>
        </p:nvSpPr>
        <p:spPr>
          <a:xfrm>
            <a:off x="4192169" y="3730366"/>
            <a:ext cx="1514147" cy="954107"/>
          </a:xfrm>
          <a:prstGeom prst="roundRect">
            <a:avLst/>
          </a:prstGeom>
          <a:gradFill flip="none" rotWithShape="1">
            <a:gsLst>
              <a:gs pos="0">
                <a:schemeClr val="accent4">
                  <a:lumMod val="0"/>
                  <a:lumOff val="100000"/>
                </a:schemeClr>
              </a:gs>
              <a:gs pos="35000">
                <a:schemeClr val="accent4">
                  <a:lumMod val="0"/>
                  <a:lumOff val="100000"/>
                </a:schemeClr>
              </a:gs>
              <a:gs pos="100000">
                <a:schemeClr val="accent4">
                  <a:lumMod val="100000"/>
                </a:schemeClr>
              </a:gs>
            </a:gsLst>
            <a:path path="circle">
              <a:fillToRect l="50000" t="-80000" r="50000" b="180000"/>
            </a:path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uk-UA" sz="1400" b="1" dirty="0" err="1">
                <a:solidFill>
                  <a:srgbClr val="002060"/>
                </a:solidFill>
              </a:rPr>
              <a:t>Тромболітична</a:t>
            </a:r>
            <a:r>
              <a:rPr lang="uk-UA" sz="1400" b="1" dirty="0">
                <a:solidFill>
                  <a:srgbClr val="002060"/>
                </a:solidFill>
              </a:rPr>
              <a:t> терапія</a:t>
            </a:r>
          </a:p>
        </p:txBody>
      </p:sp>
      <p:sp>
        <p:nvSpPr>
          <p:cNvPr id="27" name="Прямокутник: округлені кути 26">
            <a:extLst>
              <a:ext uri="{FF2B5EF4-FFF2-40B4-BE49-F238E27FC236}">
                <a16:creationId xmlns:a16="http://schemas.microsoft.com/office/drawing/2014/main" id="{5BAE6A6A-9DC1-4DC6-9447-FA25668776D3}"/>
              </a:ext>
            </a:extLst>
          </p:cNvPr>
          <p:cNvSpPr/>
          <p:nvPr/>
        </p:nvSpPr>
        <p:spPr>
          <a:xfrm>
            <a:off x="6127425" y="3322768"/>
            <a:ext cx="1514147" cy="954107"/>
          </a:xfrm>
          <a:prstGeom prst="roundRect">
            <a:avLst/>
          </a:prstGeom>
          <a:gradFill flip="none" rotWithShape="1">
            <a:gsLst>
              <a:gs pos="0">
                <a:schemeClr val="accent4">
                  <a:lumMod val="0"/>
                  <a:lumOff val="100000"/>
                </a:schemeClr>
              </a:gs>
              <a:gs pos="35000">
                <a:schemeClr val="accent4">
                  <a:lumMod val="0"/>
                  <a:lumOff val="100000"/>
                </a:schemeClr>
              </a:gs>
              <a:gs pos="100000">
                <a:schemeClr val="accent4">
                  <a:lumMod val="100000"/>
                </a:schemeClr>
              </a:gs>
            </a:gsLst>
            <a:path path="circle">
              <a:fillToRect l="50000" t="-80000" r="50000" b="180000"/>
            </a:path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uk-UA" sz="1400" b="1" dirty="0" err="1">
                <a:solidFill>
                  <a:srgbClr val="002060"/>
                </a:solidFill>
              </a:rPr>
              <a:t>Ендоваскулярні</a:t>
            </a:r>
            <a:r>
              <a:rPr lang="uk-UA" sz="1400" b="1" dirty="0">
                <a:solidFill>
                  <a:srgbClr val="002060"/>
                </a:solidFill>
              </a:rPr>
              <a:t> втручання</a:t>
            </a:r>
          </a:p>
        </p:txBody>
      </p:sp>
      <p:sp>
        <p:nvSpPr>
          <p:cNvPr id="28" name="Прямокутник: округлені кути 27">
            <a:extLst>
              <a:ext uri="{FF2B5EF4-FFF2-40B4-BE49-F238E27FC236}">
                <a16:creationId xmlns:a16="http://schemas.microsoft.com/office/drawing/2014/main" id="{24557340-C6BC-4995-923D-BF20767DA6F0}"/>
              </a:ext>
            </a:extLst>
          </p:cNvPr>
          <p:cNvSpPr/>
          <p:nvPr/>
        </p:nvSpPr>
        <p:spPr>
          <a:xfrm>
            <a:off x="8011157" y="2914434"/>
            <a:ext cx="1514147" cy="954107"/>
          </a:xfrm>
          <a:prstGeom prst="roundRect">
            <a:avLst/>
          </a:prstGeom>
          <a:gradFill flip="none" rotWithShape="1">
            <a:gsLst>
              <a:gs pos="0">
                <a:schemeClr val="accent4">
                  <a:lumMod val="0"/>
                  <a:lumOff val="100000"/>
                </a:schemeClr>
              </a:gs>
              <a:gs pos="35000">
                <a:schemeClr val="accent4">
                  <a:lumMod val="0"/>
                  <a:lumOff val="100000"/>
                </a:schemeClr>
              </a:gs>
              <a:gs pos="100000">
                <a:schemeClr val="accent4">
                  <a:lumMod val="100000"/>
                </a:schemeClr>
              </a:gs>
            </a:gsLst>
            <a:path path="circle">
              <a:fillToRect l="50000" t="-80000" r="50000" b="180000"/>
            </a:path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uk-UA" sz="1600" b="1" dirty="0">
                <a:solidFill>
                  <a:srgbClr val="002060"/>
                </a:solidFill>
              </a:rPr>
              <a:t>Реабілітація</a:t>
            </a:r>
          </a:p>
        </p:txBody>
      </p:sp>
      <p:sp>
        <p:nvSpPr>
          <p:cNvPr id="29" name="Прямокутник 28">
            <a:extLst>
              <a:ext uri="{FF2B5EF4-FFF2-40B4-BE49-F238E27FC236}">
                <a16:creationId xmlns:a16="http://schemas.microsoft.com/office/drawing/2014/main" id="{B4BA5A22-795B-4824-9045-8F0C448C8EFF}"/>
              </a:ext>
            </a:extLst>
          </p:cNvPr>
          <p:cNvSpPr/>
          <p:nvPr/>
        </p:nvSpPr>
        <p:spPr>
          <a:xfrm>
            <a:off x="4005914" y="4864991"/>
            <a:ext cx="2189383" cy="6924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/>
            <a:r>
              <a:rPr lang="uk-UA" sz="1300" b="1" i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8,0% пацієнтів </a:t>
            </a:r>
          </a:p>
          <a:p>
            <a:pPr lvl="0" algn="ctr"/>
            <a:r>
              <a:rPr lang="uk-UA" sz="1300" b="1" i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отримують</a:t>
            </a:r>
          </a:p>
          <a:p>
            <a:pPr lvl="0" algn="ctr"/>
            <a:r>
              <a:rPr lang="uk-UA" sz="1300" b="1" i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uk-UA" sz="1300" b="1" i="1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тромболітичну</a:t>
            </a:r>
            <a:r>
              <a:rPr lang="uk-UA" sz="1300" b="1" i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терапію</a:t>
            </a:r>
          </a:p>
        </p:txBody>
      </p:sp>
      <p:sp>
        <p:nvSpPr>
          <p:cNvPr id="30" name="Прямокутник 29">
            <a:extLst>
              <a:ext uri="{FF2B5EF4-FFF2-40B4-BE49-F238E27FC236}">
                <a16:creationId xmlns:a16="http://schemas.microsoft.com/office/drawing/2014/main" id="{257B294A-6C81-49B3-8047-F932AB88B3D1}"/>
              </a:ext>
            </a:extLst>
          </p:cNvPr>
          <p:cNvSpPr/>
          <p:nvPr/>
        </p:nvSpPr>
        <p:spPr>
          <a:xfrm>
            <a:off x="6193822" y="4424293"/>
            <a:ext cx="2189383" cy="6924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/>
            <a:r>
              <a:rPr lang="uk-UA" sz="1300" b="1" i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1,0% пацієнтів </a:t>
            </a:r>
          </a:p>
          <a:p>
            <a:pPr lvl="0" algn="ctr"/>
            <a:r>
              <a:rPr lang="uk-UA" sz="1300" b="1" i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проходять </a:t>
            </a:r>
            <a:r>
              <a:rPr lang="uk-UA" sz="1300" b="1" i="1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ендоваскулярні</a:t>
            </a:r>
            <a:r>
              <a:rPr lang="uk-UA" sz="1300" b="1" i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втручання</a:t>
            </a:r>
          </a:p>
        </p:txBody>
      </p:sp>
      <p:sp>
        <p:nvSpPr>
          <p:cNvPr id="32" name="Прямокутник: округлені кути 31">
            <a:extLst>
              <a:ext uri="{FF2B5EF4-FFF2-40B4-BE49-F238E27FC236}">
                <a16:creationId xmlns:a16="http://schemas.microsoft.com/office/drawing/2014/main" id="{4138BE78-6462-45F1-AEDF-612E509722AD}"/>
              </a:ext>
            </a:extLst>
          </p:cNvPr>
          <p:cNvSpPr/>
          <p:nvPr/>
        </p:nvSpPr>
        <p:spPr>
          <a:xfrm>
            <a:off x="226266" y="4710589"/>
            <a:ext cx="1514146" cy="954107"/>
          </a:xfrm>
          <a:prstGeom prst="roundRect">
            <a:avLst/>
          </a:prstGeom>
          <a:gradFill flip="none" rotWithShape="1">
            <a:gsLst>
              <a:gs pos="0">
                <a:schemeClr val="accent4">
                  <a:lumMod val="0"/>
                  <a:lumOff val="100000"/>
                </a:schemeClr>
              </a:gs>
              <a:gs pos="35000">
                <a:schemeClr val="accent4">
                  <a:lumMod val="0"/>
                  <a:lumOff val="100000"/>
                </a:schemeClr>
              </a:gs>
              <a:gs pos="100000">
                <a:schemeClr val="accent4">
                  <a:lumMod val="100000"/>
                </a:schemeClr>
              </a:gs>
            </a:gsLst>
            <a:path path="circle">
              <a:fillToRect l="50000" t="-80000" r="50000" b="180000"/>
            </a:path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uk-UA" sz="1400" b="1" dirty="0">
                <a:solidFill>
                  <a:srgbClr val="002060"/>
                </a:solidFill>
              </a:rPr>
              <a:t>Госпіталізація за маршрутом і в спроможний заклад</a:t>
            </a:r>
          </a:p>
        </p:txBody>
      </p:sp>
      <p:sp>
        <p:nvSpPr>
          <p:cNvPr id="31" name="Прямокутник 30">
            <a:extLst>
              <a:ext uri="{FF2B5EF4-FFF2-40B4-BE49-F238E27FC236}">
                <a16:creationId xmlns:a16="http://schemas.microsoft.com/office/drawing/2014/main" id="{8050AA00-823B-4366-84E5-DC4770F13CE0}"/>
              </a:ext>
            </a:extLst>
          </p:cNvPr>
          <p:cNvSpPr/>
          <p:nvPr/>
        </p:nvSpPr>
        <p:spPr>
          <a:xfrm>
            <a:off x="8372157" y="3896477"/>
            <a:ext cx="2503843" cy="8925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/>
            <a:r>
              <a:rPr lang="uk-UA" sz="1300" b="1" i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64,3% пацієнтів </a:t>
            </a:r>
          </a:p>
          <a:p>
            <a:pPr lvl="0" algn="ctr"/>
            <a:r>
              <a:rPr lang="uk-UA" sz="1300" b="1" i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проходять реабілітацію</a:t>
            </a:r>
          </a:p>
          <a:p>
            <a:pPr lvl="0" algn="ctr"/>
            <a:r>
              <a:rPr lang="uk-UA" sz="1300" b="1" i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(стаціонарно - 59,5%</a:t>
            </a:r>
          </a:p>
          <a:p>
            <a:pPr lvl="0" algn="ctr"/>
            <a:r>
              <a:rPr lang="uk-UA" sz="1300" b="1" i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амбулаторно – 7,4)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4275" y="5771669"/>
            <a:ext cx="11320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uk-UA" dirty="0" smtClean="0">
                <a:solidFill>
                  <a:srgbClr val="FF0000"/>
                </a:solidFill>
              </a:rPr>
              <a:t>КПІ ≥ 15%</a:t>
            </a:r>
            <a:endParaRPr lang="uk-UA" dirty="0">
              <a:solidFill>
                <a:srgbClr val="FF0000"/>
              </a:solidFill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6807253" y="5104532"/>
            <a:ext cx="10150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uk-UA" dirty="0" smtClean="0">
                <a:solidFill>
                  <a:srgbClr val="FF0000"/>
                </a:solidFill>
              </a:rPr>
              <a:t>КПІ ≥ 5%</a:t>
            </a:r>
            <a:endParaRPr lang="uk-UA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8669693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3">
                <a:lumMod val="0"/>
                <a:lumOff val="100000"/>
              </a:schemeClr>
            </a:gs>
            <a:gs pos="35000">
              <a:schemeClr val="accent3">
                <a:lumMod val="0"/>
                <a:lumOff val="100000"/>
              </a:schemeClr>
            </a:gs>
            <a:gs pos="100000">
              <a:schemeClr val="accent3">
                <a:lumMod val="100000"/>
              </a:schemeClr>
            </a:gs>
          </a:gsLst>
          <a:path path="circle">
            <a:fillToRect l="50000" t="-80000" r="50000" b="18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Заголовок 1">
            <a:extLst>
              <a:ext uri="{FF2B5EF4-FFF2-40B4-BE49-F238E27FC236}">
                <a16:creationId xmlns:a16="http://schemas.microsoft.com/office/drawing/2014/main" id="{7CE25022-BD63-4184-8B1A-DDD02B0E44F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169796" y="2326493"/>
            <a:ext cx="7111284" cy="2205013"/>
          </a:xfrm>
          <a:gradFill>
            <a:gsLst>
              <a:gs pos="0">
                <a:schemeClr val="accent3">
                  <a:lumMod val="0"/>
                  <a:lumOff val="100000"/>
                </a:schemeClr>
              </a:gs>
              <a:gs pos="35000">
                <a:schemeClr val="accent3">
                  <a:lumMod val="0"/>
                  <a:lumOff val="100000"/>
                </a:schemeClr>
              </a:gs>
              <a:gs pos="100000">
                <a:schemeClr val="accent3">
                  <a:lumMod val="100000"/>
                </a:schemeClr>
              </a:gs>
            </a:gsLst>
            <a:path path="circle">
              <a:fillToRect l="50000" t="-80000" r="50000" b="180000"/>
            </a:path>
          </a:gradFill>
        </p:spPr>
        <p:txBody>
          <a:bodyPr>
            <a:normAutofit/>
          </a:bodyPr>
          <a:lstStyle/>
          <a:p>
            <a:pPr algn="ctr"/>
            <a:r>
              <a:rPr lang="uk-UA" altLang="ru-RU" sz="3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Дякую за увагу!!!</a:t>
            </a:r>
            <a:endParaRPr lang="ru-RU" altLang="ru-RU" sz="32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Офіс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Офіс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Офіс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Офіс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Офіс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Офіс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7880</TotalTime>
  <Words>6898</Words>
  <Application>Microsoft Office PowerPoint</Application>
  <PresentationFormat>Широкий екран</PresentationFormat>
  <Paragraphs>2872</Paragraphs>
  <Slides>36</Slides>
  <Notes>11</Notes>
  <HiddenSlides>0</HiddenSlides>
  <MMClips>0</MMClips>
  <ScaleCrop>false</ScaleCrop>
  <HeadingPairs>
    <vt:vector size="6" baseType="variant">
      <vt:variant>
        <vt:lpstr>Використані шрифти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слайдів</vt:lpstr>
      </vt:variant>
      <vt:variant>
        <vt:i4>36</vt:i4>
      </vt:variant>
    </vt:vector>
  </HeadingPairs>
  <TitlesOfParts>
    <vt:vector size="43" baseType="lpstr">
      <vt:lpstr>Arial</vt:lpstr>
      <vt:lpstr>Arial Narrow</vt:lpstr>
      <vt:lpstr>Calibri</vt:lpstr>
      <vt:lpstr>Calibri Light</vt:lpstr>
      <vt:lpstr>Gill Sans MT</vt:lpstr>
      <vt:lpstr>Times New Roman</vt:lpstr>
      <vt:lpstr>Тема Office</vt:lpstr>
      <vt:lpstr>Презентація PowerPoint</vt:lpstr>
      <vt:lpstr>Мережа ЗОЗ, які уклали договір з НСЗУ  та включені до маршруту затвердженого наказом ДОЗ</vt:lpstr>
      <vt:lpstr> ЗОЗ, які визначені для надання медичної допомоги хворим на ГМІ </vt:lpstr>
      <vt:lpstr> ЗОЗ, які визначені для надання медичної допомоги хворим на ГМІ </vt:lpstr>
      <vt:lpstr> ЗОЗ, які визначені для надання медичної допомоги хворим на ГМІ </vt:lpstr>
      <vt:lpstr>Клінічні маршрутів у ЗОЗ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Загальна кількість пролікованих хворих з ГМІ  у Львівській області у період з 2020 по 2023  </vt:lpstr>
      <vt:lpstr>Летальність від ГМІ у ЗОЗ Львівської області </vt:lpstr>
      <vt:lpstr>Частка пацієнтів пролікованих в інсультних блоках  у період з 2020 по 2023 </vt:lpstr>
      <vt:lpstr> Структура інсультів у Львівській області  </vt:lpstr>
      <vt:lpstr>Летальність з ГМІ у Львівській області  у період з 2020 по 2023 рр.</vt:lpstr>
      <vt:lpstr>Презентація PowerPoint</vt:lpstr>
      <vt:lpstr>Презентація PowerPoint</vt:lpstr>
      <vt:lpstr>Частка пацієнтів, яким проведено тромболітичну терапію (ТЛТ) від кількості  ГМІ в 2023 р. </vt:lpstr>
      <vt:lpstr>Презентація PowerPoint</vt:lpstr>
      <vt:lpstr>Презентація PowerPoint</vt:lpstr>
      <vt:lpstr>Загальна кількість пролікованих хворих з ішемічним інсультом у Львівській області у період з 2021 по 2023 рр.  </vt:lpstr>
      <vt:lpstr>Презентація PowerPoint</vt:lpstr>
      <vt:lpstr>Загальна кількість пролікованих хворих з геморагічним інсультом у Львівській області у період з 2020 по 2023 рр.  </vt:lpstr>
      <vt:lpstr>Летальність пацієнтів з ішемічним і геморагічним інсультами</vt:lpstr>
      <vt:lpstr>Презентація PowerPoint</vt:lpstr>
      <vt:lpstr>Презентація PowerPoint</vt:lpstr>
      <vt:lpstr>Презентація PowerPoint</vt:lpstr>
      <vt:lpstr>Частка пацієнтів, яким проведено тромболітичну терапію (ТЛТ)  (% від к-ті  ГМІ)</vt:lpstr>
      <vt:lpstr>Кількість пацієнтів з ГМІ, що пройшли реабілітацію у 2023р.</vt:lpstr>
      <vt:lpstr>Кількість пацієнтів з ГМІ, що пройшли реабілітацію у 2023</vt:lpstr>
      <vt:lpstr>Кількість пацієнтів з ГМІ, яким надана паліативна допомога у 2023р.</vt:lpstr>
      <vt:lpstr>Кількість пацієнтів з ГМІ, яким надана паліативна допомога у 2023р.</vt:lpstr>
      <vt:lpstr>Презентація PowerPoint</vt:lpstr>
      <vt:lpstr>Дякую за увагу!!!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Презентація PowerPoint</dc:title>
  <dc:creator>Yuhnovec_L</dc:creator>
  <cp:lastModifiedBy>User</cp:lastModifiedBy>
  <cp:revision>716</cp:revision>
  <cp:lastPrinted>2024-03-28T18:53:17Z</cp:lastPrinted>
  <dcterms:created xsi:type="dcterms:W3CDTF">2023-08-21T08:56:00Z</dcterms:created>
  <dcterms:modified xsi:type="dcterms:W3CDTF">2024-03-28T20:41:05Z</dcterms:modified>
</cp:coreProperties>
</file>
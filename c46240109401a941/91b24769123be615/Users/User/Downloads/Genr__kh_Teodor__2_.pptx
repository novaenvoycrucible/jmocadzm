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Garamon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aramond-regular.fntdata"/><Relationship Id="rId25" Type="http://schemas.openxmlformats.org/officeDocument/2006/relationships/slide" Target="slides/slide20.xml"/><Relationship Id="rId28" Type="http://schemas.openxmlformats.org/officeDocument/2006/relationships/font" Target="fonts/Garamond-italic.fntdata"/><Relationship Id="rId27" Type="http://schemas.openxmlformats.org/officeDocument/2006/relationships/font" Target="fonts/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1.png"/><Relationship Id="rId5" Type="http://schemas.openxmlformats.org/officeDocument/2006/relationships/image" Target="../media/image8.jpg"/><Relationship Id="rId6" Type="http://schemas.openxmlformats.org/officeDocument/2006/relationships/image" Target="../media/image13.jpg"/><Relationship Id="rId7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4.jpg"/><Relationship Id="rId5" Type="http://schemas.openxmlformats.org/officeDocument/2006/relationships/image" Target="../media/image16.jpg"/><Relationship Id="rId6" Type="http://schemas.openxmlformats.org/officeDocument/2006/relationships/image" Target="../media/image4.jp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5.png"/><Relationship Id="rId5" Type="http://schemas.openxmlformats.org/officeDocument/2006/relationships/image" Target="../media/image19.jp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1.png"/><Relationship Id="rId5" Type="http://schemas.openxmlformats.org/officeDocument/2006/relationships/image" Target="../media/image20.jpg"/><Relationship Id="rId6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2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hyperlink" Target="https://waralbum.ru/384533/" TargetMode="External"/><Relationship Id="rId5" Type="http://schemas.openxmlformats.org/officeDocument/2006/relationships/hyperlink" Target="https://waralbum.ru/384533/" TargetMode="External"/><Relationship Id="rId6" Type="http://schemas.openxmlformats.org/officeDocument/2006/relationships/image" Target="../media/image25.jpg"/><Relationship Id="rId7" Type="http://schemas.openxmlformats.org/officeDocument/2006/relationships/image" Target="../media/image28.jpg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29.jpg"/><Relationship Id="rId5" Type="http://schemas.openxmlformats.org/officeDocument/2006/relationships/image" Target="../media/image24.jp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30.jpg"/><Relationship Id="rId5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37.jpg"/><Relationship Id="rId5" Type="http://schemas.openxmlformats.org/officeDocument/2006/relationships/image" Target="../media/image11.png"/><Relationship Id="rId6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23.jp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jpg"/><Relationship Id="rId5" Type="http://schemas.openxmlformats.org/officeDocument/2006/relationships/image" Target="../media/image11.png"/><Relationship Id="rId6" Type="http://schemas.openxmlformats.org/officeDocument/2006/relationships/image" Target="../media/image35.jpg"/><Relationship Id="rId7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3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image" Target="../media/image34.jpg"/><Relationship Id="rId5" Type="http://schemas.openxmlformats.org/officeDocument/2006/relationships/image" Target="../media/image11.png"/><Relationship Id="rId6" Type="http://schemas.openxmlformats.org/officeDocument/2006/relationships/image" Target="../media/image3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42.jpg"/><Relationship Id="rId5" Type="http://schemas.openxmlformats.org/officeDocument/2006/relationships/image" Target="../media/image36.jpg"/><Relationship Id="rId6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40.jpg"/><Relationship Id="rId5" Type="http://schemas.openxmlformats.org/officeDocument/2006/relationships/image" Target="../media/image41.png"/><Relationship Id="rId6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382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>
            <p:ph type="ctrTitle"/>
          </p:nvPr>
        </p:nvSpPr>
        <p:spPr>
          <a:xfrm>
            <a:off x="683568" y="404664"/>
            <a:ext cx="7632848" cy="1872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974806"/>
                </a:solidFill>
                <a:latin typeface="Arial"/>
                <a:ea typeface="Arial"/>
                <a:cs typeface="Arial"/>
                <a:sym typeface="Arial"/>
              </a:rPr>
              <a:t>Генріх Теодор  Белль</a:t>
            </a:r>
            <a:br>
              <a:rPr b="1" lang="ru-RU">
                <a:solidFill>
                  <a:srgbClr val="97480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ru-RU">
                <a:solidFill>
                  <a:srgbClr val="974806"/>
                </a:solidFill>
                <a:latin typeface="Arial"/>
                <a:ea typeface="Arial"/>
                <a:cs typeface="Arial"/>
                <a:sym typeface="Arial"/>
              </a:rPr>
              <a:t> (1917—1985)</a:t>
            </a:r>
            <a:endParaRPr b="1">
              <a:solidFill>
                <a:srgbClr val="9748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923928" y="1988840"/>
            <a:ext cx="4464496" cy="273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ru-RU" sz="2800">
                <a:solidFill>
                  <a:schemeClr val="dk1"/>
                </a:solidFill>
              </a:rPr>
              <a:t>Генріх Теодор Белль – німецький письменник-реаліст, поет, сценарист і перекладач</a:t>
            </a:r>
            <a:endParaRPr i="1" sz="2800">
              <a:solidFill>
                <a:schemeClr val="dk1"/>
              </a:solidFill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08" y="2132856"/>
            <a:ext cx="2729894" cy="3886944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descr="C:\Users\Irina\Desktop\book_PNG2115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572000" y="4869160"/>
            <a:ext cx="396044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Презентація  вчителя зарубіжної літератури Новоград-Волинської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ЗОШ I-III ст. №3  Короленко Ірини Юріївни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382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2195736" y="836712"/>
            <a:ext cx="6264696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1" lang="ru-RU" sz="3300"/>
              <a:t>        </a:t>
            </a:r>
            <a:r>
              <a:rPr i="1" lang="ru-RU" sz="2600"/>
              <a:t>Жоден автор не розповідає так інформативно про німецьку післявоєнну дійсність, про завершення війни, її наслідки і відлуння як Генріх Белль. Зворушливі та строкаті романи Белля про сім’ї, розділені на  прихильників та противників нацистського режиму, містять набагато більше знання про ті часи, а тому і читаються набагато захопливіше, ніж безліч інших книжок на цю тему, виданих протягом останніх декількох десятиліть.</a:t>
            </a:r>
            <a:endParaRPr/>
          </a:p>
          <a:p>
            <a:pPr indent="-342900" lvl="0" marL="342900" rtl="0" algn="r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</a:t>
            </a:r>
            <a:r>
              <a:rPr lang="ru-RU" sz="2400"/>
              <a:t>Таня  Дюкерс,  німецька </a:t>
            </a:r>
            <a:endParaRPr/>
          </a:p>
          <a:p>
            <a:pPr indent="-342900" lvl="0" marL="342900" rtl="0" algn="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400"/>
              <a:t>письменниця  і журналістка </a:t>
            </a:r>
            <a:endParaRPr/>
          </a:p>
          <a:p>
            <a:pPr indent="-342900" lvl="0" marL="342900" rtl="0" algn="r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 sz="3300"/>
          </a:p>
        </p:txBody>
      </p:sp>
      <p:pic>
        <p:nvPicPr>
          <p:cNvPr descr="C:\Users\Irina\Desktop\book_PNG2115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920" y="5877272"/>
            <a:ext cx="1656184" cy="648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Без названия (1).jp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536" y="2852936"/>
            <a:ext cx="1258704" cy="1665362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fadeDir="5400000" kx="0" rotWithShape="0" algn="bl" stA="30000" stPos="0" sy="-100000" ky="0"/>
          </a:effectLst>
        </p:spPr>
      </p:pic>
      <p:pic>
        <p:nvPicPr>
          <p:cNvPr descr="cover (1).jp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584" y="1052736"/>
            <a:ext cx="1300929" cy="1886347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fadeDir="5400000" kx="0" rotWithShape="0" algn="bl" stA="30000" stPos="0" sy="-100000" ky="0"/>
          </a:effectLst>
        </p:spPr>
      </p:pic>
      <p:pic>
        <p:nvPicPr>
          <p:cNvPr descr="Genrih_Bjoll__Dom_bez_hozyaina.jpe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3608" y="4077072"/>
            <a:ext cx="1284623" cy="2087513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fadeDir="5400000" kx="0" rotWithShape="0" algn="bl" stA="30000" stPos="0" sy="-100000" ky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>
            <p:ph type="title"/>
          </p:nvPr>
        </p:nvSpPr>
        <p:spPr>
          <a:xfrm>
            <a:off x="457200" y="274638"/>
            <a:ext cx="7643192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4000"/>
              <a:buFont typeface="Calibri"/>
              <a:buNone/>
            </a:pPr>
            <a:r>
              <a:rPr b="1" lang="ru-RU" sz="4000">
                <a:solidFill>
                  <a:srgbClr val="974806"/>
                </a:solidFill>
              </a:rPr>
              <a:t>Дитинство</a:t>
            </a:r>
            <a:endParaRPr b="1" sz="4000">
              <a:solidFill>
                <a:srgbClr val="974806"/>
              </a:solidFill>
            </a:endParaRPr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3779912" y="1196752"/>
            <a:ext cx="4752528" cy="201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        </a:t>
            </a:r>
            <a:r>
              <a:rPr lang="ru-RU" sz="2000"/>
              <a:t>Народився в місті Кельн 21 грудня  1917  у багатодітній родині майстра з виготовлення художніх виробів з дерева Віктора Белля й Марі (Германнс) Белль. </a:t>
            </a:r>
            <a:endParaRPr sz="2000"/>
          </a:p>
        </p:txBody>
      </p:sp>
      <p:sp>
        <p:nvSpPr>
          <p:cNvPr id="107" name="Google Shape;107;p15"/>
          <p:cNvSpPr txBox="1"/>
          <p:nvPr/>
        </p:nvSpPr>
        <p:spPr>
          <a:xfrm>
            <a:off x="755576" y="3429000"/>
            <a:ext cx="7992888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Генріх був шостою дитиною в сім’ї. Батьки Генріха– побожні католики з міцними пацифістськими (антивоєнними) переконаннями. У їхньому розумінні, згідно із законами Слова Божого, будь-яке насильство вважалося неприйнятним. Родина жила незаможно, однак батьки не шкодували коштів і зусиль на освіту дітей.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 (1).jp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7704" y="5181282"/>
            <a:ext cx="1944216" cy="1293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logne_Cathedral_1926.jp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4087" y="5085183"/>
            <a:ext cx="2191549" cy="1440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Documents\мои работы\Staroe-zdanie3.jp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584" y="1268760"/>
            <a:ext cx="2808312" cy="1762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rina\Desktop\book_PNG2115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3828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rina\Desktop\book_PNG2115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683568" y="692696"/>
            <a:ext cx="3744416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       </a:t>
            </a:r>
            <a:r>
              <a:rPr lang="ru-RU" sz="2200"/>
              <a:t>Початкову освіту Генріх здобув у народній католицькій школі, потім у класичної гімназії імені кайзера Вільгельма. Цікавився фізикою, математикою,  багато читав, виявляв ще в дитинстові  широку ерудицію, захоплювався віршами Поля Верлена, Райнера Марії Рільке, романами Федора Достоєвського, любив музику.</a:t>
            </a:r>
            <a:endParaRPr sz="2200"/>
          </a:p>
        </p:txBody>
      </p:sp>
      <p:sp>
        <p:nvSpPr>
          <p:cNvPr id="119" name="Google Shape;119;p16"/>
          <p:cNvSpPr txBox="1"/>
          <p:nvPr>
            <p:ph idx="2" type="body"/>
          </p:nvPr>
        </p:nvSpPr>
        <p:spPr>
          <a:xfrm>
            <a:off x="4499992" y="2780928"/>
            <a:ext cx="4211960" cy="3672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        </a:t>
            </a:r>
            <a:r>
              <a:rPr lang="ru-RU" sz="2200"/>
              <a:t>На гімназію припадають перші творчі спроби хлопця, він пише вірші та оповідання. В оповіданнях юного автора відчувається вплив Достоєвського – бажання розібратися в психології героїв та співчуття до бідних і стражденних.</a:t>
            </a:r>
            <a:endParaRPr sz="2200"/>
          </a:p>
        </p:txBody>
      </p:sp>
      <p:sp>
        <p:nvSpPr>
          <p:cNvPr id="120" name="Google Shape;120;p16"/>
          <p:cNvSpPr/>
          <p:nvPr/>
        </p:nvSpPr>
        <p:spPr>
          <a:xfrm>
            <a:off x="5220072" y="2420888"/>
            <a:ext cx="28144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Генріх Белль. Фото 1926 р.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333.jp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4048" y="620688"/>
            <a:ext cx="3096344" cy="1817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323528" y="836712"/>
            <a:ext cx="3960440" cy="417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21c5c1c9cbbbda316720c6618a99fd7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8064" y="955052"/>
            <a:ext cx="3312368" cy="2131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Documents\мои работы\gitug.jp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0072" y="3931702"/>
            <a:ext cx="3273133" cy="216159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755576" y="620688"/>
            <a:ext cx="4248472" cy="5847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 підлітковому віці  Генріх виявляв неабияку твердість характеру. Він один з небагатьох, незважаючи на цькування,  не вступив  до молодіжної організації «Hitler Jugend» («Гітлерівська молодь», створена в 1926 році).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Віктор і Марі Беллі сприйняли прихід до влади націонал-соціалістичної партії як особисту трагедію і поразку. Вони щиро переживали за долю Німеччини й чітко усвідомлювали, що гуманістичні ідеали, в яких вони виховували своїх дітей, були в небезпеці.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Irina\Desktop\book_PNG2115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rina\Desktop\book_PNG2115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1880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1691680" y="220486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1043608" y="476672"/>
            <a:ext cx="4752528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Після закінчення гімназії у 1937 році Генріх Белль став учнем продавця книг у Бонні – місті неподалік Кельна.    Через рік юнак остаточно вирішив присвятити себе письменництву і залишив роботу. Водночас почав давати платні приватні уроки, які забезпечували йому засоби до існування.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275856" y="3573017"/>
            <a:ext cx="5328592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Але в 1938 року Імперська служба праці мобілізувала письменника-початківця до обов’язкових для кожного громадянина Німеччини піврічних примусових робіт. Для Генріха це було осушення боліт і лісозаготівля. Той період життя письменник згадував як «тупе існування» в «атмосфері абсолютної безнадії».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60px-Bookshop_in_Much_Wenlock.jpg" id="141" name="Google Shape;1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6176" y="836712"/>
            <a:ext cx="2066316" cy="23762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24px-Arbeitsdienst.jpg" id="142" name="Google Shape;1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553" y="3885801"/>
            <a:ext cx="2736303" cy="160330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755576" y="5445224"/>
            <a:ext cx="302433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Імперська служба праці</a:t>
            </a: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—націонал-соціалістична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організація Німеччини.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4000"/>
              <a:buFont typeface="Calibri"/>
              <a:buNone/>
            </a:pPr>
            <a:r>
              <a:rPr b="1" lang="ru-RU" sz="4000">
                <a:solidFill>
                  <a:srgbClr val="974806"/>
                </a:solidFill>
              </a:rPr>
              <a:t>Роки юності і Друга світова війна</a:t>
            </a:r>
            <a:endParaRPr b="1" sz="4000">
              <a:solidFill>
                <a:srgbClr val="974806"/>
              </a:solidFill>
            </a:endParaRPr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611560" y="1268760"/>
            <a:ext cx="4186808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</a:t>
            </a:r>
            <a:r>
              <a:rPr lang="ru-RU" sz="2600"/>
              <a:t>1939 року, після примусових робіт, вступив до Кельнського університету, де вивчав германістику на кафедрі класичної філології. Водночас повернувся до літературної праці. </a:t>
            </a:r>
            <a:endParaRPr/>
          </a:p>
          <a:p>
            <a:pPr indent="-342900" lvl="0" marL="34290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/>
              <a:t>        Однак уже в липні 1939 року його мобілізували в армію. Повернутися до мирного життя Беллю не судилося –</a:t>
            </a:r>
            <a:endParaRPr/>
          </a:p>
          <a:p>
            <a:pPr indent="-342900" lvl="0" marL="34290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/>
              <a:t>      1 вересня почалася Друга світова війна. </a:t>
            </a:r>
            <a:endParaRPr sz="2600"/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2120" y="3356992"/>
            <a:ext cx="2232248" cy="297573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C:\Users\Irina\Desktop\book_PNG2115.png" id="152" name="Google Shape;1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-of-cologne-germaniya-6-430x286.jpg" id="153" name="Google Shape;15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36096" y="1340768"/>
            <a:ext cx="2706594" cy="18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395536" y="548680"/>
            <a:ext cx="4392488" cy="5832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rgbClr val="494429"/>
              </a:buClr>
              <a:buSzPct val="100000"/>
              <a:buNone/>
            </a:pPr>
            <a:r>
              <a:rPr lang="ru-RU">
                <a:solidFill>
                  <a:srgbClr val="494429"/>
                </a:solidFill>
              </a:rPr>
              <a:t>           </a:t>
            </a:r>
            <a:r>
              <a:rPr lang="ru-RU">
                <a:solidFill>
                  <a:srgbClr val="1D1B10"/>
                </a:solidFill>
              </a:rPr>
              <a:t>Генріх Белль пройшов усю війну до 1945 року, він воював на Західному і Східному фронтах (територія Франції, Угорщини, Румунії,  Радянського Союзу, Німеччини). Найзапекліші бої, в яких йому довелося брати участь, відбулися в Україні. Генріх бував у Львові, Станіславі (Івано-Франківську), Тернополі, Одесі, Херсоні, у Криму.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rgbClr val="1D1B10"/>
              </a:buClr>
              <a:buSzPct val="100000"/>
              <a:buNone/>
            </a:pPr>
            <a:r>
              <a:rPr lang="ru-RU">
                <a:solidFill>
                  <a:srgbClr val="1D1B10"/>
                </a:solidFill>
              </a:rPr>
              <a:t>         За словами письменника, він жодного разу не вистрелив у людину, хоча сам отримав чотири поранення. </a:t>
            </a:r>
            <a:endParaRPr>
              <a:solidFill>
                <a:srgbClr val="1D1B10"/>
              </a:solidFill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004048" y="2924944"/>
            <a:ext cx="345638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</a:b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Генріх Белль серед солдатів запасного батальйону в Кельні.</a:t>
            </a:r>
            <a:endParaRPr sz="18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  <a:hlinkClick r:id="rId5"/>
            </a:endParaRPr>
          </a:p>
        </p:txBody>
      </p:sp>
      <p:pic>
        <p:nvPicPr>
          <p:cNvPr descr="384533-main.jpg" id="161" name="Google Shape;16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2040" y="908720"/>
            <a:ext cx="3384376" cy="2352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rina\Desktop\img17.jpg" id="162" name="Google Shape;162;p20"/>
          <p:cNvPicPr preferRelativeResize="0"/>
          <p:nvPr/>
        </p:nvPicPr>
        <p:blipFill rotWithShape="1">
          <a:blip r:embed="rId7">
            <a:alphaModFix/>
          </a:blip>
          <a:srcRect b="16667" l="4390" r="9999" t="12927"/>
          <a:stretch/>
        </p:blipFill>
        <p:spPr>
          <a:xfrm>
            <a:off x="5004047" y="3933056"/>
            <a:ext cx="3035313" cy="18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5220072" y="5805264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Руїни Кельна</a:t>
            </a: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Irina\Desktop\book_PNG2115.png" id="164" name="Google Shape;16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539552" y="764704"/>
            <a:ext cx="4680520" cy="4392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У 1942 році Бель одружується з Анні Марі Чех, яка народила йому двох синів.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В останній рік війни, навесні 1945 року,  Белль потрапив у полон до американських союзників.   Деякі біографи пишуть, що він свідомо здався, щоб припинити  для себе це безглуздя.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Провівши кілька місяців у таборі військовополонених на території Бельгії, а згодом у Франції, Генріх повернувся у Кельн. </a:t>
            </a:r>
            <a:endParaRPr/>
          </a:p>
        </p:txBody>
      </p:sp>
      <p:pic>
        <p:nvPicPr>
          <p:cNvPr descr="370142-main.jpg" id="171" name="Google Shape;1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160" y="908720"/>
            <a:ext cx="1800200" cy="2886093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fadeDir="5400000" kx="0" rotWithShape="0" algn="bl" stA="38000" stPos="0" sy="-100000" ky="0"/>
          </a:effectLst>
        </p:spPr>
      </p:pic>
      <p:pic>
        <p:nvPicPr>
          <p:cNvPr descr="image335.jpg" id="172" name="Google Shape;17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2080" y="4005064"/>
            <a:ext cx="3195417" cy="2088232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73" name="Google Shape;173;p21"/>
          <p:cNvSpPr/>
          <p:nvPr/>
        </p:nvSpPr>
        <p:spPr>
          <a:xfrm>
            <a:off x="1907704" y="5373216"/>
            <a:ext cx="32403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Генріх Белль із дружиною Анні Марі та синами. 1950-ті рр.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Irina\Desktop\book_PNG2115.png" id="174" name="Google Shape;17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>
            <p:ph type="title"/>
          </p:nvPr>
        </p:nvSpPr>
        <p:spPr>
          <a:xfrm>
            <a:off x="539552" y="332656"/>
            <a:ext cx="8064896" cy="864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4000"/>
              <a:buFont typeface="Calibri"/>
              <a:buNone/>
            </a:pPr>
            <a:r>
              <a:rPr b="1" lang="ru-RU" sz="4000">
                <a:solidFill>
                  <a:srgbClr val="974806"/>
                </a:solidFill>
              </a:rPr>
              <a:t>Перші літературні успіхи</a:t>
            </a:r>
            <a:endParaRPr b="1" sz="4000">
              <a:solidFill>
                <a:srgbClr val="974806"/>
              </a:solidFill>
            </a:endParaRPr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395536" y="1052736"/>
            <a:ext cx="5112568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ru-RU" sz="2200"/>
              <a:t>.    Повернувшись із полону додому, Генріх Белль вирішив продовжити навчання і заняття літературою.          Він увійшов до літературного об’єднання «Група 47» (об’єднання німецькомовних письменників. Мета групи - осмислення пережитого упродовж Другої світової війни, нацизму,  Голокосту).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ru-RU" sz="2200"/>
              <a:t>          Із 1947 року з’являються в літературних журналах  твори Белля, а в 1949 році вийшла друком повість «Поїзд точно за розкладом» (початкова назва «Між Львовом і Чернівцями»), яка зробила автора відомим.</a:t>
            </a:r>
            <a:endParaRPr/>
          </a:p>
        </p:txBody>
      </p:sp>
      <p:pic>
        <p:nvPicPr>
          <p:cNvPr descr="images.jpg" id="182" name="Google Shape;1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128" y="1412776"/>
            <a:ext cx="2822713" cy="2016224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fadeDir="5400000" kx="0" rotWithShape="0" algn="bl" stA="38000" stPos="0" sy="-100000" ky="0"/>
          </a:effectLst>
        </p:spPr>
      </p:pic>
      <p:pic>
        <p:nvPicPr>
          <p:cNvPr descr="poster.png" id="183" name="Google Shape;1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00" y="3717032"/>
            <a:ext cx="1584176" cy="2423183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fadeDir="5400000" kx="0" rotWithShape="0" algn="bl" stA="30000" stPos="0" sy="-100000" ky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683568" y="692696"/>
            <a:ext cx="4608512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</a:t>
            </a:r>
            <a:r>
              <a:rPr lang="ru-RU" sz="2600"/>
              <a:t>Закріпили творчий успіх письменника і принесли йому широку популярність збірка оповідань «Подорожній, коли ти прийдеш у Спа…» (1950 рік) і перший роман «Де ти був, Адаме?»   (1951 рік)</a:t>
            </a:r>
            <a:endParaRPr/>
          </a:p>
          <a:p>
            <a:pPr indent="-342900" lvl="0" marL="342900" rtl="0" algn="just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/>
              <a:t>          Генріх Белль став яскравим представником так званої літератури руїн (або ж літератури тих, хто повернувся), яку створювали молоді повоєнні автори. Він писав без прикрас і пафосу про війну, про роль нацизму в її розв’язанні, про повернення додому і про руїни на місці залишених домівок. </a:t>
            </a:r>
            <a:endParaRPr sz="2600"/>
          </a:p>
        </p:txBody>
      </p:sp>
      <p:pic>
        <p:nvPicPr>
          <p:cNvPr descr="C:\Users\Irina\Desktop\images (1).jpg" id="190" name="Google Shape;19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6136" y="764704"/>
            <a:ext cx="1800200" cy="2663899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fadeDir="5400000" kx="0" rotWithShape="0" algn="bl" stA="30000" stPos="0" sy="-100000" ky="0"/>
          </a:effectLst>
        </p:spPr>
      </p:pic>
      <p:pic>
        <p:nvPicPr>
          <p:cNvPr descr="C:\Users\Irina\Desktop\book_PNG2115.png" id="191" name="Google Shape;19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s (1).jpg" id="192" name="Google Shape;19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6176" y="3068960"/>
            <a:ext cx="2016224" cy="2975291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fadeDir="5400000" kx="0" rotWithShape="0" algn="bl" stA="30000" stPos="0" sy="-100000" ky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197" name="Google Shape;1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>
            <p:ph type="title"/>
          </p:nvPr>
        </p:nvSpPr>
        <p:spPr>
          <a:xfrm>
            <a:off x="539552" y="404664"/>
            <a:ext cx="8280920" cy="107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3600"/>
              <a:buFont typeface="Calibri"/>
              <a:buNone/>
            </a:pPr>
            <a:r>
              <a:rPr b="1" lang="ru-RU" sz="3600">
                <a:solidFill>
                  <a:srgbClr val="974806"/>
                </a:solidFill>
              </a:rPr>
              <a:t>Правозахисна діяльність Генріха Белля</a:t>
            </a:r>
            <a:endParaRPr b="1" sz="3600">
              <a:solidFill>
                <a:srgbClr val="974806"/>
              </a:solidFill>
            </a:endParaRPr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457200" y="1556792"/>
            <a:ext cx="4906888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Із кінця 1950-х років, крім плідної творчої роботи, він починає активну публіцистичну і громадську діяльність – відгукується на актуальні політичні проблеми, бере участь в антиурядових мітингах, демонстраціях і пікетах, стає відомим правозахисником. 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 Після виходу статті  в журналі «Шпігель», в якій він зауважив, що й до терористів треба ставитися як до людей, життя Генріха Белля різко змінилося. Преса почала цькувати заслуженого митця, називаючи його «симпатиком терористів».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274px-Bundesarchiv_B_145_Bild-F062164-0004,_Bonn,_Heinrich_Böll.jpg" id="200" name="Google Shape;2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0112" y="1916832"/>
            <a:ext cx="2718695" cy="3343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rina\Desktop\book_PNG2115.png" id="201" name="Google Shape;2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206" name="Google Shape;2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395536" y="620688"/>
            <a:ext cx="4464496" cy="471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ru-RU" sz="2200"/>
              <a:t>        У 1972 році письменникові було присуджено Нобелівську премію «за творчість, у якій поєднується широке охоплення дійсності з високим мистецтвом створення характерів і яка стала вагомим внеском у відродження німецької літератури».  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ru-RU" sz="2200"/>
              <a:t>        Разом з тим Белль зіграв помітну роль у діяльності 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ru-RU" sz="2200"/>
              <a:t>       Пен-клубу, міжнародної письменницької організації, за допомогою якої він надавав підтримку письменникам, що піддавалися утискам у країнах комуністичного режиму.</a:t>
            </a:r>
            <a:endParaRPr sz="2200"/>
          </a:p>
        </p:txBody>
      </p:sp>
      <p:pic>
        <p:nvPicPr>
          <p:cNvPr descr="21-7-638.jpg" id="208" name="Google Shape;208;p25"/>
          <p:cNvPicPr preferRelativeResize="0"/>
          <p:nvPr/>
        </p:nvPicPr>
        <p:blipFill rotWithShape="1">
          <a:blip r:embed="rId4">
            <a:alphaModFix/>
          </a:blip>
          <a:srcRect b="27400" l="-1185" r="32459" t="-1578"/>
          <a:stretch/>
        </p:blipFill>
        <p:spPr>
          <a:xfrm>
            <a:off x="5220072" y="764704"/>
            <a:ext cx="2952328" cy="2392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rina\Desktop\book_PNG2115.png" id="209" name="Google Shape;2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5364088" y="3284984"/>
            <a:ext cx="28803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Белль під час  вручення Нобелівської премії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nationalPEN-logo.jpg" id="211" name="Google Shape;21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4248" y="4725144"/>
            <a:ext cx="1440160" cy="1404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Без названия (4).jpg" id="212" name="Google Shape;21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76056" y="4149080"/>
            <a:ext cx="1584176" cy="156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395536" y="692696"/>
            <a:ext cx="5112568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sz="2800"/>
              <a:t>     У 1974 році виходить друком гостросоціальна повість «Втрачена честь Катаріни Блум, або Як виникає насилля і до чого воно може призвести». Книга стала бестселером і лише в Німеччині розійшлася накладом у 6 мільйонів примірників. У повісті йдеться про дівчину, яку в газеті «Цайтунг» назвали терористкою. Стаття-наклеп у жовтій пресі довела головну героїню до відчаю і стала причиною реального злочину.</a:t>
            </a:r>
            <a:endParaRPr/>
          </a:p>
          <a:p>
            <a:pPr indent="-342900" lvl="0" marL="342900" rtl="0" algn="just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800"/>
              <a:t>          А в 1979 році опублікував роман «Дбайлива облога», в якому порушено проблему тотального контролю за інакомислячими громадянами з боку влади і політичних сил. </a:t>
            </a:r>
            <a:endParaRPr sz="2600"/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128" y="1052736"/>
            <a:ext cx="2520281" cy="302433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/>
          <p:nvPr/>
        </p:nvSpPr>
        <p:spPr>
          <a:xfrm>
            <a:off x="5724128" y="4293096"/>
            <a:ext cx="27019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Генріх Белль у 1970-ті рр.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>
            <p:ph type="title"/>
          </p:nvPr>
        </p:nvSpPr>
        <p:spPr>
          <a:xfrm>
            <a:off x="467544" y="188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4000"/>
              <a:buFont typeface="Calibri"/>
              <a:buNone/>
            </a:pPr>
            <a:r>
              <a:rPr b="1" lang="ru-RU" sz="4000">
                <a:solidFill>
                  <a:srgbClr val="974806"/>
                </a:solidFill>
              </a:rPr>
              <a:t>Останній період життя</a:t>
            </a:r>
            <a:endParaRPr b="1" sz="4000">
              <a:solidFill>
                <a:srgbClr val="974806"/>
              </a:solidFill>
            </a:endParaRPr>
          </a:p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395536" y="1124744"/>
            <a:ext cx="5112568" cy="5256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З 1980 року Генріх Белль важко хворіє. Причиною різкого погіршення здоров’я стали не лише задавнені хвороби, а й багаторічне цькування письменника. 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 Помер Белль у віці 67 років, перебуваючи під Бонном, у гостях в одного зі своїх синів, 16 липня 1985 року.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За своє непросте життя він жодного разу не зрадив гуманістичні ідеали, яким присвятив творчість: </a:t>
            </a:r>
            <a:r>
              <a:rPr b="1" i="1" lang="ru-RU"/>
              <a:t>«Я переконаний, що людину робить людиною мова, любов і співпричетність; це вони пов’язують її саму з собою, з іншими людьми і з Богом – монолог, діалог, молитва». 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Картинки по запросу &quot;Белль дбайлива облога книги&quot;" id="228" name="Google Shape;22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128" y="1916832"/>
            <a:ext cx="2771478" cy="259228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233" name="Google Shape;2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8"/>
          <p:cNvSpPr txBox="1"/>
          <p:nvPr>
            <p:ph type="title"/>
          </p:nvPr>
        </p:nvSpPr>
        <p:spPr>
          <a:xfrm>
            <a:off x="467544" y="5486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ct val="100000"/>
              <a:buFont typeface="Calibri"/>
              <a:buNone/>
            </a:pPr>
            <a:r>
              <a:rPr b="1" lang="ru-RU">
                <a:solidFill>
                  <a:srgbClr val="974806"/>
                </a:solidFill>
              </a:rPr>
              <a:t>Генріх Белль і Василь Стус</a:t>
            </a:r>
            <a:br>
              <a:rPr lang="ru-RU">
                <a:solidFill>
                  <a:srgbClr val="974806"/>
                </a:solidFill>
              </a:rPr>
            </a:br>
            <a:endParaRPr>
              <a:solidFill>
                <a:srgbClr val="974806"/>
              </a:solidFill>
            </a:endParaRPr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2915816" y="1268760"/>
            <a:ext cx="5688632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    </a:t>
            </a:r>
            <a:r>
              <a:rPr lang="ru-RU" sz="4000"/>
              <a:t>Генріх Белль став на захист українського поета-дисидента Василя Стуса.</a:t>
            </a:r>
            <a:endParaRPr/>
          </a:p>
          <a:p>
            <a:pPr indent="-3429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4000"/>
              <a:t>             Ось його відповідь на запитання</a:t>
            </a:r>
            <a:r>
              <a:rPr b="1" lang="ru-RU" sz="4000"/>
              <a:t> </a:t>
            </a:r>
            <a:r>
              <a:rPr b="1" i="1" lang="ru-RU" sz="4000">
                <a:solidFill>
                  <a:srgbClr val="002060"/>
                </a:solidFill>
              </a:rPr>
              <a:t>«...У чому полягає злочин Стуса, чому його так суворо карають?» </a:t>
            </a:r>
            <a:r>
              <a:rPr i="1" lang="ru-RU" sz="4000"/>
              <a:t>з інтерв’ю німецькому радіо </a:t>
            </a:r>
            <a:r>
              <a:rPr b="1" i="1" lang="ru-RU" sz="4000"/>
              <a:t>10 січня 1985 рок</a:t>
            </a:r>
            <a:r>
              <a:rPr i="1" lang="ru-RU" sz="4000"/>
              <a:t>у:</a:t>
            </a:r>
            <a:r>
              <a:rPr i="1" lang="ru-RU" sz="4000">
                <a:latin typeface="Garamond"/>
                <a:ea typeface="Garamond"/>
                <a:cs typeface="Garamond"/>
                <a:sym typeface="Garamond"/>
              </a:rPr>
              <a:t> </a:t>
            </a:r>
            <a:r>
              <a:rPr b="1" i="1" lang="ru-RU" sz="4000">
                <a:solidFill>
                  <a:srgbClr val="002060"/>
                </a:solidFill>
              </a:rPr>
              <a:t>«Його так званий злочин полягає в тому, що він пише свої поезії по-українськи, а це інтерпретують як антирадянську діяльність... Стус пише свідомо по-українськи. Це єдиний закид, що мені відомий. Навіть не закид у націоналізмі, що також, легко застосовують, а винятково на підставі української творчості, що трактують як антирадянську діяльність».</a:t>
            </a:r>
            <a:endParaRPr/>
          </a:p>
          <a:p>
            <a:pPr indent="-203200" lvl="0" marL="342900" rtl="0" algn="just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0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descr="00.jpg" id="236" name="Google Shape;23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560" y="1700808"/>
            <a:ext cx="2592288" cy="1738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Irina\Desktop\book_PNG2115.png" id="237" name="Google Shape;23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s.jpg" id="238" name="Google Shape;23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783" y="3758074"/>
            <a:ext cx="1656300" cy="219120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fadeDir="5400000" kx="0" rotWithShape="0" algn="bl" stA="38000" stPos="0" sy="-100000" ky="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243" name="Google Shape;2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467544" y="1484784"/>
            <a:ext cx="4906888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Генріх Белль у своїх творах не змальовує фашизму як явища.           Його герої — солдати, єфрейтори, фельдфебелі, обер-лейтенанти — прості служаки, виконавці чужої волі, що не знайшли в собі сили протистояти фашизмові, а тому самі певною мірою страждають від своєї причетності до його злочинів. </a:t>
            </a:r>
            <a:endParaRPr/>
          </a:p>
          <a:p>
            <a:pPr indent="-342900" lvl="0" marL="342900" rtl="0" algn="just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         Письменник не виправдовує їх — він співчуває їм як людям.</a:t>
            </a:r>
            <a:endParaRPr/>
          </a:p>
        </p:txBody>
      </p:sp>
      <p:pic>
        <p:nvPicPr>
          <p:cNvPr id="245" name="Google Shape;24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2120" y="1556792"/>
            <a:ext cx="2592288" cy="194345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C:\Users\Irina\Desktop\5dd187860eb6c.jpeg" id="246" name="Google Shape;246;p29"/>
          <p:cNvPicPr preferRelativeResize="0"/>
          <p:nvPr/>
        </p:nvPicPr>
        <p:blipFill rotWithShape="1">
          <a:blip r:embed="rId5">
            <a:alphaModFix/>
          </a:blip>
          <a:srcRect b="11419" l="8721" r="6254" t="11430"/>
          <a:stretch/>
        </p:blipFill>
        <p:spPr>
          <a:xfrm>
            <a:off x="5724128" y="3933056"/>
            <a:ext cx="2624292" cy="1816817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fadeDir="5400000" kx="0" rotWithShape="0" algn="bl" stA="38000" stPos="0" sy="-100000" ky="0"/>
          </a:effectLst>
        </p:spPr>
      </p:pic>
      <p:sp>
        <p:nvSpPr>
          <p:cNvPr id="247" name="Google Shape;247;p29"/>
          <p:cNvSpPr txBox="1"/>
          <p:nvPr/>
        </p:nvSpPr>
        <p:spPr>
          <a:xfrm>
            <a:off x="1115616" y="548680"/>
            <a:ext cx="662473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rgbClr val="974806"/>
                </a:solidFill>
                <a:latin typeface="Calibri"/>
                <a:ea typeface="Calibri"/>
                <a:cs typeface="Calibri"/>
                <a:sym typeface="Calibri"/>
              </a:rPr>
              <a:t>Війна у творчості Г. Белля</a:t>
            </a:r>
            <a:endParaRPr b="1" sz="4000">
              <a:solidFill>
                <a:srgbClr val="9748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Irina\Desktop\book_PNG2115.png" id="248" name="Google Shape;24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253" name="Google Shape;2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0"/>
          <p:cNvSpPr txBox="1"/>
          <p:nvPr>
            <p:ph type="title"/>
          </p:nvPr>
        </p:nvSpPr>
        <p:spPr>
          <a:xfrm>
            <a:off x="611560" y="332656"/>
            <a:ext cx="8136904" cy="926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3600"/>
              <a:buFont typeface="Calibri"/>
              <a:buNone/>
            </a:pPr>
            <a:r>
              <a:rPr b="1" lang="ru-RU" sz="3600">
                <a:solidFill>
                  <a:srgbClr val="974806"/>
                </a:solidFill>
              </a:rPr>
              <a:t>Прикметні риси творчості Генріха Белля </a:t>
            </a:r>
            <a:endParaRPr b="1" sz="3600">
              <a:solidFill>
                <a:srgbClr val="974806"/>
              </a:solidFill>
            </a:endParaRPr>
          </a:p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2843808" y="1556792"/>
            <a:ext cx="5688632" cy="4597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ru-RU"/>
              <a:t>   письменник однієї теми: захист принципів гуманізму та моральне відродження Німеччини;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ru-RU"/>
              <a:t> реалістичне зображення дійсності та характерів героїв, історизм; 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ru-RU"/>
              <a:t>глибокий психологізм у змалюванні образів звичайних («маленьких») людей; 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ru-RU"/>
              <a:t> злободенність порушених проблем, соціальна проблематика; 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ru-RU"/>
              <a:t> антивоєнний пафос, гуманістичні переконання; 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ru-RU"/>
              <a:t> простота оповіді, прозорість головної думки твору; </a:t>
            </a:r>
            <a:endParaRPr/>
          </a:p>
          <a:p>
            <a:pPr indent="-342900" lvl="0" marL="342900" rtl="0" algn="just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ru-RU"/>
              <a:t> зображення беззмістовності війни, її антигуманної сутності.</a:t>
            </a:r>
            <a:endParaRPr/>
          </a:p>
        </p:txBody>
      </p:sp>
      <p:pic>
        <p:nvPicPr>
          <p:cNvPr descr="images.jpg" id="256" name="Google Shape;25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584" y="1340768"/>
            <a:ext cx="1872208" cy="2408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s.png" id="257" name="Google Shape;2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9592" y="4005064"/>
            <a:ext cx="1746194" cy="2160240"/>
          </a:xfrm>
          <a:prstGeom prst="rect">
            <a:avLst/>
          </a:prstGeom>
          <a:solidFill>
            <a:srgbClr val="ECECEC"/>
          </a:solidFill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5000" kx="195000" rotWithShape="0" algn="tl" dir="12900000" dist="50800" ky="145000">
              <a:srgbClr val="000000">
                <a:alpha val="29803"/>
              </a:srgbClr>
            </a:outerShdw>
          </a:effectLst>
        </p:spPr>
      </p:pic>
      <p:pic>
        <p:nvPicPr>
          <p:cNvPr descr="C:\Users\Irina\Desktop\book_PNG2115.png" id="258" name="Google Shape;25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55427542_546326349677895_3993821121490626920_o.jpg" id="263" name="Google Shape;2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516" y="1412776"/>
            <a:ext cx="8680964" cy="471145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1"/>
          <p:cNvSpPr txBox="1"/>
          <p:nvPr/>
        </p:nvSpPr>
        <p:spPr>
          <a:xfrm>
            <a:off x="611560" y="476672"/>
            <a:ext cx="8136904" cy="926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3600"/>
              <a:buFont typeface="Calibri"/>
              <a:buNone/>
            </a:pPr>
            <a:r>
              <a:rPr b="1" i="0" lang="ru-RU" sz="3600" u="none" cap="none" strike="noStrike">
                <a:solidFill>
                  <a:srgbClr val="974806"/>
                </a:solidFill>
                <a:latin typeface="Calibri"/>
                <a:ea typeface="Calibri"/>
                <a:cs typeface="Calibri"/>
                <a:sym typeface="Calibri"/>
              </a:rPr>
              <a:t>Заповніть  стрічку часу </a:t>
            </a:r>
            <a:endParaRPr b="1" i="0" sz="3600" u="none" cap="none" strike="noStrike">
              <a:solidFill>
                <a:srgbClr val="9748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Irina\Desktop\5f2aba792c5a07851b77ae56fbc773ef.jpg" id="269" name="Google Shape;2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89"/>
            <a:ext cx="9144000" cy="686228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74806"/>
              </a:buClr>
              <a:buSzPts val="4400"/>
              <a:buFont typeface="Calibri"/>
              <a:buNone/>
            </a:pPr>
            <a:r>
              <a:rPr b="1" lang="ru-RU">
                <a:solidFill>
                  <a:srgbClr val="974806"/>
                </a:solidFill>
              </a:rPr>
              <a:t>Використані джерела</a:t>
            </a:r>
            <a:endParaRPr b="1">
              <a:solidFill>
                <a:srgbClr val="974806"/>
              </a:solidFill>
            </a:endParaRPr>
          </a:p>
        </p:txBody>
      </p:sp>
      <p:sp>
        <p:nvSpPr>
          <p:cNvPr id="271" name="Google Shape;271;p32"/>
          <p:cNvSpPr txBox="1"/>
          <p:nvPr>
            <p:ph idx="1" type="body"/>
          </p:nvPr>
        </p:nvSpPr>
        <p:spPr>
          <a:xfrm>
            <a:off x="467544" y="126876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D1B10"/>
              </a:buClr>
              <a:buSzPct val="100000"/>
              <a:buChar char="•"/>
            </a:pPr>
            <a:r>
              <a:rPr lang="ru-RU" sz="2400">
                <a:solidFill>
                  <a:srgbClr val="1D1B10"/>
                </a:solidFill>
              </a:rPr>
              <a:t>Міляновська Н. Р.  Зарубіжна література. Рівень стандарту : підручник для 11 класу закладів загальної середньої освіти — Тернопіль : Астон, 2019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solidFill>
                <a:srgbClr val="1D1B10"/>
              </a:solidFill>
            </a:endParaRPr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1D1B10"/>
              </a:buClr>
              <a:buSzPct val="100000"/>
              <a:buChar char="•"/>
            </a:pPr>
            <a:r>
              <a:rPr lang="ru-RU" sz="2400">
                <a:solidFill>
                  <a:srgbClr val="1D1B10"/>
                </a:solidFill>
              </a:rPr>
              <a:t>Кадоб’янська Н. М. Зарубіжна література. Рівень стандарту : підруч. для 11 кл. закладів загальної середньої освіти / Н. М. Кадоб’янська, Л. М. Удовиченко. — Х. : ТОВ «СИЦИЯ», 2019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solidFill>
                <a:srgbClr val="1D1B10"/>
              </a:solidFill>
            </a:endParaRPr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1D1B10"/>
              </a:buClr>
              <a:buSzPct val="100000"/>
              <a:buChar char="•"/>
            </a:pPr>
            <a:r>
              <a:rPr lang="ru-RU" sz="2400" u="sng">
                <a:solidFill>
                  <a:srgbClr val="1D1B10"/>
                </a:solidFill>
              </a:rPr>
              <a:t>https://uk.wikipedia.org/wiki/%D0%93%D0%B5%D0%BD%D1%80%D1%96%D1%85_%D0%91%D0%B5%D0%BB%D0%BB%D1%8C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 u="sng">
              <a:solidFill>
                <a:srgbClr val="1D1B10"/>
              </a:solidFill>
            </a:endParaRPr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1D1B10"/>
              </a:buClr>
              <a:buSzPct val="100000"/>
              <a:buChar char="•"/>
            </a:pPr>
            <a:r>
              <a:rPr lang="ru-RU" sz="2400" u="sng">
                <a:solidFill>
                  <a:srgbClr val="1D1B10"/>
                </a:solidFill>
              </a:rPr>
              <a:t>https://www.goethe.de/ins/ua/uk/kul/mag/20542234.html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solidFill>
                <a:srgbClr val="E36C09"/>
              </a:solidFill>
            </a:endParaRPr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solidFill>
                <a:srgbClr val="E36C09"/>
              </a:solidFill>
            </a:endParaRPr>
          </a:p>
        </p:txBody>
      </p:sp>
      <p:pic>
        <p:nvPicPr>
          <p:cNvPr descr="C:\Users\Irina\Desktop\book_PNG2115.png" id="272" name="Google Shape;27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7904" y="5949280"/>
            <a:ext cx="1656184" cy="64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
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71" r:id="rId9"/>
    <p:sldId id="262" r:id="rId10"/>
    <p:sldId id="264" r:id="rId11"/>
    <p:sldId id="270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JBjCz+/uxoFqeojZXEsPb1vrZ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4BDD6F-10A6-460D-AA27-D597E9426233}" v="6" dt="2024-09-03T11:44:16.879"/>
  </p1510:revLst>
</p1510:revInfo>
</file>

<file path=ppt/tableStyles.xml><?xml version="1.0" encoding="utf-8"?>
<a:tblStyleLst xmlns:a="http://schemas.openxmlformats.org/drawingml/2006/main" def="{CA578582-C9AC-4292-864C-5812FE2B7DB2}">
  <a:tblStyle styleId="{CA578582-C9AC-4292-864C-5812FE2B7DB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5BCB78B-D183-4F2C-9CD6-9A38F35B9B9F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48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3" Type="http://schemas.openxmlformats.org/officeDocument/2006/relationships/slideMaster" Target="slideMasters/slideMaster1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6/11/relationships/changesInfo" Target="changesInfos/changesInfo1.xml"/><Relationship Id="rId5" Type="http://schemas.openxmlformats.org/officeDocument/2006/relationships/slide" Target="slides/slide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customschemas.google.com/relationships/presentationmetadata" Target="meta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rystyna Pak" userId="a5f294f2-0789-4883-8526-daac8f36f017" providerId="ADAL" clId="{DE4BDD6F-10A6-460D-AA27-D597E9426233}"/>
    <pc:docChg chg="undo redo custSel addSld delSld modSld sldOrd">
      <pc:chgData name="Khrystyna Pak" userId="a5f294f2-0789-4883-8526-daac8f36f017" providerId="ADAL" clId="{DE4BDD6F-10A6-460D-AA27-D597E9426233}" dt="2024-09-03T11:44:32.136" v="846" actId="1076"/>
      <pc:docMkLst>
        <pc:docMk/>
      </pc:docMkLst>
      <pc:sldChg chg="addSp delSp modSp mod chgLayout">
        <pc:chgData name="Khrystyna Pak" userId="a5f294f2-0789-4883-8526-daac8f36f017" providerId="ADAL" clId="{DE4BDD6F-10A6-460D-AA27-D597E9426233}" dt="2024-09-03T11:13:04.374" v="190" actId="20577"/>
        <pc:sldMkLst>
          <pc:docMk/>
          <pc:sldMk cId="0" sldId="256"/>
        </pc:sldMkLst>
        <pc:spChg chg="add del mod">
          <ac:chgData name="Khrystyna Pak" userId="a5f294f2-0789-4883-8526-daac8f36f017" providerId="ADAL" clId="{DE4BDD6F-10A6-460D-AA27-D597E9426233}" dt="2024-09-03T11:12:13.605" v="106" actId="6264"/>
          <ac:spMkLst>
            <pc:docMk/>
            <pc:sldMk cId="0" sldId="256"/>
            <ac:spMk id="2" creationId="{2EFAC7C8-E78E-B6FC-D52E-41D0C95A6F97}"/>
          </ac:spMkLst>
        </pc:spChg>
        <pc:spChg chg="add del mod">
          <ac:chgData name="Khrystyna Pak" userId="a5f294f2-0789-4883-8526-daac8f36f017" providerId="ADAL" clId="{DE4BDD6F-10A6-460D-AA27-D597E9426233}" dt="2024-09-03T11:12:13.605" v="106" actId="6264"/>
          <ac:spMkLst>
            <pc:docMk/>
            <pc:sldMk cId="0" sldId="256"/>
            <ac:spMk id="3" creationId="{2DE11B9A-D45A-F40F-EFF5-2F75310EBAAC}"/>
          </ac:spMkLst>
        </pc:spChg>
        <pc:spChg chg="mod ord">
          <ac:chgData name="Khrystyna Pak" userId="a5f294f2-0789-4883-8526-daac8f36f017" providerId="ADAL" clId="{DE4BDD6F-10A6-460D-AA27-D597E9426233}" dt="2024-09-03T11:12:13.605" v="106" actId="6264"/>
          <ac:spMkLst>
            <pc:docMk/>
            <pc:sldMk cId="0" sldId="256"/>
            <ac:spMk id="81" creationId="{00000000-0000-0000-0000-000000000000}"/>
          </ac:spMkLst>
        </pc:spChg>
        <pc:spChg chg="mod ord">
          <ac:chgData name="Khrystyna Pak" userId="a5f294f2-0789-4883-8526-daac8f36f017" providerId="ADAL" clId="{DE4BDD6F-10A6-460D-AA27-D597E9426233}" dt="2024-09-03T11:13:04.374" v="190" actId="20577"/>
          <ac:spMkLst>
            <pc:docMk/>
            <pc:sldMk cId="0" sldId="256"/>
            <ac:spMk id="82" creationId="{00000000-0000-0000-0000-000000000000}"/>
          </ac:spMkLst>
        </pc:spChg>
      </pc:sldChg>
      <pc:sldChg chg="modNotes">
        <pc:chgData name="Khrystyna Pak" userId="a5f294f2-0789-4883-8526-daac8f36f017" providerId="ADAL" clId="{DE4BDD6F-10A6-460D-AA27-D597E9426233}" dt="2024-09-03T11:12:18.769" v="107"/>
        <pc:sldMkLst>
          <pc:docMk/>
          <pc:sldMk cId="0" sldId="257"/>
        </pc:sldMkLst>
      </pc:sldChg>
      <pc:sldChg chg="add del mod modShow modNotes">
        <pc:chgData name="Khrystyna Pak" userId="a5f294f2-0789-4883-8526-daac8f36f017" providerId="ADAL" clId="{DE4BDD6F-10A6-460D-AA27-D597E9426233}" dt="2024-09-03T11:40:50.746" v="834" actId="47"/>
        <pc:sldMkLst>
          <pc:docMk/>
          <pc:sldMk cId="0" sldId="258"/>
        </pc:sldMkLst>
      </pc:sldChg>
      <pc:sldChg chg="modSp add del mod modShow">
        <pc:chgData name="Khrystyna Pak" userId="a5f294f2-0789-4883-8526-daac8f36f017" providerId="ADAL" clId="{DE4BDD6F-10A6-460D-AA27-D597E9426233}" dt="2024-09-03T11:40:39.609" v="833" actId="47"/>
        <pc:sldMkLst>
          <pc:docMk/>
          <pc:sldMk cId="0" sldId="259"/>
        </pc:sldMkLst>
        <pc:spChg chg="mod">
          <ac:chgData name="Khrystyna Pak" userId="a5f294f2-0789-4883-8526-daac8f36f017" providerId="ADAL" clId="{DE4BDD6F-10A6-460D-AA27-D597E9426233}" dt="2024-09-03T11:13:50.343" v="196" actId="20577"/>
          <ac:spMkLst>
            <pc:docMk/>
            <pc:sldMk cId="0" sldId="259"/>
            <ac:spMk id="120" creationId="{00000000-0000-0000-0000-000000000000}"/>
          </ac:spMkLst>
        </pc:spChg>
      </pc:sldChg>
      <pc:sldChg chg="modNotes">
        <pc:chgData name="Khrystyna Pak" userId="a5f294f2-0789-4883-8526-daac8f36f017" providerId="ADAL" clId="{DE4BDD6F-10A6-460D-AA27-D597E9426233}" dt="2024-09-03T11:12:18.769" v="107"/>
        <pc:sldMkLst>
          <pc:docMk/>
          <pc:sldMk cId="0" sldId="260"/>
        </pc:sldMkLst>
      </pc:sldChg>
      <pc:sldChg chg="addSp delSp modSp del mod modNotes">
        <pc:chgData name="Khrystyna Pak" userId="a5f294f2-0789-4883-8526-daac8f36f017" providerId="ADAL" clId="{DE4BDD6F-10A6-460D-AA27-D597E9426233}" dt="2024-09-03T11:44:23.777" v="844" actId="47"/>
        <pc:sldMkLst>
          <pc:docMk/>
          <pc:sldMk cId="0" sldId="261"/>
        </pc:sldMkLst>
        <pc:spChg chg="add del mod">
          <ac:chgData name="Khrystyna Pak" userId="a5f294f2-0789-4883-8526-daac8f36f017" providerId="ADAL" clId="{DE4BDD6F-10A6-460D-AA27-D597E9426233}" dt="2024-09-03T11:44:14.795" v="841" actId="21"/>
          <ac:spMkLst>
            <pc:docMk/>
            <pc:sldMk cId="0" sldId="261"/>
            <ac:spMk id="2" creationId="{FFED2FA4-737A-C2C7-2CF0-6237DBB048C9}"/>
          </ac:spMkLst>
        </pc:spChg>
        <pc:spChg chg="mod">
          <ac:chgData name="Khrystyna Pak" userId="a5f294f2-0789-4883-8526-daac8f36f017" providerId="ADAL" clId="{DE4BDD6F-10A6-460D-AA27-D597E9426233}" dt="2024-09-03T11:17:38.182" v="285" actId="20577"/>
          <ac:spMkLst>
            <pc:docMk/>
            <pc:sldMk cId="0" sldId="261"/>
            <ac:spMk id="133" creationId="{00000000-0000-0000-0000-000000000000}"/>
          </ac:spMkLst>
        </pc:spChg>
        <pc:spChg chg="mod">
          <ac:chgData name="Khrystyna Pak" userId="a5f294f2-0789-4883-8526-daac8f36f017" providerId="ADAL" clId="{DE4BDD6F-10A6-460D-AA27-D597E9426233}" dt="2024-09-03T11:24:27.063" v="721" actId="1076"/>
          <ac:spMkLst>
            <pc:docMk/>
            <pc:sldMk cId="0" sldId="261"/>
            <ac:spMk id="134" creationId="{00000000-0000-0000-0000-000000000000}"/>
          </ac:spMkLst>
        </pc:spChg>
        <pc:picChg chg="add del mod">
          <ac:chgData name="Khrystyna Pak" userId="a5f294f2-0789-4883-8526-daac8f36f017" providerId="ADAL" clId="{DE4BDD6F-10A6-460D-AA27-D597E9426233}" dt="2024-09-03T11:44:14.795" v="841" actId="21"/>
          <ac:picMkLst>
            <pc:docMk/>
            <pc:sldMk cId="0" sldId="261"/>
            <ac:picMk id="3" creationId="{3FD28A53-AEF5-1715-0266-694FD29334EB}"/>
          </ac:picMkLst>
        </pc:picChg>
        <pc:picChg chg="mod">
          <ac:chgData name="Khrystyna Pak" userId="a5f294f2-0789-4883-8526-daac8f36f017" providerId="ADAL" clId="{DE4BDD6F-10A6-460D-AA27-D597E9426233}" dt="2024-09-03T11:24:22.085" v="718" actId="1076"/>
          <ac:picMkLst>
            <pc:docMk/>
            <pc:sldMk cId="0" sldId="261"/>
            <ac:picMk id="135" creationId="{00000000-0000-0000-0000-000000000000}"/>
          </ac:picMkLst>
        </pc:picChg>
        <pc:picChg chg="mod">
          <ac:chgData name="Khrystyna Pak" userId="a5f294f2-0789-4883-8526-daac8f36f017" providerId="ADAL" clId="{DE4BDD6F-10A6-460D-AA27-D597E9426233}" dt="2024-09-03T11:24:20.543" v="717" actId="1076"/>
          <ac:picMkLst>
            <pc:docMk/>
            <pc:sldMk cId="0" sldId="261"/>
            <ac:picMk id="136" creationId="{00000000-0000-0000-0000-000000000000}"/>
          </ac:picMkLst>
        </pc:picChg>
        <pc:picChg chg="mod">
          <ac:chgData name="Khrystyna Pak" userId="a5f294f2-0789-4883-8526-daac8f36f017" providerId="ADAL" clId="{DE4BDD6F-10A6-460D-AA27-D597E9426233}" dt="2024-09-03T11:24:24.740" v="720" actId="1076"/>
          <ac:picMkLst>
            <pc:docMk/>
            <pc:sldMk cId="0" sldId="261"/>
            <ac:picMk id="137" creationId="{00000000-0000-0000-0000-000000000000}"/>
          </ac:picMkLst>
        </pc:picChg>
        <pc:picChg chg="mod">
          <ac:chgData name="Khrystyna Pak" userId="a5f294f2-0789-4883-8526-daac8f36f017" providerId="ADAL" clId="{DE4BDD6F-10A6-460D-AA27-D597E9426233}" dt="2024-09-03T11:24:23.237" v="719" actId="1076"/>
          <ac:picMkLst>
            <pc:docMk/>
            <pc:sldMk cId="0" sldId="261"/>
            <ac:picMk id="138" creationId="{00000000-0000-0000-0000-000000000000}"/>
          </ac:picMkLst>
        </pc:picChg>
      </pc:sldChg>
      <pc:sldChg chg="modSp mod">
        <pc:chgData name="Khrystyna Pak" userId="a5f294f2-0789-4883-8526-daac8f36f017" providerId="ADAL" clId="{DE4BDD6F-10A6-460D-AA27-D597E9426233}" dt="2024-09-03T11:14:34.753" v="198" actId="14100"/>
        <pc:sldMkLst>
          <pc:docMk/>
          <pc:sldMk cId="0" sldId="262"/>
        </pc:sldMkLst>
        <pc:graphicFrameChg chg="modGraphic">
          <ac:chgData name="Khrystyna Pak" userId="a5f294f2-0789-4883-8526-daac8f36f017" providerId="ADAL" clId="{DE4BDD6F-10A6-460D-AA27-D597E9426233}" dt="2024-09-03T11:14:34.753" v="198" actId="14100"/>
          <ac:graphicFrameMkLst>
            <pc:docMk/>
            <pc:sldMk cId="0" sldId="262"/>
            <ac:graphicFrameMk id="144" creationId="{00000000-0000-0000-0000-000000000000}"/>
          </ac:graphicFrameMkLst>
        </pc:graphicFrameChg>
      </pc:sldChg>
      <pc:sldChg chg="del">
        <pc:chgData name="Khrystyna Pak" userId="a5f294f2-0789-4883-8526-daac8f36f017" providerId="ADAL" clId="{DE4BDD6F-10A6-460D-AA27-D597E9426233}" dt="2024-09-03T11:41:11.378" v="835" actId="47"/>
        <pc:sldMkLst>
          <pc:docMk/>
          <pc:sldMk cId="0" sldId="263"/>
        </pc:sldMkLst>
      </pc:sldChg>
      <pc:sldChg chg="modNotes">
        <pc:chgData name="Khrystyna Pak" userId="a5f294f2-0789-4883-8526-daac8f36f017" providerId="ADAL" clId="{DE4BDD6F-10A6-460D-AA27-D597E9426233}" dt="2024-09-03T11:12:18.769" v="107"/>
        <pc:sldMkLst>
          <pc:docMk/>
          <pc:sldMk cId="0" sldId="264"/>
        </pc:sldMkLst>
      </pc:sldChg>
      <pc:sldChg chg="del modNotes">
        <pc:chgData name="Khrystyna Pak" userId="a5f294f2-0789-4883-8526-daac8f36f017" providerId="ADAL" clId="{DE4BDD6F-10A6-460D-AA27-D597E9426233}" dt="2024-09-03T11:41:15.285" v="836" actId="47"/>
        <pc:sldMkLst>
          <pc:docMk/>
          <pc:sldMk cId="0" sldId="265"/>
        </pc:sldMkLst>
      </pc:sldChg>
      <pc:sldChg chg="add del">
        <pc:chgData name="Khrystyna Pak" userId="a5f294f2-0789-4883-8526-daac8f36f017" providerId="ADAL" clId="{DE4BDD6F-10A6-460D-AA27-D597E9426233}" dt="2024-09-03T11:27:14.993" v="758" actId="47"/>
        <pc:sldMkLst>
          <pc:docMk/>
          <pc:sldMk cId="0" sldId="266"/>
        </pc:sldMkLst>
      </pc:sldChg>
      <pc:sldChg chg="del mod modShow modNotes">
        <pc:chgData name="Khrystyna Pak" userId="a5f294f2-0789-4883-8526-daac8f36f017" providerId="ADAL" clId="{DE4BDD6F-10A6-460D-AA27-D597E9426233}" dt="2024-09-03T11:41:22.096" v="837" actId="47"/>
        <pc:sldMkLst>
          <pc:docMk/>
          <pc:sldMk cId="0" sldId="267"/>
        </pc:sldMkLst>
      </pc:sldChg>
      <pc:sldChg chg="modSp new add del mod">
        <pc:chgData name="Khrystyna Pak" userId="a5f294f2-0789-4883-8526-daac8f36f017" providerId="ADAL" clId="{DE4BDD6F-10A6-460D-AA27-D597E9426233}" dt="2024-09-03T11:27:15.721" v="762" actId="122"/>
        <pc:sldMkLst>
          <pc:docMk/>
          <pc:sldMk cId="1720420392" sldId="268"/>
        </pc:sldMkLst>
        <pc:spChg chg="mod">
          <ac:chgData name="Khrystyna Pak" userId="a5f294f2-0789-4883-8526-daac8f36f017" providerId="ADAL" clId="{DE4BDD6F-10A6-460D-AA27-D597E9426233}" dt="2024-09-03T11:27:15.721" v="762" actId="122"/>
          <ac:spMkLst>
            <pc:docMk/>
            <pc:sldMk cId="1720420392" sldId="268"/>
            <ac:spMk id="2" creationId="{73A714F4-F8C7-EB77-DCAF-7B8F6E97252E}"/>
          </ac:spMkLst>
        </pc:spChg>
      </pc:sldChg>
      <pc:sldChg chg="add del">
        <pc:chgData name="Khrystyna Pak" userId="a5f294f2-0789-4883-8526-daac8f36f017" providerId="ADAL" clId="{DE4BDD6F-10A6-460D-AA27-D597E9426233}" dt="2024-09-03T11:27:14.810" v="757" actId="47"/>
        <pc:sldMkLst>
          <pc:docMk/>
          <pc:sldMk cId="1720420392" sldId="268"/>
        </pc:sldMkLst>
      </pc:sldChg>
      <pc:sldChg chg="new add del">
        <pc:chgData name="Khrystyna Pak" userId="a5f294f2-0789-4883-8526-daac8f36f017" providerId="ADAL" clId="{DE4BDD6F-10A6-460D-AA27-D597E9426233}" dt="2024-09-03T11:35:10.138" v="830" actId="47"/>
        <pc:sldMkLst>
          <pc:docMk/>
          <pc:sldMk cId="3029321805" sldId="269"/>
        </pc:sldMkLst>
      </pc:sldChg>
      <pc:sldChg chg="addSp delSp modSp add mod ord modShow">
        <pc:chgData name="Khrystyna Pak" userId="a5f294f2-0789-4883-8526-daac8f36f017" providerId="ADAL" clId="{DE4BDD6F-10A6-460D-AA27-D597E9426233}" dt="2024-09-03T11:35:02.922" v="829" actId="255"/>
        <pc:sldMkLst>
          <pc:docMk/>
          <pc:sldMk cId="4255822464" sldId="270"/>
        </pc:sldMkLst>
        <pc:spChg chg="mod">
          <ac:chgData name="Khrystyna Pak" userId="a5f294f2-0789-4883-8526-daac8f36f017" providerId="ADAL" clId="{DE4BDD6F-10A6-460D-AA27-D597E9426233}" dt="2024-09-03T11:34:04.451" v="821" actId="20577"/>
          <ac:spMkLst>
            <pc:docMk/>
            <pc:sldMk cId="4255822464" sldId="270"/>
            <ac:spMk id="213" creationId="{00000000-0000-0000-0000-000000000000}"/>
          </ac:spMkLst>
        </pc:spChg>
        <pc:spChg chg="add del">
          <ac:chgData name="Khrystyna Pak" userId="a5f294f2-0789-4883-8526-daac8f36f017" providerId="ADAL" clId="{DE4BDD6F-10A6-460D-AA27-D597E9426233}" dt="2024-09-03T11:33:39.378" v="772" actId="478"/>
          <ac:spMkLst>
            <pc:docMk/>
            <pc:sldMk cId="4255822464" sldId="270"/>
            <ac:spMk id="214" creationId="{00000000-0000-0000-0000-000000000000}"/>
          </ac:spMkLst>
        </pc:spChg>
        <pc:spChg chg="del">
          <ac:chgData name="Khrystyna Pak" userId="a5f294f2-0789-4883-8526-daac8f36f017" providerId="ADAL" clId="{DE4BDD6F-10A6-460D-AA27-D597E9426233}" dt="2024-09-03T11:33:40.690" v="773" actId="478"/>
          <ac:spMkLst>
            <pc:docMk/>
            <pc:sldMk cId="4255822464" sldId="270"/>
            <ac:spMk id="215" creationId="{00000000-0000-0000-0000-000000000000}"/>
          </ac:spMkLst>
        </pc:spChg>
        <pc:graphicFrameChg chg="add mod modGraphic">
          <ac:chgData name="Khrystyna Pak" userId="a5f294f2-0789-4883-8526-daac8f36f017" providerId="ADAL" clId="{DE4BDD6F-10A6-460D-AA27-D597E9426233}" dt="2024-09-03T11:35:02.922" v="829" actId="255"/>
          <ac:graphicFrameMkLst>
            <pc:docMk/>
            <pc:sldMk cId="4255822464" sldId="270"/>
            <ac:graphicFrameMk id="2" creationId="{00F21BAB-7E87-8212-EBBD-50AFDCE5B198}"/>
          </ac:graphicFrameMkLst>
        </pc:graphicFrameChg>
        <pc:graphicFrameChg chg="del">
          <ac:chgData name="Khrystyna Pak" userId="a5f294f2-0789-4883-8526-daac8f36f017" providerId="ADAL" clId="{DE4BDD6F-10A6-460D-AA27-D597E9426233}" dt="2024-09-03T11:33:44.308" v="775" actId="478"/>
          <ac:graphicFrameMkLst>
            <pc:docMk/>
            <pc:sldMk cId="4255822464" sldId="270"/>
            <ac:graphicFrameMk id="216" creationId="{00000000-0000-0000-0000-000000000000}"/>
          </ac:graphicFrameMkLst>
        </pc:graphicFrameChg>
        <pc:graphicFrameChg chg="del">
          <ac:chgData name="Khrystyna Pak" userId="a5f294f2-0789-4883-8526-daac8f36f017" providerId="ADAL" clId="{DE4BDD6F-10A6-460D-AA27-D597E9426233}" dt="2024-09-03T11:33:42.741" v="774" actId="478"/>
          <ac:graphicFrameMkLst>
            <pc:docMk/>
            <pc:sldMk cId="4255822464" sldId="270"/>
            <ac:graphicFrameMk id="217" creationId="{00000000-0000-0000-0000-000000000000}"/>
          </ac:graphicFrameMkLst>
        </pc:graphicFrameChg>
      </pc:sldChg>
      <pc:sldChg chg="addSp modSp add mod ord modNotes">
        <pc:chgData name="Khrystyna Pak" userId="a5f294f2-0789-4883-8526-daac8f36f017" providerId="ADAL" clId="{DE4BDD6F-10A6-460D-AA27-D597E9426233}" dt="2024-09-03T11:44:32.136" v="846" actId="1076"/>
        <pc:sldMkLst>
          <pc:docMk/>
          <pc:sldMk cId="0" sldId="271"/>
        </pc:sldMkLst>
        <pc:spChg chg="add mod">
          <ac:chgData name="Khrystyna Pak" userId="a5f294f2-0789-4883-8526-daac8f36f017" providerId="ADAL" clId="{DE4BDD6F-10A6-460D-AA27-D597E9426233}" dt="2024-09-03T11:44:32.136" v="846" actId="1076"/>
          <ac:spMkLst>
            <pc:docMk/>
            <pc:sldMk cId="0" sldId="271"/>
            <ac:spMk id="2" creationId="{FFED2FA4-737A-C2C7-2CF0-6237DBB048C9}"/>
          </ac:spMkLst>
        </pc:spChg>
        <pc:spChg chg="mod">
          <ac:chgData name="Khrystyna Pak" userId="a5f294f2-0789-4883-8526-daac8f36f017" providerId="ADAL" clId="{DE4BDD6F-10A6-460D-AA27-D597E9426233}" dt="2024-09-03T11:44:20.493" v="843" actId="14100"/>
          <ac:spMkLst>
            <pc:docMk/>
            <pc:sldMk cId="0" sldId="271"/>
            <ac:spMk id="134" creationId="{00000000-0000-0000-0000-000000000000}"/>
          </ac:spMkLst>
        </pc:spChg>
        <pc:picChg chg="add mod">
          <ac:chgData name="Khrystyna Pak" userId="a5f294f2-0789-4883-8526-daac8f36f017" providerId="ADAL" clId="{DE4BDD6F-10A6-460D-AA27-D597E9426233}" dt="2024-09-03T11:44:28.958" v="845" actId="1076"/>
          <ac:picMkLst>
            <pc:docMk/>
            <pc:sldMk cId="0" sldId="271"/>
            <ac:picMk id="3" creationId="{3FD28A53-AEF5-1715-0266-694FD29334EB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Ministry</a:t>
            </a:r>
            <a:r>
              <a:rPr lang="en-US" baseline="0" dirty="0"/>
              <a:t> of Health Budget </a:t>
            </a:r>
            <a:r>
              <a:rPr lang="en-US" dirty="0"/>
              <a:t> 2024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3"/>
          <c:order val="3"/>
          <c:explosion val="9"/>
          <c:dPt>
            <c:idx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4AD-481F-8F37-4006F361ABFA}"/>
              </c:ext>
            </c:extLst>
          </c:dPt>
          <c:dPt>
            <c:idx val="1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4AD-481F-8F37-4006F361ABFA}"/>
              </c:ext>
            </c:extLst>
          </c:dPt>
          <c:dLbls>
            <c:dLbl>
              <c:idx val="0"/>
              <c:layout>
                <c:manualLayout>
                  <c:x val="-0.12968975845843855"/>
                  <c:y val="-0.2288561938469915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4AD-481F-8F37-4006F361ABFA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F4AD-481F-8F37-4006F361ABF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Sheet1!$A$5:$A$6</c:f>
              <c:strCache>
                <c:ptCount val="2"/>
                <c:pt idx="0">
                  <c:v>PMG implementation</c:v>
                </c:pt>
                <c:pt idx="1">
                  <c:v>Other health sector expenditure</c:v>
                </c:pt>
              </c:strCache>
              <c:extLst/>
            </c:strRef>
          </c:cat>
          <c:val>
            <c:numRef>
              <c:f>Sheet1!$E$5:$E$6</c:f>
              <c:numCache>
                <c:formatCode>0.0%</c:formatCode>
                <c:ptCount val="2"/>
                <c:pt idx="0">
                  <c:v>0.79791239997889907</c:v>
                </c:pt>
                <c:pt idx="1">
                  <c:v>0.20208760002110093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4-F4AD-481F-8F37-4006F361AB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dPt>
                  <c:idx val="0"/>
                  <c:bubble3D val="0"/>
                  <c:spPr>
                    <a:solidFill>
                      <a:schemeClr val="accent1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06-F4AD-481F-8F37-4006F361ABFA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08-F4AD-481F-8F37-4006F361ABFA}"/>
                    </c:ext>
                  </c:extLst>
                </c:dPt>
                <c:cat>
                  <c:strRef>
                    <c:extLst>
                      <c:ext uri="{02D57815-91ED-43cb-92C2-25804820EDAC}">
                        <c15:formulaRef>
                          <c15:sqref>Sheet1!$A$5:$A$6</c15:sqref>
                        </c15:formulaRef>
                      </c:ext>
                    </c:extLst>
                    <c:strCache>
                      <c:ptCount val="2"/>
                      <c:pt idx="0">
                        <c:v>PMG implementation</c:v>
                      </c:pt>
                      <c:pt idx="1">
                        <c:v>Other health sector expenditure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Sheet1!$B$5:$B$6</c15:sqref>
                        </c15:formulaRef>
                      </c:ext>
                    </c:extLst>
                    <c:numCache>
                      <c:formatCode>#,##0.0</c:formatCode>
                      <c:ptCount val="2"/>
                      <c:pt idx="0">
                        <c:v>158752146.5</c:v>
                      </c:pt>
                      <c:pt idx="1">
                        <c:v>40207221.099999994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9-F4AD-481F-8F37-4006F361ABFA}"/>
                  </c:ext>
                </c:extLst>
              </c15:ser>
            </c15:filteredPieSeries>
            <c15:filteredPieSeries>
              <c15:ser>
                <c:idx val="1"/>
                <c:order val="1"/>
                <c:dPt>
                  <c:idx val="0"/>
                  <c:bubble3D val="0"/>
                  <c:spPr>
                    <a:solidFill>
                      <a:schemeClr val="accent1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0B-F4AD-481F-8F37-4006F361ABFA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0D-F4AD-481F-8F37-4006F361ABFA}"/>
                    </c:ext>
                  </c:extLst>
                </c:dPt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Sheet1!$A$5:$A$6</c15:sqref>
                        </c15:formulaRef>
                      </c:ext>
                    </c:extLst>
                    <c:strCache>
                      <c:ptCount val="2"/>
                      <c:pt idx="0">
                        <c:v>PMG implementation</c:v>
                      </c:pt>
                      <c:pt idx="1">
                        <c:v>Other health sector expenditure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Sheet1!$C$5:$C$6</c15:sqref>
                        </c15:formulaRef>
                      </c:ext>
                    </c:extLst>
                    <c:numCache>
                      <c:formatCode>#,##0.0</c:formatCode>
                      <c:ptCount val="2"/>
                      <c:pt idx="0">
                        <c:v>158.75214650000001</c:v>
                      </c:pt>
                      <c:pt idx="1">
                        <c:v>40.207221099999991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F4AD-481F-8F37-4006F361ABFA}"/>
                  </c:ext>
                </c:extLst>
              </c15:ser>
            </c15:filteredPieSeries>
            <c15:filteredPieSeries>
              <c15:ser>
                <c:idx val="2"/>
                <c:order val="2"/>
                <c:dPt>
                  <c:idx val="0"/>
                  <c:bubble3D val="0"/>
                  <c:spPr>
                    <a:solidFill>
                      <a:schemeClr val="accent1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0-F4AD-481F-8F37-4006F361ABFA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2-F4AD-481F-8F37-4006F361ABFA}"/>
                    </c:ext>
                  </c:extLst>
                </c:dPt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Sheet1!$A$5:$A$6</c15:sqref>
                        </c15:formulaRef>
                      </c:ext>
                    </c:extLst>
                    <c:strCache>
                      <c:ptCount val="2"/>
                      <c:pt idx="0">
                        <c:v>PMG implementation</c:v>
                      </c:pt>
                      <c:pt idx="1">
                        <c:v>Other health sector expenditure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Sheet1!$D$5:$D$6</c15:sqref>
                        </c15:formulaRef>
                      </c:ext>
                    </c:extLst>
                    <c:numCache>
                      <c:formatCode>#,##0.0</c:formatCode>
                      <c:ptCount val="2"/>
                      <c:pt idx="0">
                        <c:v>41.275558090000004</c:v>
                      </c:pt>
                      <c:pt idx="1">
                        <c:v>10.453877485999998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F4AD-481F-8F37-4006F361ABFA}"/>
                  </c:ext>
                </c:extLst>
              </c15:ser>
            </c15:filteredPieSeries>
          </c:ext>
        </c:extLst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5449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923E2-143C-0C75-D3D3-1ABF38B7E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BF8256-240E-64D0-B0E7-9A3A369BF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ED8B1-FFBF-3817-2EB9-3439B35F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E96A8-826D-41B3-ADB3-A8F7CF940E2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129D0-0D17-2165-EEED-32250A7E0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C0D76-E8BD-BF7F-37B4-CAF9D96A5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5051-4609-4FFF-BD8F-3B733E54D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4495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7FF33-6B29-454A-EEDB-30BD6D52F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A7450-57BD-A680-2B4A-E3942FD95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0C3FF-8042-DD96-E20A-33160DAC0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E96A8-826D-41B3-ADB3-A8F7CF940E2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D0AE5-9C00-8DCC-9A11-D025AD360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78D51-359C-172E-7408-1DCD1FC4E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5051-4609-4FFF-BD8F-3B733E54D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14054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A085-57E6-CF98-7B47-B3EAFDFFC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7E38B-075E-1933-815F-FFF5EC50A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FC174-842B-1744-8080-F03E50825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E96A8-826D-41B3-ADB3-A8F7CF940E2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1BDB8-4541-92F4-A3F3-BA4A6E5E6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84114-669D-EBBD-7142-26ACBF667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5051-4609-4FFF-BD8F-3B733E54D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7742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C21FB-07AE-8855-EF3C-3BF594CBF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8A12D-67D6-902D-403A-8DB0650CEE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5DF39-4CEA-CEED-A00E-F2DC15084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0D1C3-C092-DCD0-F973-53C00F0E5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E96A8-826D-41B3-ADB3-A8F7CF940E2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EDD27-24EF-9E09-5962-F5A36247D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C8B2C-58AE-D65D-9BDD-D85B4C60E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5051-4609-4FFF-BD8F-3B733E54D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2594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2D384-4EE9-10E0-0EF9-B4E5E3B0B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ACCB0-FCD4-0C3F-C0F6-66A9F74D2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A4F754-1912-C9B9-24D3-F848D3B6F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701E63-DBA3-2AD2-211E-F420BBCA2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833F90-9403-73A3-F62E-79310B0455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E057BA-CCF5-0423-5B17-A717460B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E96A8-826D-41B3-ADB3-A8F7CF940E2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E450CB-782C-FCFD-666A-B5D4577DB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6B8B89-CCC7-76F0-399A-EAC81FA9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5051-4609-4FFF-BD8F-3B733E54D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7437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5E12D-BEF9-AC63-DCC0-6EE991DF2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34A7B6-68B3-F6D0-C080-79E22D87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E96A8-826D-41B3-ADB3-A8F7CF940E2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F69F1-D417-42ED-A390-C6C552C0C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D4037-AF65-3511-1DC3-2C7CE2A3B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5051-4609-4FFF-BD8F-3B733E54D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5752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7A58FA-A6A8-58D3-ADC9-696CA490A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E96A8-826D-41B3-ADB3-A8F7CF940E2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F8DAA0-3B92-7A88-4ABF-1F642CC22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A85F6-AA3C-1353-C3A5-99321C8E9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5051-4609-4FFF-BD8F-3B733E54D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848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E68E1-D86F-CD2B-E010-9678FE730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D588D-33A7-76FE-D4F3-111482C97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91711-7E6B-98CB-976D-B2D61B4C5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193BF-DCA9-2E97-2A21-4278C4F92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E96A8-826D-41B3-ADB3-A8F7CF940E2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27C59-1836-5D52-7089-4317897EE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5BC34-FCA7-8E9C-536C-63E4179FF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5051-4609-4FFF-BD8F-3B733E54D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93220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DA570-EE3C-9452-B64D-EE70C50F0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997EE8-ECE4-4026-A11D-A4841EF778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4EA0D2-A9F2-E31D-AF6F-D0C13F14C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002B7-7B60-DBA9-2AA2-266720DC9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E96A8-826D-41B3-ADB3-A8F7CF940E2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E505C-C6F8-6B32-6F8A-DD5D738B3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1121B-EE2A-5E7D-3096-48C42F7D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5051-4609-4FFF-BD8F-3B733E54D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695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89962-2252-EBA0-D28B-9C1454BBD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43CC5-F0C6-0663-D38C-3143469E2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38EFB-F8C4-DE80-66B9-E1578F13C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E96A8-826D-41B3-ADB3-A8F7CF940E2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872D2-6EE1-B870-C5F7-9638BBDE2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54733-9062-EFBF-DEE4-2D2C73E68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5051-4609-4FFF-BD8F-3B733E54D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71475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E35774-1855-2777-560D-73C3EB705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F409E-32DE-4DC0-7AF8-48323CF67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72EB8-488B-F60B-B003-C6158CB9A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E96A8-826D-41B3-ADB3-A8F7CF940E2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D81A3-4E1B-DFDB-A7E0-DA4EB72E2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4DDA1-4951-AB37-EAE7-D935BA686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5051-4609-4FFF-BD8F-3B733E54D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2751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8EAF5D-639E-5B87-4315-343117282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A385F-BBC9-0F89-0ADF-288FAD44A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8D00E-9A41-FC05-74C0-C4A6952D2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E96A8-826D-41B3-ADB3-A8F7CF940E26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FCBDC-4AB3-A449-0DA2-3C6D7F9A3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F07CA-CD13-5219-C50B-A8FADCE27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B5051-4609-4FFF-BD8F-3B733E54D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356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orldbank.org/en/programs/program-for-results-financin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>
            <a:spLocks noGrp="1"/>
          </p:cNvSpPr>
          <p:nvPr>
            <p:ph type="ctrTitle"/>
          </p:nvPr>
        </p:nvSpPr>
        <p:spPr>
          <a:xfrm>
            <a:off x="452388" y="1122363"/>
            <a:ext cx="523614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Pts val="4400"/>
              <a:buFont typeface="Arial"/>
              <a:buNone/>
            </a:pPr>
            <a:r>
              <a:rPr lang="ru-RU" sz="4000">
                <a:latin typeface="Calibri"/>
                <a:ea typeface="Calibri"/>
                <a:cs typeface="Calibri"/>
                <a:sym typeface="Calibri"/>
              </a:rPr>
              <a:t>Трансформація охорони здоровʼя шляхом реформ та інвестицій у ефективність (THRIVE)</a:t>
            </a:r>
            <a:endParaRPr lang="ru-RU" sz="40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"/>
          <p:cNvSpPr txBox="1">
            <a:spLocks noGrp="1"/>
          </p:cNvSpPr>
          <p:nvPr>
            <p:ph type="subTitle" idx="1"/>
          </p:nvPr>
        </p:nvSpPr>
        <p:spPr>
          <a:xfrm>
            <a:off x="571100" y="3897221"/>
            <a:ext cx="4716900" cy="11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ru-RU" i="0" dirty="0">
                <a:latin typeface="Calibri"/>
                <a:ea typeface="Calibri"/>
                <a:cs typeface="Calibri"/>
                <a:sym typeface="Calibri"/>
              </a:rPr>
              <a:t>Презентація нового проєкту досягнення результатів (P4R) у сфері охорони здоров'я в Україні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ru-RU" i="0" dirty="0">
                <a:latin typeface="Calibri"/>
                <a:ea typeface="Calibri"/>
                <a:cs typeface="Calibri"/>
                <a:sym typeface="Calibri"/>
              </a:rPr>
              <a:t>МОЗ, НСЗУ та Світового Банку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ru-RU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ru-RU" i="0" dirty="0">
                <a:latin typeface="Calibri"/>
                <a:ea typeface="Calibri"/>
                <a:cs typeface="Calibri"/>
                <a:sym typeface="Calibri"/>
              </a:rPr>
              <a:t>Консультації із зацікавленими сторонами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ru-RU" dirty="0">
                <a:latin typeface="Calibri"/>
                <a:ea typeface="Calibri"/>
                <a:cs typeface="Calibri"/>
                <a:sym typeface="Calibri"/>
              </a:rPr>
              <a:t>4 вересня 2024, 16-00 за Києвом</a:t>
            </a:r>
            <a:endParaRPr lang="ru-RU" i="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1" descr="Une image contenant personne&#10;&#10;Description générée automatiquement"/>
          <p:cNvPicPr preferRelativeResize="0"/>
          <p:nvPr/>
        </p:nvPicPr>
        <p:blipFill rotWithShape="1">
          <a:blip r:embed="rId3">
            <a:alphaModFix/>
          </a:blip>
          <a:srcRect l="22045" t="-412" r="18567" b="411"/>
          <a:stretch/>
        </p:blipFill>
        <p:spPr>
          <a:xfrm>
            <a:off x="5909733" y="-26098"/>
            <a:ext cx="6282267" cy="6330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/>
        </p:nvSpPr>
        <p:spPr>
          <a:xfrm>
            <a:off x="607200" y="877900"/>
            <a:ext cx="7692300" cy="51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latin typeface="Calibri"/>
                <a:ea typeface="Calibri"/>
                <a:cs typeface="Calibri"/>
                <a:sym typeface="Calibri"/>
              </a:rPr>
              <a:t>Макроекономічний контекст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Економічний спад - втрата 30% ВВП у 2022 році, зростання відновилось у 2023 році, але два десятиліття зростання до вторгнення зведені нанівець.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 державних видатках переважають витрати на оборону; скорочення в інших секторах; відсутність значних заходів жорсткої економії (поки що) лише завдяки зовнішній підтримці.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Фіскальна консолідація та скорочення державних видатків (особливо в соціальному секторі) ймовірні в найближчі роки.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Підвищення ефективності державних видатків є ключовим пріоритетом Уряду України.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>
                <a:latin typeface="Calibri"/>
                <a:ea typeface="Calibri"/>
                <a:cs typeface="Calibri"/>
                <a:sym typeface="Calibri"/>
              </a:rPr>
              <a:t>Сектор охорони здоров’я: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Амбітні реформи, спрямовані на підвищення ефективності та сталості державних видатків на охорону здоров'я, розпочато у 2018 році (ПМГ).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Реалізація реформи продовжується, але вона була ускладнена пандемією COVID-19 та повномасштабним вторгненням.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Поточний контекст вимагає і створює можливості для прискорення реформ у секторі охорони здоров'я, спрямованих на підвищення ефективності.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838200" y="365125"/>
            <a:ext cx="10515600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05BBB"/>
                </a:solidFill>
              </a:rPr>
              <a:t>Контекст</a:t>
            </a:r>
            <a:endParaRPr sz="2400" b="1" i="0" u="none" strike="noStrike" cap="none">
              <a:solidFill>
                <a:srgbClr val="005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8239" y="3759384"/>
            <a:ext cx="2953359" cy="256759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/>
        </p:nvSpPr>
        <p:spPr>
          <a:xfrm>
            <a:off x="8657600" y="3450125"/>
            <a:ext cx="3155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Зміна державних видатків між 2022 та 2021 </a:t>
            </a:r>
            <a:endParaRPr/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08390" y="1199044"/>
            <a:ext cx="3155288" cy="20986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/>
        </p:nvSpPr>
        <p:spPr>
          <a:xfrm>
            <a:off x="8632200" y="884025"/>
            <a:ext cx="305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ВВП України в постійних цінах</a:t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10049592" y="5201756"/>
            <a:ext cx="204978" cy="914400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/>
        </p:nvSpPr>
        <p:spPr>
          <a:xfrm>
            <a:off x="838200" y="288925"/>
            <a:ext cx="10515600" cy="5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05BBB"/>
                </a:solidFill>
                <a:latin typeface="Calibri"/>
                <a:ea typeface="Calibri"/>
                <a:cs typeface="Calibri"/>
                <a:sym typeface="Calibri"/>
              </a:rPr>
              <a:t>Контекст- реформа фінансування охорони здоров’я 2018</a:t>
            </a:r>
            <a:endParaRPr sz="2400" b="1">
              <a:solidFill>
                <a:srgbClr val="005BB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" name="Google Shape;100;p3"/>
          <p:cNvGrpSpPr/>
          <p:nvPr/>
        </p:nvGrpSpPr>
        <p:grpSpPr>
          <a:xfrm>
            <a:off x="416511" y="894013"/>
            <a:ext cx="11517066" cy="1052324"/>
            <a:chOff x="458775" y="961630"/>
            <a:chExt cx="11274300" cy="1347704"/>
          </a:xfrm>
        </p:grpSpPr>
        <p:sp>
          <p:nvSpPr>
            <p:cNvPr id="101" name="Google Shape;101;p3"/>
            <p:cNvSpPr/>
            <p:nvPr/>
          </p:nvSpPr>
          <p:spPr>
            <a:xfrm>
              <a:off x="458775" y="961630"/>
              <a:ext cx="11274300" cy="1347704"/>
            </a:xfrm>
            <a:prstGeom prst="roundRect">
              <a:avLst>
                <a:gd name="adj" fmla="val 16667"/>
              </a:avLst>
            </a:prstGeom>
            <a:solidFill>
              <a:srgbClr val="073763"/>
            </a:solidFill>
            <a:ln w="9525" cap="flat" cmpd="sng">
              <a:solidFill>
                <a:srgbClr val="07376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3"/>
            <p:cNvSpPr txBox="1"/>
            <p:nvPr/>
          </p:nvSpPr>
          <p:spPr>
            <a:xfrm>
              <a:off x="573075" y="1038224"/>
              <a:ext cx="11009700" cy="118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Montserrat"/>
                <a:buNone/>
              </a:pPr>
              <a:r>
                <a:rPr lang="en-US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Для підвищення ефективності та фінансової стійкості системи охорони здоров'я в Україні було створено Програму медичних гарантій (ПМГ). ПМГ трансформувала раніше нечітке конституційне зобов'язання щодо безоплатної медичної допомоги для всіх у право на визначений пакет медичних послуг та запровадила більш ефективні способи їх фінансування.</a:t>
              </a:r>
              <a:endParaRPr sz="160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3"/>
          <p:cNvGrpSpPr/>
          <p:nvPr/>
        </p:nvGrpSpPr>
        <p:grpSpPr>
          <a:xfrm>
            <a:off x="416511" y="2070208"/>
            <a:ext cx="11245339" cy="4146787"/>
            <a:chOff x="416511" y="1906580"/>
            <a:chExt cx="11245339" cy="4146787"/>
          </a:xfrm>
        </p:grpSpPr>
        <p:sp>
          <p:nvSpPr>
            <p:cNvPr id="104" name="Google Shape;104;p3"/>
            <p:cNvSpPr txBox="1"/>
            <p:nvPr/>
          </p:nvSpPr>
          <p:spPr>
            <a:xfrm>
              <a:off x="2398000" y="1934055"/>
              <a:ext cx="1575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73763"/>
                </a:buClr>
                <a:buSzPts val="2000"/>
                <a:buFont typeface="Arial"/>
                <a:buNone/>
              </a:pPr>
              <a:r>
                <a:rPr lang="en-US" sz="2000" b="1">
                  <a:solidFill>
                    <a:srgbClr val="073763"/>
                  </a:solidFill>
                </a:rPr>
                <a:t>ДО</a:t>
              </a:r>
              <a:endParaRPr sz="2000" b="1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"/>
            <p:cNvSpPr txBox="1"/>
            <p:nvPr/>
          </p:nvSpPr>
          <p:spPr>
            <a:xfrm>
              <a:off x="8219002" y="1906580"/>
              <a:ext cx="1175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B6F2"/>
                </a:buClr>
                <a:buSzPts val="2000"/>
                <a:buFont typeface="Arial"/>
                <a:buNone/>
              </a:pPr>
              <a:r>
                <a:rPr lang="en-US" sz="2000" b="1">
                  <a:solidFill>
                    <a:srgbClr val="00B6F2"/>
                  </a:solidFill>
                </a:rPr>
                <a:t>ПІСЛЯ</a:t>
              </a:r>
              <a:endParaRPr sz="2000" b="1">
                <a:solidFill>
                  <a:srgbClr val="00B6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"/>
            <p:cNvSpPr txBox="1"/>
            <p:nvPr/>
          </p:nvSpPr>
          <p:spPr>
            <a:xfrm>
              <a:off x="416511" y="2295567"/>
              <a:ext cx="5182200" cy="306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latin typeface="Calibri"/>
                  <a:ea typeface="Calibri"/>
                  <a:cs typeface="Calibri"/>
                  <a:sym typeface="Calibri"/>
                </a:rPr>
                <a:t>Нечітке конституційне право на безоплатну медичну допомогу, що гарантується державою</a:t>
              </a:r>
              <a:endParaRPr sz="1600"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latin typeface="Calibri"/>
                  <a:ea typeface="Calibri"/>
                  <a:cs typeface="Calibri"/>
                  <a:sym typeface="Calibri"/>
                </a:rPr>
                <a:t>Держава володіє та фінансує медичні заклади</a:t>
              </a:r>
              <a:endParaRPr sz="1600"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latin typeface="Calibri"/>
                  <a:ea typeface="Calibri"/>
                  <a:cs typeface="Calibri"/>
                  <a:sym typeface="Calibri"/>
                </a:rPr>
                <a:t>Відсутність вибору місця отримання медичної допомоги</a:t>
              </a:r>
              <a:endParaRPr sz="1600"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latin typeface="Calibri"/>
                  <a:ea typeface="Calibri"/>
                  <a:cs typeface="Calibri"/>
                  <a:sym typeface="Calibri"/>
                </a:rPr>
                <a:t>Постатейне фінансування без свободи перерозподілу коштів відповідно до реальних потреб</a:t>
              </a:r>
              <a:endParaRPr sz="1600"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latin typeface="Calibri"/>
                  <a:ea typeface="Calibri"/>
                  <a:cs typeface="Calibri"/>
                  <a:sym typeface="Calibri"/>
                </a:rPr>
                <a:t>Фінансування, що базується на витратах</a:t>
              </a:r>
              <a:endParaRPr sz="1600"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6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3"/>
            <p:cNvSpPr txBox="1"/>
            <p:nvPr/>
          </p:nvSpPr>
          <p:spPr>
            <a:xfrm>
              <a:off x="6479650" y="2317017"/>
              <a:ext cx="5182200" cy="306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latin typeface="Calibri"/>
                  <a:ea typeface="Calibri"/>
                  <a:cs typeface="Calibri"/>
                  <a:sym typeface="Calibri"/>
                </a:rPr>
                <a:t>Чітко визначений перелік медичних послуг, що гарантуються/покриваються державою</a:t>
              </a:r>
              <a:endParaRPr sz="1600"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latin typeface="Calibri"/>
                  <a:ea typeface="Calibri"/>
                  <a:cs typeface="Calibri"/>
                  <a:sym typeface="Calibri"/>
                </a:rPr>
                <a:t>Держава закуповує медичні послуги</a:t>
              </a:r>
              <a:endParaRPr sz="1600"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latin typeface="Calibri"/>
                  <a:ea typeface="Calibri"/>
                  <a:cs typeface="Calibri"/>
                  <a:sym typeface="Calibri"/>
                </a:rPr>
                <a:t>Пацієнт обирає постачальників - гроші йдуть за пацієнтом</a:t>
              </a:r>
              <a:endParaRPr sz="1600"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latin typeface="Calibri"/>
                  <a:ea typeface="Calibri"/>
                  <a:cs typeface="Calibri"/>
                  <a:sym typeface="Calibri"/>
                </a:rPr>
                <a:t>Фінансова та управлінська автономія надавачів послуг</a:t>
              </a:r>
              <a:endParaRPr sz="1600"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latin typeface="Calibri"/>
                  <a:ea typeface="Calibri"/>
                  <a:cs typeface="Calibri"/>
                  <a:sym typeface="Calibri"/>
                </a:rPr>
                <a:t>Фінансування на основі результатів</a:t>
              </a:r>
              <a:endParaRPr sz="1600"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8" name="Google Shape;108;p3"/>
            <p:cNvCxnSpPr/>
            <p:nvPr/>
          </p:nvCxnSpPr>
          <p:spPr>
            <a:xfrm>
              <a:off x="6161988" y="2373867"/>
              <a:ext cx="10500" cy="2966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09" name="Google Shape;109;p3"/>
            <p:cNvCxnSpPr>
              <a:stCxn id="110" idx="3"/>
              <a:endCxn id="111" idx="1"/>
            </p:cNvCxnSpPr>
            <p:nvPr/>
          </p:nvCxnSpPr>
          <p:spPr>
            <a:xfrm rot="10800000" flipH="1">
              <a:off x="4955400" y="5560317"/>
              <a:ext cx="2423700" cy="31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sm" len="sm"/>
              <a:tailEnd type="triangle" w="med" len="med"/>
            </a:ln>
          </p:spPr>
        </p:cxnSp>
        <p:sp>
          <p:nvSpPr>
            <p:cNvPr id="112" name="Google Shape;112;p3"/>
            <p:cNvSpPr txBox="1"/>
            <p:nvPr/>
          </p:nvSpPr>
          <p:spPr>
            <a:xfrm>
              <a:off x="1816500" y="5376267"/>
              <a:ext cx="31389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lang="en-US" sz="16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Passive purchasing of services</a:t>
              </a:r>
              <a:endPara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1379037" y="5268567"/>
              <a:ext cx="3672300" cy="615600"/>
            </a:xfrm>
            <a:prstGeom prst="roundRect">
              <a:avLst>
                <a:gd name="adj" fmla="val 16667"/>
              </a:avLst>
            </a:prstGeom>
            <a:solidFill>
              <a:srgbClr val="073763"/>
            </a:solidFill>
            <a:ln w="9525" cap="flat" cmpd="sng">
              <a:solidFill>
                <a:srgbClr val="07376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7283100" y="5268567"/>
              <a:ext cx="3330900" cy="615600"/>
            </a:xfrm>
            <a:prstGeom prst="roundRect">
              <a:avLst>
                <a:gd name="adj" fmla="val 16667"/>
              </a:avLst>
            </a:prstGeom>
            <a:solidFill>
              <a:srgbClr val="00B6F2"/>
            </a:solidFill>
            <a:ln w="9525" cap="flat" cmpd="sng">
              <a:solidFill>
                <a:srgbClr val="00B6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"/>
            <p:cNvSpPr txBox="1"/>
            <p:nvPr/>
          </p:nvSpPr>
          <p:spPr>
            <a:xfrm>
              <a:off x="7379100" y="5344767"/>
              <a:ext cx="31389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lang="en-US" sz="1600" b="1">
                  <a:solidFill>
                    <a:srgbClr val="FFFFFF"/>
                  </a:solidFill>
                </a:rPr>
                <a:t>Активна закупівля послуг</a:t>
              </a:r>
              <a:endPara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1624500" y="5376267"/>
              <a:ext cx="33309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lang="en-US" sz="1600" b="1">
                  <a:solidFill>
                    <a:srgbClr val="FFFFFF"/>
                  </a:solidFill>
                </a:rPr>
                <a:t>Пасивна закупівля послуг</a:t>
              </a:r>
              <a:endPara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05BBB"/>
                </a:solidFill>
              </a:rPr>
              <a:t>Що таке ПМГ</a:t>
            </a:r>
            <a:endParaRPr sz="2400" b="1">
              <a:solidFill>
                <a:srgbClr val="005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4783750" y="1027900"/>
            <a:ext cx="6881100" cy="51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dirty="0" err="1">
                <a:latin typeface="Calibri"/>
                <a:ea typeface="Calibri"/>
                <a:cs typeface="Calibri"/>
                <a:sym typeface="Calibri"/>
              </a:rPr>
              <a:t>Кілька</a:t>
            </a:r>
            <a:r>
              <a:rPr lang="en-US" sz="1800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latin typeface="Calibri"/>
                <a:ea typeface="Calibri"/>
                <a:cs typeface="Calibri"/>
                <a:sym typeface="Calibri"/>
              </a:rPr>
              <a:t>ключових</a:t>
            </a:r>
            <a:r>
              <a:rPr lang="en-US" sz="1800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latin typeface="Calibri"/>
                <a:ea typeface="Calibri"/>
                <a:cs typeface="Calibri"/>
                <a:sym typeface="Calibri"/>
              </a:rPr>
              <a:t>фактів</a:t>
            </a:r>
            <a:r>
              <a:rPr lang="en-US" sz="1800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latin typeface="Calibri"/>
                <a:ea typeface="Calibri"/>
                <a:cs typeface="Calibri"/>
                <a:sym typeface="Calibri"/>
              </a:rPr>
              <a:t>про</a:t>
            </a:r>
            <a:r>
              <a:rPr lang="en-US" sz="1800" b="1" dirty="0">
                <a:latin typeface="Calibri"/>
                <a:ea typeface="Calibri"/>
                <a:cs typeface="Calibri"/>
                <a:sym typeface="Calibri"/>
              </a:rPr>
              <a:t> ПМГ:</a:t>
            </a:r>
            <a:endParaRPr sz="1800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dirty="0"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1800"/>
              <a:buFont typeface="Arial"/>
              <a:buChar char="●"/>
            </a:pP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Ключова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програма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в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рамках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якої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Уряд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України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надає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медичні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послуги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населенню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з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бюджетом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млрд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доларів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США - 80%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видатків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МОЗ (у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бюджеті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2024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рік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1800"/>
              <a:buFont typeface="Calibri"/>
              <a:buChar char="●"/>
            </a:pP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Державне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фінансування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надання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медичних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послуг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консолідовано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в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рамках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ПМГ -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єдина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бюджетна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програма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(2308060)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1800"/>
              <a:buFont typeface="Arial"/>
              <a:buChar char="●"/>
            </a:pP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Розпорядником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ПМГ є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закупівельна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агенція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НСЗУ</a:t>
            </a:r>
            <a:endParaRPr sz="1800" b="1" dirty="0">
              <a:solidFill>
                <a:schemeClr val="dk1"/>
              </a:solidFill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1800"/>
              <a:buFont typeface="Calibri"/>
              <a:buChar char="●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НСЗУ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укладає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договори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із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провайдерами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закупівлю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медичних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послуг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Наразі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НСЗУ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уклала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договори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з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понад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uk-UA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400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закладами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охорони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здоров'я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та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понад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uk-UA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300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аптечними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закладами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які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відпускають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населенню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ліки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безкоштовно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або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з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невеликою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доплатою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dirty="0">
              <a:solidFill>
                <a:schemeClr val="dk1"/>
              </a:solidFill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1800"/>
              <a:buFont typeface="Calibri"/>
              <a:buChar char="●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 2023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році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в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закладах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первинної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медичної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допомоги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з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якими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НСЗУ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уклала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договори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було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зареєстровано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понад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32,000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млн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українців</a:t>
            </a:r>
            <a:endParaRPr sz="1800" b="1"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700"/>
              <a:buFont typeface="Arial"/>
              <a:buNone/>
            </a:pPr>
            <a:endParaRPr sz="7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1" name="Google Shape;121;p4"/>
          <p:cNvGraphicFramePr/>
          <p:nvPr/>
        </p:nvGraphicFramePr>
        <p:xfrm>
          <a:off x="295175" y="1453415"/>
          <a:ext cx="4259681" cy="459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/>
        </p:nvSpPr>
        <p:spPr>
          <a:xfrm>
            <a:off x="838200" y="365125"/>
            <a:ext cx="10515600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05BBB"/>
                </a:solidFill>
                <a:latin typeface="Calibri"/>
                <a:ea typeface="Calibri"/>
                <a:cs typeface="Calibri"/>
                <a:sym typeface="Calibri"/>
              </a:rPr>
              <a:t>Новий проєкт: підвищення ефективності ПМГ</a:t>
            </a:r>
            <a:endParaRPr sz="2400" b="1">
              <a:solidFill>
                <a:srgbClr val="005BB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838200" y="1191536"/>
            <a:ext cx="7035265" cy="489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Загальна мета: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підвищити ефективність та результативність державних видатків на ПМГ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2400"/>
              <a:buFont typeface="Arial"/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Більш детально</a:t>
            </a:r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Підтримувати подальше впровадження амбітної програми реформування системи охорони здоров'я, розпочатої у 2018 році, і водночас ...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підтримувати поточні видатки на охорону здоров'я, надаючи пріоритет найбільш необхідним та економічно ефективним медичним послугам.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700"/>
              <a:buFont typeface="Arial"/>
              <a:buNone/>
            </a:pP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5" descr="Ukrainian hospital Stock Photos, Royalty Free Ukrainian hospital Images |  Depositphot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2650" y="2041558"/>
            <a:ext cx="3860433" cy="2568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/>
        </p:nvSpPr>
        <p:spPr>
          <a:xfrm>
            <a:off x="838200" y="365125"/>
            <a:ext cx="105156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05BBB"/>
                </a:solidFill>
                <a:latin typeface="Calibri"/>
                <a:ea typeface="Calibri"/>
                <a:cs typeface="Calibri"/>
                <a:sym typeface="Calibri"/>
              </a:rPr>
              <a:t>Ключові виклики, що стримують ефективність ПМГ</a:t>
            </a:r>
            <a:endParaRPr sz="2400" b="1">
              <a:solidFill>
                <a:srgbClr val="005BB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2358200" y="1285450"/>
            <a:ext cx="6381537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Недостатня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пріоритетність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послуг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в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рамках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ПМГ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Неефективна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та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застаріла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мережа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надавачів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послуг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з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надмірним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акцентом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лікарні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та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стаціонарну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допомогу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Незавершене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впровадження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методів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закупівлі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медичних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послуг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кінцевим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результатом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Обмежена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спроможність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НСЗУ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700"/>
              <a:buFont typeface="Arial"/>
              <a:buNone/>
            </a:pPr>
            <a:endParaRPr sz="7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6" descr="Chemicals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949" y="2216778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6" descr="Pandemic flattening curve bar graph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2949" y="116882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 descr="Clipboard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2949" y="448564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6" descr="Transfer1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0869" y="326962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ED2FA4-737A-C2C7-2CF0-6237DBB048C9}"/>
              </a:ext>
            </a:extLst>
          </p:cNvPr>
          <p:cNvSpPr txBox="1"/>
          <p:nvPr/>
        </p:nvSpPr>
        <p:spPr>
          <a:xfrm>
            <a:off x="8959328" y="1859339"/>
            <a:ext cx="2616200" cy="3139321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uk-UA" sz="1800" b="1" dirty="0">
                <a:latin typeface="Arial" panose="020B0604020202020204" pitchFamily="34" charset="0"/>
                <a:cs typeface="Arial" panose="020B0604020202020204" pitchFamily="34" charset="0"/>
              </a:rPr>
              <a:t>Ключові принципи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uk-UA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uk-U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uk-UA" sz="1800" dirty="0">
                <a:latin typeface="Arial" panose="020B0604020202020204" pitchFamily="34" charset="0"/>
                <a:cs typeface="Arial" panose="020B0604020202020204" pitchFamily="34" charset="0"/>
              </a:rPr>
              <a:t>цілеспрямована підтримка в тих сферах, де значні покращення можуть бути досягнуті протягом 2-3 років</a:t>
            </a:r>
          </a:p>
          <a:p>
            <a:endParaRPr lang="uk-U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конкурентні переваги і додаткова цінність</a:t>
            </a:r>
            <a:endParaRPr lang="uk-U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 descr="Key outline">
            <a:extLst>
              <a:ext uri="{FF2B5EF4-FFF2-40B4-BE49-F238E27FC236}">
                <a16:creationId xmlns:a16="http://schemas.microsoft.com/office/drawing/2014/main" id="{3FD28A53-AEF5-1715-0266-694FD29334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15268" y="862225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/>
        </p:nvSpPr>
        <p:spPr>
          <a:xfrm>
            <a:off x="838200" y="365125"/>
            <a:ext cx="105156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05BBB"/>
                </a:solidFill>
                <a:latin typeface="Calibri"/>
                <a:ea typeface="Calibri"/>
                <a:cs typeface="Calibri"/>
                <a:sym typeface="Calibri"/>
              </a:rPr>
              <a:t>Що таке Проєкт, орієнтований на результат (P4R)?</a:t>
            </a:r>
            <a:endParaRPr sz="2400" b="1">
              <a:solidFill>
                <a:srgbClr val="005BB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4" name="Google Shape;144;p7"/>
          <p:cNvGraphicFramePr/>
          <p:nvPr>
            <p:extLst>
              <p:ext uri="{D42A27DB-BD31-4B8C-83A1-F6EECF244321}">
                <p14:modId xmlns:p14="http://schemas.microsoft.com/office/powerpoint/2010/main" val="745678332"/>
              </p:ext>
            </p:extLst>
          </p:nvPr>
        </p:nvGraphicFramePr>
        <p:xfrm>
          <a:off x="922822" y="2346118"/>
          <a:ext cx="9960331" cy="3343349"/>
        </p:xfrm>
        <a:graphic>
          <a:graphicData uri="http://schemas.openxmlformats.org/drawingml/2006/table">
            <a:tbl>
              <a:tblPr firstRow="1" bandRow="1">
                <a:noFill/>
                <a:tableStyleId>{CA578582-C9AC-4292-864C-5812FE2B7DB2}</a:tableStyleId>
              </a:tblPr>
              <a:tblGrid>
                <a:gridCol w="9960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96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/>
                        <a:t>Проєкт, орієнтований на результат</a:t>
                      </a:r>
                      <a:r>
                        <a:rPr lang="en-US" sz="2400" b="1" u="none" strike="noStrike" cap="none"/>
                        <a:t> (P4R)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8D0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80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Результати роботи фінансування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80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Відшкодовує досягнення результатів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64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Сфери результатів та показники, пов'язані з виплатами</a:t>
                      </a:r>
                      <a:r>
                        <a:rPr lang="en-US" sz="2400" u="none" strike="noStrike" cap="none"/>
                        <a:t> (DLIs)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64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 err="1"/>
                        <a:t>Кошти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Світового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банку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надходять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до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Державного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бюджету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5" name="Google Shape;145;p7"/>
          <p:cNvSpPr txBox="1"/>
          <p:nvPr/>
        </p:nvSpPr>
        <p:spPr>
          <a:xfrm>
            <a:off x="838200" y="1027906"/>
            <a:ext cx="103464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sng" strike="noStrike">
                <a:solidFill>
                  <a:srgbClr val="0071BC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Program-for-Results</a:t>
            </a:r>
            <a:r>
              <a:rPr lang="en-US" sz="1800" i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пов'язує виплату коштів Світового банку безпосередньо з досягненням визначених результатів, допомагаючи країнам покращити розробку та реалізацію власних програм розвитку та досягти довготривалих результатів шляхом зміцнення інституцій, вдосконалення систем та розбудови потенціалу.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 txBox="1"/>
          <p:nvPr/>
        </p:nvSpPr>
        <p:spPr>
          <a:xfrm>
            <a:off x="838200" y="365125"/>
            <a:ext cx="105156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05BBB"/>
                </a:solidFill>
                <a:latin typeface="Calibri"/>
                <a:ea typeface="Calibri"/>
                <a:cs typeface="Calibri"/>
                <a:sym typeface="Calibri"/>
              </a:rPr>
              <a:t>P4R – Напрямки результатів</a:t>
            </a:r>
            <a:endParaRPr sz="2400" b="1">
              <a:solidFill>
                <a:srgbClr val="005BB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1674800" y="1470675"/>
            <a:ext cx="68532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RA1: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Посилення визначення пріоритетів через підтримку витрат на пріоритетні послуги та надійну методологію перегляду пакету послуг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RA2: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Підтримка розробки планів з оптимізації мережі та їх узгодження з процесом контрактування ПМГ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RA3: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Подальше удосконалення способів оплати за пакетами послуг ПМГ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2000"/>
              <a:buFont typeface="Arial"/>
              <a:buNone/>
            </a:pP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RA4: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Посилення спроможності НСЗУ у сфері моніторингу та контролю договорів з постачальниками медичних послуг, її ІТ-систем та аналітичної спроможності.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1600"/>
              <a:buFont typeface="Arial"/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600"/>
              <a:buFont typeface="Arial"/>
              <a:buNone/>
            </a:pP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9" descr="Chemicals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530" y="254861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9" descr="Pandemic flattening curve bar graph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1530" y="1369531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9" descr="Clipboard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669" y="491322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9" descr="Transfer1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669" y="363657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/>
          <p:cNvSpPr txBox="1"/>
          <p:nvPr/>
        </p:nvSpPr>
        <p:spPr>
          <a:xfrm>
            <a:off x="8643487" y="1978816"/>
            <a:ext cx="3299700" cy="34170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Ключові принципи: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сфокусована підтримка, спрямована на ті сфери, де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значні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покращення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можуть бути досягнуті протягом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2-3 років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00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Світовий банк має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конкурентну перевагу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і створює додаткову цінність понад внески інших партнерів та донорів.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9" descr="Key outlin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84209" y="1116228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Pts val="2400"/>
              <a:buFont typeface="Arial"/>
              <a:buNone/>
            </a:pPr>
            <a:r>
              <a:rPr lang="uk-UA" sz="2400" b="1" dirty="0">
                <a:solidFill>
                  <a:srgbClr val="005BBB"/>
                </a:solidFill>
              </a:rPr>
              <a:t>П</a:t>
            </a:r>
            <a:r>
              <a:rPr lang="en-US" sz="2400" b="1" dirty="0" err="1">
                <a:solidFill>
                  <a:srgbClr val="005BBB"/>
                </a:solidFill>
              </a:rPr>
              <a:t>опередн</a:t>
            </a:r>
            <a:r>
              <a:rPr lang="uk-UA" sz="2400" b="1" dirty="0">
                <a:solidFill>
                  <a:srgbClr val="005BBB"/>
                </a:solidFill>
              </a:rPr>
              <a:t>ьо пропоновані</a:t>
            </a:r>
            <a:r>
              <a:rPr lang="en-US" sz="2400" b="1" dirty="0">
                <a:solidFill>
                  <a:srgbClr val="005BBB"/>
                </a:solidFill>
                <a:latin typeface="Arial"/>
                <a:ea typeface="Arial"/>
                <a:cs typeface="Arial"/>
                <a:sym typeface="Arial"/>
              </a:rPr>
              <a:t> DLIs</a:t>
            </a:r>
            <a:endParaRPr sz="2400" b="1" dirty="0">
              <a:solidFill>
                <a:srgbClr val="005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F21BAB-7E87-8212-EBBD-50AFDCE5B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607328"/>
              </p:ext>
            </p:extLst>
          </p:nvPr>
        </p:nvGraphicFramePr>
        <p:xfrm>
          <a:off x="838200" y="1027905"/>
          <a:ext cx="10233212" cy="5464969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10233212">
                  <a:extLst>
                    <a:ext uri="{9D8B030D-6E8A-4147-A177-3AD203B41FA5}">
                      <a16:colId xmlns:a16="http://schemas.microsoft.com/office/drawing/2014/main" val="4261576466"/>
                    </a:ext>
                  </a:extLst>
                </a:gridCol>
              </a:tblGrid>
              <a:tr h="51991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00" dirty="0">
                          <a:effectLst/>
                        </a:rPr>
                        <a:t>DLI 1: Раціоналізувати виплати ПМГ шляхом запровадження стандартизованого щорічного процесу перегляду пакету виплат ПМГ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32786"/>
                  </a:ext>
                </a:extLst>
              </a:tr>
              <a:tr h="78576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DLI 2: </a:t>
                      </a:r>
                      <a:r>
                        <a:rPr lang="ru-RU" sz="1400" kern="100" dirty="0">
                          <a:effectLst/>
                        </a:rPr>
                        <a:t>Підвищення ефективності фінансування первинної медичної допомоги</a:t>
                      </a:r>
                      <a:r>
                        <a:rPr lang="en-US" sz="1400" kern="100" dirty="0">
                          <a:effectLst/>
                        </a:rPr>
                        <a:t> (</a:t>
                      </a:r>
                      <a:r>
                        <a:rPr lang="ru-RU" sz="1400" kern="100" dirty="0">
                          <a:effectLst/>
                        </a:rPr>
                        <a:t>ПМД</a:t>
                      </a:r>
                      <a:r>
                        <a:rPr lang="en-US" sz="1400" kern="100" dirty="0">
                          <a:effectLst/>
                        </a:rPr>
                        <a:t>) </a:t>
                      </a:r>
                      <a:r>
                        <a:rPr lang="ru-RU" sz="1400" kern="100" dirty="0">
                          <a:effectLst/>
                        </a:rPr>
                        <a:t>шляхом перевірки достовірності інформації</a:t>
                      </a:r>
                      <a:r>
                        <a:rPr lang="en-US" sz="1400" kern="100" dirty="0">
                          <a:effectLst/>
                        </a:rPr>
                        <a:t>, </a:t>
                      </a:r>
                      <a:r>
                        <a:rPr lang="ru-RU" sz="1400" kern="100" dirty="0">
                          <a:effectLst/>
                        </a:rPr>
                        <a:t>внесеної в електронну систему охорони здоров</a:t>
                      </a:r>
                      <a:r>
                        <a:rPr lang="en-US" sz="1400" kern="100" dirty="0">
                          <a:effectLst/>
                        </a:rPr>
                        <a:t>'</a:t>
                      </a:r>
                      <a:r>
                        <a:rPr lang="ru-RU" sz="1400" kern="100" dirty="0">
                          <a:effectLst/>
                        </a:rPr>
                        <a:t>я</a:t>
                      </a:r>
                      <a:r>
                        <a:rPr lang="en-US" sz="1400" kern="100" dirty="0">
                          <a:effectLst/>
                        </a:rPr>
                        <a:t> eHealth)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9675629"/>
                  </a:ext>
                </a:extLst>
              </a:tr>
              <a:tr h="78576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00" dirty="0">
                          <a:effectLst/>
                        </a:rPr>
                        <a:t>DLI 3: Пріоритезувати видатки на ПМД в рамках ПМГ шляхом регулярного підвищення подушного тарифу на ПМД в рамках загального бюджетного пакету ПМГ.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90644"/>
                  </a:ext>
                </a:extLst>
              </a:tr>
              <a:tr h="51991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00" dirty="0">
                          <a:effectLst/>
                        </a:rPr>
                        <a:t>DLI </a:t>
                      </a:r>
                      <a:r>
                        <a:rPr lang="en-US" sz="1400" kern="100" dirty="0">
                          <a:effectLst/>
                        </a:rPr>
                        <a:t>4: </a:t>
                      </a:r>
                      <a:r>
                        <a:rPr lang="ru-RU" sz="1400" kern="100" dirty="0">
                          <a:effectLst/>
                        </a:rPr>
                        <a:t>Збільшити надання економічно ефективних послуг з лікування артеріальної гіпертензії на рівні ПМД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4674886"/>
                  </a:ext>
                </a:extLst>
              </a:tr>
              <a:tr h="2540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00" dirty="0">
                          <a:effectLst/>
                        </a:rPr>
                        <a:t>DLI 5: Масштабування селективного контрактування для лікарень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5675082"/>
                  </a:ext>
                </a:extLst>
              </a:tr>
              <a:tr h="2540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00">
                          <a:effectLst/>
                        </a:rPr>
                        <a:t>DLI 6: Покращити концентрацію лікарняних послуг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5039284"/>
                  </a:ext>
                </a:extLst>
              </a:tr>
              <a:tr h="51991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00" dirty="0">
                          <a:effectLst/>
                        </a:rPr>
                        <a:t>DLI 7: Збільшити використання сонячної енергії в секторі охорони здоров'я.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7092992"/>
                  </a:ext>
                </a:extLst>
              </a:tr>
              <a:tr h="51991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00" dirty="0">
                          <a:effectLst/>
                        </a:rPr>
                        <a:t>DLI 8: Удосконалити встановлення тарифів на основі конкретних випадків та механізми оплати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8026520"/>
                  </a:ext>
                </a:extLst>
              </a:tr>
              <a:tr h="78576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00" dirty="0">
                          <a:effectLst/>
                        </a:rPr>
                        <a:t>DLI 9: Покращити використання стратегічних закупівель шляхом збільшення частки госпітального відшкодування на основі оплати за конкретний випадок у лікарнях та змішаної оплати на рівні ПМД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3016246"/>
                  </a:ext>
                </a:extLst>
              </a:tr>
              <a:tr h="51991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00" dirty="0">
                          <a:effectLst/>
                        </a:rPr>
                        <a:t>DLI 10: Посилити автономію та управління НСЗУ шляхом зміни правового статусу НСЗУ та запровадження нових механізмів нагляду.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5757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5822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714F4-F8C7-EB77-DCAF-7B8F6E972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dirty="0"/>
              <a:t>Дякую за увагу!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1B50A-A6B4-61B1-6EEA-15097EBD0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20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788E611208DD498E9CD2D6CA95DECA" ma:contentTypeVersion="15" ma:contentTypeDescription="Create a new document." ma:contentTypeScope="" ma:versionID="ebf49e305a7ccad0c8e75b415eb4387c">
  <xsd:schema xmlns:xsd="http://www.w3.org/2001/XMLSchema" xmlns:xs="http://www.w3.org/2001/XMLSchema" xmlns:p="http://schemas.microsoft.com/office/2006/metadata/properties" xmlns:ns2="de263add-ece1-4c50-8b61-7d5cec29fe7b" xmlns:ns3="425b8c07-27f9-4d5e-a269-c646149a9db9" targetNamespace="http://schemas.microsoft.com/office/2006/metadata/properties" ma:root="true" ma:fieldsID="429b7a7cae6dda9a358b1e242032cc64" ns2:_="" ns3:_="">
    <xsd:import namespace="de263add-ece1-4c50-8b61-7d5cec29fe7b"/>
    <xsd:import namespace="425b8c07-27f9-4d5e-a269-c646149a9d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263add-ece1-4c50-8b61-7d5cec29fe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a6c10d7-b926-4fc0-945e-3cbf5049f6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5b8c07-27f9-4d5e-a269-c646149a9db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83427be-e54a-4005-ba16-40b1451f7133}" ma:internalName="TaxCatchAll" ma:showField="CatchAllData" ma:web="425b8c07-27f9-4d5e-a269-c646149a9d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C5CD420-1139-4EA6-9DC8-BE9D7E33A9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263add-ece1-4c50-8b61-7d5cec29fe7b"/>
    <ds:schemaRef ds:uri="425b8c07-27f9-4d5e-a269-c646149a9d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4ED7AF0-96B1-4552-A109-98F8FCDF8A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939</Words>
  <Application>Microsoft Office PowerPoint</Application>
  <PresentationFormat>Widescreen</PresentationFormat>
  <Paragraphs>111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Montserrat</vt:lpstr>
      <vt:lpstr>Office Theme</vt:lpstr>
      <vt:lpstr>Трансформація охорони здоровʼя шляхом реформ та інвестицій у ефективність (THRIVE)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Дякую за увагу!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Підвищення ефективності програми медичних гарантій</dc:title>
  <dc:creator>Projet</dc:creator>
  <cp:lastModifiedBy>Khrystyna Pak</cp:lastModifiedBy>
  <cp:revision>1</cp:revision>
  <dcterms:created xsi:type="dcterms:W3CDTF">2023-02-10T08:54:26Z</dcterms:created>
  <dcterms:modified xsi:type="dcterms:W3CDTF">2024-09-03T11:44:36Z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0x010100BC788E611208DD498E9CD2D6CA95DECA</vt:lpwstr>
  </property>
</Properties>
</file>
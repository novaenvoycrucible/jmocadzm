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16" r:id="rId2"/>
    <p:sldId id="325" r:id="rId3"/>
    <p:sldId id="877" r:id="rId4"/>
    <p:sldId id="893" r:id="rId5"/>
    <p:sldId id="894" r:id="rId6"/>
    <p:sldId id="895" r:id="rId7"/>
    <p:sldId id="896" r:id="rId8"/>
    <p:sldId id="897" r:id="rId9"/>
    <p:sldId id="898" r:id="rId10"/>
    <p:sldId id="887" r:id="rId11"/>
    <p:sldId id="888" r:id="rId12"/>
    <p:sldId id="889" r:id="rId13"/>
    <p:sldId id="899" r:id="rId14"/>
    <p:sldId id="784" r:id="rId15"/>
    <p:sldId id="835" r:id="rId16"/>
    <p:sldId id="759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521415D9-36F7-43E2-AB2F-B90AF26B5E84}">
      <p14:sectionLst xmlns:p14="http://schemas.microsoft.com/office/powerpoint/2010/main">
        <p14:section name="Розділ за промовчанням" id="{C6801594-53EB-40FA-8099-CA9BF516C504}">
          <p14:sldIdLst>
            <p14:sldId id="316"/>
            <p14:sldId id="325"/>
            <p14:sldId id="877"/>
            <p14:sldId id="893"/>
            <p14:sldId id="894"/>
            <p14:sldId id="895"/>
            <p14:sldId id="896"/>
            <p14:sldId id="897"/>
            <p14:sldId id="898"/>
            <p14:sldId id="887"/>
            <p14:sldId id="888"/>
            <p14:sldId id="889"/>
            <p14:sldId id="899"/>
            <p14:sldId id="784"/>
            <p14:sldId id="835"/>
            <p14:sldId id="7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A4D805-4186-7F95-F9BA-32C684A87127}" name="Андронік Віталій" initials="АВ" userId="09dbb758e530f4f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C55963"/>
    <a:srgbClr val="A5D5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Стиль із теми 1 –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Стиль із теми 1 –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Стиль із теми 1 –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із теми 2 –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744" autoAdjust="0"/>
  </p:normalViewPr>
  <p:slideViewPr>
    <p:cSldViewPr snapToGrid="0">
      <p:cViewPr varScale="1">
        <p:scale>
          <a:sx n="88" d="100"/>
          <a:sy n="88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30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FF5CDF-A83E-4508-9F41-608A882C1A0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FD540363-B5DC-4762-BE82-67B6E2264091}">
      <dgm:prSet custT="1"/>
      <dgm:spPr>
        <a:noFill/>
        <a:ln>
          <a:noFill/>
        </a:ln>
      </dgm:spPr>
      <dgm:t>
        <a:bodyPr/>
        <a:lstStyle/>
        <a:p>
          <a:pPr algn="l"/>
          <a:r>
            <a:rPr lang="ru-RU" sz="2400" b="1" i="0" baseline="0" dirty="0">
              <a:solidFill>
                <a:srgbClr val="0070C0"/>
              </a:solidFill>
            </a:rPr>
            <a:t>В МЕЖАХ ПАКЕТУ ПАЦІЄНТУ ГАРАНТУЄТЬСЯ:</a:t>
          </a:r>
          <a:endParaRPr lang="uk-UA" sz="2400" dirty="0">
            <a:solidFill>
              <a:srgbClr val="0070C0"/>
            </a:solidFill>
          </a:endParaRPr>
        </a:p>
      </dgm:t>
    </dgm:pt>
    <dgm:pt modelId="{1E34D968-5573-4447-9B9B-C10D94165982}" type="parTrans" cxnId="{E3A1BB80-14DE-4AAE-B44E-8A1F89287C60}">
      <dgm:prSet/>
      <dgm:spPr/>
      <dgm:t>
        <a:bodyPr/>
        <a:lstStyle/>
        <a:p>
          <a:endParaRPr lang="uk-UA"/>
        </a:p>
      </dgm:t>
    </dgm:pt>
    <dgm:pt modelId="{B5C9731E-7E54-4C0E-92C8-6D3F1E602538}" type="sibTrans" cxnId="{E3A1BB80-14DE-4AAE-B44E-8A1F89287C60}">
      <dgm:prSet/>
      <dgm:spPr/>
      <dgm:t>
        <a:bodyPr/>
        <a:lstStyle/>
        <a:p>
          <a:endParaRPr lang="uk-UA"/>
        </a:p>
      </dgm:t>
    </dgm:pt>
    <dgm:pt modelId="{7A6DAE51-5060-4F47-B4CB-62B2F07B210A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>
            <a:buClr>
              <a:srgbClr val="92D050"/>
            </a:buClr>
            <a:buFont typeface="Wingdings" pitchFamily="2" charset="2"/>
            <a:buChar char="§"/>
          </a:pPr>
          <a:r>
            <a:rPr lang="uk-UA" b="0" i="0" baseline="0" dirty="0"/>
            <a:t>Тестування на ВІЛ </a:t>
          </a:r>
          <a:endParaRPr lang="uk-UA" dirty="0"/>
        </a:p>
      </dgm:t>
    </dgm:pt>
    <dgm:pt modelId="{8C7B753D-1068-4464-B0C3-A912D17DECE9}" type="parTrans" cxnId="{8B9C8F5D-C178-4FDC-8021-26CF0D95ED4B}">
      <dgm:prSet/>
      <dgm:spPr/>
      <dgm:t>
        <a:bodyPr/>
        <a:lstStyle/>
        <a:p>
          <a:endParaRPr lang="uk-UA"/>
        </a:p>
      </dgm:t>
    </dgm:pt>
    <dgm:pt modelId="{691BD8F1-C0B9-414E-9E93-BD275D60A30D}" type="sibTrans" cxnId="{8B9C8F5D-C178-4FDC-8021-26CF0D95ED4B}">
      <dgm:prSet/>
      <dgm:spPr/>
      <dgm:t>
        <a:bodyPr/>
        <a:lstStyle/>
        <a:p>
          <a:endParaRPr lang="uk-UA"/>
        </a:p>
      </dgm:t>
    </dgm:pt>
    <dgm:pt modelId="{418DE67D-9511-4B3F-9D59-D983A785C8B2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>
            <a:buClr>
              <a:srgbClr val="92D050"/>
            </a:buClr>
            <a:buFont typeface="Wingdings" pitchFamily="2" charset="2"/>
            <a:buChar char="§"/>
          </a:pPr>
          <a:r>
            <a:rPr lang="uk-UA" b="0" i="0" baseline="0" dirty="0"/>
            <a:t>Лабораторні дослідження (аналізи крові, сечі, вірусне навантаження ВІЛ, визначення </a:t>
          </a:r>
          <a:r>
            <a:rPr lang="uk-UA" b="0" i="0" baseline="0" dirty="0" err="1"/>
            <a:t>HBsAg</a:t>
          </a:r>
          <a:r>
            <a:rPr lang="uk-UA" b="0" i="0" baseline="0" dirty="0"/>
            <a:t>, антитіл до HCV; біохімічний аналіз крові тощо).</a:t>
          </a:r>
          <a:endParaRPr lang="uk-UA" dirty="0"/>
        </a:p>
      </dgm:t>
    </dgm:pt>
    <dgm:pt modelId="{9834E4C3-7A06-42DB-96E5-5EC8CEB42E5B}" type="parTrans" cxnId="{874E1F5F-088E-49B0-9DFC-BE84DED718E4}">
      <dgm:prSet/>
      <dgm:spPr/>
      <dgm:t>
        <a:bodyPr/>
        <a:lstStyle/>
        <a:p>
          <a:endParaRPr lang="uk-UA"/>
        </a:p>
      </dgm:t>
    </dgm:pt>
    <dgm:pt modelId="{D2D4AA48-01B3-449F-BA98-409052073B1A}" type="sibTrans" cxnId="{874E1F5F-088E-49B0-9DFC-BE84DED718E4}">
      <dgm:prSet/>
      <dgm:spPr/>
      <dgm:t>
        <a:bodyPr/>
        <a:lstStyle/>
        <a:p>
          <a:endParaRPr lang="uk-UA"/>
        </a:p>
      </dgm:t>
    </dgm:pt>
    <dgm:pt modelId="{E7C72DD8-84CE-49F7-AC5E-797B1FEAB10D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>
            <a:buClr>
              <a:srgbClr val="92D050"/>
            </a:buClr>
            <a:buFont typeface="Wingdings" pitchFamily="2" charset="2"/>
            <a:buChar char="§"/>
          </a:pPr>
          <a:r>
            <a:rPr lang="uk-UA" b="0" i="0" baseline="0" dirty="0"/>
            <a:t>Медичний нагляд, призначення </a:t>
          </a:r>
          <a:r>
            <a:rPr lang="uk-UA" b="0" i="0" baseline="0" dirty="0" err="1"/>
            <a:t>антиретровірусної</a:t>
          </a:r>
          <a:r>
            <a:rPr lang="uk-UA" b="0" i="0" baseline="0" dirty="0"/>
            <a:t> терапії (АРТ), клінічний моніторинг перебігу ВІЛ-інфекції та наявності побічних реакцій лікарських засобів, плановий моніторинг вірусного навантаження. </a:t>
          </a:r>
          <a:endParaRPr lang="uk-UA" dirty="0"/>
        </a:p>
      </dgm:t>
    </dgm:pt>
    <dgm:pt modelId="{08ABAA14-1354-40E0-808D-318B9A0DEC50}" type="parTrans" cxnId="{C1F18773-8BCE-4D46-BA38-13C4B03622D9}">
      <dgm:prSet/>
      <dgm:spPr/>
      <dgm:t>
        <a:bodyPr/>
        <a:lstStyle/>
        <a:p>
          <a:endParaRPr lang="uk-UA"/>
        </a:p>
      </dgm:t>
    </dgm:pt>
    <dgm:pt modelId="{46647CCA-85C7-42BF-A97E-CF3735D558DE}" type="sibTrans" cxnId="{C1F18773-8BCE-4D46-BA38-13C4B03622D9}">
      <dgm:prSet/>
      <dgm:spPr/>
      <dgm:t>
        <a:bodyPr/>
        <a:lstStyle/>
        <a:p>
          <a:endParaRPr lang="uk-UA"/>
        </a:p>
      </dgm:t>
    </dgm:pt>
    <dgm:pt modelId="{5B92660D-8DC6-4838-A8AC-83B55BAF5854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>
            <a:buClr>
              <a:srgbClr val="92D050"/>
            </a:buClr>
            <a:buFont typeface="Wingdings" pitchFamily="2" charset="2"/>
            <a:buChar char="§"/>
          </a:pPr>
          <a:r>
            <a:rPr lang="uk-UA" b="0" i="0" baseline="0" dirty="0"/>
            <a:t>Профілактика, діагностика та лікування опортуністичних інфекцій.</a:t>
          </a:r>
          <a:endParaRPr lang="uk-UA" dirty="0"/>
        </a:p>
      </dgm:t>
    </dgm:pt>
    <dgm:pt modelId="{EB2246F8-4B31-4013-9EE7-4DA6AD28C482}" type="parTrans" cxnId="{2E5FF970-61D6-4634-8967-F209104D85ED}">
      <dgm:prSet/>
      <dgm:spPr/>
      <dgm:t>
        <a:bodyPr/>
        <a:lstStyle/>
        <a:p>
          <a:endParaRPr lang="uk-UA"/>
        </a:p>
      </dgm:t>
    </dgm:pt>
    <dgm:pt modelId="{1EFC9B71-B119-445E-BAD8-E289AB7D9DC3}" type="sibTrans" cxnId="{2E5FF970-61D6-4634-8967-F209104D85ED}">
      <dgm:prSet/>
      <dgm:spPr/>
      <dgm:t>
        <a:bodyPr/>
        <a:lstStyle/>
        <a:p>
          <a:endParaRPr lang="uk-UA"/>
        </a:p>
      </dgm:t>
    </dgm:pt>
    <dgm:pt modelId="{28CDA83B-0FF4-4F33-B2A0-B2D0FA19E397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>
            <a:buClr>
              <a:srgbClr val="92D050"/>
            </a:buClr>
            <a:buFont typeface="Wingdings" pitchFamily="2" charset="2"/>
            <a:buChar char="§"/>
          </a:pPr>
          <a:r>
            <a:rPr lang="uk-UA" b="0" i="0" baseline="0" dirty="0"/>
            <a:t>Медичний нагляд дітей, народжених від ВІЛ-позитивних жінок.</a:t>
          </a:r>
          <a:endParaRPr lang="uk-UA" dirty="0"/>
        </a:p>
      </dgm:t>
    </dgm:pt>
    <dgm:pt modelId="{081DAB69-5D7A-4750-A114-578FA1D0601C}" type="parTrans" cxnId="{25048409-6DE5-4741-9AAA-07BCC4A3E1B0}">
      <dgm:prSet/>
      <dgm:spPr/>
      <dgm:t>
        <a:bodyPr/>
        <a:lstStyle/>
        <a:p>
          <a:endParaRPr lang="uk-UA"/>
        </a:p>
      </dgm:t>
    </dgm:pt>
    <dgm:pt modelId="{40AC7EC8-2346-42E9-955E-E5037D9B3797}" type="sibTrans" cxnId="{25048409-6DE5-4741-9AAA-07BCC4A3E1B0}">
      <dgm:prSet/>
      <dgm:spPr/>
      <dgm:t>
        <a:bodyPr/>
        <a:lstStyle/>
        <a:p>
          <a:endParaRPr lang="uk-UA"/>
        </a:p>
      </dgm:t>
    </dgm:pt>
    <dgm:pt modelId="{85040344-DB53-42F1-A08D-8FF6A70AA365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>
            <a:buClr>
              <a:srgbClr val="92D050"/>
            </a:buClr>
            <a:buFont typeface="Wingdings" pitchFamily="2" charset="2"/>
            <a:buChar char="§"/>
          </a:pPr>
          <a:r>
            <a:rPr lang="uk-UA" b="0" i="0" baseline="0" dirty="0"/>
            <a:t>Направлення пацієнта для отримання спеціалізованої медичної допомоги.</a:t>
          </a:r>
          <a:endParaRPr lang="uk-UA" dirty="0"/>
        </a:p>
      </dgm:t>
    </dgm:pt>
    <dgm:pt modelId="{D284300C-9722-4C73-BCA3-E36236888824}" type="parTrans" cxnId="{63190C1B-E1D9-45B2-934F-FABDA3514757}">
      <dgm:prSet/>
      <dgm:spPr/>
      <dgm:t>
        <a:bodyPr/>
        <a:lstStyle/>
        <a:p>
          <a:endParaRPr lang="uk-UA"/>
        </a:p>
      </dgm:t>
    </dgm:pt>
    <dgm:pt modelId="{160E8526-7792-4B78-930B-1360DC459A0D}" type="sibTrans" cxnId="{63190C1B-E1D9-45B2-934F-FABDA3514757}">
      <dgm:prSet/>
      <dgm:spPr/>
      <dgm:t>
        <a:bodyPr/>
        <a:lstStyle/>
        <a:p>
          <a:endParaRPr lang="uk-UA"/>
        </a:p>
      </dgm:t>
    </dgm:pt>
    <dgm:pt modelId="{04F62A5E-B488-4DF5-8E86-90A32BBC600B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>
            <a:buClr>
              <a:srgbClr val="92D050"/>
            </a:buClr>
            <a:buFont typeface="Wingdings" pitchFamily="2" charset="2"/>
            <a:buChar char="§"/>
          </a:pPr>
          <a:r>
            <a:rPr lang="uk-UA" b="0" i="0" baseline="0" dirty="0"/>
            <a:t>Консультування членів родини і близького оточення людей, які живуть з ВІЛ.</a:t>
          </a:r>
          <a:endParaRPr lang="uk-UA" dirty="0"/>
        </a:p>
      </dgm:t>
    </dgm:pt>
    <dgm:pt modelId="{2F17F930-08A5-412E-8F99-0655F476AC69}" type="parTrans" cxnId="{DCFFD973-7E49-409B-B285-8B80DB9BBEFA}">
      <dgm:prSet/>
      <dgm:spPr/>
      <dgm:t>
        <a:bodyPr/>
        <a:lstStyle/>
        <a:p>
          <a:endParaRPr lang="uk-UA"/>
        </a:p>
      </dgm:t>
    </dgm:pt>
    <dgm:pt modelId="{12CFEBD5-9B87-4427-904D-A5C23C5E300B}" type="sibTrans" cxnId="{DCFFD973-7E49-409B-B285-8B80DB9BBEFA}">
      <dgm:prSet/>
      <dgm:spPr/>
      <dgm:t>
        <a:bodyPr/>
        <a:lstStyle/>
        <a:p>
          <a:endParaRPr lang="uk-UA"/>
        </a:p>
      </dgm:t>
    </dgm:pt>
    <dgm:pt modelId="{1A9FB530-70F9-4FB5-8DFB-A959A1D45A31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>
            <a:buClr>
              <a:srgbClr val="92D050"/>
            </a:buClr>
            <a:buFont typeface="Wingdings" pitchFamily="2" charset="2"/>
            <a:buChar char="§"/>
          </a:pPr>
          <a:r>
            <a:rPr lang="uk-UA" b="0" i="0" baseline="0" dirty="0"/>
            <a:t>Консультування з питань планування сім’ї, репродуктивного, сексуального здоров’я та доступу до репродуктивних технологій.</a:t>
          </a:r>
          <a:endParaRPr lang="uk-UA" dirty="0"/>
        </a:p>
      </dgm:t>
    </dgm:pt>
    <dgm:pt modelId="{B69B7B42-5365-440A-B1F5-5CA3023870C1}" type="parTrans" cxnId="{7F2B1DCC-9FF0-4457-821B-8DD57017D499}">
      <dgm:prSet/>
      <dgm:spPr/>
      <dgm:t>
        <a:bodyPr/>
        <a:lstStyle/>
        <a:p>
          <a:endParaRPr lang="uk-UA"/>
        </a:p>
      </dgm:t>
    </dgm:pt>
    <dgm:pt modelId="{56AB436D-65E3-4CC1-A892-A0A76A722E7F}" type="sibTrans" cxnId="{7F2B1DCC-9FF0-4457-821B-8DD57017D499}">
      <dgm:prSet/>
      <dgm:spPr/>
      <dgm:t>
        <a:bodyPr/>
        <a:lstStyle/>
        <a:p>
          <a:endParaRPr lang="uk-UA"/>
        </a:p>
      </dgm:t>
    </dgm:pt>
    <dgm:pt modelId="{5E93E80E-D5AC-42A0-83FA-08495E990EDB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>
            <a:buClr>
              <a:srgbClr val="92D050"/>
            </a:buClr>
            <a:buFont typeface="Wingdings" pitchFamily="2" charset="2"/>
            <a:buChar char="§"/>
          </a:pPr>
          <a:r>
            <a:rPr lang="uk-UA" b="0" i="0" baseline="0" dirty="0"/>
            <a:t>Профілактика передачі ВІЛ від матері до дитини та супровід ВІЛ-позитивних вагітних. </a:t>
          </a:r>
          <a:endParaRPr lang="uk-UA" dirty="0"/>
        </a:p>
      </dgm:t>
    </dgm:pt>
    <dgm:pt modelId="{343BCFAB-19ED-42C9-939A-513210943560}" type="parTrans" cxnId="{28D36381-ABBC-48EC-B64A-B9907606E0BA}">
      <dgm:prSet/>
      <dgm:spPr/>
      <dgm:t>
        <a:bodyPr/>
        <a:lstStyle/>
        <a:p>
          <a:endParaRPr lang="uk-UA"/>
        </a:p>
      </dgm:t>
    </dgm:pt>
    <dgm:pt modelId="{2E0A905C-6AB6-4553-B794-937B1063F56D}" type="sibTrans" cxnId="{28D36381-ABBC-48EC-B64A-B9907606E0BA}">
      <dgm:prSet/>
      <dgm:spPr/>
      <dgm:t>
        <a:bodyPr/>
        <a:lstStyle/>
        <a:p>
          <a:endParaRPr lang="uk-UA"/>
        </a:p>
      </dgm:t>
    </dgm:pt>
    <dgm:pt modelId="{934306CB-40B4-4A14-B966-55BA1280A90A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>
            <a:buClr>
              <a:srgbClr val="92D050"/>
            </a:buClr>
            <a:buFont typeface="Wingdings" pitchFamily="2" charset="2"/>
            <a:buChar char="§"/>
          </a:pPr>
          <a:r>
            <a:rPr lang="uk-UA" b="0" i="0" baseline="0" dirty="0"/>
            <a:t>Організація та проведення медикаментозної </a:t>
          </a:r>
          <a:r>
            <a:rPr lang="uk-UA" b="0" i="0" baseline="0" dirty="0" err="1"/>
            <a:t>доконтактної</a:t>
          </a:r>
          <a:r>
            <a:rPr lang="uk-UA" b="0" i="0" baseline="0" dirty="0"/>
            <a:t> профілактики особам, які мають високий ризик інфікування ВІЛ.</a:t>
          </a:r>
          <a:endParaRPr lang="uk-UA" dirty="0"/>
        </a:p>
      </dgm:t>
    </dgm:pt>
    <dgm:pt modelId="{AA9E39E0-E366-404B-8024-23180B46A413}" type="parTrans" cxnId="{856CDDBC-04FC-4963-AF1B-86548E822B02}">
      <dgm:prSet/>
      <dgm:spPr/>
      <dgm:t>
        <a:bodyPr/>
        <a:lstStyle/>
        <a:p>
          <a:endParaRPr lang="uk-UA"/>
        </a:p>
      </dgm:t>
    </dgm:pt>
    <dgm:pt modelId="{31DB57FA-C46E-4EBA-8E71-055C3B4BBC5D}" type="sibTrans" cxnId="{856CDDBC-04FC-4963-AF1B-86548E822B02}">
      <dgm:prSet/>
      <dgm:spPr/>
      <dgm:t>
        <a:bodyPr/>
        <a:lstStyle/>
        <a:p>
          <a:endParaRPr lang="uk-UA"/>
        </a:p>
      </dgm:t>
    </dgm:pt>
    <dgm:pt modelId="{3319395D-20EF-40CE-AB96-9230CB0D1847}">
      <dgm:prSet/>
      <dgm:spPr>
        <a:solidFill>
          <a:schemeClr val="accent5">
            <a:lumMod val="20000"/>
            <a:lumOff val="80000"/>
            <a:alpha val="90000"/>
          </a:schemeClr>
        </a:solidFill>
        <a:ln>
          <a:noFill/>
        </a:ln>
      </dgm:spPr>
      <dgm:t>
        <a:bodyPr/>
        <a:lstStyle/>
        <a:p>
          <a:pPr>
            <a:buClr>
              <a:srgbClr val="92D050"/>
            </a:buClr>
            <a:buFont typeface="Wingdings" pitchFamily="2" charset="2"/>
            <a:buChar char="§"/>
          </a:pPr>
          <a:r>
            <a:rPr lang="uk-UA" b="0" i="0" baseline="0" dirty="0"/>
            <a:t>Організація та проведення медикаментозної </a:t>
          </a:r>
          <a:r>
            <a:rPr lang="uk-UA" b="0" i="0" baseline="0" dirty="0" err="1"/>
            <a:t>постконтактної</a:t>
          </a:r>
          <a:r>
            <a:rPr lang="uk-UA" b="0" i="0" baseline="0" dirty="0"/>
            <a:t> профілактики особам, які не пізніше 72 годин після ризикованого контакту щодо інфікування ВІЛ звернулися до надавача медичних </a:t>
          </a:r>
          <a:r>
            <a:rPr lang="uk-UA" b="0" i="0" baseline="0" dirty="0" smtClean="0"/>
            <a:t>послуг.</a:t>
          </a:r>
          <a:endParaRPr lang="uk-UA" dirty="0"/>
        </a:p>
      </dgm:t>
    </dgm:pt>
    <dgm:pt modelId="{F1BE57E6-945A-4BAD-B87C-4AF7695DEAAB}" type="parTrans" cxnId="{44B44C31-2B2D-43F0-A82E-3B5B0E84463C}">
      <dgm:prSet/>
      <dgm:spPr/>
      <dgm:t>
        <a:bodyPr/>
        <a:lstStyle/>
        <a:p>
          <a:endParaRPr lang="uk-UA"/>
        </a:p>
      </dgm:t>
    </dgm:pt>
    <dgm:pt modelId="{69B30AE5-FE2B-4C25-8C17-199EED8D2A16}" type="sibTrans" cxnId="{44B44C31-2B2D-43F0-A82E-3B5B0E84463C}">
      <dgm:prSet/>
      <dgm:spPr/>
      <dgm:t>
        <a:bodyPr/>
        <a:lstStyle/>
        <a:p>
          <a:endParaRPr lang="uk-UA"/>
        </a:p>
      </dgm:t>
    </dgm:pt>
    <dgm:pt modelId="{CED91D3A-2143-415C-87C1-0056E976225A}" type="pres">
      <dgm:prSet presAssocID="{1EFF5CDF-A83E-4508-9F41-608A882C1A0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96474E66-2EDF-4C2E-BA25-077BAFF92C4E}" type="pres">
      <dgm:prSet presAssocID="{FD540363-B5DC-4762-BE82-67B6E2264091}" presName="composite" presStyleCnt="0"/>
      <dgm:spPr/>
    </dgm:pt>
    <dgm:pt modelId="{FD3ED2C2-E44F-4107-A5B4-8B96E53F77FB}" type="pres">
      <dgm:prSet presAssocID="{FD540363-B5DC-4762-BE82-67B6E2264091}" presName="parTx" presStyleLbl="alignNode1" presStyleIdx="0" presStyleCnt="1" custLinFactNeighborY="-7967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E9FCD822-07F7-4895-805E-A23D31574189}" type="pres">
      <dgm:prSet presAssocID="{FD540363-B5DC-4762-BE82-67B6E2264091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D3526106-8061-4FFA-9714-C8B921888A58}" type="presOf" srcId="{5B92660D-8DC6-4838-A8AC-83B55BAF5854}" destId="{E9FCD822-07F7-4895-805E-A23D31574189}" srcOrd="0" destOrd="3" presId="urn:microsoft.com/office/officeart/2005/8/layout/hList1"/>
    <dgm:cxn modelId="{D374128F-F606-40FE-A0A2-53DEEB206D83}" type="presOf" srcId="{934306CB-40B4-4A14-B966-55BA1280A90A}" destId="{E9FCD822-07F7-4895-805E-A23D31574189}" srcOrd="0" destOrd="9" presId="urn:microsoft.com/office/officeart/2005/8/layout/hList1"/>
    <dgm:cxn modelId="{E3A1BB80-14DE-4AAE-B44E-8A1F89287C60}" srcId="{1EFF5CDF-A83E-4508-9F41-608A882C1A0A}" destId="{FD540363-B5DC-4762-BE82-67B6E2264091}" srcOrd="0" destOrd="0" parTransId="{1E34D968-5573-4447-9B9B-C10D94165982}" sibTransId="{B5C9731E-7E54-4C0E-92C8-6D3F1E602538}"/>
    <dgm:cxn modelId="{0E0BEE77-2169-4010-9C60-CED917CE597B}" type="presOf" srcId="{418DE67D-9511-4B3F-9D59-D983A785C8B2}" destId="{E9FCD822-07F7-4895-805E-A23D31574189}" srcOrd="0" destOrd="1" presId="urn:microsoft.com/office/officeart/2005/8/layout/hList1"/>
    <dgm:cxn modelId="{DB351379-6A66-49A9-8327-2CBFD91E4A9F}" type="presOf" srcId="{3319395D-20EF-40CE-AB96-9230CB0D1847}" destId="{E9FCD822-07F7-4895-805E-A23D31574189}" srcOrd="0" destOrd="10" presId="urn:microsoft.com/office/officeart/2005/8/layout/hList1"/>
    <dgm:cxn modelId="{8B9C8F5D-C178-4FDC-8021-26CF0D95ED4B}" srcId="{FD540363-B5DC-4762-BE82-67B6E2264091}" destId="{7A6DAE51-5060-4F47-B4CB-62B2F07B210A}" srcOrd="0" destOrd="0" parTransId="{8C7B753D-1068-4464-B0C3-A912D17DECE9}" sibTransId="{691BD8F1-C0B9-414E-9E93-BD275D60A30D}"/>
    <dgm:cxn modelId="{BAC17436-6D64-4AB9-9C87-BA20026349B4}" type="presOf" srcId="{1EFF5CDF-A83E-4508-9F41-608A882C1A0A}" destId="{CED91D3A-2143-415C-87C1-0056E976225A}" srcOrd="0" destOrd="0" presId="urn:microsoft.com/office/officeart/2005/8/layout/hList1"/>
    <dgm:cxn modelId="{2E5FF970-61D6-4634-8967-F209104D85ED}" srcId="{FD540363-B5DC-4762-BE82-67B6E2264091}" destId="{5B92660D-8DC6-4838-A8AC-83B55BAF5854}" srcOrd="3" destOrd="0" parTransId="{EB2246F8-4B31-4013-9EE7-4DA6AD28C482}" sibTransId="{1EFC9B71-B119-445E-BAD8-E289AB7D9DC3}"/>
    <dgm:cxn modelId="{DCFFD973-7E49-409B-B285-8B80DB9BBEFA}" srcId="{FD540363-B5DC-4762-BE82-67B6E2264091}" destId="{04F62A5E-B488-4DF5-8E86-90A32BBC600B}" srcOrd="6" destOrd="0" parTransId="{2F17F930-08A5-412E-8F99-0655F476AC69}" sibTransId="{12CFEBD5-9B87-4427-904D-A5C23C5E300B}"/>
    <dgm:cxn modelId="{856CDDBC-04FC-4963-AF1B-86548E822B02}" srcId="{FD540363-B5DC-4762-BE82-67B6E2264091}" destId="{934306CB-40B4-4A14-B966-55BA1280A90A}" srcOrd="9" destOrd="0" parTransId="{AA9E39E0-E366-404B-8024-23180B46A413}" sibTransId="{31DB57FA-C46E-4EBA-8E71-055C3B4BBC5D}"/>
    <dgm:cxn modelId="{3155047D-68DA-4FFD-A823-C8C6C8D9418E}" type="presOf" srcId="{FD540363-B5DC-4762-BE82-67B6E2264091}" destId="{FD3ED2C2-E44F-4107-A5B4-8B96E53F77FB}" srcOrd="0" destOrd="0" presId="urn:microsoft.com/office/officeart/2005/8/layout/hList1"/>
    <dgm:cxn modelId="{2859E7EA-D232-4CED-A470-D4DED243039D}" type="presOf" srcId="{E7C72DD8-84CE-49F7-AC5E-797B1FEAB10D}" destId="{E9FCD822-07F7-4895-805E-A23D31574189}" srcOrd="0" destOrd="2" presId="urn:microsoft.com/office/officeart/2005/8/layout/hList1"/>
    <dgm:cxn modelId="{25048409-6DE5-4741-9AAA-07BCC4A3E1B0}" srcId="{FD540363-B5DC-4762-BE82-67B6E2264091}" destId="{28CDA83B-0FF4-4F33-B2A0-B2D0FA19E397}" srcOrd="4" destOrd="0" parTransId="{081DAB69-5D7A-4750-A114-578FA1D0601C}" sibTransId="{40AC7EC8-2346-42E9-955E-E5037D9B3797}"/>
    <dgm:cxn modelId="{28D36381-ABBC-48EC-B64A-B9907606E0BA}" srcId="{FD540363-B5DC-4762-BE82-67B6E2264091}" destId="{5E93E80E-D5AC-42A0-83FA-08495E990EDB}" srcOrd="8" destOrd="0" parTransId="{343BCFAB-19ED-42C9-939A-513210943560}" sibTransId="{2E0A905C-6AB6-4553-B794-937B1063F56D}"/>
    <dgm:cxn modelId="{1EA8D89B-027B-4929-9ED5-FDB8A8514911}" type="presOf" srcId="{28CDA83B-0FF4-4F33-B2A0-B2D0FA19E397}" destId="{E9FCD822-07F7-4895-805E-A23D31574189}" srcOrd="0" destOrd="4" presId="urn:microsoft.com/office/officeart/2005/8/layout/hList1"/>
    <dgm:cxn modelId="{44B44C31-2B2D-43F0-A82E-3B5B0E84463C}" srcId="{FD540363-B5DC-4762-BE82-67B6E2264091}" destId="{3319395D-20EF-40CE-AB96-9230CB0D1847}" srcOrd="10" destOrd="0" parTransId="{F1BE57E6-945A-4BAD-B87C-4AF7695DEAAB}" sibTransId="{69B30AE5-FE2B-4C25-8C17-199EED8D2A16}"/>
    <dgm:cxn modelId="{DAA7801F-3E92-43DE-B6DC-4443B35CEA63}" type="presOf" srcId="{5E93E80E-D5AC-42A0-83FA-08495E990EDB}" destId="{E9FCD822-07F7-4895-805E-A23D31574189}" srcOrd="0" destOrd="8" presId="urn:microsoft.com/office/officeart/2005/8/layout/hList1"/>
    <dgm:cxn modelId="{7F2B1DCC-9FF0-4457-821B-8DD57017D499}" srcId="{FD540363-B5DC-4762-BE82-67B6E2264091}" destId="{1A9FB530-70F9-4FB5-8DFB-A959A1D45A31}" srcOrd="7" destOrd="0" parTransId="{B69B7B42-5365-440A-B1F5-5CA3023870C1}" sibTransId="{56AB436D-65E3-4CC1-A892-A0A76A722E7F}"/>
    <dgm:cxn modelId="{89C505DF-F2B3-435B-8CA3-9B5B415C5336}" type="presOf" srcId="{7A6DAE51-5060-4F47-B4CB-62B2F07B210A}" destId="{E9FCD822-07F7-4895-805E-A23D31574189}" srcOrd="0" destOrd="0" presId="urn:microsoft.com/office/officeart/2005/8/layout/hList1"/>
    <dgm:cxn modelId="{E73F888B-0EEA-4D1E-AC88-9D3A2026A02F}" type="presOf" srcId="{04F62A5E-B488-4DF5-8E86-90A32BBC600B}" destId="{E9FCD822-07F7-4895-805E-A23D31574189}" srcOrd="0" destOrd="6" presId="urn:microsoft.com/office/officeart/2005/8/layout/hList1"/>
    <dgm:cxn modelId="{C4E1FD05-D95F-4ADD-A16F-464301E4A97C}" type="presOf" srcId="{85040344-DB53-42F1-A08D-8FF6A70AA365}" destId="{E9FCD822-07F7-4895-805E-A23D31574189}" srcOrd="0" destOrd="5" presId="urn:microsoft.com/office/officeart/2005/8/layout/hList1"/>
    <dgm:cxn modelId="{874E1F5F-088E-49B0-9DFC-BE84DED718E4}" srcId="{FD540363-B5DC-4762-BE82-67B6E2264091}" destId="{418DE67D-9511-4B3F-9D59-D983A785C8B2}" srcOrd="1" destOrd="0" parTransId="{9834E4C3-7A06-42DB-96E5-5EC8CEB42E5B}" sibTransId="{D2D4AA48-01B3-449F-BA98-409052073B1A}"/>
    <dgm:cxn modelId="{C1F18773-8BCE-4D46-BA38-13C4B03622D9}" srcId="{FD540363-B5DC-4762-BE82-67B6E2264091}" destId="{E7C72DD8-84CE-49F7-AC5E-797B1FEAB10D}" srcOrd="2" destOrd="0" parTransId="{08ABAA14-1354-40E0-808D-318B9A0DEC50}" sibTransId="{46647CCA-85C7-42BF-A97E-CF3735D558DE}"/>
    <dgm:cxn modelId="{91648248-1722-4EFB-9A94-D43DB3E2D2A6}" type="presOf" srcId="{1A9FB530-70F9-4FB5-8DFB-A959A1D45A31}" destId="{E9FCD822-07F7-4895-805E-A23D31574189}" srcOrd="0" destOrd="7" presId="urn:microsoft.com/office/officeart/2005/8/layout/hList1"/>
    <dgm:cxn modelId="{63190C1B-E1D9-45B2-934F-FABDA3514757}" srcId="{FD540363-B5DC-4762-BE82-67B6E2264091}" destId="{85040344-DB53-42F1-A08D-8FF6A70AA365}" srcOrd="5" destOrd="0" parTransId="{D284300C-9722-4C73-BCA3-E36236888824}" sibTransId="{160E8526-7792-4B78-930B-1360DC459A0D}"/>
    <dgm:cxn modelId="{21AE7116-2D9C-4BB8-8309-61566E0CDC1C}" type="presParOf" srcId="{CED91D3A-2143-415C-87C1-0056E976225A}" destId="{96474E66-2EDF-4C2E-BA25-077BAFF92C4E}" srcOrd="0" destOrd="0" presId="urn:microsoft.com/office/officeart/2005/8/layout/hList1"/>
    <dgm:cxn modelId="{DF70A15E-CD92-4FC0-8ACA-145F236E1F7D}" type="presParOf" srcId="{96474E66-2EDF-4C2E-BA25-077BAFF92C4E}" destId="{FD3ED2C2-E44F-4107-A5B4-8B96E53F77FB}" srcOrd="0" destOrd="0" presId="urn:microsoft.com/office/officeart/2005/8/layout/hList1"/>
    <dgm:cxn modelId="{0B224EC6-BC7A-4E88-B782-49577559E2A4}" type="presParOf" srcId="{96474E66-2EDF-4C2E-BA25-077BAFF92C4E}" destId="{E9FCD822-07F7-4895-805E-A23D31574189}" srcOrd="1" destOrd="0" presId="urn:microsoft.com/office/officeart/2005/8/layout/hLis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ED2C2-E44F-4107-A5B4-8B96E53F77FB}">
      <dsp:nvSpPr>
        <dsp:cNvPr id="0" name=""/>
        <dsp:cNvSpPr/>
      </dsp:nvSpPr>
      <dsp:spPr>
        <a:xfrm>
          <a:off x="0" y="0"/>
          <a:ext cx="11445460" cy="54720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i="0" kern="1200" baseline="0" dirty="0">
              <a:solidFill>
                <a:srgbClr val="0070C0"/>
              </a:solidFill>
            </a:rPr>
            <a:t>В МЕЖАХ ПАКЕТУ ПАЦІЄНТУ ГАРАНТУЄТЬСЯ:</a:t>
          </a:r>
          <a:endParaRPr lang="uk-UA" sz="2400" kern="1200" dirty="0">
            <a:solidFill>
              <a:srgbClr val="0070C0"/>
            </a:solidFill>
          </a:endParaRPr>
        </a:p>
      </dsp:txBody>
      <dsp:txXfrm>
        <a:off x="0" y="0"/>
        <a:ext cx="11445460" cy="547200"/>
      </dsp:txXfrm>
    </dsp:sp>
    <dsp:sp modelId="{E9FCD822-07F7-4895-805E-A23D31574189}">
      <dsp:nvSpPr>
        <dsp:cNvPr id="0" name=""/>
        <dsp:cNvSpPr/>
      </dsp:nvSpPr>
      <dsp:spPr>
        <a:xfrm>
          <a:off x="0" y="612364"/>
          <a:ext cx="11445460" cy="5006879"/>
        </a:xfrm>
        <a:prstGeom prst="rect">
          <a:avLst/>
        </a:prstGeom>
        <a:solidFill>
          <a:schemeClr val="accent5">
            <a:lumMod val="20000"/>
            <a:lumOff val="80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92D050"/>
            </a:buClr>
            <a:buFont typeface="Wingdings" pitchFamily="2" charset="2"/>
            <a:buChar char="••"/>
          </a:pPr>
          <a:r>
            <a:rPr lang="uk-UA" sz="1900" b="0" i="0" kern="1200" baseline="0" dirty="0"/>
            <a:t>Тестування на ВІЛ </a:t>
          </a:r>
          <a:endParaRPr lang="uk-UA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92D050"/>
            </a:buClr>
            <a:buFont typeface="Wingdings" pitchFamily="2" charset="2"/>
            <a:buChar char="••"/>
          </a:pPr>
          <a:r>
            <a:rPr lang="uk-UA" sz="1900" b="0" i="0" kern="1200" baseline="0" dirty="0"/>
            <a:t>Лабораторні дослідження (аналізи крові, сечі, вірусне навантаження ВІЛ, визначення </a:t>
          </a:r>
          <a:r>
            <a:rPr lang="uk-UA" sz="1900" b="0" i="0" kern="1200" baseline="0" dirty="0" err="1"/>
            <a:t>HBsAg</a:t>
          </a:r>
          <a:r>
            <a:rPr lang="uk-UA" sz="1900" b="0" i="0" kern="1200" baseline="0" dirty="0"/>
            <a:t>, антитіл до HCV; біохімічний аналіз крові тощо).</a:t>
          </a:r>
          <a:endParaRPr lang="uk-UA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92D050"/>
            </a:buClr>
            <a:buFont typeface="Wingdings" pitchFamily="2" charset="2"/>
            <a:buChar char="••"/>
          </a:pPr>
          <a:r>
            <a:rPr lang="uk-UA" sz="1900" b="0" i="0" kern="1200" baseline="0" dirty="0"/>
            <a:t>Медичний нагляд, призначення </a:t>
          </a:r>
          <a:r>
            <a:rPr lang="uk-UA" sz="1900" b="0" i="0" kern="1200" baseline="0" dirty="0" err="1"/>
            <a:t>антиретровірусної</a:t>
          </a:r>
          <a:r>
            <a:rPr lang="uk-UA" sz="1900" b="0" i="0" kern="1200" baseline="0" dirty="0"/>
            <a:t> терапії (АРТ), клінічний моніторинг перебігу ВІЛ-інфекції та наявності побічних реакцій лікарських засобів, плановий моніторинг вірусного навантаження. </a:t>
          </a:r>
          <a:endParaRPr lang="uk-UA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92D050"/>
            </a:buClr>
            <a:buFont typeface="Wingdings" pitchFamily="2" charset="2"/>
            <a:buChar char="••"/>
          </a:pPr>
          <a:r>
            <a:rPr lang="uk-UA" sz="1900" b="0" i="0" kern="1200" baseline="0" dirty="0"/>
            <a:t>Профілактика, діагностика та лікування опортуністичних інфекцій.</a:t>
          </a:r>
          <a:endParaRPr lang="uk-UA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92D050"/>
            </a:buClr>
            <a:buFont typeface="Wingdings" pitchFamily="2" charset="2"/>
            <a:buChar char="••"/>
          </a:pPr>
          <a:r>
            <a:rPr lang="uk-UA" sz="1900" b="0" i="0" kern="1200" baseline="0" dirty="0"/>
            <a:t>Медичний нагляд дітей, народжених від ВІЛ-позитивних жінок.</a:t>
          </a:r>
          <a:endParaRPr lang="uk-UA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92D050"/>
            </a:buClr>
            <a:buFont typeface="Wingdings" pitchFamily="2" charset="2"/>
            <a:buChar char="••"/>
          </a:pPr>
          <a:r>
            <a:rPr lang="uk-UA" sz="1900" b="0" i="0" kern="1200" baseline="0" dirty="0"/>
            <a:t>Направлення пацієнта для отримання спеціалізованої медичної допомоги.</a:t>
          </a:r>
          <a:endParaRPr lang="uk-UA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92D050"/>
            </a:buClr>
            <a:buFont typeface="Wingdings" pitchFamily="2" charset="2"/>
            <a:buChar char="••"/>
          </a:pPr>
          <a:r>
            <a:rPr lang="uk-UA" sz="1900" b="0" i="0" kern="1200" baseline="0" dirty="0"/>
            <a:t>Консультування членів родини і близького оточення людей, які живуть з ВІЛ.</a:t>
          </a:r>
          <a:endParaRPr lang="uk-UA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92D050"/>
            </a:buClr>
            <a:buFont typeface="Wingdings" pitchFamily="2" charset="2"/>
            <a:buChar char="••"/>
          </a:pPr>
          <a:r>
            <a:rPr lang="uk-UA" sz="1900" b="0" i="0" kern="1200" baseline="0" dirty="0"/>
            <a:t>Консультування з питань планування сім’ї, репродуктивного, сексуального здоров’я та доступу до репродуктивних технологій.</a:t>
          </a:r>
          <a:endParaRPr lang="uk-UA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92D050"/>
            </a:buClr>
            <a:buFont typeface="Wingdings" pitchFamily="2" charset="2"/>
            <a:buChar char="••"/>
          </a:pPr>
          <a:r>
            <a:rPr lang="uk-UA" sz="1900" b="0" i="0" kern="1200" baseline="0" dirty="0"/>
            <a:t>Профілактика передачі ВІЛ від матері до дитини та супровід ВІЛ-позитивних вагітних. </a:t>
          </a:r>
          <a:endParaRPr lang="uk-UA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92D050"/>
            </a:buClr>
            <a:buFont typeface="Wingdings" pitchFamily="2" charset="2"/>
            <a:buChar char="••"/>
          </a:pPr>
          <a:r>
            <a:rPr lang="uk-UA" sz="1900" b="0" i="0" kern="1200" baseline="0" dirty="0"/>
            <a:t>Організація та проведення медикаментозної </a:t>
          </a:r>
          <a:r>
            <a:rPr lang="uk-UA" sz="1900" b="0" i="0" kern="1200" baseline="0" dirty="0" err="1"/>
            <a:t>доконтактної</a:t>
          </a:r>
          <a:r>
            <a:rPr lang="uk-UA" sz="1900" b="0" i="0" kern="1200" baseline="0" dirty="0"/>
            <a:t> профілактики особам, які мають високий ризик інфікування ВІЛ.</a:t>
          </a:r>
          <a:endParaRPr lang="uk-UA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92D050"/>
            </a:buClr>
            <a:buFont typeface="Wingdings" pitchFamily="2" charset="2"/>
            <a:buChar char="••"/>
          </a:pPr>
          <a:r>
            <a:rPr lang="uk-UA" sz="1900" b="0" i="0" kern="1200" baseline="0" dirty="0"/>
            <a:t>Організація та проведення медикаментозної </a:t>
          </a:r>
          <a:r>
            <a:rPr lang="uk-UA" sz="1900" b="0" i="0" kern="1200" baseline="0" dirty="0" err="1"/>
            <a:t>постконтактної</a:t>
          </a:r>
          <a:r>
            <a:rPr lang="uk-UA" sz="1900" b="0" i="0" kern="1200" baseline="0" dirty="0"/>
            <a:t> профілактики особам, які не пізніше 72 годин після ризикованого контакту щодо інфікування ВІЛ звернулися до надавача медичних </a:t>
          </a:r>
          <a:r>
            <a:rPr lang="uk-UA" sz="1900" b="0" i="0" kern="1200" baseline="0" dirty="0" smtClean="0"/>
            <a:t>послуг.</a:t>
          </a:r>
          <a:endParaRPr lang="uk-UA" sz="1900" kern="1200" dirty="0"/>
        </a:p>
      </dsp:txBody>
      <dsp:txXfrm>
        <a:off x="0" y="612364"/>
        <a:ext cx="11445460" cy="5006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7" name="Shape 23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89668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7776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373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9171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0933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3723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4765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9629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524000" y="1122364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Текст заголовка</a:t>
            </a:r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0" algn="ctr">
              <a:buSzTx/>
              <a:buFontTx/>
              <a:buNone/>
              <a:defRPr sz="1800"/>
            </a:lvl2pPr>
            <a:lvl3pPr marL="0" indent="0" algn="ctr">
              <a:buSzTx/>
              <a:buFontTx/>
              <a:buNone/>
              <a:defRPr sz="1800"/>
            </a:lvl3pPr>
            <a:lvl4pPr marL="0" indent="0" algn="ctr">
              <a:buSzTx/>
              <a:buFontTx/>
              <a:buNone/>
              <a:defRPr sz="1800"/>
            </a:lvl4pPr>
            <a:lvl5pPr marL="0" indent="0" algn="ctr">
              <a:buSzTx/>
              <a:buFontTx/>
              <a:buNone/>
              <a:defRPr sz="18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Текст заголовка</a:t>
            </a:r>
          </a:p>
        </p:txBody>
      </p:sp>
      <p:sp>
        <p:nvSpPr>
          <p:cNvPr id="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1851" y="4589464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Текст заголовка</a:t>
            </a:r>
          </a:p>
        </p:txBody>
      </p:sp>
      <p:sp>
        <p:nvSpPr>
          <p:cNvPr id="65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5183186" y="987427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38843" indent="-195943">
              <a:defRPr sz="2400"/>
            </a:lvl2pPr>
            <a:lvl3pPr marL="914400" indent="-228600">
              <a:defRPr sz="2400"/>
            </a:lvl3pPr>
            <a:lvl4pPr marL="1303020" indent="-274320">
              <a:defRPr sz="2400"/>
            </a:lvl4pPr>
            <a:lvl5pPr marL="1645920" indent="-274320">
              <a:defRPr sz="2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Текст заголовка</a:t>
            </a:r>
          </a:p>
        </p:txBody>
      </p:sp>
      <p:sp>
        <p:nvSpPr>
          <p:cNvPr id="75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6" y="987427"/>
            <a:ext cx="6172203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200"/>
            </a:lvl1pPr>
            <a:lvl2pPr marL="0" indent="0">
              <a:buSzTx/>
              <a:buFontTx/>
              <a:buNone/>
              <a:defRPr sz="1200"/>
            </a:lvl2pPr>
            <a:lvl3pPr marL="0" indent="0">
              <a:buSzTx/>
              <a:buFontTx/>
              <a:buNone/>
              <a:defRPr sz="1200"/>
            </a:lvl3pPr>
            <a:lvl4pPr marL="0" indent="0">
              <a:buSzTx/>
              <a:buFontTx/>
              <a:buNone/>
              <a:defRPr sz="1200"/>
            </a:lvl4pPr>
            <a:lvl5pPr marL="0" indent="0">
              <a:buSzTx/>
              <a:buFontTx/>
              <a:buNone/>
              <a:defRPr sz="12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85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94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lIns="45718" tIns="45718" rIns="45718" bIns="45718" anchor="b"/>
          <a:lstStyle>
            <a:lvl1pPr>
              <a:defRPr sz="4500"/>
            </a:lvl1pPr>
          </a:lstStyle>
          <a:p>
            <a:r>
              <a:t>Текст заголовка</a:t>
            </a:r>
          </a:p>
        </p:txBody>
      </p:sp>
      <p:sp>
        <p:nvSpPr>
          <p:cNvPr id="12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1851" y="4589462"/>
            <a:ext cx="10515600" cy="1500192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3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22" y="6423499"/>
            <a:ext cx="226981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5718" tIns="45718" rIns="45718" bIns="45718"/>
          <a:lstStyle/>
          <a:p>
            <a:r>
              <a:t>Текст заголовка</a:t>
            </a:r>
          </a:p>
        </p:txBody>
      </p:sp>
      <p:sp>
        <p:nvSpPr>
          <p:cNvPr id="131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lIns="45718" tIns="45718" rIns="45718" bIns="45718"/>
          <a:lstStyle>
            <a:lvl3pPr marL="925829" indent="-240029"/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22" y="6423499"/>
            <a:ext cx="226981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lIns="45718" tIns="45718" rIns="45718" bIns="45718" anchor="b"/>
          <a:lstStyle>
            <a:lvl1pPr>
              <a:defRPr sz="2400"/>
            </a:lvl1pPr>
          </a:lstStyle>
          <a:p>
            <a:r>
              <a:t>Текст заголовка</a:t>
            </a:r>
          </a:p>
        </p:txBody>
      </p:sp>
      <p:sp>
        <p:nvSpPr>
          <p:cNvPr id="140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7"/>
            <a:ext cx="6172204" cy="4873625"/>
          </a:xfrm>
          <a:prstGeom prst="rect">
            <a:avLst/>
          </a:prstGeom>
        </p:spPr>
        <p:txBody>
          <a:bodyPr lIns="45718" tIns="45718" rIns="45718" bIns="45718"/>
          <a:lstStyle>
            <a:lvl1pPr>
              <a:defRPr sz="2400"/>
            </a:lvl1pPr>
            <a:lvl2pPr marL="538843" indent="-195943">
              <a:defRPr sz="2400"/>
            </a:lvl2pPr>
            <a:lvl3pPr marL="914400" indent="-228600">
              <a:defRPr sz="2400"/>
            </a:lvl3pPr>
            <a:lvl4pPr marL="1303020" indent="-274320">
              <a:defRPr sz="2400"/>
            </a:lvl4pPr>
            <a:lvl5pPr marL="1645920" indent="-274320">
              <a:defRPr sz="2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41" name="Текст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22" y="6423499"/>
            <a:ext cx="226981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lIns="45718" tIns="45718" rIns="45718" bIns="45718" anchor="b"/>
          <a:lstStyle>
            <a:lvl1pPr>
              <a:defRPr sz="2400"/>
            </a:lvl1pPr>
          </a:lstStyle>
          <a:p>
            <a:r>
              <a:t>Текст заголовка</a:t>
            </a:r>
          </a:p>
        </p:txBody>
      </p:sp>
      <p:sp>
        <p:nvSpPr>
          <p:cNvPr id="150" name="Рисунок 2"/>
          <p:cNvSpPr>
            <a:spLocks noGrp="1"/>
          </p:cNvSpPr>
          <p:nvPr>
            <p:ph type="pic" sz="half" idx="13"/>
          </p:nvPr>
        </p:nvSpPr>
        <p:spPr>
          <a:xfrm>
            <a:off x="5183187" y="987427"/>
            <a:ext cx="6172204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>
              <a:buSzTx/>
              <a:buFontTx/>
              <a:buNone/>
              <a:defRPr sz="1200"/>
            </a:lvl1pPr>
            <a:lvl2pPr marL="0" indent="0">
              <a:buSzTx/>
              <a:buFontTx/>
              <a:buNone/>
              <a:defRPr sz="1200"/>
            </a:lvl2pPr>
            <a:lvl3pPr marL="0" indent="0">
              <a:buSzTx/>
              <a:buFontTx/>
              <a:buNone/>
              <a:defRPr sz="1200"/>
            </a:lvl3pPr>
            <a:lvl4pPr marL="0" indent="0">
              <a:buSzTx/>
              <a:buFontTx/>
              <a:buNone/>
              <a:defRPr sz="1200"/>
            </a:lvl4pPr>
            <a:lvl5pPr marL="0" indent="0">
              <a:buSzTx/>
              <a:buFontTx/>
              <a:buNone/>
              <a:defRPr sz="12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22" y="6423499"/>
            <a:ext cx="226981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5718" tIns="45718" rIns="45718" bIns="45718"/>
          <a:lstStyle/>
          <a:p>
            <a:r>
              <a:t>Текст заголовка</a:t>
            </a:r>
          </a:p>
        </p:txBody>
      </p:sp>
      <p:sp>
        <p:nvSpPr>
          <p:cNvPr id="160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45718" tIns="45718" rIns="45718" bIns="45718"/>
          <a:lstStyle>
            <a:lvl3pPr marL="925829" indent="-240029"/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6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22" y="6423499"/>
            <a:ext cx="226981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lIns="45718" tIns="45718" rIns="45718" bIns="45718"/>
          <a:lstStyle/>
          <a:p>
            <a:r>
              <a:t>Текст заголовка</a:t>
            </a:r>
          </a:p>
        </p:txBody>
      </p:sp>
      <p:sp>
        <p:nvSpPr>
          <p:cNvPr id="169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lIns="45718" tIns="45718" rIns="45718" bIns="45718"/>
          <a:lstStyle>
            <a:lvl3pPr marL="925829" indent="-240029"/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7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22" y="6423499"/>
            <a:ext cx="226981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60" y="6423518"/>
            <a:ext cx="226943" cy="230790"/>
          </a:xfrm>
          <a:prstGeom prst="rect">
            <a:avLst/>
          </a:prstGeom>
        </p:spPr>
        <p:txBody>
          <a:bodyPr lIns="45699" tIns="45699" rIns="45699" bIns="45699"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524000" y="1122364"/>
            <a:ext cx="9144000" cy="2387701"/>
          </a:xfrm>
          <a:prstGeom prst="rect">
            <a:avLst/>
          </a:prstGeom>
        </p:spPr>
        <p:txBody>
          <a:bodyPr lIns="45699" tIns="45699" rIns="45699" bIns="45699" anchor="b"/>
          <a:lstStyle>
            <a:lvl1pPr algn="ctr">
              <a:defRPr sz="45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9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9"/>
            <a:ext cx="9144000" cy="1655705"/>
          </a:xfrm>
          <a:prstGeom prst="rect">
            <a:avLst/>
          </a:prstGeom>
        </p:spPr>
        <p:txBody>
          <a:bodyPr lIns="45699" tIns="45699" rIns="45699" bIns="45699"/>
          <a:lstStyle>
            <a:lvl1pPr marL="0" indent="171450" algn="ctr">
              <a:buSzTx/>
              <a:buFontTx/>
              <a:buNone/>
              <a:defRPr sz="1800"/>
            </a:lvl1pPr>
            <a:lvl2pPr marL="0" indent="171450" algn="ctr">
              <a:buSzTx/>
              <a:buFontTx/>
              <a:buNone/>
              <a:defRPr sz="1800"/>
            </a:lvl2pPr>
            <a:lvl3pPr marL="0" indent="171450" algn="ctr">
              <a:buSzTx/>
              <a:buFontTx/>
              <a:buNone/>
              <a:defRPr sz="1800"/>
            </a:lvl3pPr>
            <a:lvl4pPr marL="0" indent="171450" algn="ctr">
              <a:buSzTx/>
              <a:buFontTx/>
              <a:buNone/>
              <a:defRPr sz="1800"/>
            </a:lvl4pPr>
            <a:lvl5pPr marL="0" indent="171450" algn="ctr">
              <a:buSzTx/>
              <a:buFontTx/>
              <a:buNone/>
              <a:defRPr sz="18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9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84" y="6423450"/>
            <a:ext cx="226943" cy="230790"/>
          </a:xfrm>
          <a:prstGeom prst="rect">
            <a:avLst/>
          </a:prstGeom>
        </p:spPr>
        <p:txBody>
          <a:bodyPr lIns="45699" tIns="45699" rIns="45699" bIns="45699"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1" y="365121"/>
            <a:ext cx="10515601" cy="1325569"/>
          </a:xfrm>
          <a:prstGeom prst="rect">
            <a:avLst/>
          </a:prstGeom>
        </p:spPr>
        <p:txBody>
          <a:bodyPr lIns="121897" tIns="121897" rIns="121897" bIns="121897"/>
          <a:lstStyle>
            <a:lvl1pPr defTabSz="914400"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212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1" cy="4351340"/>
          </a:xfrm>
          <a:prstGeom prst="rect">
            <a:avLst/>
          </a:prstGeom>
        </p:spPr>
        <p:txBody>
          <a:bodyPr lIns="121897" tIns="121897" rIns="121897" bIns="121897"/>
          <a:lstStyle>
            <a:lvl1pPr marL="433388" indent="-361950" defTabSz="914400">
              <a:spcBef>
                <a:spcPts val="675"/>
              </a:spcBef>
              <a:buClr>
                <a:srgbClr val="000000"/>
              </a:buClr>
              <a:buSzPts val="2800"/>
            </a:lvl1pPr>
            <a:lvl2pPr marL="973136" indent="-544512" defTabSz="914400">
              <a:spcBef>
                <a:spcPts val="675"/>
              </a:spcBef>
              <a:buClr>
                <a:srgbClr val="000000"/>
              </a:buClr>
              <a:buSzPts val="2800"/>
            </a:lvl2pPr>
            <a:lvl3pPr marL="1674453" indent="-888638" defTabSz="914400">
              <a:spcBef>
                <a:spcPts val="675"/>
              </a:spcBef>
              <a:buClr>
                <a:srgbClr val="000000"/>
              </a:buClr>
              <a:buSzPts val="2800"/>
            </a:lvl3pPr>
            <a:lvl4pPr marL="2285881" indent="-1152405" defTabSz="914400">
              <a:spcBef>
                <a:spcPts val="675"/>
              </a:spcBef>
              <a:buClr>
                <a:srgbClr val="000000"/>
              </a:buClr>
              <a:buSzPts val="2800"/>
            </a:lvl4pPr>
            <a:lvl5pPr marL="2628779" indent="-1152403" defTabSz="914400">
              <a:spcBef>
                <a:spcPts val="675"/>
              </a:spcBef>
              <a:buClr>
                <a:srgbClr val="000000"/>
              </a:buClr>
              <a:buSzPts val="28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13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60" y="6423518"/>
            <a:ext cx="226943" cy="230790"/>
          </a:xfrm>
          <a:prstGeom prst="rect">
            <a:avLst/>
          </a:prstGeom>
        </p:spPr>
        <p:txBody>
          <a:bodyPr lIns="45699" tIns="45699" rIns="45699" bIns="45699"/>
          <a:lstStyle>
            <a:lvl1pPr defTabSz="914400"/>
          </a:lstStyle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5718" tIns="45718" rIns="45718" bIns="45718"/>
          <a:lstStyle/>
          <a:p>
            <a:r>
              <a:t>Текст заголовка</a:t>
            </a:r>
          </a:p>
        </p:txBody>
      </p:sp>
      <p:sp>
        <p:nvSpPr>
          <p:cNvPr id="22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23" y="6423499"/>
            <a:ext cx="226981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524000" y="1122364"/>
            <a:ext cx="9144000" cy="2387601"/>
          </a:xfrm>
          <a:prstGeom prst="rect">
            <a:avLst/>
          </a:prstGeom>
        </p:spPr>
        <p:txBody>
          <a:bodyPr lIns="45718" tIns="45718" rIns="45718" bIns="45718" anchor="b"/>
          <a:lstStyle>
            <a:lvl1pPr algn="ctr">
              <a:defRPr sz="4500"/>
            </a:lvl1pPr>
          </a:lstStyle>
          <a:p>
            <a:r>
              <a:t>Текст заголовка</a:t>
            </a:r>
          </a:p>
        </p:txBody>
      </p:sp>
      <p:sp>
        <p:nvSpPr>
          <p:cNvPr id="22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algn="ctr">
              <a:buSzTx/>
              <a:buFontTx/>
              <a:buNone/>
              <a:defRPr sz="1800"/>
            </a:lvl1pPr>
            <a:lvl2pPr marL="0" indent="0" algn="ctr">
              <a:buSzTx/>
              <a:buFontTx/>
              <a:buNone/>
              <a:defRPr sz="1800"/>
            </a:lvl2pPr>
            <a:lvl3pPr marL="0" indent="0" algn="ctr">
              <a:buSzTx/>
              <a:buFontTx/>
              <a:buNone/>
              <a:defRPr sz="1800"/>
            </a:lvl3pPr>
            <a:lvl4pPr marL="0" indent="0" algn="ctr">
              <a:buSzTx/>
              <a:buFontTx/>
              <a:buNone/>
              <a:defRPr sz="1800"/>
            </a:lvl4pPr>
            <a:lvl5pPr marL="0" indent="0" algn="ctr">
              <a:buSzTx/>
              <a:buFontTx/>
              <a:buNone/>
              <a:defRPr sz="18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0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22" y="6423499"/>
            <a:ext cx="226981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‹№›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126821" y="6423499"/>
            <a:ext cx="226981" cy="230828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‹№›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56" r:id="rId6"/>
    <p:sldLayoutId id="2147483657" r:id="rId7"/>
    <p:sldLayoutId id="2147483658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8" r:id="rId15"/>
    <p:sldLayoutId id="2147483669" r:id="rId16"/>
    <p:sldLayoutId id="2147483671" r:id="rId17"/>
    <p:sldLayoutId id="2147483672" r:id="rId18"/>
    <p:sldLayoutId id="2147483673" r:id="rId19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542925" marR="0" indent="-200025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925829" marR="0" indent="-240029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2954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16383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19812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23241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26670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3009900" marR="0" indent="-266700" algn="l" defTabSz="685800" rtl="0" latinLnBrk="0">
        <a:lnSpc>
          <a:spcPct val="90000"/>
        </a:lnSpc>
        <a:spcBef>
          <a:spcPts val="75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microsoft.com/office/2007/relationships/hdphoto" Target="../media/hdphoto1.wdp"/><Relationship Id="rId5" Type="http://schemas.openxmlformats.org/officeDocument/2006/relationships/diagramLayout" Target="../diagrams/layout1.xml"/><Relationship Id="rId10" Type="http://schemas.openxmlformats.org/officeDocument/2006/relationships/image" Target="../media/image6.png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3D8517-D37B-254C-871E-CEB54FBE2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4736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E2B244-F801-B248-8C40-C136ADB83DA8}"/>
              </a:ext>
            </a:extLst>
          </p:cNvPr>
          <p:cNvSpPr/>
          <p:nvPr/>
        </p:nvSpPr>
        <p:spPr>
          <a:xfrm>
            <a:off x="6841067" y="-1"/>
            <a:ext cx="5384800" cy="6869261"/>
          </a:xfrm>
          <a:prstGeom prst="rect">
            <a:avLst/>
          </a:prstGeom>
          <a:solidFill>
            <a:srgbClr val="A5D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7" name="Google Shape;67;p15" descr="Google Shape;67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676" y="2932162"/>
            <a:ext cx="3612741" cy="71696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riangle 12">
            <a:extLst>
              <a:ext uri="{FF2B5EF4-FFF2-40B4-BE49-F238E27FC236}">
                <a16:creationId xmlns:a16="http://schemas.microsoft.com/office/drawing/2014/main" id="{0F4C912A-DBBD-EF46-B3CD-45CAC82461D0}"/>
              </a:ext>
            </a:extLst>
          </p:cNvPr>
          <p:cNvSpPr/>
          <p:nvPr/>
        </p:nvSpPr>
        <p:spPr>
          <a:xfrm rot="16200000">
            <a:off x="6028266" y="3028178"/>
            <a:ext cx="1100667" cy="524934"/>
          </a:xfrm>
          <a:prstGeom prst="triangle">
            <a:avLst/>
          </a:prstGeom>
          <a:solidFill>
            <a:srgbClr val="A5D5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2664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0BC605-5A91-8542-BDD9-E7873921A0DD}"/>
              </a:ext>
            </a:extLst>
          </p:cNvPr>
          <p:cNvSpPr/>
          <p:nvPr/>
        </p:nvSpPr>
        <p:spPr>
          <a:xfrm>
            <a:off x="0" y="-11261"/>
            <a:ext cx="8585200" cy="686926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6" name="Google Shape;586;p41"/>
          <p:cNvSpPr txBox="1"/>
          <p:nvPr/>
        </p:nvSpPr>
        <p:spPr>
          <a:xfrm>
            <a:off x="10600267" y="6318010"/>
            <a:ext cx="1248507" cy="400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000" dirty="0"/>
              <a:t>nszu.gov.ua</a:t>
            </a:r>
          </a:p>
        </p:txBody>
      </p:sp>
      <p:pic>
        <p:nvPicPr>
          <p:cNvPr id="147" name="Google Shape;67;p15" descr="Google Shape;67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499" y="536100"/>
            <a:ext cx="2365456" cy="469437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026AF0E5-E5F0-C547-9921-945F8A3A40B6}"/>
              </a:ext>
            </a:extLst>
          </p:cNvPr>
          <p:cNvSpPr/>
          <p:nvPr/>
        </p:nvSpPr>
        <p:spPr>
          <a:xfrm rot="16200000">
            <a:off x="7786048" y="3028178"/>
            <a:ext cx="1100667" cy="52493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Google Shape;93;p2">
            <a:extLst>
              <a:ext uri="{FF2B5EF4-FFF2-40B4-BE49-F238E27FC236}">
                <a16:creationId xmlns:a16="http://schemas.microsoft.com/office/drawing/2014/main" id="{E50D9575-7176-1445-9AB1-2E30C4C70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0" y="1523054"/>
            <a:ext cx="8229600" cy="3535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defTabSz="914400">
              <a:lnSpc>
                <a:spcPct val="120000"/>
              </a:lnSpc>
              <a:spcBef>
                <a:spcPct val="0"/>
              </a:spcBef>
            </a:pPr>
            <a:r>
              <a:rPr lang="ru-RU" sz="3400" b="1" kern="1200" dirty="0" err="1">
                <a:solidFill>
                  <a:schemeClr val="bg1"/>
                </a:solidFill>
                <a:latin typeface="+mn-lt"/>
                <a:cs typeface="Arial Narrow"/>
              </a:rPr>
              <a:t>Розвиток</a:t>
            </a:r>
            <a:r>
              <a:rPr lang="ru-RU" sz="3400" b="1" kern="1200" dirty="0">
                <a:solidFill>
                  <a:schemeClr val="bg1"/>
                </a:solidFill>
                <a:latin typeface="+mn-lt"/>
                <a:cs typeface="Arial Narrow"/>
              </a:rPr>
              <a:t> та </a:t>
            </a:r>
            <a:r>
              <a:rPr lang="ru-RU" sz="3400" b="1" kern="1200" dirty="0" err="1">
                <a:solidFill>
                  <a:schemeClr val="bg1"/>
                </a:solidFill>
                <a:latin typeface="+mn-lt"/>
                <a:cs typeface="Arial Narrow"/>
              </a:rPr>
              <a:t>реалізація</a:t>
            </a:r>
            <a:r>
              <a:rPr lang="ru-RU" sz="3400" b="1" kern="1200" dirty="0">
                <a:solidFill>
                  <a:schemeClr val="bg1"/>
                </a:solidFill>
                <a:latin typeface="+mn-lt"/>
                <a:cs typeface="Arial Narrow"/>
              </a:rPr>
              <a:t> </a:t>
            </a:r>
            <a:r>
              <a:rPr lang="ru-RU" sz="3400" b="1" kern="1200" dirty="0" err="1">
                <a:solidFill>
                  <a:schemeClr val="bg1"/>
                </a:solidFill>
                <a:latin typeface="+mn-lt"/>
                <a:cs typeface="Arial Narrow"/>
              </a:rPr>
              <a:t>програми</a:t>
            </a:r>
            <a:r>
              <a:rPr lang="ru-RU" sz="3400" b="1" kern="1200" dirty="0">
                <a:solidFill>
                  <a:schemeClr val="bg1"/>
                </a:solidFill>
                <a:latin typeface="+mn-lt"/>
                <a:cs typeface="Arial Narrow"/>
              </a:rPr>
              <a:t> </a:t>
            </a:r>
            <a:r>
              <a:rPr lang="ru-RU" sz="3400" b="1" kern="1200" dirty="0" err="1">
                <a:solidFill>
                  <a:schemeClr val="bg1"/>
                </a:solidFill>
                <a:latin typeface="+mn-lt"/>
                <a:cs typeface="Arial Narrow"/>
              </a:rPr>
              <a:t>медичних</a:t>
            </a:r>
            <a:r>
              <a:rPr lang="ru-RU" sz="3400" b="1" kern="1200" dirty="0">
                <a:solidFill>
                  <a:schemeClr val="bg1"/>
                </a:solidFill>
                <a:latin typeface="+mn-lt"/>
                <a:cs typeface="Arial Narrow"/>
              </a:rPr>
              <a:t> </a:t>
            </a:r>
            <a:r>
              <a:rPr lang="ru-RU" sz="3400" b="1" kern="1200" dirty="0" err="1">
                <a:solidFill>
                  <a:schemeClr val="bg1"/>
                </a:solidFill>
                <a:latin typeface="+mn-lt"/>
                <a:cs typeface="Arial Narrow"/>
              </a:rPr>
              <a:t>гарантій</a:t>
            </a:r>
            <a:r>
              <a:rPr lang="ru-RU" sz="3400" b="1" kern="1200" dirty="0">
                <a:solidFill>
                  <a:schemeClr val="bg1"/>
                </a:solidFill>
                <a:latin typeface="+mn-lt"/>
                <a:cs typeface="Arial Narrow"/>
              </a:rPr>
              <a:t> </a:t>
            </a:r>
            <a:r>
              <a:rPr lang="ru-RU" sz="3400" b="1" kern="1200" dirty="0" err="1">
                <a:solidFill>
                  <a:schemeClr val="bg1"/>
                </a:solidFill>
                <a:latin typeface="+mn-lt"/>
                <a:cs typeface="Arial Narrow"/>
              </a:rPr>
              <a:t>щодо</a:t>
            </a:r>
            <a:r>
              <a:rPr lang="ru-RU" sz="3400" b="1" kern="1200" dirty="0">
                <a:solidFill>
                  <a:schemeClr val="bg1"/>
                </a:solidFill>
                <a:latin typeface="+mn-lt"/>
                <a:cs typeface="Arial Narrow"/>
              </a:rPr>
              <a:t> </a:t>
            </a:r>
            <a:r>
              <a:rPr lang="ru-RU" sz="3400" b="1" kern="1200" dirty="0" err="1">
                <a:solidFill>
                  <a:schemeClr val="bg1"/>
                </a:solidFill>
                <a:latin typeface="+mn-lt"/>
                <a:cs typeface="Arial Narrow"/>
              </a:rPr>
              <a:t>напрямків</a:t>
            </a:r>
            <a:r>
              <a:rPr lang="ru-RU" sz="3400" b="1" kern="1200" dirty="0">
                <a:solidFill>
                  <a:schemeClr val="bg1"/>
                </a:solidFill>
                <a:latin typeface="+mn-lt"/>
                <a:cs typeface="Arial Narrow"/>
              </a:rPr>
              <a:t> </a:t>
            </a:r>
            <a:r>
              <a:rPr lang="ru-RU" sz="3400" b="1" kern="1200" dirty="0" err="1">
                <a:solidFill>
                  <a:schemeClr val="bg1"/>
                </a:solidFill>
                <a:latin typeface="+mn-lt"/>
                <a:cs typeface="Arial Narrow"/>
              </a:rPr>
              <a:t>лікування</a:t>
            </a:r>
            <a:r>
              <a:rPr lang="ru-RU" sz="3400" b="1" kern="1200" dirty="0">
                <a:solidFill>
                  <a:schemeClr val="bg1"/>
                </a:solidFill>
                <a:latin typeface="+mn-lt"/>
                <a:cs typeface="Arial Narrow"/>
              </a:rPr>
              <a:t> </a:t>
            </a:r>
            <a:r>
              <a:rPr lang="ru-RU" sz="3400" b="1" kern="1200" dirty="0" smtClean="0">
                <a:solidFill>
                  <a:schemeClr val="bg1"/>
                </a:solidFill>
                <a:latin typeface="+mn-lt"/>
                <a:cs typeface="Arial Narrow"/>
              </a:rPr>
              <a:t>ВІЛ/СНІД</a:t>
            </a:r>
            <a:endParaRPr lang="ru-RU" sz="3400" b="1" kern="1200" dirty="0">
              <a:solidFill>
                <a:schemeClr val="bg1"/>
              </a:solidFill>
              <a:latin typeface="+mn-lt"/>
              <a:cs typeface="Arial Narrow"/>
            </a:endParaRPr>
          </a:p>
        </p:txBody>
      </p:sp>
      <p:sp>
        <p:nvSpPr>
          <p:cNvPr id="12" name="Google Shape;94;p2">
            <a:extLst>
              <a:ext uri="{FF2B5EF4-FFF2-40B4-BE49-F238E27FC236}">
                <a16:creationId xmlns:a16="http://schemas.microsoft.com/office/drawing/2014/main" id="{1C7A1FFA-FD6D-5448-A6DF-7AA56A2AF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5600" y="5240607"/>
            <a:ext cx="6313542" cy="778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 defTabSz="411480">
              <a:spcBef>
                <a:spcPts val="450"/>
              </a:spcBef>
              <a:buSzTx/>
              <a:buNone/>
              <a:defRPr sz="1920"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lang="ru-RU" sz="2500" i="1" kern="1200" dirty="0" err="1">
                <a:solidFill>
                  <a:schemeClr val="bg1"/>
                </a:solidFill>
                <a:latin typeface="Arial Narrow"/>
                <a:cs typeface="Arial Narrow"/>
              </a:rPr>
              <a:t>Ірина</a:t>
            </a:r>
            <a:r>
              <a:rPr lang="ru-RU" sz="2500" i="1" kern="1200" dirty="0">
                <a:solidFill>
                  <a:schemeClr val="bg1"/>
                </a:solidFill>
                <a:latin typeface="Arial Narrow"/>
                <a:cs typeface="Arial Narrow"/>
              </a:rPr>
              <a:t> </a:t>
            </a:r>
            <a:r>
              <a:rPr lang="ru-RU" sz="2500" i="1" kern="1200" dirty="0" err="1">
                <a:solidFill>
                  <a:schemeClr val="bg1"/>
                </a:solidFill>
                <a:latin typeface="Arial Narrow"/>
                <a:cs typeface="Arial Narrow"/>
              </a:rPr>
              <a:t>Надашкевич</a:t>
            </a:r>
            <a:endParaRPr lang="ru-RU" sz="2500" i="1" kern="1200" dirty="0">
              <a:solidFill>
                <a:schemeClr val="bg1"/>
              </a:solidFill>
              <a:latin typeface="Arial Narrow"/>
              <a:cs typeface="Arial Narrow"/>
            </a:endParaRPr>
          </a:p>
          <a:p>
            <a:pPr marL="0" indent="0" defTabSz="411480">
              <a:spcBef>
                <a:spcPts val="450"/>
              </a:spcBef>
              <a:buSzTx/>
              <a:buNone/>
              <a:defRPr sz="1920"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lang="ru-RU" sz="2500" i="1" kern="1200" dirty="0" err="1">
                <a:solidFill>
                  <a:schemeClr val="bg1"/>
                </a:solidFill>
                <a:latin typeface="Arial Narrow"/>
                <a:cs typeface="Arial Narrow"/>
              </a:rPr>
              <a:t>Т.в.о</a:t>
            </a:r>
            <a:r>
              <a:rPr lang="ru-RU" sz="2500" i="1" kern="1200" dirty="0">
                <a:solidFill>
                  <a:schemeClr val="bg1"/>
                </a:solidFill>
                <a:latin typeface="Arial Narrow"/>
                <a:cs typeface="Arial Narrow"/>
              </a:rPr>
              <a:t>. заступника </a:t>
            </a:r>
            <a:r>
              <a:rPr lang="ru-RU" sz="2500" i="1" kern="1200" dirty="0" err="1">
                <a:solidFill>
                  <a:schemeClr val="bg1"/>
                </a:solidFill>
                <a:latin typeface="Arial Narrow"/>
                <a:cs typeface="Arial Narrow"/>
              </a:rPr>
              <a:t>Голови</a:t>
            </a:r>
            <a:r>
              <a:rPr lang="ru-RU" sz="2500" i="1" kern="1200" dirty="0">
                <a:solidFill>
                  <a:schemeClr val="bg1"/>
                </a:solidFill>
                <a:latin typeface="Arial Narrow"/>
                <a:cs typeface="Arial Narrow"/>
              </a:rPr>
              <a:t> НСЗУ</a:t>
            </a:r>
          </a:p>
        </p:txBody>
      </p:sp>
    </p:spTree>
    <p:extLst>
      <p:ext uri="{BB962C8B-B14F-4D97-AF65-F5344CB8AC3E}">
        <p14:creationId xmlns:p14="http://schemas.microsoft.com/office/powerpoint/2010/main" val="136476700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65BD4F5-DAF3-2347-A3ED-4FE8AC1C40EF}"/>
              </a:ext>
            </a:extLst>
          </p:cNvPr>
          <p:cNvSpPr/>
          <p:nvPr/>
        </p:nvSpPr>
        <p:spPr>
          <a:xfrm>
            <a:off x="285434" y="245658"/>
            <a:ext cx="11668836" cy="709684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A5D53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/>
              <a:t> </a:t>
            </a:r>
            <a:r>
              <a:rPr lang="ru-RU" sz="2500" b="1" dirty="0">
                <a:solidFill>
                  <a:schemeClr val="bg1"/>
                </a:solidFill>
              </a:rPr>
              <a:t> </a:t>
            </a:r>
            <a:r>
              <a:rPr lang="ru-RU" sz="2500" b="1" dirty="0" smtClean="0">
                <a:solidFill>
                  <a:schemeClr val="bg1"/>
                </a:solidFill>
              </a:rPr>
              <a:t>ВІЛ: СПЕЦИФІКАЦІЇ</a:t>
            </a:r>
            <a:endParaRPr lang="ru-RU" sz="25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16A2B3-9326-6343-9266-67C89641D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811" y="337792"/>
            <a:ext cx="423045" cy="511796"/>
          </a:xfrm>
          <a:prstGeom prst="rect">
            <a:avLst/>
          </a:prstGeom>
        </p:spPr>
      </p:pic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7FE1CA23-DFBA-EB00-83A1-E638D87B3E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7157675"/>
              </p:ext>
            </p:extLst>
          </p:nvPr>
        </p:nvGraphicFramePr>
        <p:xfrm>
          <a:off x="196811" y="1047476"/>
          <a:ext cx="11445460" cy="568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Google Shape;586;p41">
            <a:extLst>
              <a:ext uri="{FF2B5EF4-FFF2-40B4-BE49-F238E27FC236}">
                <a16:creationId xmlns:a16="http://schemas.microsoft.com/office/drawing/2014/main" id="{889AB653-D34A-8331-1310-F629D0BA2254}"/>
              </a:ext>
            </a:extLst>
          </p:cNvPr>
          <p:cNvSpPr txBox="1"/>
          <p:nvPr/>
        </p:nvSpPr>
        <p:spPr>
          <a:xfrm>
            <a:off x="10600267" y="6331865"/>
            <a:ext cx="1248507" cy="400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000" dirty="0"/>
              <a:t>nszu.gov.ua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8A7BC6E-6A7A-B37F-4775-654D36DD2B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5323" y="337792"/>
            <a:ext cx="529197" cy="52919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WatercolorSpong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5172" y="355156"/>
            <a:ext cx="563880" cy="494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0825571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65BD4F5-DAF3-2347-A3ED-4FE8AC1C40EF}"/>
              </a:ext>
            </a:extLst>
          </p:cNvPr>
          <p:cNvSpPr/>
          <p:nvPr/>
        </p:nvSpPr>
        <p:spPr>
          <a:xfrm>
            <a:off x="285434" y="245658"/>
            <a:ext cx="11668836" cy="709684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A5D53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/>
              <a:t> </a:t>
            </a:r>
            <a:r>
              <a:rPr lang="ru-RU" sz="2500" b="1" dirty="0">
                <a:solidFill>
                  <a:schemeClr val="bg1"/>
                </a:solidFill>
              </a:rPr>
              <a:t> </a:t>
            </a:r>
            <a:r>
              <a:rPr lang="ru-RU" sz="2500" b="1" dirty="0" smtClean="0">
                <a:solidFill>
                  <a:schemeClr val="bg1"/>
                </a:solidFill>
              </a:rPr>
              <a:t>ВІЛ: ТАРИФИ</a:t>
            </a:r>
            <a:endParaRPr lang="ru-RU" sz="25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16A2B3-9326-6343-9266-67C89641D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811" y="337792"/>
            <a:ext cx="423045" cy="511796"/>
          </a:xfrm>
          <a:prstGeom prst="rect">
            <a:avLst/>
          </a:prstGeom>
        </p:spPr>
      </p:pic>
      <p:sp>
        <p:nvSpPr>
          <p:cNvPr id="4" name="Google Shape;586;p41">
            <a:extLst>
              <a:ext uri="{FF2B5EF4-FFF2-40B4-BE49-F238E27FC236}">
                <a16:creationId xmlns:a16="http://schemas.microsoft.com/office/drawing/2014/main" id="{889AB653-D34A-8331-1310-F629D0BA2254}"/>
              </a:ext>
            </a:extLst>
          </p:cNvPr>
          <p:cNvSpPr txBox="1"/>
          <p:nvPr/>
        </p:nvSpPr>
        <p:spPr>
          <a:xfrm>
            <a:off x="10600267" y="6331865"/>
            <a:ext cx="1248507" cy="400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000" dirty="0"/>
              <a:t>nszu.gov.ua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8A7BC6E-6A7A-B37F-4775-654D36DD2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5323" y="337792"/>
            <a:ext cx="529197" cy="52919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WatercolorSpong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5172" y="355156"/>
            <a:ext cx="563880" cy="494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4" name="TextBox 13"/>
          <p:cNvSpPr txBox="1"/>
          <p:nvPr/>
        </p:nvSpPr>
        <p:spPr>
          <a:xfrm>
            <a:off x="7919356" y="2857618"/>
            <a:ext cx="3663043" cy="2616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uk-UA" sz="2400" b="1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sym typeface="Calibri"/>
              </a:rPr>
              <a:t>ТАРИФ –</a:t>
            </a:r>
            <a:r>
              <a:rPr kumimoji="0" lang="uk-UA" sz="2400" b="1" i="0" u="none" strike="noStrike" cap="none" spc="0" normalizeH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sym typeface="Calibri"/>
              </a:rPr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uk-UA" sz="2400" b="1" i="0" u="none" strike="noStrike" cap="none" spc="0" normalizeH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sym typeface="Calibri"/>
              </a:rPr>
              <a:t>Капітаційна</a:t>
            </a:r>
            <a:r>
              <a:rPr kumimoji="0" lang="uk-UA" sz="2400" b="1" i="0" u="none" strike="noStrike" cap="none" spc="0" normalizeH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sym typeface="Calibri"/>
              </a:rPr>
              <a:t> ставка на РІК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uk-UA" sz="2400" dirty="0"/>
          </a:p>
          <a:p>
            <a:pPr fontAlgn="ctr"/>
            <a:r>
              <a:rPr lang="uk-UA" sz="2300" dirty="0"/>
              <a:t>2020 – </a:t>
            </a:r>
            <a:r>
              <a:rPr lang="uk-UA" sz="2300" b="1" dirty="0">
                <a:solidFill>
                  <a:schemeClr val="accent2">
                    <a:lumMod val="50000"/>
                  </a:schemeClr>
                </a:solidFill>
              </a:rPr>
              <a:t>2 000,00грн</a:t>
            </a:r>
          </a:p>
          <a:p>
            <a:pPr fontAlgn="ctr"/>
            <a:r>
              <a:rPr lang="uk-UA" sz="2300" dirty="0"/>
              <a:t>2021 – </a:t>
            </a:r>
            <a:r>
              <a:rPr lang="uk-UA" sz="2300" b="1" dirty="0">
                <a:solidFill>
                  <a:schemeClr val="accent6">
                    <a:lumMod val="50000"/>
                  </a:schemeClr>
                </a:solidFill>
              </a:rPr>
              <a:t>3 168,00 грн</a:t>
            </a:r>
          </a:p>
          <a:p>
            <a:pPr fontAlgn="ctr"/>
            <a:r>
              <a:rPr lang="uk-UA" sz="2300" dirty="0"/>
              <a:t>2022 – </a:t>
            </a:r>
            <a:r>
              <a:rPr lang="uk-UA" sz="2300" b="1" dirty="0">
                <a:solidFill>
                  <a:schemeClr val="accent6">
                    <a:lumMod val="50000"/>
                  </a:schemeClr>
                </a:solidFill>
              </a:rPr>
              <a:t>4 091,00 грн </a:t>
            </a:r>
          </a:p>
          <a:p>
            <a:pPr fontAlgn="ctr"/>
            <a:r>
              <a:rPr lang="uk-UA" sz="2300" dirty="0"/>
              <a:t>2023 – </a:t>
            </a: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</a:rPr>
              <a:t>4</a:t>
            </a:r>
            <a:r>
              <a:rPr lang="uk-UA" sz="2300" b="1" dirty="0">
                <a:solidFill>
                  <a:schemeClr val="accent6">
                    <a:lumMod val="50000"/>
                  </a:schemeClr>
                </a:solidFill>
              </a:rPr>
              <a:t> 0</a:t>
            </a: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uk-UA" sz="2300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2300" b="1" dirty="0">
                <a:solidFill>
                  <a:schemeClr val="accent6">
                    <a:lumMod val="50000"/>
                  </a:schemeClr>
                </a:solidFill>
              </a:rPr>
              <a:t>,00</a:t>
            </a:r>
            <a:r>
              <a:rPr lang="uk-UA" sz="2300" b="1" dirty="0">
                <a:solidFill>
                  <a:schemeClr val="accent6">
                    <a:lumMod val="50000"/>
                  </a:schemeClr>
                </a:solidFill>
              </a:rPr>
              <a:t> грн</a:t>
            </a:r>
            <a:endParaRPr kumimoji="0" lang="uk-UA" sz="2300" b="0" i="0" u="none" strike="noStrike" cap="none" spc="0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FillTx/>
              <a:sym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5172" y="1404257"/>
            <a:ext cx="6531428" cy="48936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uk-UA" sz="2400" dirty="0"/>
              <a:t>У 2023 році НСЗУ </a:t>
            </a:r>
            <a:r>
              <a:rPr lang="uk-UA" sz="2400" dirty="0" smtClean="0"/>
              <a:t>здійснює </a:t>
            </a:r>
            <a:r>
              <a:rPr lang="uk-UA" sz="2400" dirty="0"/>
              <a:t>оплату за надані медичні послуги в межах пакету «Діагностика, лікування та супровід осіб із ВІЛ (та підозрою на ВІЛ)» таким категоріям осіб: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uk-UA" sz="2400" i="1" dirty="0" smtClean="0"/>
              <a:t>І </a:t>
            </a:r>
            <a:r>
              <a:rPr lang="uk-UA" sz="2400" i="1" dirty="0"/>
              <a:t>категорія</a:t>
            </a:r>
            <a:r>
              <a:rPr lang="uk-UA" sz="2400" dirty="0"/>
              <a:t> – діти віком до 18 місяців життя, які народилися від ВІЛ-позитивних матерів;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uk-UA" sz="2400" i="1" dirty="0"/>
              <a:t>ІІ категорія</a:t>
            </a:r>
            <a:r>
              <a:rPr lang="uk-UA" sz="2400" dirty="0"/>
              <a:t> – особи, які мають високий ризик інфікування та отримують </a:t>
            </a:r>
            <a:r>
              <a:rPr lang="uk-UA" sz="2400" dirty="0" err="1"/>
              <a:t>доконтактну</a:t>
            </a:r>
            <a:r>
              <a:rPr lang="uk-UA" sz="2400" dirty="0"/>
              <a:t> (далі – ДКП) або </a:t>
            </a:r>
            <a:r>
              <a:rPr lang="uk-UA" sz="2400" dirty="0" err="1"/>
              <a:t>постконтактну</a:t>
            </a:r>
            <a:r>
              <a:rPr lang="uk-UA" sz="2400" dirty="0"/>
              <a:t> профілактику (далі – ПКП) </a:t>
            </a:r>
            <a:r>
              <a:rPr lang="uk-UA" sz="2400" dirty="0" err="1"/>
              <a:t>антиретровірусними</a:t>
            </a:r>
            <a:r>
              <a:rPr lang="uk-UA" sz="2400" dirty="0"/>
              <a:t> препаратами;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uk-UA" sz="2400" i="1" dirty="0"/>
              <a:t>ІІІ категорія</a:t>
            </a:r>
            <a:r>
              <a:rPr lang="uk-UA" sz="2400" dirty="0"/>
              <a:t> – особи із встановленим діагнозом, які отримують лікування </a:t>
            </a:r>
            <a:r>
              <a:rPr lang="uk-UA" sz="2400" dirty="0" err="1"/>
              <a:t>антиретровірусними</a:t>
            </a:r>
            <a:r>
              <a:rPr lang="uk-UA" sz="2400" dirty="0"/>
              <a:t> препаратами.</a:t>
            </a:r>
          </a:p>
        </p:txBody>
      </p:sp>
    </p:spTree>
    <p:extLst>
      <p:ext uri="{BB962C8B-B14F-4D97-AF65-F5344CB8AC3E}">
        <p14:creationId xmlns:p14="http://schemas.microsoft.com/office/powerpoint/2010/main" val="340700130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65BD4F5-DAF3-2347-A3ED-4FE8AC1C40EF}"/>
              </a:ext>
            </a:extLst>
          </p:cNvPr>
          <p:cNvSpPr/>
          <p:nvPr/>
        </p:nvSpPr>
        <p:spPr>
          <a:xfrm>
            <a:off x="285434" y="245658"/>
            <a:ext cx="11668836" cy="709684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A5D53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/>
              <a:t> </a:t>
            </a:r>
            <a:r>
              <a:rPr lang="ru-RU" sz="2500" b="1" dirty="0">
                <a:solidFill>
                  <a:schemeClr val="bg1"/>
                </a:solidFill>
              </a:rPr>
              <a:t> </a:t>
            </a:r>
            <a:r>
              <a:rPr lang="ru-RU" sz="2500" b="1" dirty="0" smtClean="0">
                <a:solidFill>
                  <a:schemeClr val="bg1"/>
                </a:solidFill>
              </a:rPr>
              <a:t>ВІЛ: АЛГОРИТМ ВЕДЕННЯ ЕМЗ</a:t>
            </a:r>
            <a:endParaRPr lang="ru-RU" sz="25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16A2B3-9326-6343-9266-67C89641D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811" y="337792"/>
            <a:ext cx="423045" cy="511796"/>
          </a:xfrm>
          <a:prstGeom prst="rect">
            <a:avLst/>
          </a:prstGeom>
        </p:spPr>
      </p:pic>
      <p:sp>
        <p:nvSpPr>
          <p:cNvPr id="4" name="Google Shape;586;p41">
            <a:extLst>
              <a:ext uri="{FF2B5EF4-FFF2-40B4-BE49-F238E27FC236}">
                <a16:creationId xmlns:a16="http://schemas.microsoft.com/office/drawing/2014/main" id="{889AB653-D34A-8331-1310-F629D0BA2254}"/>
              </a:ext>
            </a:extLst>
          </p:cNvPr>
          <p:cNvSpPr txBox="1"/>
          <p:nvPr/>
        </p:nvSpPr>
        <p:spPr>
          <a:xfrm>
            <a:off x="10600267" y="6331865"/>
            <a:ext cx="1248507" cy="400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000" dirty="0"/>
              <a:t>nszu.gov.ua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8A7BC6E-6A7A-B37F-4775-654D36DD2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5323" y="337792"/>
            <a:ext cx="529197" cy="52919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WatercolorSpong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5172" y="355156"/>
            <a:ext cx="563880" cy="494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graphicFrame>
        <p:nvGraphicFramePr>
          <p:cNvPr id="2" name="Таблиця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288696"/>
              </p:ext>
            </p:extLst>
          </p:nvPr>
        </p:nvGraphicFramePr>
        <p:xfrm>
          <a:off x="1119051" y="1338938"/>
          <a:ext cx="9481216" cy="47418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5650">
                  <a:extLst>
                    <a:ext uri="{9D8B030D-6E8A-4147-A177-3AD203B41FA5}">
                      <a16:colId xmlns:a16="http://schemas.microsoft.com/office/drawing/2014/main" val="1636129529"/>
                    </a:ext>
                  </a:extLst>
                </a:gridCol>
                <a:gridCol w="7285566">
                  <a:extLst>
                    <a:ext uri="{9D8B030D-6E8A-4147-A177-3AD203B41FA5}">
                      <a16:colId xmlns:a16="http://schemas.microsoft.com/office/drawing/2014/main" val="2917582231"/>
                    </a:ext>
                  </a:extLst>
                </a:gridCol>
              </a:tblGrid>
              <a:tr h="517114"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Крок</a:t>
                      </a:r>
                      <a:r>
                        <a:rPr lang="uk-UA" sz="2400" baseline="0" dirty="0" smtClean="0"/>
                        <a:t> 1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Створення ЕПІЗОДУ 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262256"/>
                  </a:ext>
                </a:extLst>
              </a:tr>
              <a:tr h="51711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400" dirty="0" smtClean="0"/>
                        <a:t>Крок</a:t>
                      </a:r>
                      <a:r>
                        <a:rPr lang="uk-UA" sz="2400" baseline="0" dirty="0" smtClean="0"/>
                        <a:t> 2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Створення ВЗАЄМОДІЇ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396298"/>
                  </a:ext>
                </a:extLst>
              </a:tr>
              <a:tr h="51711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400" dirty="0" smtClean="0"/>
                        <a:t>Крок</a:t>
                      </a:r>
                      <a:r>
                        <a:rPr lang="uk-UA" sz="2400" baseline="0" dirty="0" smtClean="0"/>
                        <a:t> 3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Опис основного та додаткового</a:t>
                      </a:r>
                      <a:r>
                        <a:rPr lang="uk-UA" sz="2400" baseline="0" dirty="0" smtClean="0"/>
                        <a:t> діагнозів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14643"/>
                  </a:ext>
                </a:extLst>
              </a:tr>
              <a:tr h="51711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400" dirty="0" smtClean="0"/>
                        <a:t>Крок</a:t>
                      </a:r>
                      <a:r>
                        <a:rPr lang="uk-UA" sz="2400" baseline="0" dirty="0" smtClean="0"/>
                        <a:t> 4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Створення ПЛАНУ ЛІКУВАННЯ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24047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400" dirty="0" smtClean="0"/>
                        <a:t>Крок</a:t>
                      </a:r>
                      <a:r>
                        <a:rPr lang="uk-UA" sz="2400" baseline="0" dirty="0" smtClean="0"/>
                        <a:t> 5</a:t>
                      </a:r>
                      <a:endParaRPr lang="uk-UA" sz="2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Опис проведених</a:t>
                      </a:r>
                      <a:r>
                        <a:rPr lang="uk-UA" sz="2400" baseline="0" dirty="0" smtClean="0"/>
                        <a:t> інтервенцій (створення ПРОЦЕДУРИ або ДІАГНОСТИЧНОГО ЗВІТУ)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62457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Крок 6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Створення ПРИЗНАЧЕННЯ (наприклад, направлення)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85200"/>
                  </a:ext>
                </a:extLst>
              </a:tr>
              <a:tr h="570245"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Крок 7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Закриття ВЗАЄМОДІЇ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777615"/>
                  </a:ext>
                </a:extLst>
              </a:tr>
              <a:tr h="51711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400" dirty="0" smtClean="0"/>
                        <a:t>Крок 8</a:t>
                      </a:r>
                    </a:p>
                    <a:p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2400" dirty="0" smtClean="0"/>
                        <a:t>Закриття ЕПІЗОДУ</a:t>
                      </a:r>
                      <a:endParaRPr lang="uk-U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382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25314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65BD4F5-DAF3-2347-A3ED-4FE8AC1C40EF}"/>
              </a:ext>
            </a:extLst>
          </p:cNvPr>
          <p:cNvSpPr/>
          <p:nvPr/>
        </p:nvSpPr>
        <p:spPr>
          <a:xfrm>
            <a:off x="285434" y="245658"/>
            <a:ext cx="11668836" cy="709684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A5D53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/>
              <a:t> </a:t>
            </a:r>
            <a:r>
              <a:rPr lang="ru-RU" sz="2500" b="1" dirty="0">
                <a:solidFill>
                  <a:schemeClr val="bg1"/>
                </a:solidFill>
              </a:rPr>
              <a:t> </a:t>
            </a:r>
            <a:r>
              <a:rPr lang="ru-RU" sz="2500" b="1" dirty="0" smtClean="0">
                <a:solidFill>
                  <a:schemeClr val="bg1"/>
                </a:solidFill>
              </a:rPr>
              <a:t>ВІЛ: КЛІНІЧНЕ КОДУВАННЯ</a:t>
            </a:r>
            <a:endParaRPr lang="ru-RU" sz="25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16A2B3-9326-6343-9266-67C89641D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811" y="337792"/>
            <a:ext cx="423045" cy="511796"/>
          </a:xfrm>
          <a:prstGeom prst="rect">
            <a:avLst/>
          </a:prstGeom>
        </p:spPr>
      </p:pic>
      <p:sp>
        <p:nvSpPr>
          <p:cNvPr id="4" name="Google Shape;586;p41">
            <a:extLst>
              <a:ext uri="{FF2B5EF4-FFF2-40B4-BE49-F238E27FC236}">
                <a16:creationId xmlns:a16="http://schemas.microsoft.com/office/drawing/2014/main" id="{889AB653-D34A-8331-1310-F629D0BA2254}"/>
              </a:ext>
            </a:extLst>
          </p:cNvPr>
          <p:cNvSpPr txBox="1"/>
          <p:nvPr/>
        </p:nvSpPr>
        <p:spPr>
          <a:xfrm>
            <a:off x="10600267" y="6331865"/>
            <a:ext cx="1248507" cy="400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000" dirty="0"/>
              <a:t>nszu.gov.ua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8A7BC6E-6A7A-B37F-4775-654D36DD2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5323" y="337792"/>
            <a:ext cx="529197" cy="52919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WatercolorSpong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5172" y="355156"/>
            <a:ext cx="563880" cy="494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9" name="TextBox 8"/>
          <p:cNvSpPr txBox="1"/>
          <p:nvPr/>
        </p:nvSpPr>
        <p:spPr>
          <a:xfrm>
            <a:off x="285435" y="1064840"/>
            <a:ext cx="11275194" cy="56323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uk-UA" b="1" dirty="0"/>
              <a:t>І категорія – діти віком до 18 місяців, які народилися від ВІЛ-позитивних </a:t>
            </a:r>
            <a:r>
              <a:rPr lang="uk-UA" b="1" dirty="0" smtClean="0"/>
              <a:t>матерів</a:t>
            </a:r>
          </a:p>
          <a:p>
            <a:endParaRPr lang="uk-UA" b="1" dirty="0"/>
          </a:p>
          <a:p>
            <a:r>
              <a:rPr lang="uk-UA" i="1" dirty="0"/>
              <a:t>Основний діагноз. </a:t>
            </a:r>
            <a:r>
              <a:rPr lang="uk-UA" dirty="0"/>
              <a:t>Лікарі спеціалізованої медичної допомоги</a:t>
            </a:r>
            <a:r>
              <a:rPr lang="uk-UA" i="1" dirty="0"/>
              <a:t> </a:t>
            </a:r>
            <a:r>
              <a:rPr lang="uk-UA" dirty="0"/>
              <a:t>вказують діагноз Z20.6 Контакт з хворим або можливість зараження вірусом імунодефіциту людини [ВІЛ</a:t>
            </a:r>
            <a:r>
              <a:rPr lang="uk-UA" dirty="0" smtClean="0"/>
              <a:t>]</a:t>
            </a:r>
          </a:p>
          <a:p>
            <a:r>
              <a:rPr lang="uk-UA" i="1" dirty="0"/>
              <a:t>Додатковий діагноз </a:t>
            </a:r>
            <a:r>
              <a:rPr lang="uk-UA" dirty="0"/>
              <a:t>– Z03.71 </a:t>
            </a:r>
            <a:r>
              <a:rPr lang="uk-UA" dirty="0" smtClean="0"/>
              <a:t>«Спостереження </a:t>
            </a:r>
            <a:r>
              <a:rPr lang="uk-UA" dirty="0"/>
              <a:t>за новонародженим за підозри на інфекційне захворювання (до 28 доби життя</a:t>
            </a:r>
            <a:r>
              <a:rPr lang="uk-UA" dirty="0" smtClean="0"/>
              <a:t>)» </a:t>
            </a:r>
            <a:r>
              <a:rPr lang="uk-UA" dirty="0"/>
              <a:t>або Z00.1 </a:t>
            </a:r>
            <a:r>
              <a:rPr lang="uk-UA" dirty="0" smtClean="0"/>
              <a:t>«Чергове </a:t>
            </a:r>
            <a:r>
              <a:rPr lang="uk-UA" dirty="0"/>
              <a:t>обстеження стану здоров'я дитини (після 28 доби </a:t>
            </a:r>
            <a:r>
              <a:rPr lang="uk-UA" dirty="0" smtClean="0"/>
              <a:t>життя)».</a:t>
            </a:r>
            <a:endParaRPr lang="uk-UA" dirty="0"/>
          </a:p>
          <a:p>
            <a:r>
              <a:rPr lang="uk-UA" b="1" dirty="0" smtClean="0"/>
              <a:t>Лікарі </a:t>
            </a:r>
            <a:r>
              <a:rPr lang="uk-UA" b="1" dirty="0"/>
              <a:t>ПМД</a:t>
            </a:r>
            <a:r>
              <a:rPr lang="uk-UA" dirty="0"/>
              <a:t> в діагнозі вказують код А23 за класифікатором </a:t>
            </a:r>
            <a:r>
              <a:rPr lang="uk-UA" dirty="0" smtClean="0"/>
              <a:t>ICPC-2</a:t>
            </a:r>
            <a:r>
              <a:rPr lang="uk-UA" dirty="0"/>
              <a:t>, при цьому в підставах додатково вказують вище вказані коди </a:t>
            </a:r>
            <a:r>
              <a:rPr lang="uk-UA" dirty="0" smtClean="0"/>
              <a:t>НК 025:2021.</a:t>
            </a:r>
          </a:p>
          <a:p>
            <a:endParaRPr lang="uk-UA" i="1" dirty="0" smtClean="0"/>
          </a:p>
          <a:p>
            <a:r>
              <a:rPr lang="uk-UA" i="1" dirty="0" smtClean="0"/>
              <a:t>Інтервенції </a:t>
            </a:r>
            <a:r>
              <a:rPr lang="uk-UA" i="1" dirty="0"/>
              <a:t>(</a:t>
            </a:r>
            <a:r>
              <a:rPr lang="uk-UA" dirty="0"/>
              <a:t>Кодуються за НК 026:2021. </a:t>
            </a:r>
            <a:r>
              <a:rPr lang="uk-UA" b="1" dirty="0"/>
              <a:t>Лікарі ПМД</a:t>
            </a:r>
            <a:r>
              <a:rPr lang="uk-UA" dirty="0"/>
              <a:t> можуть кодувати за ICPC-2 та НК 026:2021</a:t>
            </a:r>
            <a:r>
              <a:rPr lang="uk-UA" dirty="0" smtClean="0"/>
              <a:t>):</a:t>
            </a:r>
            <a:endParaRPr lang="uk-UA" dirty="0"/>
          </a:p>
          <a:p>
            <a:r>
              <a:rPr lang="uk-UA" dirty="0" smtClean="0"/>
              <a:t>Обстеження </a:t>
            </a:r>
            <a:r>
              <a:rPr lang="uk-UA" dirty="0"/>
              <a:t>на ВІЛ кодується такими кодами: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dirty="0"/>
              <a:t>одним кодом B33006 «Аналіз; ВІЛ» – при застосуванні швидких (</a:t>
            </a:r>
            <a:r>
              <a:rPr lang="uk-UA" dirty="0" err="1"/>
              <a:t>скринінгових</a:t>
            </a:r>
            <a:r>
              <a:rPr lang="uk-UA" dirty="0"/>
              <a:t>) методів;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dirty="0"/>
              <a:t>двома кодами B33006 «Аналіз; ВІЛ» та </a:t>
            </a:r>
            <a:r>
              <a:rPr lang="uk-UA" dirty="0" smtClean="0"/>
              <a:t>A33005 </a:t>
            </a:r>
            <a:r>
              <a:rPr lang="uk-UA" dirty="0"/>
              <a:t>« </a:t>
            </a:r>
            <a:r>
              <a:rPr lang="uk-UA" dirty="0" smtClean="0"/>
              <a:t>Аналіз</a:t>
            </a:r>
            <a:r>
              <a:rPr lang="uk-UA" dirty="0"/>
              <a:t>; імунологія» </a:t>
            </a:r>
            <a:r>
              <a:rPr lang="uk-UA" dirty="0" smtClean="0"/>
              <a:t>- при </a:t>
            </a:r>
            <a:r>
              <a:rPr lang="uk-UA" dirty="0"/>
              <a:t>застосуванні імунологічних методів;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dirty="0"/>
              <a:t>двома кодами B33006 «Аналіз; ВІЛ» та A38004 «Аналіз; ДНК» </a:t>
            </a:r>
            <a:r>
              <a:rPr lang="uk-UA" dirty="0" smtClean="0"/>
              <a:t>- при </a:t>
            </a:r>
            <a:r>
              <a:rPr lang="uk-UA" dirty="0"/>
              <a:t>застосуванні </a:t>
            </a:r>
            <a:r>
              <a:rPr lang="uk-UA" dirty="0" smtClean="0"/>
              <a:t>ПЛР</a:t>
            </a:r>
            <a:endParaRPr lang="uk-UA" dirty="0"/>
          </a:p>
          <a:p>
            <a:r>
              <a:rPr lang="uk-UA" dirty="0"/>
              <a:t>Обстеження дитини під час її огляду кодується такими кодами: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dirty="0"/>
              <a:t>92001-00 </a:t>
            </a:r>
            <a:r>
              <a:rPr lang="uk-UA" dirty="0" smtClean="0"/>
              <a:t>«Інші </a:t>
            </a:r>
            <a:r>
              <a:rPr lang="uk-UA" dirty="0"/>
              <a:t>фізіологічні </a:t>
            </a:r>
            <a:r>
              <a:rPr lang="uk-UA" dirty="0" smtClean="0"/>
              <a:t>обстеження»;</a:t>
            </a:r>
            <a:endParaRPr lang="uk-UA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dirty="0"/>
              <a:t>96026-00 </a:t>
            </a:r>
            <a:r>
              <a:rPr lang="uk-UA" dirty="0" smtClean="0"/>
              <a:t>«Оцінка </a:t>
            </a:r>
            <a:r>
              <a:rPr lang="uk-UA" dirty="0"/>
              <a:t>режиму </a:t>
            </a:r>
            <a:r>
              <a:rPr lang="uk-UA" dirty="0" smtClean="0"/>
              <a:t>харчування/раціону».</a:t>
            </a:r>
            <a:endParaRPr lang="uk-UA" dirty="0"/>
          </a:p>
          <a:p>
            <a:r>
              <a:rPr lang="uk-UA" dirty="0"/>
              <a:t>Видача </a:t>
            </a:r>
            <a:r>
              <a:rPr lang="uk-UA" dirty="0" err="1"/>
              <a:t>антиретровірусних</a:t>
            </a:r>
            <a:r>
              <a:rPr lang="uk-UA" dirty="0"/>
              <a:t> препаратів кодується такими кодами: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dirty="0"/>
              <a:t>96242-01 </a:t>
            </a:r>
            <a:r>
              <a:rPr lang="uk-UA" dirty="0" smtClean="0"/>
              <a:t>«</a:t>
            </a:r>
            <a:r>
              <a:rPr lang="uk-UA" dirty="0"/>
              <a:t>Видача </a:t>
            </a:r>
            <a:r>
              <a:rPr lang="uk-UA" dirty="0" err="1"/>
              <a:t>антиретровірусних</a:t>
            </a:r>
            <a:r>
              <a:rPr lang="uk-UA" dirty="0"/>
              <a:t> препаратів»;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dirty="0"/>
              <a:t>96027-00 </a:t>
            </a:r>
            <a:r>
              <a:rPr lang="uk-UA" dirty="0" smtClean="0"/>
              <a:t>«Спостереження </a:t>
            </a:r>
            <a:r>
              <a:rPr lang="uk-UA" dirty="0"/>
              <a:t>за прийомом призначених/самостійно обраних </a:t>
            </a:r>
            <a:r>
              <a:rPr lang="uk-UA" dirty="0" smtClean="0"/>
              <a:t>ліків».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3078380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65BD4F5-DAF3-2347-A3ED-4FE8AC1C40EF}"/>
              </a:ext>
            </a:extLst>
          </p:cNvPr>
          <p:cNvSpPr/>
          <p:nvPr/>
        </p:nvSpPr>
        <p:spPr>
          <a:xfrm>
            <a:off x="285434" y="245658"/>
            <a:ext cx="11668836" cy="709684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A5D53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/>
              <a:t> </a:t>
            </a:r>
            <a:r>
              <a:rPr lang="ru-RU" sz="2500" b="1" dirty="0">
                <a:solidFill>
                  <a:schemeClr val="bg1"/>
                </a:solidFill>
              </a:rPr>
              <a:t> </a:t>
            </a:r>
            <a:r>
              <a:rPr lang="ru-RU" sz="2500" b="1" dirty="0" smtClean="0">
                <a:solidFill>
                  <a:schemeClr val="bg1"/>
                </a:solidFill>
              </a:rPr>
              <a:t>ВІЛ: КЛІНІЧНЕ КОДУВАННЯ</a:t>
            </a:r>
            <a:endParaRPr lang="ru-RU" sz="25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16A2B3-9326-6343-9266-67C89641D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811" y="337792"/>
            <a:ext cx="423045" cy="511796"/>
          </a:xfrm>
          <a:prstGeom prst="rect">
            <a:avLst/>
          </a:prstGeom>
        </p:spPr>
      </p:pic>
      <p:sp>
        <p:nvSpPr>
          <p:cNvPr id="4" name="Google Shape;586;p41">
            <a:extLst>
              <a:ext uri="{FF2B5EF4-FFF2-40B4-BE49-F238E27FC236}">
                <a16:creationId xmlns:a16="http://schemas.microsoft.com/office/drawing/2014/main" id="{889AB653-D34A-8331-1310-F629D0BA2254}"/>
              </a:ext>
            </a:extLst>
          </p:cNvPr>
          <p:cNvSpPr txBox="1"/>
          <p:nvPr/>
        </p:nvSpPr>
        <p:spPr>
          <a:xfrm>
            <a:off x="10600267" y="6331865"/>
            <a:ext cx="1248507" cy="400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000" dirty="0"/>
              <a:t>nszu.gov.ua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8A7BC6E-6A7A-B37F-4775-654D36DD2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5323" y="337792"/>
            <a:ext cx="529197" cy="52919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WatercolorSpong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5172" y="355156"/>
            <a:ext cx="563880" cy="494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9" name="TextBox 8"/>
          <p:cNvSpPr txBox="1"/>
          <p:nvPr/>
        </p:nvSpPr>
        <p:spPr>
          <a:xfrm>
            <a:off x="285435" y="1064840"/>
            <a:ext cx="11275194" cy="5509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uk-UA" sz="1600" b="1" dirty="0"/>
              <a:t>ІІ категорія – особи, які отримують </a:t>
            </a:r>
            <a:r>
              <a:rPr lang="uk-UA" sz="1600" b="1" dirty="0" err="1"/>
              <a:t>доконтактну</a:t>
            </a:r>
            <a:r>
              <a:rPr lang="uk-UA" sz="1600" b="1" dirty="0"/>
              <a:t> чи </a:t>
            </a:r>
            <a:r>
              <a:rPr lang="uk-UA" sz="1600" b="1" dirty="0" err="1"/>
              <a:t>постконтактну</a:t>
            </a:r>
            <a:r>
              <a:rPr lang="uk-UA" sz="1600" b="1" dirty="0"/>
              <a:t> </a:t>
            </a:r>
            <a:r>
              <a:rPr lang="uk-UA" sz="1600" b="1" dirty="0" smtClean="0"/>
              <a:t>профілактику</a:t>
            </a:r>
          </a:p>
          <a:p>
            <a:endParaRPr lang="uk-UA" sz="1600" b="1" dirty="0"/>
          </a:p>
          <a:p>
            <a:r>
              <a:rPr lang="uk-UA" sz="1600" i="1" dirty="0"/>
              <a:t>Основний діагноз. </a:t>
            </a:r>
            <a:r>
              <a:rPr lang="uk-UA" sz="1600" dirty="0"/>
              <a:t>Лікарі спеціалізованої медичної допомоги</a:t>
            </a:r>
            <a:r>
              <a:rPr lang="uk-UA" sz="1600" i="1" dirty="0"/>
              <a:t> </a:t>
            </a:r>
            <a:r>
              <a:rPr lang="uk-UA" sz="1600" dirty="0"/>
              <a:t>вказують діагноз Z20.6 </a:t>
            </a:r>
            <a:r>
              <a:rPr lang="uk-UA" sz="1600" dirty="0" smtClean="0"/>
              <a:t>«Контакт </a:t>
            </a:r>
            <a:r>
              <a:rPr lang="uk-UA" sz="1600" dirty="0"/>
              <a:t>з хворим або можливість зараження вірусом імунодефіциту людини [ВІЛ</a:t>
            </a:r>
            <a:r>
              <a:rPr lang="uk-UA" sz="1600" dirty="0" smtClean="0"/>
              <a:t>]»</a:t>
            </a:r>
          </a:p>
          <a:p>
            <a:r>
              <a:rPr lang="uk-UA" sz="1600" i="1" dirty="0"/>
              <a:t>Додатковий діагноз </a:t>
            </a:r>
            <a:r>
              <a:rPr lang="uk-UA" sz="1600" dirty="0"/>
              <a:t>– вказуються діагнози:</a:t>
            </a:r>
          </a:p>
          <a:p>
            <a:pPr lvl="1" fontAlgn="base"/>
            <a:r>
              <a:rPr lang="uk-UA" sz="1600" dirty="0" smtClean="0"/>
              <a:t>- які </a:t>
            </a:r>
            <a:r>
              <a:rPr lang="uk-UA" sz="1600" dirty="0"/>
              <a:t>пов’язані з ВІЛ, наприклад</a:t>
            </a:r>
            <a:r>
              <a:rPr lang="uk-UA" sz="1600" i="1" dirty="0"/>
              <a:t>:</a:t>
            </a:r>
            <a:endParaRPr lang="uk-UA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uk-UA" sz="1600" dirty="0"/>
              <a:t>Z11.4 </a:t>
            </a:r>
            <a:r>
              <a:rPr lang="uk-UA" sz="1600" dirty="0" smtClean="0"/>
              <a:t>«Спеціальне </a:t>
            </a:r>
            <a:r>
              <a:rPr lang="uk-UA" sz="1600" dirty="0" err="1"/>
              <a:t>скринінгове</a:t>
            </a:r>
            <a:r>
              <a:rPr lang="uk-UA" sz="1600" dirty="0"/>
              <a:t> обстеження з метою виявлення інфікування </a:t>
            </a:r>
            <a:r>
              <a:rPr lang="uk-UA" sz="1600" dirty="0" smtClean="0"/>
              <a:t>вірусом»; </a:t>
            </a:r>
            <a:endParaRPr lang="uk-UA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uk-UA" sz="1600" dirty="0"/>
              <a:t>Z71.7 </a:t>
            </a:r>
            <a:r>
              <a:rPr lang="uk-UA" sz="1600" dirty="0" smtClean="0"/>
              <a:t>«Консультації </a:t>
            </a:r>
            <a:r>
              <a:rPr lang="uk-UA" sz="1600" dirty="0"/>
              <a:t>з питань, пов'язаних з вірусом імунодефіциту людини [ВІЛ</a:t>
            </a:r>
            <a:r>
              <a:rPr lang="uk-UA" sz="1600" dirty="0" smtClean="0"/>
              <a:t>]»;</a:t>
            </a:r>
            <a:endParaRPr lang="uk-UA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uk-UA" sz="1600" dirty="0"/>
              <a:t>Z83.0 </a:t>
            </a:r>
            <a:r>
              <a:rPr lang="uk-UA" sz="1600" dirty="0" smtClean="0"/>
              <a:t>«У </a:t>
            </a:r>
            <a:r>
              <a:rPr lang="uk-UA" sz="1600" dirty="0"/>
              <a:t>сімейному анамнезі хвороба, викликана вірусом імунодефіциту людини [ВІЛ</a:t>
            </a:r>
            <a:r>
              <a:rPr lang="uk-UA" sz="1600" dirty="0" smtClean="0"/>
              <a:t>]»; </a:t>
            </a:r>
            <a:endParaRPr lang="uk-UA" sz="1600" dirty="0"/>
          </a:p>
          <a:p>
            <a:r>
              <a:rPr lang="uk-UA" sz="1600" dirty="0" smtClean="0"/>
              <a:t>- які </a:t>
            </a:r>
            <a:r>
              <a:rPr lang="uk-UA" sz="1600" dirty="0"/>
              <a:t>не пов’язані з </a:t>
            </a:r>
            <a:r>
              <a:rPr lang="uk-UA" sz="1600" dirty="0" smtClean="0"/>
              <a:t>ВІЛ, тобто вказуються інші </a:t>
            </a:r>
            <a:r>
              <a:rPr lang="uk-UA" sz="1600" dirty="0"/>
              <a:t>захворювання, які є в </a:t>
            </a:r>
            <a:r>
              <a:rPr lang="uk-UA" sz="1600" dirty="0" smtClean="0"/>
              <a:t>особи.</a:t>
            </a:r>
          </a:p>
          <a:p>
            <a:r>
              <a:rPr lang="uk-UA" sz="1600" b="1" dirty="0" smtClean="0"/>
              <a:t>Лікарі </a:t>
            </a:r>
            <a:r>
              <a:rPr lang="uk-UA" sz="1600" b="1" dirty="0"/>
              <a:t>ПМД</a:t>
            </a:r>
            <a:r>
              <a:rPr lang="uk-UA" sz="1600" dirty="0"/>
              <a:t> в діагнозі вказують код А23 за класифікатором </a:t>
            </a:r>
            <a:r>
              <a:rPr lang="uk-UA" sz="1600" dirty="0" smtClean="0"/>
              <a:t>ICPC-2</a:t>
            </a:r>
            <a:r>
              <a:rPr lang="uk-UA" sz="1600" dirty="0"/>
              <a:t>, при цьому в підставах додатково вказують вище вказані коди </a:t>
            </a:r>
            <a:r>
              <a:rPr lang="uk-UA" sz="1600" dirty="0" smtClean="0"/>
              <a:t>НК 025:2021.</a:t>
            </a:r>
          </a:p>
          <a:p>
            <a:endParaRPr lang="uk-UA" sz="1600" i="1" dirty="0" smtClean="0"/>
          </a:p>
          <a:p>
            <a:r>
              <a:rPr lang="uk-UA" sz="1600" i="1" dirty="0" smtClean="0"/>
              <a:t>Інтервенції (</a:t>
            </a:r>
            <a:r>
              <a:rPr lang="uk-UA" sz="1600" dirty="0" smtClean="0"/>
              <a:t>Кодуються за НК 026:2021. </a:t>
            </a:r>
            <a:r>
              <a:rPr lang="uk-UA" sz="1600" b="1" dirty="0"/>
              <a:t>Лікарі ПМД</a:t>
            </a:r>
            <a:r>
              <a:rPr lang="uk-UA" sz="1600" dirty="0"/>
              <a:t> можуть кодувати за ICPC-2 та НК 026:2021</a:t>
            </a:r>
            <a:r>
              <a:rPr lang="uk-UA" sz="1600" dirty="0" smtClean="0"/>
              <a:t>):</a:t>
            </a:r>
          </a:p>
          <a:p>
            <a:r>
              <a:rPr lang="uk-UA" sz="1600" dirty="0" smtClean="0"/>
              <a:t>Обстеження </a:t>
            </a:r>
            <a:r>
              <a:rPr lang="uk-UA" sz="1600" dirty="0"/>
              <a:t>на ВІЛ кодується такими кодами: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00" dirty="0"/>
              <a:t>одним кодом B33006 «Аналіз; ВІЛ» – при застосуванні швидких (</a:t>
            </a:r>
            <a:r>
              <a:rPr lang="uk-UA" sz="1600" dirty="0" err="1"/>
              <a:t>скринінгових</a:t>
            </a:r>
            <a:r>
              <a:rPr lang="uk-UA" sz="1600" dirty="0"/>
              <a:t>) методів;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00" dirty="0"/>
              <a:t>двома кодами B33006 «Аналіз; ВІЛ» та </a:t>
            </a:r>
            <a:r>
              <a:rPr lang="uk-UA" sz="1600" dirty="0" smtClean="0"/>
              <a:t>A33005 </a:t>
            </a:r>
            <a:r>
              <a:rPr lang="uk-UA" sz="1600" dirty="0"/>
              <a:t>« </a:t>
            </a:r>
            <a:r>
              <a:rPr lang="uk-UA" sz="1600" dirty="0" smtClean="0"/>
              <a:t>Аналіз</a:t>
            </a:r>
            <a:r>
              <a:rPr lang="uk-UA" sz="1600" dirty="0"/>
              <a:t>; імунологія» </a:t>
            </a:r>
            <a:r>
              <a:rPr lang="uk-UA" sz="1600" dirty="0" smtClean="0"/>
              <a:t>- при </a:t>
            </a:r>
            <a:r>
              <a:rPr lang="uk-UA" sz="1600" dirty="0"/>
              <a:t>застосуванні імунологічних методів;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00" dirty="0"/>
              <a:t>двома кодами B33006 «Аналіз; ВІЛ» та A38004 «Аналіз; ДНК» </a:t>
            </a:r>
            <a:r>
              <a:rPr lang="uk-UA" sz="1600" dirty="0" smtClean="0"/>
              <a:t>- при </a:t>
            </a:r>
            <a:r>
              <a:rPr lang="uk-UA" sz="1600" dirty="0"/>
              <a:t>застосуванні </a:t>
            </a:r>
            <a:r>
              <a:rPr lang="uk-UA" sz="1600" dirty="0" smtClean="0"/>
              <a:t>ПЛР.</a:t>
            </a:r>
            <a:endParaRPr lang="uk-UA" sz="1600" dirty="0"/>
          </a:p>
          <a:p>
            <a:r>
              <a:rPr lang="uk-UA" sz="1600" dirty="0" smtClean="0"/>
              <a:t>Видача </a:t>
            </a:r>
            <a:r>
              <a:rPr lang="uk-UA" sz="1600" dirty="0" err="1"/>
              <a:t>антиретровірусних</a:t>
            </a:r>
            <a:r>
              <a:rPr lang="uk-UA" sz="1600" dirty="0"/>
              <a:t> препаратів кодується такими кодами: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96242-02 «</a:t>
            </a:r>
            <a:r>
              <a:rPr lang="ru-RU" sz="1600" dirty="0" err="1"/>
              <a:t>Видача</a:t>
            </a:r>
            <a:r>
              <a:rPr lang="ru-RU" sz="1600" dirty="0"/>
              <a:t> </a:t>
            </a:r>
            <a:r>
              <a:rPr lang="ru-RU" sz="1600" dirty="0" err="1"/>
              <a:t>антиретровірусних</a:t>
            </a:r>
            <a:r>
              <a:rPr lang="ru-RU" sz="1600" dirty="0"/>
              <a:t> </a:t>
            </a:r>
            <a:r>
              <a:rPr lang="ru-RU" sz="1600" dirty="0" err="1"/>
              <a:t>препаратів</a:t>
            </a:r>
            <a:r>
              <a:rPr lang="ru-RU" sz="1600" dirty="0"/>
              <a:t> – </a:t>
            </a:r>
            <a:r>
              <a:rPr lang="ru-RU" sz="1600" dirty="0" err="1"/>
              <a:t>доконтактна</a:t>
            </a:r>
            <a:r>
              <a:rPr lang="ru-RU" sz="1600" dirty="0"/>
              <a:t> </a:t>
            </a:r>
            <a:r>
              <a:rPr lang="ru-RU" sz="1600" dirty="0" err="1"/>
              <a:t>профілактика</a:t>
            </a:r>
            <a:r>
              <a:rPr lang="ru-RU" sz="1600" dirty="0"/>
              <a:t>»;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96242-03 «</a:t>
            </a:r>
            <a:r>
              <a:rPr lang="ru-RU" sz="1600" dirty="0" err="1"/>
              <a:t>Видача</a:t>
            </a:r>
            <a:r>
              <a:rPr lang="ru-RU" sz="1600" dirty="0"/>
              <a:t> </a:t>
            </a:r>
            <a:r>
              <a:rPr lang="ru-RU" sz="1600" dirty="0" err="1"/>
              <a:t>антиретровірусних</a:t>
            </a:r>
            <a:r>
              <a:rPr lang="ru-RU" sz="1600" dirty="0"/>
              <a:t> </a:t>
            </a:r>
            <a:r>
              <a:rPr lang="ru-RU" sz="1600" dirty="0" err="1"/>
              <a:t>препаратів</a:t>
            </a:r>
            <a:r>
              <a:rPr lang="ru-RU" sz="1600" dirty="0"/>
              <a:t> – </a:t>
            </a:r>
            <a:r>
              <a:rPr lang="ru-RU" sz="1600" dirty="0" err="1"/>
              <a:t>постконтактна</a:t>
            </a:r>
            <a:r>
              <a:rPr lang="ru-RU" sz="1600" dirty="0"/>
              <a:t> </a:t>
            </a:r>
            <a:r>
              <a:rPr lang="ru-RU" sz="1600" dirty="0" err="1"/>
              <a:t>профілактика</a:t>
            </a:r>
            <a:r>
              <a:rPr lang="ru-RU" sz="1600" dirty="0" smtClean="0"/>
              <a:t>»;</a:t>
            </a:r>
            <a:endParaRPr lang="ru-RU" sz="16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96027-00 «</a:t>
            </a:r>
            <a:r>
              <a:rPr lang="ru-RU" sz="1600" dirty="0" err="1" smtClean="0"/>
              <a:t>Спостереження</a:t>
            </a:r>
            <a:r>
              <a:rPr lang="ru-RU" sz="1600" dirty="0" smtClean="0"/>
              <a:t> </a:t>
            </a:r>
            <a:r>
              <a:rPr lang="ru-RU" sz="1600" dirty="0"/>
              <a:t>за </a:t>
            </a:r>
            <a:r>
              <a:rPr lang="ru-RU" sz="1600" dirty="0" err="1"/>
              <a:t>прийомом</a:t>
            </a:r>
            <a:r>
              <a:rPr lang="ru-RU" sz="1600" dirty="0"/>
              <a:t> </a:t>
            </a:r>
            <a:r>
              <a:rPr lang="ru-RU" sz="1600" dirty="0" err="1"/>
              <a:t>призначених</a:t>
            </a:r>
            <a:r>
              <a:rPr lang="ru-RU" sz="1600" dirty="0"/>
              <a:t>/</a:t>
            </a:r>
            <a:r>
              <a:rPr lang="ru-RU" sz="1600" dirty="0" err="1"/>
              <a:t>самостійно</a:t>
            </a:r>
            <a:r>
              <a:rPr lang="ru-RU" sz="1600" dirty="0"/>
              <a:t> </a:t>
            </a:r>
            <a:r>
              <a:rPr lang="ru-RU" sz="1600" dirty="0" err="1"/>
              <a:t>обраних</a:t>
            </a:r>
            <a:r>
              <a:rPr lang="ru-RU" sz="1600" dirty="0"/>
              <a:t> </a:t>
            </a:r>
            <a:r>
              <a:rPr lang="ru-RU" sz="1600" dirty="0" err="1" smtClean="0"/>
              <a:t>ліків</a:t>
            </a:r>
            <a:r>
              <a:rPr lang="ru-RU" sz="1600" dirty="0" smtClean="0"/>
              <a:t>».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67218745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65BD4F5-DAF3-2347-A3ED-4FE8AC1C40EF}"/>
              </a:ext>
            </a:extLst>
          </p:cNvPr>
          <p:cNvSpPr/>
          <p:nvPr/>
        </p:nvSpPr>
        <p:spPr>
          <a:xfrm>
            <a:off x="285434" y="245658"/>
            <a:ext cx="11668836" cy="709684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A5D53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/>
              <a:t> </a:t>
            </a:r>
            <a:r>
              <a:rPr lang="ru-RU" sz="2500" b="1" dirty="0">
                <a:solidFill>
                  <a:schemeClr val="bg1"/>
                </a:solidFill>
              </a:rPr>
              <a:t> </a:t>
            </a:r>
            <a:r>
              <a:rPr lang="ru-RU" sz="2500" b="1" dirty="0" smtClean="0">
                <a:solidFill>
                  <a:schemeClr val="bg1"/>
                </a:solidFill>
              </a:rPr>
              <a:t>ВІЛ: КЛІНІЧНЕ КОДУВАННЯ</a:t>
            </a:r>
            <a:endParaRPr lang="ru-RU" sz="25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16A2B3-9326-6343-9266-67C89641D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811" y="337792"/>
            <a:ext cx="423045" cy="511796"/>
          </a:xfrm>
          <a:prstGeom prst="rect">
            <a:avLst/>
          </a:prstGeom>
        </p:spPr>
      </p:pic>
      <p:sp>
        <p:nvSpPr>
          <p:cNvPr id="4" name="Google Shape;586;p41">
            <a:extLst>
              <a:ext uri="{FF2B5EF4-FFF2-40B4-BE49-F238E27FC236}">
                <a16:creationId xmlns:a16="http://schemas.microsoft.com/office/drawing/2014/main" id="{889AB653-D34A-8331-1310-F629D0BA2254}"/>
              </a:ext>
            </a:extLst>
          </p:cNvPr>
          <p:cNvSpPr txBox="1"/>
          <p:nvPr/>
        </p:nvSpPr>
        <p:spPr>
          <a:xfrm>
            <a:off x="10600267" y="6331865"/>
            <a:ext cx="1248507" cy="400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000" dirty="0"/>
              <a:t>nszu.gov.ua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8A7BC6E-6A7A-B37F-4775-654D36DD2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5323" y="337792"/>
            <a:ext cx="529197" cy="52919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WatercolorSpong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5172" y="355156"/>
            <a:ext cx="563880" cy="494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9" name="TextBox 8"/>
          <p:cNvSpPr txBox="1"/>
          <p:nvPr/>
        </p:nvSpPr>
        <p:spPr>
          <a:xfrm>
            <a:off x="285434" y="1064840"/>
            <a:ext cx="11005457" cy="56784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uk-UA" sz="1650" b="1" dirty="0"/>
              <a:t>ІІІ категорія – особи із встановленим діагнозом, які отримують лікування </a:t>
            </a:r>
            <a:r>
              <a:rPr lang="uk-UA" sz="1650" b="1" dirty="0" err="1"/>
              <a:t>антиретровірусними</a:t>
            </a:r>
            <a:r>
              <a:rPr lang="uk-UA" sz="1650" b="1" dirty="0"/>
              <a:t> </a:t>
            </a:r>
            <a:r>
              <a:rPr lang="uk-UA" sz="1650" b="1" dirty="0" smtClean="0"/>
              <a:t>препаратами</a:t>
            </a:r>
          </a:p>
          <a:p>
            <a:endParaRPr lang="uk-UA" sz="1650" b="1" dirty="0"/>
          </a:p>
          <a:p>
            <a:pPr lvl="1"/>
            <a:r>
              <a:rPr lang="uk-UA" sz="1650" i="1" dirty="0"/>
              <a:t>Основний діагноз. </a:t>
            </a:r>
            <a:r>
              <a:rPr lang="uk-UA" sz="1650" dirty="0"/>
              <a:t>Лікарі спеціалізованої медичної допомоги</a:t>
            </a:r>
            <a:r>
              <a:rPr lang="uk-UA" sz="1650" i="1" dirty="0"/>
              <a:t> </a:t>
            </a:r>
            <a:r>
              <a:rPr lang="uk-UA" sz="1650" dirty="0"/>
              <a:t>вказують </a:t>
            </a:r>
            <a:r>
              <a:rPr lang="uk-UA" sz="1650" dirty="0" smtClean="0"/>
              <a:t>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50" dirty="0" smtClean="0"/>
              <a:t>B20</a:t>
            </a:r>
            <a:r>
              <a:rPr lang="uk-UA" sz="1650" dirty="0"/>
              <a:t>	</a:t>
            </a:r>
            <a:r>
              <a:rPr lang="uk-UA" sz="1650" dirty="0" smtClean="0"/>
              <a:t>«Хвороба</a:t>
            </a:r>
            <a:r>
              <a:rPr lang="uk-UA" sz="1650" dirty="0"/>
              <a:t>, зумовлена вірусом імунодефіциту людини (ВІЛ), яка проявляється інфекційними та паразитарними </a:t>
            </a:r>
            <a:r>
              <a:rPr lang="uk-UA" sz="1650" dirty="0" smtClean="0"/>
              <a:t>хворобами» </a:t>
            </a:r>
            <a:r>
              <a:rPr lang="uk-UA" sz="1650" i="1" dirty="0"/>
              <a:t>або</a:t>
            </a:r>
            <a:endParaRPr lang="uk-UA" sz="165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50" dirty="0"/>
              <a:t>B21	</a:t>
            </a:r>
            <a:r>
              <a:rPr lang="uk-UA" sz="1650" dirty="0" smtClean="0"/>
              <a:t>«Хвороба</a:t>
            </a:r>
            <a:r>
              <a:rPr lang="uk-UA" sz="1650" dirty="0"/>
              <a:t>, зумовлена вірусом імунодефіциту людини (ВІЛ), яка супроводжується злоякісними </a:t>
            </a:r>
            <a:r>
              <a:rPr lang="uk-UA" sz="1650" dirty="0" smtClean="0"/>
              <a:t>пухлинами» </a:t>
            </a:r>
            <a:r>
              <a:rPr lang="uk-UA" sz="1650" i="1" dirty="0"/>
              <a:t>або</a:t>
            </a:r>
            <a:endParaRPr lang="uk-UA" sz="165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50" dirty="0"/>
              <a:t>B22	</a:t>
            </a:r>
            <a:r>
              <a:rPr lang="uk-UA" sz="1650" dirty="0" smtClean="0"/>
              <a:t>«Хвороба</a:t>
            </a:r>
            <a:r>
              <a:rPr lang="uk-UA" sz="1650" dirty="0"/>
              <a:t>, зумовлена вірусом імунодефіциту людини (ВІЛ), з проявами інших уточнених </a:t>
            </a:r>
            <a:r>
              <a:rPr lang="uk-UA" sz="1650" dirty="0" smtClean="0"/>
              <a:t>хвороб» </a:t>
            </a:r>
            <a:r>
              <a:rPr lang="uk-UA" sz="1650" i="1" dirty="0"/>
              <a:t>або</a:t>
            </a:r>
            <a:endParaRPr lang="uk-UA" sz="165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50" dirty="0"/>
              <a:t>B23.8	</a:t>
            </a:r>
            <a:r>
              <a:rPr lang="uk-UA" sz="1650" dirty="0" smtClean="0"/>
              <a:t>«Хвороба</a:t>
            </a:r>
            <a:r>
              <a:rPr lang="uk-UA" sz="1650" dirty="0"/>
              <a:t>, зумовлена вірусом імунодефіциту людини (ВІЛ), з проявами інших уточнених </a:t>
            </a:r>
            <a:r>
              <a:rPr lang="uk-UA" sz="1650" dirty="0" smtClean="0"/>
              <a:t>станів» </a:t>
            </a:r>
            <a:r>
              <a:rPr lang="uk-UA" sz="1650" i="1" dirty="0"/>
              <a:t>або</a:t>
            </a:r>
            <a:endParaRPr lang="uk-UA" sz="165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50" dirty="0"/>
              <a:t>B24	</a:t>
            </a:r>
            <a:r>
              <a:rPr lang="uk-UA" sz="1650" dirty="0" smtClean="0"/>
              <a:t>«Хвороба</a:t>
            </a:r>
            <a:r>
              <a:rPr lang="uk-UA" sz="1650" dirty="0"/>
              <a:t>, зумовлена вірусом імунодефіциту людини (ВІЛ), </a:t>
            </a:r>
            <a:r>
              <a:rPr lang="uk-UA" sz="1650" dirty="0" smtClean="0"/>
              <a:t>неуточнена» </a:t>
            </a:r>
            <a:r>
              <a:rPr lang="uk-UA" sz="1650" i="1" dirty="0"/>
              <a:t>або</a:t>
            </a:r>
            <a:endParaRPr lang="uk-UA" sz="165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50" dirty="0"/>
              <a:t>Z21	</a:t>
            </a:r>
            <a:r>
              <a:rPr lang="uk-UA" sz="1650" dirty="0" smtClean="0"/>
              <a:t>«</a:t>
            </a:r>
            <a:r>
              <a:rPr lang="uk-UA" sz="1650" dirty="0" err="1" smtClean="0"/>
              <a:t>Безсимптомне</a:t>
            </a:r>
            <a:r>
              <a:rPr lang="uk-UA" sz="1650" dirty="0" smtClean="0"/>
              <a:t> </a:t>
            </a:r>
            <a:r>
              <a:rPr lang="uk-UA" sz="1650" dirty="0" err="1"/>
              <a:t>носійство</a:t>
            </a:r>
            <a:r>
              <a:rPr lang="uk-UA" sz="1650" dirty="0"/>
              <a:t> вірусу імунодефіциту людини [ВІЛ</a:t>
            </a:r>
            <a:r>
              <a:rPr lang="uk-UA" sz="1650" dirty="0" smtClean="0"/>
              <a:t>]».</a:t>
            </a:r>
            <a:endParaRPr lang="uk-UA" sz="1650" dirty="0"/>
          </a:p>
          <a:p>
            <a:r>
              <a:rPr lang="uk-UA" sz="1650" i="1" dirty="0" smtClean="0"/>
              <a:t>Додатковий </a:t>
            </a:r>
            <a:r>
              <a:rPr lang="uk-UA" sz="1650" i="1" dirty="0"/>
              <a:t>діагноз </a:t>
            </a:r>
            <a:r>
              <a:rPr lang="uk-UA" sz="1650" dirty="0"/>
              <a:t>– кодуються </a:t>
            </a:r>
            <a:r>
              <a:rPr lang="uk-UA" sz="1650" i="1" dirty="0"/>
              <a:t>у</a:t>
            </a:r>
            <a:r>
              <a:rPr lang="uk-UA" sz="1650" dirty="0"/>
              <a:t>сі прояви інфекції </a:t>
            </a:r>
            <a:r>
              <a:rPr lang="uk-UA" sz="1650" dirty="0" smtClean="0"/>
              <a:t>ВІЛ, а також </a:t>
            </a:r>
            <a:r>
              <a:rPr lang="uk-UA" sz="1650" dirty="0"/>
              <a:t>вказуються </a:t>
            </a:r>
            <a:r>
              <a:rPr lang="uk-UA" sz="1650" dirty="0" smtClean="0"/>
              <a:t>інші </a:t>
            </a:r>
            <a:r>
              <a:rPr lang="uk-UA" sz="1650" dirty="0"/>
              <a:t>захворювання, які є в особи</a:t>
            </a:r>
            <a:r>
              <a:rPr lang="uk-UA" sz="1650" dirty="0" smtClean="0"/>
              <a:t>.</a:t>
            </a:r>
            <a:endParaRPr lang="uk-UA" sz="1650" dirty="0"/>
          </a:p>
          <a:p>
            <a:r>
              <a:rPr lang="uk-UA" sz="1650" b="1" dirty="0" smtClean="0"/>
              <a:t>Лікарі </a:t>
            </a:r>
            <a:r>
              <a:rPr lang="uk-UA" sz="1650" b="1" dirty="0"/>
              <a:t>ПМД</a:t>
            </a:r>
            <a:r>
              <a:rPr lang="uk-UA" sz="1650" dirty="0"/>
              <a:t> в діагнозі вказують код </a:t>
            </a:r>
            <a:r>
              <a:rPr lang="uk-UA" sz="1650" b="1" dirty="0"/>
              <a:t>B90</a:t>
            </a:r>
            <a:r>
              <a:rPr lang="uk-UA" sz="1650" dirty="0" smtClean="0"/>
              <a:t> </a:t>
            </a:r>
            <a:r>
              <a:rPr lang="uk-UA" sz="1650" dirty="0"/>
              <a:t>за класифікатором </a:t>
            </a:r>
            <a:r>
              <a:rPr lang="uk-UA" sz="1650" dirty="0" smtClean="0"/>
              <a:t>ICPC-2</a:t>
            </a:r>
            <a:r>
              <a:rPr lang="uk-UA" sz="1650" dirty="0"/>
              <a:t>, при цьому в підставах додатково вказують вище вказані коди </a:t>
            </a:r>
            <a:r>
              <a:rPr lang="uk-UA" sz="1650" dirty="0" smtClean="0"/>
              <a:t>НК 025:2021.</a:t>
            </a:r>
          </a:p>
          <a:p>
            <a:endParaRPr lang="uk-UA" sz="1650" i="1" dirty="0" smtClean="0"/>
          </a:p>
          <a:p>
            <a:r>
              <a:rPr lang="uk-UA" sz="1650" i="1" dirty="0" smtClean="0"/>
              <a:t>Інтервенції </a:t>
            </a:r>
            <a:r>
              <a:rPr lang="uk-UA" sz="1650" i="1" dirty="0"/>
              <a:t>(</a:t>
            </a:r>
            <a:r>
              <a:rPr lang="uk-UA" sz="1650" dirty="0"/>
              <a:t>Кодуються за НК 026:2021. </a:t>
            </a:r>
            <a:r>
              <a:rPr lang="uk-UA" sz="1650" b="1" dirty="0"/>
              <a:t>Лікарі ПМД</a:t>
            </a:r>
            <a:r>
              <a:rPr lang="uk-UA" sz="1650" dirty="0"/>
              <a:t> </a:t>
            </a:r>
            <a:r>
              <a:rPr lang="uk-UA" sz="1650" dirty="0" smtClean="0"/>
              <a:t>можуть кодувати за ICPC-2 та НК </a:t>
            </a:r>
            <a:r>
              <a:rPr lang="uk-UA" sz="1650" dirty="0"/>
              <a:t>026:2021):</a:t>
            </a:r>
          </a:p>
          <a:p>
            <a:r>
              <a:rPr lang="uk-UA" sz="1650" dirty="0" smtClean="0"/>
              <a:t>Обстеження </a:t>
            </a:r>
            <a:r>
              <a:rPr lang="uk-UA" sz="1650" dirty="0"/>
              <a:t>на ВІЛ кодується такими кодами: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50" dirty="0"/>
              <a:t>одним кодом B33006 «Аналіз; ВІЛ» – при застосуванні швидких (</a:t>
            </a:r>
            <a:r>
              <a:rPr lang="uk-UA" sz="1650" dirty="0" err="1"/>
              <a:t>скринінгових</a:t>
            </a:r>
            <a:r>
              <a:rPr lang="uk-UA" sz="1650" dirty="0"/>
              <a:t>) методів;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50" dirty="0"/>
              <a:t>двома кодами B33006 «Аналіз; ВІЛ» та </a:t>
            </a:r>
            <a:r>
              <a:rPr lang="uk-UA" sz="1650" dirty="0" smtClean="0"/>
              <a:t>A33005 </a:t>
            </a:r>
            <a:r>
              <a:rPr lang="uk-UA" sz="1650" dirty="0"/>
              <a:t>« </a:t>
            </a:r>
            <a:r>
              <a:rPr lang="uk-UA" sz="1650" dirty="0" smtClean="0"/>
              <a:t>Аналіз</a:t>
            </a:r>
            <a:r>
              <a:rPr lang="uk-UA" sz="1650" dirty="0"/>
              <a:t>; імунологія» </a:t>
            </a:r>
            <a:r>
              <a:rPr lang="uk-UA" sz="1650" dirty="0" smtClean="0"/>
              <a:t>- при </a:t>
            </a:r>
            <a:r>
              <a:rPr lang="uk-UA" sz="1650" dirty="0"/>
              <a:t>застосуванні імунологічних методів;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50" dirty="0"/>
              <a:t>двома кодами B33006 «Аналіз; ВІЛ» та A38004 «Аналіз; ДНК» </a:t>
            </a:r>
            <a:r>
              <a:rPr lang="uk-UA" sz="1650" dirty="0" smtClean="0"/>
              <a:t>- при </a:t>
            </a:r>
            <a:r>
              <a:rPr lang="uk-UA" sz="1650" dirty="0"/>
              <a:t>застосуванні </a:t>
            </a:r>
            <a:r>
              <a:rPr lang="uk-UA" sz="1650" dirty="0" err="1"/>
              <a:t>полімеразної</a:t>
            </a:r>
            <a:r>
              <a:rPr lang="uk-UA" sz="1650" dirty="0"/>
              <a:t> ланцюгової реакції.</a:t>
            </a:r>
          </a:p>
          <a:p>
            <a:r>
              <a:rPr lang="uk-UA" sz="1650" dirty="0" smtClean="0"/>
              <a:t>Видача </a:t>
            </a:r>
            <a:r>
              <a:rPr lang="uk-UA" sz="1650" dirty="0" err="1"/>
              <a:t>антиретровірусних</a:t>
            </a:r>
            <a:r>
              <a:rPr lang="uk-UA" sz="1650" dirty="0"/>
              <a:t> препаратів кодується такими кодами: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50" dirty="0"/>
              <a:t>96242-01 </a:t>
            </a:r>
            <a:r>
              <a:rPr lang="uk-UA" sz="1650" dirty="0" smtClean="0"/>
              <a:t>«</a:t>
            </a:r>
            <a:r>
              <a:rPr lang="uk-UA" sz="1650" dirty="0"/>
              <a:t>Видача </a:t>
            </a:r>
            <a:r>
              <a:rPr lang="uk-UA" sz="1650" dirty="0" err="1"/>
              <a:t>антиретровірусних</a:t>
            </a:r>
            <a:r>
              <a:rPr lang="uk-UA" sz="1650" dirty="0"/>
              <a:t> препаратів»;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uk-UA" sz="1650" dirty="0"/>
              <a:t>96027-00 </a:t>
            </a:r>
            <a:r>
              <a:rPr lang="uk-UA" sz="1650" dirty="0" smtClean="0"/>
              <a:t>«Спостереження </a:t>
            </a:r>
            <a:r>
              <a:rPr lang="uk-UA" sz="1650" dirty="0"/>
              <a:t>за прийомом призначених/самостійно обраних </a:t>
            </a:r>
            <a:r>
              <a:rPr lang="uk-UA" sz="1650" dirty="0" smtClean="0"/>
              <a:t>ліків».</a:t>
            </a:r>
            <a:endParaRPr lang="uk-UA" sz="1650" dirty="0"/>
          </a:p>
        </p:txBody>
      </p:sp>
    </p:spTree>
    <p:extLst>
      <p:ext uri="{BB962C8B-B14F-4D97-AF65-F5344CB8AC3E}">
        <p14:creationId xmlns:p14="http://schemas.microsoft.com/office/powerpoint/2010/main" val="397442106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65BD4F5-DAF3-2347-A3ED-4FE8AC1C40EF}"/>
              </a:ext>
            </a:extLst>
          </p:cNvPr>
          <p:cNvSpPr/>
          <p:nvPr/>
        </p:nvSpPr>
        <p:spPr>
          <a:xfrm>
            <a:off x="285434" y="245658"/>
            <a:ext cx="11668836" cy="709684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A5D53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500" b="1" dirty="0"/>
              <a:t> </a:t>
            </a:r>
            <a:r>
              <a:rPr lang="ru-RU" sz="2500" b="1" dirty="0">
                <a:solidFill>
                  <a:schemeClr val="bg1"/>
                </a:solidFill>
              </a:rPr>
              <a:t> </a:t>
            </a:r>
            <a:r>
              <a:rPr lang="ru-RU" sz="2500" b="1" dirty="0" smtClean="0">
                <a:solidFill>
                  <a:schemeClr val="bg1"/>
                </a:solidFill>
              </a:rPr>
              <a:t>ВІЛ: МОНІТОРИНГ</a:t>
            </a:r>
            <a:endParaRPr lang="ru-RU" sz="25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16A2B3-9326-6343-9266-67C89641D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811" y="337792"/>
            <a:ext cx="423045" cy="511796"/>
          </a:xfrm>
          <a:prstGeom prst="rect">
            <a:avLst/>
          </a:prstGeom>
        </p:spPr>
      </p:pic>
      <p:sp>
        <p:nvSpPr>
          <p:cNvPr id="4" name="Google Shape;586;p41">
            <a:extLst>
              <a:ext uri="{FF2B5EF4-FFF2-40B4-BE49-F238E27FC236}">
                <a16:creationId xmlns:a16="http://schemas.microsoft.com/office/drawing/2014/main" id="{889AB653-D34A-8331-1310-F629D0BA2254}"/>
              </a:ext>
            </a:extLst>
          </p:cNvPr>
          <p:cNvSpPr txBox="1"/>
          <p:nvPr/>
        </p:nvSpPr>
        <p:spPr>
          <a:xfrm>
            <a:off x="10600267" y="6331865"/>
            <a:ext cx="1248507" cy="400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000" dirty="0"/>
              <a:t>nszu.gov.ua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8A7BC6E-6A7A-B37F-4775-654D36DD2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5323" y="337792"/>
            <a:ext cx="529197" cy="52919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WatercolorSpong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5172" y="355156"/>
            <a:ext cx="563880" cy="494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9" name="TextBox 8"/>
          <p:cNvSpPr txBox="1"/>
          <p:nvPr/>
        </p:nvSpPr>
        <p:spPr>
          <a:xfrm>
            <a:off x="711200" y="1522040"/>
            <a:ext cx="10579691" cy="55091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uk-UA" sz="2400" dirty="0"/>
              <a:t>Важливо: в рамках одного епізоду повинно бути створено </a:t>
            </a:r>
            <a:r>
              <a:rPr lang="uk-UA" sz="2400" b="1" dirty="0"/>
              <a:t>щонайменше одну </a:t>
            </a:r>
            <a:r>
              <a:rPr lang="uk-UA" sz="2400" b="1" dirty="0" smtClean="0"/>
              <a:t>ВЗАЄМОДІЮ</a:t>
            </a:r>
            <a:r>
              <a:rPr lang="uk-UA" sz="2400" dirty="0" smtClean="0"/>
              <a:t> </a:t>
            </a:r>
            <a:r>
              <a:rPr lang="uk-UA" sz="2400" b="1" dirty="0"/>
              <a:t>за кожні 3 </a:t>
            </a:r>
            <a:r>
              <a:rPr lang="uk-UA" sz="2400" b="1" dirty="0" smtClean="0"/>
              <a:t>місяці</a:t>
            </a:r>
            <a:r>
              <a:rPr lang="uk-UA" sz="2400" dirty="0" smtClean="0"/>
              <a:t>.</a:t>
            </a:r>
          </a:p>
          <a:p>
            <a:endParaRPr lang="uk-UA" sz="2400" dirty="0"/>
          </a:p>
          <a:p>
            <a:r>
              <a:rPr lang="uk-UA" sz="2400" dirty="0" smtClean="0"/>
              <a:t>ПЛАН ЛІКУВАННЯ створюється </a:t>
            </a:r>
            <a:r>
              <a:rPr lang="uk-UA" sz="2400" b="1" dirty="0" smtClean="0"/>
              <a:t>після</a:t>
            </a:r>
            <a:r>
              <a:rPr lang="uk-UA" sz="2400" dirty="0" smtClean="0"/>
              <a:t> створення ВЗАЄМОДІЇ з посиланням на неї</a:t>
            </a:r>
            <a:r>
              <a:rPr lang="uk-UA" sz="2400" dirty="0" smtClean="0"/>
              <a:t>.</a:t>
            </a:r>
          </a:p>
          <a:p>
            <a:r>
              <a:rPr lang="uk-UA" sz="2400" dirty="0" smtClean="0"/>
              <a:t>Дата створення ПЛАНА ЛІКУВАННЯ  неповинна бути пізнішою ніж дата створення ВЗАЄМОДІЇ для оплати за даною взаємодією.</a:t>
            </a:r>
            <a:endParaRPr lang="uk-UA" sz="2400" dirty="0" smtClean="0"/>
          </a:p>
          <a:p>
            <a:endParaRPr lang="uk-UA" sz="2400" dirty="0"/>
          </a:p>
          <a:p>
            <a:pPr lvl="1"/>
            <a:r>
              <a:rPr lang="uk-UA" sz="2400" dirty="0"/>
              <a:t>У разі відсутності активного </a:t>
            </a:r>
            <a:r>
              <a:rPr lang="uk-UA" sz="2400" dirty="0" smtClean="0"/>
              <a:t>ПЛАНУ ЛІКУВАННЯ, </a:t>
            </a:r>
            <a:r>
              <a:rPr lang="uk-UA" sz="2400" dirty="0"/>
              <a:t>створеного на унікального пацієнта, оплата за лікування такого пацієнта не буде відбуватися в рамках пакету</a:t>
            </a:r>
            <a:r>
              <a:rPr lang="uk-UA" sz="2400" dirty="0" smtClean="0"/>
              <a:t>.</a:t>
            </a:r>
          </a:p>
          <a:p>
            <a:pPr lvl="1"/>
            <a:endParaRPr lang="uk-UA" sz="2400" dirty="0"/>
          </a:p>
          <a:p>
            <a:pPr lvl="1"/>
            <a:r>
              <a:rPr lang="uk-UA" sz="2400" dirty="0"/>
              <a:t>У разі відсутності скорочених назв лікарських засобів у </a:t>
            </a:r>
            <a:r>
              <a:rPr lang="uk-UA" sz="2400" dirty="0" smtClean="0"/>
              <a:t>ПЛАНІ ЛІКУВАННЯ, </a:t>
            </a:r>
            <a:r>
              <a:rPr lang="uk-UA" sz="2400" dirty="0"/>
              <a:t>а також інформації щодо кратності наступних відвідувань, такі медичні записи будуть підлягати медичному моніторингу.</a:t>
            </a:r>
          </a:p>
          <a:p>
            <a:endParaRPr lang="uk-UA" sz="1600" dirty="0"/>
          </a:p>
        </p:txBody>
      </p:sp>
    </p:spTree>
    <p:extLst>
      <p:ext uri="{BB962C8B-B14F-4D97-AF65-F5344CB8AC3E}">
        <p14:creationId xmlns:p14="http://schemas.microsoft.com/office/powerpoint/2010/main" val="157029875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8671501-F8B8-564E-8725-BF54B236B72C}"/>
              </a:ext>
            </a:extLst>
          </p:cNvPr>
          <p:cNvSpPr/>
          <p:nvPr/>
        </p:nvSpPr>
        <p:spPr>
          <a:xfrm>
            <a:off x="259308" y="245658"/>
            <a:ext cx="11668836" cy="709684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A5D53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9BA6D3-9A9C-2246-A477-88E1D963A77F}"/>
              </a:ext>
            </a:extLst>
          </p:cNvPr>
          <p:cNvSpPr txBox="1"/>
          <p:nvPr/>
        </p:nvSpPr>
        <p:spPr>
          <a:xfrm>
            <a:off x="514192" y="361973"/>
            <a:ext cx="111590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b="1" dirty="0" smtClean="0">
                <a:solidFill>
                  <a:schemeClr val="bg1"/>
                </a:solidFill>
              </a:rPr>
              <a:t>ВІЛ: ОПЛАТА ЗА ПМГ</a:t>
            </a:r>
            <a:endParaRPr lang="en-US" sz="25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76327-CD39-C846-BAA0-76143A6F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811" y="337792"/>
            <a:ext cx="423045" cy="511796"/>
          </a:xfrm>
          <a:prstGeom prst="rect">
            <a:avLst/>
          </a:prstGeom>
        </p:spPr>
      </p:pic>
      <p:sp>
        <p:nvSpPr>
          <p:cNvPr id="40" name="Google Shape;586;p41">
            <a:extLst>
              <a:ext uri="{FF2B5EF4-FFF2-40B4-BE49-F238E27FC236}">
                <a16:creationId xmlns:a16="http://schemas.microsoft.com/office/drawing/2014/main" id="{126351BE-DCCC-B04A-8772-A02109FD365E}"/>
              </a:ext>
            </a:extLst>
          </p:cNvPr>
          <p:cNvSpPr txBox="1"/>
          <p:nvPr/>
        </p:nvSpPr>
        <p:spPr>
          <a:xfrm>
            <a:off x="10999662" y="6398462"/>
            <a:ext cx="949569" cy="30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dirty="0"/>
              <a:t>nszu.gov.ua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1" y="1071657"/>
            <a:ext cx="4824394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uk-UA" sz="3600" dirty="0" smtClean="0"/>
              <a:t>Як відбувається оплата?</a:t>
            </a:r>
            <a:endParaRPr kumimoji="0" lang="ru-RU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  <p:graphicFrame>
        <p:nvGraphicFramePr>
          <p:cNvPr id="9" name="Таблиця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757326"/>
              </p:ext>
            </p:extLst>
          </p:nvPr>
        </p:nvGraphicFramePr>
        <p:xfrm>
          <a:off x="685801" y="2589250"/>
          <a:ext cx="10485472" cy="2587203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097094">
                  <a:extLst>
                    <a:ext uri="{9D8B030D-6E8A-4147-A177-3AD203B41FA5}">
                      <a16:colId xmlns:a16="http://schemas.microsoft.com/office/drawing/2014/main" val="1376489880"/>
                    </a:ext>
                  </a:extLst>
                </a:gridCol>
                <a:gridCol w="2269997">
                  <a:extLst>
                    <a:ext uri="{9D8B030D-6E8A-4147-A177-3AD203B41FA5}">
                      <a16:colId xmlns:a16="http://schemas.microsoft.com/office/drawing/2014/main" val="3330431263"/>
                    </a:ext>
                  </a:extLst>
                </a:gridCol>
                <a:gridCol w="2275755">
                  <a:extLst>
                    <a:ext uri="{9D8B030D-6E8A-4147-A177-3AD203B41FA5}">
                      <a16:colId xmlns:a16="http://schemas.microsoft.com/office/drawing/2014/main" val="118228180"/>
                    </a:ext>
                  </a:extLst>
                </a:gridCol>
                <a:gridCol w="2272553">
                  <a:extLst>
                    <a:ext uri="{9D8B030D-6E8A-4147-A177-3AD203B41FA5}">
                      <a16:colId xmlns:a16="http://schemas.microsoft.com/office/drawing/2014/main" val="645695733"/>
                    </a:ext>
                  </a:extLst>
                </a:gridCol>
                <a:gridCol w="1570073">
                  <a:extLst>
                    <a:ext uri="{9D8B030D-6E8A-4147-A177-3AD203B41FA5}">
                      <a16:colId xmlns:a16="http://schemas.microsoft.com/office/drawing/2014/main" val="1778695687"/>
                    </a:ext>
                  </a:extLst>
                </a:gridCol>
              </a:tblGrid>
              <a:tr h="453603"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МІСЯЦЬ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СІЧЕНЬ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ЛЮТИЙ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БЕРЕЗЕНЬ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КВІТЕНЬ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44736"/>
                  </a:ext>
                </a:extLst>
              </a:tr>
              <a:tr h="7083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ВЗАЄМОДІЯ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ВРАХОВУЄТЬСЯ ПОПЕРЕДНІЙ МІСЯЦЬ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ВРАХОВУЄТЬСЯ ПОПЕРЕДНІЙ МІСЯЦЬ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11136"/>
                  </a:ext>
                </a:extLst>
              </a:tr>
              <a:tr h="45360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ПЛАН ЛІКУВАННЯ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ДІЮЧИЙ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ДІЮЧИЙ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ДІЮЧИЙ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54316"/>
                  </a:ext>
                </a:extLst>
              </a:tr>
              <a:tr h="453603"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ОПЛАТА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261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27272" y="1812904"/>
            <a:ext cx="3402530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uk-UA" sz="32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КЛАСИЧНА СХЕМА</a:t>
            </a:r>
            <a:endParaRPr kumimoji="0" lang="ru-RU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565600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8671501-F8B8-564E-8725-BF54B236B72C}"/>
              </a:ext>
            </a:extLst>
          </p:cNvPr>
          <p:cNvSpPr/>
          <p:nvPr/>
        </p:nvSpPr>
        <p:spPr>
          <a:xfrm>
            <a:off x="259308" y="245658"/>
            <a:ext cx="11668836" cy="709684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A5D53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9BA6D3-9A9C-2246-A477-88E1D963A77F}"/>
              </a:ext>
            </a:extLst>
          </p:cNvPr>
          <p:cNvSpPr txBox="1"/>
          <p:nvPr/>
        </p:nvSpPr>
        <p:spPr>
          <a:xfrm>
            <a:off x="514192" y="361973"/>
            <a:ext cx="111590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b="1" dirty="0">
                <a:solidFill>
                  <a:schemeClr val="bg1"/>
                </a:solidFill>
              </a:rPr>
              <a:t>ВІЛ: ОПЛАТА ЗА ПМГ</a:t>
            </a:r>
            <a:endParaRPr lang="en-US" sz="25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76327-CD39-C846-BAA0-76143A6F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811" y="337792"/>
            <a:ext cx="423045" cy="511796"/>
          </a:xfrm>
          <a:prstGeom prst="rect">
            <a:avLst/>
          </a:prstGeom>
        </p:spPr>
      </p:pic>
      <p:sp>
        <p:nvSpPr>
          <p:cNvPr id="40" name="Google Shape;586;p41">
            <a:extLst>
              <a:ext uri="{FF2B5EF4-FFF2-40B4-BE49-F238E27FC236}">
                <a16:creationId xmlns:a16="http://schemas.microsoft.com/office/drawing/2014/main" id="{126351BE-DCCC-B04A-8772-A02109FD365E}"/>
              </a:ext>
            </a:extLst>
          </p:cNvPr>
          <p:cNvSpPr txBox="1"/>
          <p:nvPr/>
        </p:nvSpPr>
        <p:spPr>
          <a:xfrm>
            <a:off x="10999662" y="6398462"/>
            <a:ext cx="949569" cy="30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dirty="0"/>
              <a:t>nszu.gov.ua</a:t>
            </a:r>
          </a:p>
        </p:txBody>
      </p:sp>
      <p:graphicFrame>
        <p:nvGraphicFramePr>
          <p:cNvPr id="9" name="Таблиця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180278"/>
              </p:ext>
            </p:extLst>
          </p:nvPr>
        </p:nvGraphicFramePr>
        <p:xfrm>
          <a:off x="683625" y="2158969"/>
          <a:ext cx="10485472" cy="2587203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097094">
                  <a:extLst>
                    <a:ext uri="{9D8B030D-6E8A-4147-A177-3AD203B41FA5}">
                      <a16:colId xmlns:a16="http://schemas.microsoft.com/office/drawing/2014/main" val="1376489880"/>
                    </a:ext>
                  </a:extLst>
                </a:gridCol>
                <a:gridCol w="2269997">
                  <a:extLst>
                    <a:ext uri="{9D8B030D-6E8A-4147-A177-3AD203B41FA5}">
                      <a16:colId xmlns:a16="http://schemas.microsoft.com/office/drawing/2014/main" val="3330431263"/>
                    </a:ext>
                  </a:extLst>
                </a:gridCol>
                <a:gridCol w="2275755">
                  <a:extLst>
                    <a:ext uri="{9D8B030D-6E8A-4147-A177-3AD203B41FA5}">
                      <a16:colId xmlns:a16="http://schemas.microsoft.com/office/drawing/2014/main" val="118228180"/>
                    </a:ext>
                  </a:extLst>
                </a:gridCol>
                <a:gridCol w="2272553">
                  <a:extLst>
                    <a:ext uri="{9D8B030D-6E8A-4147-A177-3AD203B41FA5}">
                      <a16:colId xmlns:a16="http://schemas.microsoft.com/office/drawing/2014/main" val="645695733"/>
                    </a:ext>
                  </a:extLst>
                </a:gridCol>
                <a:gridCol w="1570073">
                  <a:extLst>
                    <a:ext uri="{9D8B030D-6E8A-4147-A177-3AD203B41FA5}">
                      <a16:colId xmlns:a16="http://schemas.microsoft.com/office/drawing/2014/main" val="1778695687"/>
                    </a:ext>
                  </a:extLst>
                </a:gridCol>
              </a:tblGrid>
              <a:tr h="453603"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МІСЯЦЬ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СІЧЕНЬ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ЛЮТИЙ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БЕРЕЗЕНЬ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КВІТЕНЬ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44736"/>
                  </a:ext>
                </a:extLst>
              </a:tr>
              <a:tr h="708367"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ВЗАЄМОДІЯ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ВРАХОВУЄТЬСЯ ПОПЕРЕДНІЙ МІСЯЦЬ 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11136"/>
                  </a:ext>
                </a:extLst>
              </a:tr>
              <a:tr h="45360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ПЛАН ЛІКУВАННЯ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ВІДСУТНІЙ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ДІЮЧИЙ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ДІЮЧИЙ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54316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ОПЛАТА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i="0" u="none" strike="noStrike" cap="none" spc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</a:t>
                      </a:r>
                      <a:endParaRPr lang="ru-RU" sz="3200" b="1" i="0" u="none" strike="noStrike" cap="none" spc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261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1" y="1104112"/>
            <a:ext cx="5058432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uk-UA" sz="32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СХЕМА ПЕРЕТИНІВ СТРОКІВ </a:t>
            </a:r>
            <a:endParaRPr kumimoji="0" lang="ru-RU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772484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8671501-F8B8-564E-8725-BF54B236B72C}"/>
              </a:ext>
            </a:extLst>
          </p:cNvPr>
          <p:cNvSpPr/>
          <p:nvPr/>
        </p:nvSpPr>
        <p:spPr>
          <a:xfrm>
            <a:off x="259308" y="245658"/>
            <a:ext cx="11668836" cy="709684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A5D53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9BA6D3-9A9C-2246-A477-88E1D963A77F}"/>
              </a:ext>
            </a:extLst>
          </p:cNvPr>
          <p:cNvSpPr txBox="1"/>
          <p:nvPr/>
        </p:nvSpPr>
        <p:spPr>
          <a:xfrm>
            <a:off x="514192" y="361973"/>
            <a:ext cx="111590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b="1" dirty="0">
                <a:solidFill>
                  <a:schemeClr val="bg1"/>
                </a:solidFill>
              </a:rPr>
              <a:t>ВІЛ: </a:t>
            </a:r>
            <a:r>
              <a:rPr lang="ru-RU" sz="2500" b="1" dirty="0" smtClean="0">
                <a:solidFill>
                  <a:schemeClr val="bg1"/>
                </a:solidFill>
              </a:rPr>
              <a:t>ПЛАН ЛІКУВАННЯ І ЙОГО ТЕРМІН</a:t>
            </a:r>
            <a:endParaRPr lang="en-US" sz="25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76327-CD39-C846-BAA0-76143A6F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811" y="337792"/>
            <a:ext cx="423045" cy="511796"/>
          </a:xfrm>
          <a:prstGeom prst="rect">
            <a:avLst/>
          </a:prstGeom>
        </p:spPr>
      </p:pic>
      <p:sp>
        <p:nvSpPr>
          <p:cNvPr id="40" name="Google Shape;586;p41">
            <a:extLst>
              <a:ext uri="{FF2B5EF4-FFF2-40B4-BE49-F238E27FC236}">
                <a16:creationId xmlns:a16="http://schemas.microsoft.com/office/drawing/2014/main" id="{126351BE-DCCC-B04A-8772-A02109FD365E}"/>
              </a:ext>
            </a:extLst>
          </p:cNvPr>
          <p:cNvSpPr txBox="1"/>
          <p:nvPr/>
        </p:nvSpPr>
        <p:spPr>
          <a:xfrm>
            <a:off x="10999662" y="6398462"/>
            <a:ext cx="949569" cy="30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dirty="0"/>
              <a:t>nszu.gov.ua</a:t>
            </a:r>
          </a:p>
        </p:txBody>
      </p:sp>
      <p:graphicFrame>
        <p:nvGraphicFramePr>
          <p:cNvPr id="9" name="Таблиця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38356"/>
              </p:ext>
            </p:extLst>
          </p:nvPr>
        </p:nvGraphicFramePr>
        <p:xfrm>
          <a:off x="315064" y="3336877"/>
          <a:ext cx="11329939" cy="2861523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888892">
                  <a:extLst>
                    <a:ext uri="{9D8B030D-6E8A-4147-A177-3AD203B41FA5}">
                      <a16:colId xmlns:a16="http://schemas.microsoft.com/office/drawing/2014/main" val="1376489880"/>
                    </a:ext>
                  </a:extLst>
                </a:gridCol>
                <a:gridCol w="1492623">
                  <a:extLst>
                    <a:ext uri="{9D8B030D-6E8A-4147-A177-3AD203B41FA5}">
                      <a16:colId xmlns:a16="http://schemas.microsoft.com/office/drawing/2014/main" val="3330431263"/>
                    </a:ext>
                  </a:extLst>
                </a:gridCol>
                <a:gridCol w="2568389">
                  <a:extLst>
                    <a:ext uri="{9D8B030D-6E8A-4147-A177-3AD203B41FA5}">
                      <a16:colId xmlns:a16="http://schemas.microsoft.com/office/drawing/2014/main" val="758128217"/>
                    </a:ext>
                  </a:extLst>
                </a:gridCol>
                <a:gridCol w="1775011">
                  <a:extLst>
                    <a:ext uri="{9D8B030D-6E8A-4147-A177-3AD203B41FA5}">
                      <a16:colId xmlns:a16="http://schemas.microsoft.com/office/drawing/2014/main" val="118228180"/>
                    </a:ext>
                  </a:extLst>
                </a:gridCol>
                <a:gridCol w="1908502">
                  <a:extLst>
                    <a:ext uri="{9D8B030D-6E8A-4147-A177-3AD203B41FA5}">
                      <a16:colId xmlns:a16="http://schemas.microsoft.com/office/drawing/2014/main" val="645695733"/>
                    </a:ext>
                  </a:extLst>
                </a:gridCol>
                <a:gridCol w="1696522">
                  <a:extLst>
                    <a:ext uri="{9D8B030D-6E8A-4147-A177-3AD203B41FA5}">
                      <a16:colId xmlns:a16="http://schemas.microsoft.com/office/drawing/2014/main" val="1778695687"/>
                    </a:ext>
                  </a:extLst>
                </a:gridCol>
              </a:tblGrid>
              <a:tr h="453603"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МІСЯЦЬ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СІЧЕНЬ</a:t>
                      </a:r>
                      <a:r>
                        <a:rPr lang="uk-UA" sz="1800" b="1" baseline="0" dirty="0" smtClean="0">
                          <a:solidFill>
                            <a:srgbClr val="FF0000"/>
                          </a:solidFill>
                        </a:rPr>
                        <a:t> 2022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СІЧЕНЬ 2023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ЛЮТИЙ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БЕРЕЗЕНЬ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КВІТЕНЬ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44736"/>
                  </a:ext>
                </a:extLst>
              </a:tr>
              <a:tr h="708367"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ВЗАЄМОДІЯ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ВРАХОВУЄТЬСЯ ПОПЕРЕДНІЙ МІСЯЦЬ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ВРАХОВУЄТЬСЯ ПОПЕРЕДНІЙ МІСЯЦЬ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11136"/>
                  </a:ext>
                </a:extLst>
              </a:tr>
              <a:tr h="45360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ПЛАН ЛІКУВАННЯ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ПЛ_2022 закінчив дію, </a:t>
                      </a:r>
                    </a:p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 новий ПЛ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ДІЮЧИЙ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ДІЮЧИЙ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ДІЮЧИЙ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54316"/>
                  </a:ext>
                </a:extLst>
              </a:tr>
              <a:tr h="453603"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ОПЛАТА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3200" b="1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endParaRPr lang="ru-RU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261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9596" y="1400080"/>
            <a:ext cx="11548548" cy="1569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uk-UA" sz="2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ПЛАН ЛІКУВАННЯ має дві опції – із вказаною датою завершення та без вказаної дати завершення.</a:t>
            </a:r>
          </a:p>
          <a:p>
            <a:r>
              <a:rPr lang="uk-UA" sz="2400" b="1" dirty="0" smtClean="0"/>
              <a:t>Якщо </a:t>
            </a:r>
            <a:r>
              <a:rPr lang="uk-UA" sz="2400" b="1" dirty="0"/>
              <a:t>ПЛАН ЛІКУВАННЯ </a:t>
            </a:r>
            <a:r>
              <a:rPr lang="uk-UA" sz="2400" b="1" dirty="0" smtClean="0"/>
              <a:t>був створений в попередньому році до кінця року, то в цьому році необхідно створити нову ВЗАЄМОДІЮ та відповідно ПЛАН ЛІКУВАННЯ</a:t>
            </a:r>
            <a:endParaRPr kumimoji="0" lang="ru-RU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499306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8671501-F8B8-564E-8725-BF54B236B72C}"/>
              </a:ext>
            </a:extLst>
          </p:cNvPr>
          <p:cNvSpPr/>
          <p:nvPr/>
        </p:nvSpPr>
        <p:spPr>
          <a:xfrm>
            <a:off x="259308" y="245658"/>
            <a:ext cx="11668836" cy="709684"/>
          </a:xfrm>
          <a:prstGeom prst="roundRect">
            <a:avLst/>
          </a:prstGeom>
          <a:gradFill flip="none" rotWithShape="1">
            <a:gsLst>
              <a:gs pos="100000">
                <a:srgbClr val="0070C0"/>
              </a:gs>
              <a:gs pos="0">
                <a:srgbClr val="A5D53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9BA6D3-9A9C-2246-A477-88E1D963A77F}"/>
              </a:ext>
            </a:extLst>
          </p:cNvPr>
          <p:cNvSpPr txBox="1"/>
          <p:nvPr/>
        </p:nvSpPr>
        <p:spPr>
          <a:xfrm>
            <a:off x="514192" y="361973"/>
            <a:ext cx="111590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b="1" dirty="0">
                <a:solidFill>
                  <a:schemeClr val="bg1"/>
                </a:solidFill>
              </a:rPr>
              <a:t>ВІЛ: </a:t>
            </a:r>
            <a:r>
              <a:rPr lang="ru-RU" sz="2500" b="1" dirty="0" smtClean="0">
                <a:solidFill>
                  <a:schemeClr val="bg1"/>
                </a:solidFill>
              </a:rPr>
              <a:t>ВИПРАВЛЕННЯ ПОМИЛОК</a:t>
            </a:r>
            <a:endParaRPr lang="en-US" sz="25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76327-CD39-C846-BAA0-76143A6F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811" y="337792"/>
            <a:ext cx="423045" cy="511796"/>
          </a:xfrm>
          <a:prstGeom prst="rect">
            <a:avLst/>
          </a:prstGeom>
        </p:spPr>
      </p:pic>
      <p:sp>
        <p:nvSpPr>
          <p:cNvPr id="40" name="Google Shape;586;p41">
            <a:extLst>
              <a:ext uri="{FF2B5EF4-FFF2-40B4-BE49-F238E27FC236}">
                <a16:creationId xmlns:a16="http://schemas.microsoft.com/office/drawing/2014/main" id="{126351BE-DCCC-B04A-8772-A02109FD365E}"/>
              </a:ext>
            </a:extLst>
          </p:cNvPr>
          <p:cNvSpPr txBox="1"/>
          <p:nvPr/>
        </p:nvSpPr>
        <p:spPr>
          <a:xfrm>
            <a:off x="10999662" y="6398462"/>
            <a:ext cx="949569" cy="30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75" tIns="45675" rIns="45675" bIns="45675" anchor="ctr">
            <a:spAutoFit/>
          </a:bodyPr>
          <a:lstStyle>
            <a:lvl1pPr>
              <a:defRPr sz="1500">
                <a:solidFill>
                  <a:srgbClr val="1F73BA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dirty="0"/>
              <a:t>nszu.gov.ua</a:t>
            </a:r>
          </a:p>
        </p:txBody>
      </p:sp>
      <p:graphicFrame>
        <p:nvGraphicFramePr>
          <p:cNvPr id="9" name="Таблиця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733869"/>
              </p:ext>
            </p:extLst>
          </p:nvPr>
        </p:nvGraphicFramePr>
        <p:xfrm>
          <a:off x="400683" y="3830149"/>
          <a:ext cx="10787885" cy="2831043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498974">
                  <a:extLst>
                    <a:ext uri="{9D8B030D-6E8A-4147-A177-3AD203B41FA5}">
                      <a16:colId xmlns:a16="http://schemas.microsoft.com/office/drawing/2014/main" val="1376489880"/>
                    </a:ext>
                  </a:extLst>
                </a:gridCol>
                <a:gridCol w="1801025">
                  <a:extLst>
                    <a:ext uri="{9D8B030D-6E8A-4147-A177-3AD203B41FA5}">
                      <a16:colId xmlns:a16="http://schemas.microsoft.com/office/drawing/2014/main" val="758128217"/>
                    </a:ext>
                  </a:extLst>
                </a:gridCol>
                <a:gridCol w="2020389">
                  <a:extLst>
                    <a:ext uri="{9D8B030D-6E8A-4147-A177-3AD203B41FA5}">
                      <a16:colId xmlns:a16="http://schemas.microsoft.com/office/drawing/2014/main" val="118228180"/>
                    </a:ext>
                  </a:extLst>
                </a:gridCol>
                <a:gridCol w="2474883">
                  <a:extLst>
                    <a:ext uri="{9D8B030D-6E8A-4147-A177-3AD203B41FA5}">
                      <a16:colId xmlns:a16="http://schemas.microsoft.com/office/drawing/2014/main" val="645695733"/>
                    </a:ext>
                  </a:extLst>
                </a:gridCol>
                <a:gridCol w="1992614">
                  <a:extLst>
                    <a:ext uri="{9D8B030D-6E8A-4147-A177-3AD203B41FA5}">
                      <a16:colId xmlns:a16="http://schemas.microsoft.com/office/drawing/2014/main" val="1778695687"/>
                    </a:ext>
                  </a:extLst>
                </a:gridCol>
              </a:tblGrid>
              <a:tr h="453603"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МІСЯЦЬ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СІЧЕНЬ 2023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ЛЮТИЙ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БЕРЕЗЕНЬ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КВІТЕНЬ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44736"/>
                  </a:ext>
                </a:extLst>
              </a:tr>
              <a:tr h="708367"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ВЗАЄМОДІЯ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ВРАХОВУЄТЬСЯ ПОПЕРЕДНІЙ МІСЯЦЬ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ВРАХОВУЄТЬСЯ ПОПЕРЕДНІЙ МІСЯЦЬ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11136"/>
                  </a:ext>
                </a:extLst>
              </a:tr>
              <a:tr h="45360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ПЛАН ЛІКУВАННЯ</a:t>
                      </a:r>
                      <a:endParaRPr lang="ru-RU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ВІДСУТНІЙ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ВІДСУТНІЙ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СТВОРЕНО</a:t>
                      </a:r>
                      <a:r>
                        <a:rPr lang="uk-UA" sz="1800" b="1" baseline="0" dirty="0" smtClean="0">
                          <a:solidFill>
                            <a:srgbClr val="FF0000"/>
                          </a:solidFill>
                        </a:rPr>
                        <a:t> З ДАТОЮ ПОЧАТКУ У СІЧНІ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ДІЮЧИЙ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54316"/>
                  </a:ext>
                </a:extLst>
              </a:tr>
              <a:tr h="453603">
                <a:tc>
                  <a:txBody>
                    <a:bodyPr/>
                    <a:lstStyle/>
                    <a:p>
                      <a:pPr algn="ctr"/>
                      <a:r>
                        <a:rPr lang="uk-UA" sz="1800" b="1" dirty="0" smtClean="0">
                          <a:solidFill>
                            <a:srgbClr val="FF0000"/>
                          </a:solidFill>
                        </a:rPr>
                        <a:t>ОПЛАТА</a:t>
                      </a:r>
                      <a:endParaRPr lang="ru-RU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32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  <a:sym typeface="Calibri"/>
                        </a:rPr>
                        <a:t>-</a:t>
                      </a:r>
                      <a:endParaRPr lang="uk-UA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32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  <a:sym typeface="Calibri"/>
                        </a:rPr>
                        <a:t>-</a:t>
                      </a:r>
                      <a:endParaRPr lang="uk-UA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32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  <a:sym typeface="Calibri"/>
                        </a:rPr>
                        <a:t>+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16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  <a:sym typeface="Calibri"/>
                        </a:rPr>
                        <a:t>(плюс за січень та лютий)</a:t>
                      </a:r>
                      <a:endParaRPr lang="uk-UA" sz="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k-UA" sz="32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  <a:sym typeface="Calibri"/>
                        </a:rPr>
                        <a:t>+</a:t>
                      </a:r>
                      <a:endParaRPr lang="uk-UA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5261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9596" y="1184208"/>
            <a:ext cx="11548548" cy="3046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uk-UA" sz="2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За правилами ВЗАЄМОДІЮ створюють одночасно з ПЛАНОМ</a:t>
            </a:r>
            <a:r>
              <a:rPr kumimoji="0" lang="uk-UA" sz="2400" b="1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 ЛІКУВАННЯ</a:t>
            </a:r>
            <a:r>
              <a:rPr kumimoji="0" lang="uk-UA" sz="2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rPr>
              <a:t>.</a:t>
            </a:r>
          </a:p>
          <a:p>
            <a:r>
              <a:rPr lang="uk-UA" sz="2400" b="1" dirty="0" smtClean="0"/>
              <a:t>Якщо </a:t>
            </a:r>
            <a:r>
              <a:rPr lang="uk-UA" sz="2400" b="1" dirty="0"/>
              <a:t>ВЗАЄМОДІЮ </a:t>
            </a:r>
            <a:r>
              <a:rPr lang="uk-UA" sz="2400" b="1" dirty="0" smtClean="0"/>
              <a:t>створено більш ніж на добу раніше, ніж створено </a:t>
            </a:r>
            <a:r>
              <a:rPr lang="uk-UA" sz="2400" b="1" dirty="0"/>
              <a:t>ПЛАН ЛІКУВАННЯ – </a:t>
            </a:r>
            <a:r>
              <a:rPr lang="uk-UA" sz="2400" b="1" dirty="0" smtClean="0"/>
              <a:t>протягом </a:t>
            </a:r>
            <a:r>
              <a:rPr lang="uk-UA" sz="2400" b="1" dirty="0"/>
              <a:t>90 </a:t>
            </a:r>
            <a:r>
              <a:rPr lang="uk-UA" sz="2400" b="1" dirty="0" smtClean="0"/>
              <a:t>днів можна створити </a:t>
            </a:r>
            <a:r>
              <a:rPr lang="uk-UA" sz="2400" b="1" dirty="0"/>
              <a:t>ПЛАН </a:t>
            </a:r>
            <a:r>
              <a:rPr lang="uk-UA" sz="2400" b="1" dirty="0" smtClean="0"/>
              <a:t>ЛІКУВАННЯ і послатися на цю ВЗАЄМОДІЮ. </a:t>
            </a:r>
          </a:p>
          <a:p>
            <a:r>
              <a:rPr lang="uk-UA" sz="2400" b="1" dirty="0" smtClean="0"/>
              <a:t>Або ж створити нову ВЗАЄМОДІЮ та новий ПЛАН ЛІКУВАННЯ «заднім числом» (з датою не раніше, ніж 90 днів до фактичної дати створення)</a:t>
            </a:r>
          </a:p>
          <a:p>
            <a:r>
              <a:rPr lang="uk-UA" sz="2400" b="1" dirty="0" smtClean="0"/>
              <a:t> </a:t>
            </a:r>
            <a:endParaRPr lang="uk-UA" sz="2400" b="1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40241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На зображенні може бути: верхній одяг та водойма">
            <a:extLst>
              <a:ext uri="{FF2B5EF4-FFF2-40B4-BE49-F238E27FC236}">
                <a16:creationId xmlns:a16="http://schemas.microsoft.com/office/drawing/2014/main" id="{1B8E907B-5940-4571-A7AB-37396573D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107018"/>
            <a:ext cx="12183263" cy="464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01516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0BC605-5A91-8542-BDD9-E7873921A0DD}"/>
              </a:ext>
            </a:extLst>
          </p:cNvPr>
          <p:cNvSpPr/>
          <p:nvPr/>
        </p:nvSpPr>
        <p:spPr>
          <a:xfrm>
            <a:off x="0" y="-11261"/>
            <a:ext cx="8585200" cy="686926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pic>
        <p:nvPicPr>
          <p:cNvPr id="147" name="Google Shape;67;p15" descr="Google Shape;67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499" y="536100"/>
            <a:ext cx="2365456" cy="469437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026AF0E5-E5F0-C547-9921-945F8A3A40B6}"/>
              </a:ext>
            </a:extLst>
          </p:cNvPr>
          <p:cNvSpPr/>
          <p:nvPr/>
        </p:nvSpPr>
        <p:spPr>
          <a:xfrm rot="16200000">
            <a:off x="7786048" y="3028178"/>
            <a:ext cx="1100667" cy="5249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F5C744-841E-C14C-8F6C-44F17427D2BB}"/>
              </a:ext>
            </a:extLst>
          </p:cNvPr>
          <p:cNvSpPr txBox="1"/>
          <p:nvPr/>
        </p:nvSpPr>
        <p:spPr>
          <a:xfrm>
            <a:off x="2325188" y="2998257"/>
            <a:ext cx="55647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 dirty="0">
                <a:solidFill>
                  <a:schemeClr val="bg1"/>
                </a:solidFill>
              </a:rPr>
              <a:t>ДЯКУЮ ЗА УВАГУ!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70767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0BC605-5A91-8542-BDD9-E7873921A0DD}"/>
              </a:ext>
            </a:extLst>
          </p:cNvPr>
          <p:cNvSpPr/>
          <p:nvPr/>
        </p:nvSpPr>
        <p:spPr>
          <a:xfrm>
            <a:off x="0" y="-11261"/>
            <a:ext cx="8585200" cy="686926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7" name="Google Shape;67;p15" descr="Google Shape;67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499" y="536100"/>
            <a:ext cx="2365456" cy="469437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riangle 8">
            <a:extLst>
              <a:ext uri="{FF2B5EF4-FFF2-40B4-BE49-F238E27FC236}">
                <a16:creationId xmlns:a16="http://schemas.microsoft.com/office/drawing/2014/main" id="{026AF0E5-E5F0-C547-9921-945F8A3A40B6}"/>
              </a:ext>
            </a:extLst>
          </p:cNvPr>
          <p:cNvSpPr/>
          <p:nvPr/>
        </p:nvSpPr>
        <p:spPr>
          <a:xfrm rot="16200000">
            <a:off x="7786048" y="3028178"/>
            <a:ext cx="1100667" cy="5249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ttp://nszu.gov.ua/">
            <a:extLst>
              <a:ext uri="{FF2B5EF4-FFF2-40B4-BE49-F238E27FC236}">
                <a16:creationId xmlns:a16="http://schemas.microsoft.com/office/drawing/2014/main" id="{E5B162B8-43C2-2B41-957D-8F8BD91BAA87}"/>
              </a:ext>
            </a:extLst>
          </p:cNvPr>
          <p:cNvSpPr txBox="1"/>
          <p:nvPr/>
        </p:nvSpPr>
        <p:spPr>
          <a:xfrm>
            <a:off x="4161789" y="4485600"/>
            <a:ext cx="3487574" cy="461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2300" b="1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400" dirty="0" err="1">
                <a:latin typeface="+mn-lt"/>
              </a:rPr>
              <a:t>nszu.gov.ua</a:t>
            </a:r>
            <a:endParaRPr sz="2400" dirty="0">
              <a:latin typeface="+mn-lt"/>
            </a:endParaRPr>
          </a:p>
        </p:txBody>
      </p:sp>
      <p:pic>
        <p:nvPicPr>
          <p:cNvPr id="14" name="Рисунок 12" descr="Рисунок 12">
            <a:extLst>
              <a:ext uri="{FF2B5EF4-FFF2-40B4-BE49-F238E27FC236}">
                <a16:creationId xmlns:a16="http://schemas.microsoft.com/office/drawing/2014/main" id="{9D8DEC67-2DE7-AE48-9063-5192827C7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157" y="1110467"/>
            <a:ext cx="3222945" cy="1257418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http://nszu.gov.ua/">
            <a:extLst>
              <a:ext uri="{FF2B5EF4-FFF2-40B4-BE49-F238E27FC236}">
                <a16:creationId xmlns:a16="http://schemas.microsoft.com/office/drawing/2014/main" id="{1E3B046F-A892-BB48-8614-E34D2090F260}"/>
              </a:ext>
            </a:extLst>
          </p:cNvPr>
          <p:cNvSpPr txBox="1"/>
          <p:nvPr/>
        </p:nvSpPr>
        <p:spPr>
          <a:xfrm>
            <a:off x="4095759" y="3001915"/>
            <a:ext cx="3553602" cy="164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6" tIns="91436" rIns="91436" bIns="91436">
            <a:spAutoFit/>
          </a:bodyPr>
          <a:lstStyle>
            <a:lvl1pPr algn="r">
              <a:defRPr sz="2300" b="1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400" dirty="0" err="1">
                <a:latin typeface="+mn-lt"/>
              </a:rPr>
              <a:t>nszu.ukr</a:t>
            </a:r>
            <a:endParaRPr lang="ru-RU" sz="2400" dirty="0">
              <a:latin typeface="+mn-lt"/>
            </a:endParaRPr>
          </a:p>
          <a:p>
            <a:r>
              <a:rPr lang="en-US" sz="2400" dirty="0" err="1"/>
              <a:t>NSZU_gov</a:t>
            </a:r>
            <a:endParaRPr lang="ru-RU" sz="2400" dirty="0"/>
          </a:p>
          <a:p>
            <a:r>
              <a:rPr lang="ru-RU" sz="2400" dirty="0"/>
              <a:t>НСЗУ</a:t>
            </a:r>
            <a:r>
              <a:rPr lang="en-US" dirty="0"/>
              <a:t> </a:t>
            </a:r>
          </a:p>
          <a:p>
            <a:endParaRPr dirty="0">
              <a:latin typeface="+mn-lt"/>
            </a:endParaRPr>
          </a:p>
        </p:txBody>
      </p:sp>
      <p:pic>
        <p:nvPicPr>
          <p:cNvPr id="16" name="Рисунок 1" descr="Рисунок 1">
            <a:extLst>
              <a:ext uri="{FF2B5EF4-FFF2-40B4-BE49-F238E27FC236}">
                <a16:creationId xmlns:a16="http://schemas.microsoft.com/office/drawing/2014/main" id="{8D79C501-D192-5B4B-BD5E-04159ECCA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999" y="3089930"/>
            <a:ext cx="318519" cy="315952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http://nszu.gov.ua/">
            <a:extLst>
              <a:ext uri="{FF2B5EF4-FFF2-40B4-BE49-F238E27FC236}">
                <a16:creationId xmlns:a16="http://schemas.microsoft.com/office/drawing/2014/main" id="{26C07E46-D5CE-6F41-ADE1-05A9A2D3878D}"/>
              </a:ext>
            </a:extLst>
          </p:cNvPr>
          <p:cNvSpPr txBox="1"/>
          <p:nvPr/>
        </p:nvSpPr>
        <p:spPr>
          <a:xfrm>
            <a:off x="4151375" y="4879985"/>
            <a:ext cx="3497987" cy="461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2300" b="1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400" dirty="0" err="1">
                <a:latin typeface="+mn-lt"/>
              </a:rPr>
              <a:t>info@nszu.gov.ua</a:t>
            </a:r>
            <a:endParaRPr sz="2400" dirty="0">
              <a:latin typeface="+mn-lt"/>
            </a:endParaRPr>
          </a:p>
        </p:txBody>
      </p:sp>
      <p:sp>
        <p:nvSpPr>
          <p:cNvPr id="18" name="http://nszu.gov.ua/">
            <a:extLst>
              <a:ext uri="{FF2B5EF4-FFF2-40B4-BE49-F238E27FC236}">
                <a16:creationId xmlns:a16="http://schemas.microsoft.com/office/drawing/2014/main" id="{15048B60-AA34-F547-BDDF-A6C64805ED3B}"/>
              </a:ext>
            </a:extLst>
          </p:cNvPr>
          <p:cNvSpPr txBox="1"/>
          <p:nvPr/>
        </p:nvSpPr>
        <p:spPr>
          <a:xfrm>
            <a:off x="1487606" y="5639483"/>
            <a:ext cx="6161755" cy="461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2300" b="1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400" dirty="0" err="1">
                <a:latin typeface="+mn-lt"/>
              </a:rPr>
              <a:t>м</a:t>
            </a:r>
            <a:r>
              <a:rPr sz="2400" dirty="0">
                <a:latin typeface="+mn-lt"/>
              </a:rPr>
              <a:t>. </a:t>
            </a:r>
            <a:r>
              <a:rPr sz="2400" dirty="0" err="1">
                <a:latin typeface="+mn-lt"/>
              </a:rPr>
              <a:t>Київ</a:t>
            </a:r>
            <a:r>
              <a:rPr sz="2400" dirty="0">
                <a:latin typeface="+mn-lt"/>
              </a:rPr>
              <a:t>, </a:t>
            </a:r>
            <a:r>
              <a:rPr sz="2400" dirty="0" err="1">
                <a:latin typeface="+mn-lt"/>
              </a:rPr>
              <a:t>пр</a:t>
            </a:r>
            <a:r>
              <a:rPr lang="en-US" sz="2400" dirty="0" err="1">
                <a:latin typeface="+mn-lt"/>
              </a:rPr>
              <a:t>-</a:t>
            </a:r>
            <a:r>
              <a:rPr sz="2400" dirty="0" err="1">
                <a:latin typeface="+mn-lt"/>
              </a:rPr>
              <a:t>т</a:t>
            </a:r>
            <a:r>
              <a:rPr sz="2400" dirty="0">
                <a:latin typeface="+mn-lt"/>
              </a:rPr>
              <a:t> </a:t>
            </a:r>
            <a:r>
              <a:rPr sz="2400" dirty="0" err="1">
                <a:latin typeface="+mn-lt"/>
              </a:rPr>
              <a:t>Степана</a:t>
            </a:r>
            <a:r>
              <a:rPr sz="2400" dirty="0">
                <a:latin typeface="+mn-lt"/>
              </a:rPr>
              <a:t> </a:t>
            </a:r>
            <a:r>
              <a:rPr sz="2400" dirty="0" err="1">
                <a:latin typeface="+mn-lt"/>
              </a:rPr>
              <a:t>Бандери</a:t>
            </a:r>
            <a:r>
              <a:rPr sz="2400" dirty="0">
                <a:latin typeface="+mn-lt"/>
              </a:rPr>
              <a:t>, 19, 04073</a:t>
            </a:r>
          </a:p>
        </p:txBody>
      </p:sp>
      <p:sp>
        <p:nvSpPr>
          <p:cNvPr id="20" name="http://nszu.gov.ua/">
            <a:extLst>
              <a:ext uri="{FF2B5EF4-FFF2-40B4-BE49-F238E27FC236}">
                <a16:creationId xmlns:a16="http://schemas.microsoft.com/office/drawing/2014/main" id="{F9625688-87A4-C249-9F76-03B5714F865B}"/>
              </a:ext>
            </a:extLst>
          </p:cNvPr>
          <p:cNvSpPr txBox="1"/>
          <p:nvPr/>
        </p:nvSpPr>
        <p:spPr>
          <a:xfrm>
            <a:off x="4095759" y="2617547"/>
            <a:ext cx="3553602" cy="553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6" tIns="91436" rIns="91436" bIns="91436">
            <a:spAutoFit/>
          </a:bodyPr>
          <a:lstStyle>
            <a:lvl1pPr algn="r">
              <a:defRPr sz="2300" b="1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sz="2400" dirty="0">
                <a:latin typeface="+mn-lt"/>
              </a:rPr>
              <a:t>NSZU Ukraine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73C3B0-C9EF-DA4F-A384-6AC5351807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999" y="2693654"/>
            <a:ext cx="318519" cy="3185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0E6E826-82BC-B24D-A96B-6758DA5E8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452" y="3478284"/>
            <a:ext cx="298066" cy="29806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FD6488-18DE-1648-AE38-0B0ABF105A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3421" y="3853564"/>
            <a:ext cx="289637" cy="28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4468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14498</TotalTime>
  <Words>1252</Words>
  <Application>Microsoft Office PowerPoint</Application>
  <PresentationFormat>Широкий екран</PresentationFormat>
  <Paragraphs>231</Paragraphs>
  <Slides>16</Slides>
  <Notes>8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16</vt:i4>
      </vt:variant>
    </vt:vector>
  </HeadingPairs>
  <TitlesOfParts>
    <vt:vector size="23" baseType="lpstr">
      <vt:lpstr>Arial</vt:lpstr>
      <vt:lpstr>Arial Narrow</vt:lpstr>
      <vt:lpstr>Calibri</vt:lpstr>
      <vt:lpstr>Calibri Light</vt:lpstr>
      <vt:lpstr>Cambria</vt:lpstr>
      <vt:lpstr>Wingdings</vt:lpstr>
      <vt:lpstr>Office Theme</vt:lpstr>
      <vt:lpstr>Презентація PowerPoint</vt:lpstr>
      <vt:lpstr>Розвиток та реалізація програми медичних гарантій щодо напрямків лікування ВІЛ/СНІД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Програма медичних гарантій</dc:title>
  <dc:creator>Горошко Альона Вікторівна</dc:creator>
  <cp:lastModifiedBy>Иришка</cp:lastModifiedBy>
  <cp:revision>487</cp:revision>
  <dcterms:modified xsi:type="dcterms:W3CDTF">2023-04-06T08:09:12Z</dcterms:modified>
</cp:coreProperties>
</file>
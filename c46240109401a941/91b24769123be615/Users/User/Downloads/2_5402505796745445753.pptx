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634" y="-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2240554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914400"/>
            <a:ext cx="7543800" cy="1614488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2531618"/>
            <a:ext cx="6172200" cy="51435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Зразок підзаголовка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3055873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3200526"/>
            <a:ext cx="3733800" cy="54864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428750"/>
            <a:ext cx="6035040" cy="1762506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493776"/>
            <a:ext cx="3273552" cy="2571750"/>
          </a:xfrm>
        </p:spPr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493777"/>
            <a:ext cx="3273552" cy="2574131"/>
          </a:xfrm>
        </p:spPr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496482"/>
            <a:ext cx="3273552" cy="47982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028700"/>
            <a:ext cx="3276600" cy="20574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496482"/>
            <a:ext cx="3273552" cy="47982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028700"/>
            <a:ext cx="3273552" cy="20574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39014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39014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330941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4351"/>
            <a:ext cx="4343400" cy="257175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514351"/>
            <a:ext cx="2590800" cy="257175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459582"/>
            <a:ext cx="6705600" cy="1910239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2589785"/>
            <a:ext cx="5029200" cy="540603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2498598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514351"/>
            <a:ext cx="5791200" cy="2628899"/>
          </a:xfrm>
        </p:spPr>
        <p:txBody>
          <a:bodyPr vert="eaVert" anchor="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457201"/>
            <a:ext cx="2133600" cy="3886200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514351"/>
            <a:ext cx="5029200" cy="3429000"/>
          </a:xfrm>
        </p:spPr>
        <p:txBody>
          <a:bodyPr vert="eaVert" anchor="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778831"/>
            <a:ext cx="7240620" cy="4280240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418098" y="314349"/>
            <a:ext cx="4153854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87641"/>
            <a:ext cx="6479362" cy="3566068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3657600"/>
            <a:ext cx="75438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514351"/>
            <a:ext cx="6096000" cy="2743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461605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4C71EC6-210F-42DE-9C53-41977AD35B3D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4616054"/>
            <a:ext cx="457200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4381500"/>
            <a:ext cx="2133600" cy="2286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914400"/>
            <a:ext cx="8568952" cy="1614488"/>
          </a:xfrm>
        </p:spPr>
        <p:txBody>
          <a:bodyPr/>
          <a:lstStyle/>
          <a:p>
            <a:r>
              <a:rPr lang="uk-UA" dirty="0" smtClean="0"/>
              <a:t>Йоганн Вольфганг Ґете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2051720" y="2517744"/>
            <a:ext cx="6172200" cy="514350"/>
          </a:xfrm>
        </p:spPr>
        <p:txBody>
          <a:bodyPr>
            <a:normAutofit/>
          </a:bodyPr>
          <a:lstStyle/>
          <a:p>
            <a:r>
              <a:rPr lang="uk-UA" sz="2400" dirty="0" smtClean="0"/>
              <a:t>1749-1832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410426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з одним вирізаним кутом 3"/>
          <p:cNvSpPr/>
          <p:nvPr/>
        </p:nvSpPr>
        <p:spPr>
          <a:xfrm>
            <a:off x="5364088" y="735546"/>
            <a:ext cx="3096344" cy="1458162"/>
          </a:xfrm>
          <a:prstGeom prst="snip1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5191472" y="744996"/>
            <a:ext cx="3441576" cy="1603902"/>
          </a:xfrm>
        </p:spPr>
        <p:txBody>
          <a:bodyPr/>
          <a:lstStyle/>
          <a:p>
            <a:pPr marL="18288" indent="0" algn="ctr">
              <a:buNone/>
            </a:pPr>
            <a:r>
              <a:rPr lang="uk-UA" dirty="0" smtClean="0"/>
              <a:t>Йоганн Вольфганг фон Гете – німецький поет, державний діяч.</a:t>
            </a:r>
            <a:endParaRPr lang="uk-UA" dirty="0"/>
          </a:p>
        </p:txBody>
      </p:sp>
      <p:pic>
        <p:nvPicPr>
          <p:cNvPr id="1026" name="Picture 2" descr="Йоганн Вольфганг Ґете. Біографія Йоганна Вольфганга Ґете — УкрЛіб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771550"/>
            <a:ext cx="3090656" cy="377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кутник з одним вирізаним кутом 6"/>
          <p:cNvSpPr/>
          <p:nvPr/>
        </p:nvSpPr>
        <p:spPr>
          <a:xfrm>
            <a:off x="5364088" y="2427734"/>
            <a:ext cx="3096344" cy="2592288"/>
          </a:xfrm>
          <a:prstGeom prst="snip1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TextBox 5"/>
          <p:cNvSpPr txBox="1"/>
          <p:nvPr/>
        </p:nvSpPr>
        <p:spPr>
          <a:xfrm>
            <a:off x="5364088" y="2449267"/>
            <a:ext cx="30963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Народився у дворянській родині, його батько був адвокатом. З дитинства проявляв інтерес до науки. В 7 років уже знав кілька мов.</a:t>
            </a:r>
            <a:endParaRPr lang="uk-UA" sz="2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949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круглений прямокутник 3"/>
          <p:cNvSpPr/>
          <p:nvPr/>
        </p:nvSpPr>
        <p:spPr>
          <a:xfrm>
            <a:off x="2339752" y="2781952"/>
            <a:ext cx="5616624" cy="14581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2123728" y="303499"/>
            <a:ext cx="6096000" cy="2743199"/>
          </a:xfrm>
        </p:spPr>
        <p:txBody>
          <a:bodyPr/>
          <a:lstStyle/>
          <a:p>
            <a:pPr marL="18288" indent="0">
              <a:buNone/>
            </a:pPr>
            <a:r>
              <a:rPr lang="uk-UA" dirty="0" smtClean="0"/>
              <a:t>У 1765 році Гете стає студентом Лейпцизького університету, де мав вивчати правознавство. В цей час він вперше закохується, і це стало приводом для створення ліричного збірника віршів «</a:t>
            </a:r>
            <a:r>
              <a:rPr lang="uk-UA" dirty="0" err="1" smtClean="0"/>
              <a:t>Аннетте</a:t>
            </a:r>
            <a:r>
              <a:rPr lang="uk-UA" dirty="0" smtClean="0"/>
              <a:t>» (1767).</a:t>
            </a:r>
            <a:endParaRPr lang="uk-UA" dirty="0"/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070" y="2479339"/>
            <a:ext cx="6108182" cy="210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0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1763688" y="87475"/>
            <a:ext cx="7200800" cy="247316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uk-UA" sz="1800" dirty="0"/>
              <a:t>Серйозна хвороба в 1768 році ледь не поставила останню крапку в біографії Йоганна Гете, змусивши його залишити навчання в університеті, яке він зміг продовжити лише в 1770 році в Страсбурзі. Вивчав природничі науки та </a:t>
            </a:r>
            <a:r>
              <a:rPr lang="uk-UA" sz="1800" dirty="0" smtClean="0"/>
              <a:t>медицину. Там приєднався до об’єднання «</a:t>
            </a:r>
            <a:r>
              <a:rPr lang="uk-UA" sz="1800" dirty="0" err="1" smtClean="0"/>
              <a:t>штюрмерів</a:t>
            </a:r>
            <a:r>
              <a:rPr lang="uk-UA" sz="1800" dirty="0" smtClean="0"/>
              <a:t>» (представники течії «Буря і натиск», німецькою «</a:t>
            </a:r>
            <a:r>
              <a:rPr lang="pl-PL" sz="1800" dirty="0"/>
              <a:t>Sturm und </a:t>
            </a:r>
            <a:r>
              <a:rPr lang="pl-PL" sz="1800" dirty="0" smtClean="0"/>
              <a:t>Drang</a:t>
            </a:r>
            <a:r>
              <a:rPr lang="uk-UA" sz="1800" dirty="0" smtClean="0"/>
              <a:t>»).</a:t>
            </a:r>
            <a:endParaRPr lang="uk-UA" sz="1800" dirty="0"/>
          </a:p>
        </p:txBody>
      </p:sp>
      <p:pic>
        <p:nvPicPr>
          <p:cNvPr id="4098" name="Picture 2" descr="Страсбурзький університет » Факультети університету Страсбурга » Global  Stu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223" y="2571750"/>
            <a:ext cx="5682648" cy="21554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51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251520" y="195487"/>
            <a:ext cx="7185992" cy="2743199"/>
          </a:xfrm>
        </p:spPr>
        <p:txBody>
          <a:bodyPr>
            <a:normAutofit/>
          </a:bodyPr>
          <a:lstStyle/>
          <a:p>
            <a:pPr marL="18288" indent="0" algn="just">
              <a:buNone/>
            </a:pPr>
            <a:r>
              <a:rPr lang="uk-UA" sz="1800" dirty="0"/>
              <a:t>У 1771 році після захисту дисертації Гете стає доктором права</a:t>
            </a:r>
            <a:r>
              <a:rPr lang="uk-UA" sz="1800" dirty="0" smtClean="0"/>
              <a:t>. У </a:t>
            </a:r>
            <a:r>
              <a:rPr lang="uk-UA" sz="1800" dirty="0"/>
              <a:t>1772 році Гете переїжджає в місто </a:t>
            </a:r>
            <a:r>
              <a:rPr lang="uk-UA" sz="1800" dirty="0" err="1"/>
              <a:t>Вецлар</a:t>
            </a:r>
            <a:r>
              <a:rPr lang="uk-UA" sz="1800" dirty="0"/>
              <a:t> на час адвокатської практики. Саме в цьому місті поет переживає муки нерозділеного кохання до нареченої свого друга </a:t>
            </a:r>
            <a:r>
              <a:rPr lang="uk-UA" sz="1800" dirty="0" smtClean="0"/>
              <a:t>Шарлотти </a:t>
            </a:r>
            <a:r>
              <a:rPr lang="uk-UA" sz="1800" dirty="0"/>
              <a:t>Буф. Свої глибокі переживання Гете передав у своєму творі «Страждання молодого Вертера» – цей роман зробив поета </a:t>
            </a:r>
            <a:r>
              <a:rPr lang="uk-UA" sz="1800" dirty="0" smtClean="0"/>
              <a:t>знаменитим.</a:t>
            </a:r>
            <a:endParaRPr lang="uk-UA" sz="1800" dirty="0"/>
          </a:p>
        </p:txBody>
      </p:sp>
      <p:pic>
        <p:nvPicPr>
          <p:cNvPr id="5122" name="Picture 2" descr="Вецлар (Германия) 2023: все самое лучшее для туристов - Tripadvi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745" y="2715766"/>
            <a:ext cx="4896544" cy="23330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38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899592" y="195487"/>
            <a:ext cx="7992888" cy="1733363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uk-UA" sz="1800" dirty="0"/>
              <a:t>У 1775 році Гете, на запрошення герцога Карла Августа переїжджає в місто </a:t>
            </a:r>
            <a:r>
              <a:rPr lang="uk-UA" sz="1800" dirty="0" err="1"/>
              <a:t>Веймар</a:t>
            </a:r>
            <a:r>
              <a:rPr lang="uk-UA" sz="1800" dirty="0"/>
              <a:t>, обіймає посаду таємного радника, незабаром стає міністром в уряді. Відомий письменник і поет, маючи широкі повноваження, контролював фінанси, стан доріг, просвітництво. За свої успіхи у роботі Гете в 1782 році був зведений в сан </a:t>
            </a:r>
            <a:r>
              <a:rPr lang="uk-UA" sz="1800" dirty="0" smtClean="0"/>
              <a:t>дворянина.</a:t>
            </a:r>
            <a:endParaRPr lang="uk-UA" sz="1800" dirty="0"/>
          </a:p>
        </p:txBody>
      </p:sp>
      <p:pic>
        <p:nvPicPr>
          <p:cNvPr id="6146" name="Picture 2" descr="Карл Август (великий герцог Саксен-Веймар-Эйзенахский) — Википед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815666"/>
            <a:ext cx="2448272" cy="322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Пам'ятник Гете і Шиллеру — Вікіпеді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815006"/>
            <a:ext cx="2507678" cy="322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18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971600" y="267494"/>
            <a:ext cx="7999206" cy="2160240"/>
          </a:xfrm>
        </p:spPr>
        <p:txBody>
          <a:bodyPr>
            <a:noAutofit/>
          </a:bodyPr>
          <a:lstStyle/>
          <a:p>
            <a:pPr marL="18288" indent="0">
              <a:buNone/>
            </a:pPr>
            <a:r>
              <a:rPr lang="uk-UA" sz="1800" dirty="0"/>
              <a:t>1791 рік ознаменувався відкриттям в місті театру, що відбулося при безпосередній участі письменника. Успішна державна служба не заважала його літературній діяльності (драма «</a:t>
            </a:r>
            <a:r>
              <a:rPr lang="uk-UA" sz="1800" dirty="0" err="1"/>
              <a:t>Егмонт</a:t>
            </a:r>
            <a:r>
              <a:rPr lang="uk-UA" sz="1800" dirty="0"/>
              <a:t>» і «</a:t>
            </a:r>
            <a:r>
              <a:rPr lang="uk-UA" sz="1800" dirty="0" err="1"/>
              <a:t>Іфігенія</a:t>
            </a:r>
            <a:r>
              <a:rPr lang="uk-UA" sz="1800" dirty="0"/>
              <a:t> в Тавриді», починає працювати над «Фаустом», пише вірші та балади). Не нехтує також вивченням фізики, ботаніки та природничих </a:t>
            </a:r>
            <a:r>
              <a:rPr lang="uk-UA" sz="1800" dirty="0" smtClean="0"/>
              <a:t>наук.</a:t>
            </a:r>
            <a:endParaRPr lang="uk-UA" sz="1800" dirty="0"/>
          </a:p>
        </p:txBody>
      </p:sp>
      <p:pic>
        <p:nvPicPr>
          <p:cNvPr id="7170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044958"/>
            <a:ext cx="3898211" cy="293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6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3923928" y="1275606"/>
            <a:ext cx="4871864" cy="2743199"/>
          </a:xfrm>
        </p:spPr>
        <p:txBody>
          <a:bodyPr/>
          <a:lstStyle/>
          <a:p>
            <a:pPr marL="18288" indent="0">
              <a:buNone/>
            </a:pPr>
            <a:r>
              <a:rPr lang="uk-UA" dirty="0" smtClean="0"/>
              <a:t>В 1808 – виходить перша частина трагедії «Фауст». Кінець роботи над «Фаустом» припадає на 1831.</a:t>
            </a:r>
            <a:endParaRPr lang="uk-UA" dirty="0"/>
          </a:p>
        </p:txBody>
      </p:sp>
      <p:sp>
        <p:nvSpPr>
          <p:cNvPr id="4" name="AutoShape 2" descr="Книга «Фауст » – Йоган Вольфганг Гете, купити за ціною 337 на YAKABOO:  978-088-0000-89-5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" name="AutoShape 4" descr="Книга «Фауст » – Йоган Вольфганг Гете, купити за ціною 337 на YAKABOO:  978-088-0000-89-5"/>
          <p:cNvSpPr>
            <a:spLocks noChangeAspect="1" noChangeArrowheads="1"/>
          </p:cNvSpPr>
          <p:nvPr/>
        </p:nvSpPr>
        <p:spPr bwMode="auto">
          <a:xfrm>
            <a:off x="307975" y="15875"/>
            <a:ext cx="298450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8197" name="Picture 5" descr="C:\Users\Bohdan\Desktop\cover_13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87573"/>
            <a:ext cx="2609794" cy="369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17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107504" y="267494"/>
            <a:ext cx="5688632" cy="3096344"/>
          </a:xfrm>
        </p:spPr>
        <p:txBody>
          <a:bodyPr/>
          <a:lstStyle/>
          <a:p>
            <a:pPr marL="18288" indent="0">
              <a:buNone/>
            </a:pPr>
            <a:r>
              <a:rPr lang="uk-UA" dirty="0"/>
              <a:t>Геніальний </a:t>
            </a:r>
            <a:r>
              <a:rPr lang="uk-UA" dirty="0" smtClean="0"/>
              <a:t>письменник </a:t>
            </a:r>
            <a:r>
              <a:rPr lang="uk-UA" dirty="0"/>
              <a:t>пішов з життя 22 березня 1832, залишивши величезну спадщину у вигляді безлічі віршів, балад, п’єс, романів, наукових робіт у сфері анатомії, геології, мінералогії, фізики</a:t>
            </a:r>
            <a:r>
              <a:rPr lang="uk-UA" dirty="0" smtClean="0"/>
              <a:t>.</a:t>
            </a:r>
            <a:endParaRPr lang="uk-UA" dirty="0"/>
          </a:p>
        </p:txBody>
      </p:sp>
      <p:pic>
        <p:nvPicPr>
          <p:cNvPr id="9218" name="Picture 2" descr="зображення місця похованн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192815"/>
            <a:ext cx="3809837" cy="285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48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місту 1"/>
          <p:cNvSpPr>
            <a:spLocks noGrp="1"/>
          </p:cNvSpPr>
          <p:nvPr>
            <p:ph idx="1"/>
          </p:nvPr>
        </p:nvSpPr>
        <p:spPr>
          <a:xfrm>
            <a:off x="3253038" y="766419"/>
            <a:ext cx="5760640" cy="3464441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uk-UA" dirty="0" smtClean="0"/>
              <a:t>Серед його найвидатніших творів є:</a:t>
            </a:r>
          </a:p>
          <a:p>
            <a:pPr marL="18288" indent="0">
              <a:buNone/>
            </a:pPr>
            <a:r>
              <a:rPr lang="ru-RU" dirty="0"/>
              <a:t>драма «</a:t>
            </a:r>
            <a:r>
              <a:rPr lang="ru-RU" dirty="0" err="1"/>
              <a:t>Гец</a:t>
            </a:r>
            <a:r>
              <a:rPr lang="ru-RU" dirty="0"/>
              <a:t> фон </a:t>
            </a:r>
            <a:r>
              <a:rPr lang="ru-RU" dirty="0" err="1"/>
              <a:t>Берліхінген</a:t>
            </a:r>
            <a:r>
              <a:rPr lang="ru-RU" dirty="0"/>
              <a:t>» (1773</a:t>
            </a:r>
            <a:r>
              <a:rPr lang="ru-RU" dirty="0" smtClean="0"/>
              <a:t>),</a:t>
            </a:r>
          </a:p>
          <a:p>
            <a:pPr marL="18288" indent="0">
              <a:buNone/>
            </a:pPr>
            <a:r>
              <a:rPr lang="ru-RU" dirty="0" smtClean="0"/>
              <a:t>роман </a:t>
            </a:r>
            <a:r>
              <a:rPr lang="ru-RU" dirty="0"/>
              <a:t>«</a:t>
            </a:r>
            <a:r>
              <a:rPr lang="ru-RU" dirty="0" err="1"/>
              <a:t>Страждання</a:t>
            </a:r>
            <a:r>
              <a:rPr lang="ru-RU" dirty="0"/>
              <a:t> молодого Вертера» (1774</a:t>
            </a:r>
            <a:r>
              <a:rPr lang="ru-RU" dirty="0" smtClean="0"/>
              <a:t>),</a:t>
            </a:r>
          </a:p>
          <a:p>
            <a:pPr marL="18288" indent="0">
              <a:buNone/>
            </a:pPr>
            <a:r>
              <a:rPr lang="ru-RU" dirty="0" err="1" smtClean="0"/>
              <a:t>балада</a:t>
            </a:r>
            <a:r>
              <a:rPr lang="ru-RU" dirty="0" smtClean="0"/>
              <a:t> </a:t>
            </a:r>
            <a:r>
              <a:rPr lang="ru-RU" dirty="0"/>
              <a:t>«</a:t>
            </a:r>
            <a:r>
              <a:rPr lang="ru-RU" dirty="0" err="1"/>
              <a:t>Вільшаний</a:t>
            </a:r>
            <a:r>
              <a:rPr lang="ru-RU" dirty="0"/>
              <a:t> король» (1782</a:t>
            </a:r>
            <a:r>
              <a:rPr lang="ru-RU" dirty="0" smtClean="0"/>
              <a:t>),</a:t>
            </a:r>
          </a:p>
          <a:p>
            <a:pPr marL="18288" indent="0">
              <a:buNone/>
            </a:pPr>
            <a:r>
              <a:rPr lang="ru-RU" dirty="0" err="1" smtClean="0"/>
              <a:t>трагедія</a:t>
            </a:r>
            <a:r>
              <a:rPr lang="ru-RU" dirty="0" smtClean="0"/>
              <a:t> </a:t>
            </a:r>
            <a:r>
              <a:rPr lang="ru-RU" dirty="0"/>
              <a:t>«</a:t>
            </a:r>
            <a:r>
              <a:rPr lang="ru-RU" dirty="0" err="1"/>
              <a:t>Іфігенія</a:t>
            </a:r>
            <a:r>
              <a:rPr lang="ru-RU" dirty="0"/>
              <a:t> в </a:t>
            </a:r>
            <a:r>
              <a:rPr lang="ru-RU" dirty="0" err="1"/>
              <a:t>Тавриді</a:t>
            </a:r>
            <a:r>
              <a:rPr lang="ru-RU" dirty="0"/>
              <a:t>» (1787</a:t>
            </a:r>
            <a:r>
              <a:rPr lang="ru-RU" dirty="0" smtClean="0"/>
              <a:t>),</a:t>
            </a:r>
          </a:p>
          <a:p>
            <a:pPr marL="18288" indent="0">
              <a:buNone/>
            </a:pPr>
            <a:r>
              <a:rPr lang="ru-RU" dirty="0" smtClean="0"/>
              <a:t>«</a:t>
            </a:r>
            <a:r>
              <a:rPr lang="ru-RU" dirty="0" err="1"/>
              <a:t>Коринфська</a:t>
            </a:r>
            <a:r>
              <a:rPr lang="ru-RU" dirty="0"/>
              <a:t> наречена» (1797</a:t>
            </a:r>
            <a:r>
              <a:rPr lang="ru-RU" dirty="0" smtClean="0"/>
              <a:t>),</a:t>
            </a:r>
          </a:p>
          <a:p>
            <a:pPr marL="18288" indent="0">
              <a:buNone/>
            </a:pPr>
            <a:r>
              <a:rPr lang="ru-RU" dirty="0" smtClean="0"/>
              <a:t>поема </a:t>
            </a:r>
            <a:r>
              <a:rPr lang="ru-RU" dirty="0"/>
              <a:t>«Герман і </a:t>
            </a:r>
            <a:r>
              <a:rPr lang="ru-RU" dirty="0" err="1"/>
              <a:t>Доротея</a:t>
            </a:r>
            <a:r>
              <a:rPr lang="ru-RU" dirty="0"/>
              <a:t>» (1797</a:t>
            </a:r>
            <a:r>
              <a:rPr lang="ru-RU" dirty="0" smtClean="0"/>
              <a:t>),</a:t>
            </a:r>
          </a:p>
          <a:p>
            <a:pPr marL="18288" indent="0">
              <a:buNone/>
            </a:pPr>
            <a:r>
              <a:rPr lang="ru-RU" dirty="0" smtClean="0"/>
              <a:t>поема </a:t>
            </a:r>
            <a:r>
              <a:rPr lang="ru-RU" dirty="0"/>
              <a:t>«Фауст» (1808—1831</a:t>
            </a:r>
            <a:r>
              <a:rPr lang="ru-RU" dirty="0" smtClean="0"/>
              <a:t>)</a:t>
            </a:r>
            <a:endParaRPr lang="uk-UA" dirty="0"/>
          </a:p>
        </p:txBody>
      </p:sp>
      <p:pic>
        <p:nvPicPr>
          <p:cNvPr id="2050" name="Picture 2" descr="Йоганн Вольфганг фон Гете — Вікіцитат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4" y="1059582"/>
            <a:ext cx="2736304" cy="327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09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азова">
  <a:themeElements>
    <a:clrScheme name="Базова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Базова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азова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124</TotalTime>
  <Words>302</Words>
  <Application>Microsoft Office PowerPoint</Application>
  <PresentationFormat>Екран (16:9)</PresentationFormat>
  <Paragraphs>19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1" baseType="lpstr">
      <vt:lpstr>Базова</vt:lpstr>
      <vt:lpstr>Йоганн Вольфганг Ґете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Йоганн Вольфганг Ґете</dc:title>
  <dc:creator>Bohdan</dc:creator>
  <cp:lastModifiedBy>Bohdan</cp:lastModifiedBy>
  <cp:revision>11</cp:revision>
  <dcterms:created xsi:type="dcterms:W3CDTF">2023-10-01T17:28:14Z</dcterms:created>
  <dcterms:modified xsi:type="dcterms:W3CDTF">2023-10-02T12:03:13Z</dcterms:modified>
</cp:coreProperties>
</file>